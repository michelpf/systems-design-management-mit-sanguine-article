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Lst>
  <p:sldSz cy="21945600" cx="32918400"/>
  <p:notesSz cx="6858000" cy="9144000"/>
  <p:embeddedFontLst>
    <p:embeddedFont>
      <p:font typeface="Play"/>
      <p:regular r:id="rId15"/>
      <p:bold r:id="rId16"/>
    </p:embeddedFont>
    <p:embeddedFont>
      <p:font typeface="Proxima Nova"/>
      <p:regular r:id="rId17"/>
      <p:bold r:id="rId18"/>
      <p:italic r:id="rId19"/>
      <p:boldItalic r:id="rId20"/>
    </p:embeddedFont>
    <p:embeddedFont>
      <p:font typeface="Montserrat"/>
      <p:regular r:id="rId21"/>
      <p:bold r:id="rId22"/>
      <p:italic r:id="rId23"/>
      <p:boldItalic r:id="rId24"/>
    </p:embeddedFont>
    <p:embeddedFont>
      <p:font typeface="Noto Sans Grantha"/>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Camden 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381E13-A8F7-4022-86C5-07623F0ABA3E}">
  <a:tblStyle styleId="{9A381E13-A8F7-4022-86C5-07623F0ABA3E}"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23E452CD-4AC9-494A-AED8-5A9A6700DAF9}"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802A5B2-C3E8-4156-8B02-1924D521DFD5}" styleName="Table_2">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ProximaNova-boldItalic.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2.xml"/><Relationship Id="rId25" Type="http://schemas.openxmlformats.org/officeDocument/2006/relationships/font" Target="fonts/NotoSansGrantha-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font" Target="fonts/Play-regular.fntdata"/><Relationship Id="rId14" Type="http://schemas.openxmlformats.org/officeDocument/2006/relationships/slide" Target="slides/slide7.xml"/><Relationship Id="rId17" Type="http://schemas.openxmlformats.org/officeDocument/2006/relationships/font" Target="fonts/ProximaNova-regular.fntdata"/><Relationship Id="rId16" Type="http://schemas.openxmlformats.org/officeDocument/2006/relationships/font" Target="fonts/Play-bold.fntdata"/><Relationship Id="rId19" Type="http://schemas.openxmlformats.org/officeDocument/2006/relationships/font" Target="fonts/ProximaNova-italic.fntdata"/><Relationship Id="rId18" Type="http://schemas.openxmlformats.org/officeDocument/2006/relationships/font" Target="fonts/ProximaNova-bold.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5-07T06:06:06.920">
    <p:pos x="15005" y="2030"/>
    <p:text>Do we want to give context here?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f6ae04106_0_0: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f6ae041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dfa241b39a_3_0: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dfa241b39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df3639de73_0_138: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df3639de73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ddd7e3e00d_0_0: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3ddd7e3e00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dd91bc9265_1_50: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dd91bc9265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5" name="Shape 995"/>
        <p:cNvGrpSpPr/>
        <p:nvPr/>
      </p:nvGrpSpPr>
      <p:grpSpPr>
        <a:xfrm>
          <a:off x="0" y="0"/>
          <a:ext cx="0" cy="0"/>
          <a:chOff x="0" y="0"/>
          <a:chExt cx="0" cy="0"/>
        </a:xfrm>
      </p:grpSpPr>
      <p:sp>
        <p:nvSpPr>
          <p:cNvPr id="996" name="Google Shape;996;g3dd91bc9265_1_264:notes"/>
          <p:cNvSpPr/>
          <p:nvPr>
            <p:ph idx="2" type="sldImg"/>
          </p:nvPr>
        </p:nvSpPr>
        <p:spPr>
          <a:xfrm>
            <a:off x="857556" y="685800"/>
            <a:ext cx="5143500" cy="3429000"/>
          </a:xfrm>
          <a:custGeom>
            <a:rect b="b" l="l" r="r" t="t"/>
            <a:pathLst>
              <a:path extrusionOk="0" h="120000" w="120000">
                <a:moveTo>
                  <a:pt x="0" y="0"/>
                </a:moveTo>
                <a:lnTo>
                  <a:pt x="120000" y="0"/>
                </a:lnTo>
                <a:lnTo>
                  <a:pt x="120000" y="120000"/>
                </a:lnTo>
                <a:lnTo>
                  <a:pt x="0" y="120000"/>
                </a:lnTo>
                <a:close/>
              </a:path>
            </a:pathLst>
          </a:custGeom>
        </p:spPr>
      </p:sp>
      <p:sp>
        <p:nvSpPr>
          <p:cNvPr id="997" name="Google Shape;997;g3dd91bc9265_1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122150" y="3176853"/>
            <a:ext cx="30675600" cy="8758800"/>
          </a:xfrm>
          <a:prstGeom prst="rect">
            <a:avLst/>
          </a:prstGeom>
        </p:spPr>
        <p:txBody>
          <a:bodyPr anchorCtr="0" anchor="b" bIns="349500" lIns="349500" spcFirstLastPara="1" rIns="349500" wrap="square" tIns="349500">
            <a:normAutofit/>
          </a:bodyPr>
          <a:lstStyle>
            <a:lvl1pPr lvl="0" algn="ctr">
              <a:spcBef>
                <a:spcPts val="0"/>
              </a:spcBef>
              <a:spcAft>
                <a:spcPts val="0"/>
              </a:spcAft>
              <a:buSzPts val="19876"/>
              <a:buNone/>
              <a:defRPr sz="19876"/>
            </a:lvl1pPr>
            <a:lvl2pPr lvl="1" algn="ctr">
              <a:spcBef>
                <a:spcPts val="0"/>
              </a:spcBef>
              <a:spcAft>
                <a:spcPts val="0"/>
              </a:spcAft>
              <a:buSzPts val="19876"/>
              <a:buNone/>
              <a:defRPr sz="19876"/>
            </a:lvl2pPr>
            <a:lvl3pPr lvl="2" algn="ctr">
              <a:spcBef>
                <a:spcPts val="0"/>
              </a:spcBef>
              <a:spcAft>
                <a:spcPts val="0"/>
              </a:spcAft>
              <a:buSzPts val="19876"/>
              <a:buNone/>
              <a:defRPr sz="19876"/>
            </a:lvl3pPr>
            <a:lvl4pPr lvl="3" algn="ctr">
              <a:spcBef>
                <a:spcPts val="0"/>
              </a:spcBef>
              <a:spcAft>
                <a:spcPts val="0"/>
              </a:spcAft>
              <a:buSzPts val="19876"/>
              <a:buNone/>
              <a:defRPr sz="19876"/>
            </a:lvl4pPr>
            <a:lvl5pPr lvl="4" algn="ctr">
              <a:spcBef>
                <a:spcPts val="0"/>
              </a:spcBef>
              <a:spcAft>
                <a:spcPts val="0"/>
              </a:spcAft>
              <a:buSzPts val="19876"/>
              <a:buNone/>
              <a:defRPr sz="19876"/>
            </a:lvl5pPr>
            <a:lvl6pPr lvl="5" algn="ctr">
              <a:spcBef>
                <a:spcPts val="0"/>
              </a:spcBef>
              <a:spcAft>
                <a:spcPts val="0"/>
              </a:spcAft>
              <a:buSzPts val="19876"/>
              <a:buNone/>
              <a:defRPr sz="19876"/>
            </a:lvl6pPr>
            <a:lvl7pPr lvl="6" algn="ctr">
              <a:spcBef>
                <a:spcPts val="0"/>
              </a:spcBef>
              <a:spcAft>
                <a:spcPts val="0"/>
              </a:spcAft>
              <a:buSzPts val="19876"/>
              <a:buNone/>
              <a:defRPr sz="19876"/>
            </a:lvl7pPr>
            <a:lvl8pPr lvl="7" algn="ctr">
              <a:spcBef>
                <a:spcPts val="0"/>
              </a:spcBef>
              <a:spcAft>
                <a:spcPts val="0"/>
              </a:spcAft>
              <a:buSzPts val="19876"/>
              <a:buNone/>
              <a:defRPr sz="19876"/>
            </a:lvl8pPr>
            <a:lvl9pPr lvl="8" algn="ctr">
              <a:spcBef>
                <a:spcPts val="0"/>
              </a:spcBef>
              <a:spcAft>
                <a:spcPts val="0"/>
              </a:spcAft>
              <a:buSzPts val="19876"/>
              <a:buNone/>
              <a:defRPr sz="19876"/>
            </a:lvl9pPr>
          </a:lstStyle>
          <a:p/>
        </p:txBody>
      </p:sp>
      <p:sp>
        <p:nvSpPr>
          <p:cNvPr id="11" name="Google Shape;11;p2"/>
          <p:cNvSpPr txBox="1"/>
          <p:nvPr>
            <p:ph idx="1" type="subTitle"/>
          </p:nvPr>
        </p:nvSpPr>
        <p:spPr>
          <a:xfrm>
            <a:off x="1122120" y="12092267"/>
            <a:ext cx="30675600" cy="3380400"/>
          </a:xfrm>
          <a:prstGeom prst="rect">
            <a:avLst/>
          </a:prstGeom>
        </p:spPr>
        <p:txBody>
          <a:bodyPr anchorCtr="0" anchor="t" bIns="349500" lIns="349500" spcFirstLastPara="1" rIns="349500" wrap="square" tIns="349500">
            <a:normAutofit/>
          </a:bodyPr>
          <a:lstStyle>
            <a:lvl1pPr lvl="0" algn="ctr">
              <a:lnSpc>
                <a:spcPct val="100000"/>
              </a:lnSpc>
              <a:spcBef>
                <a:spcPts val="0"/>
              </a:spcBef>
              <a:spcAft>
                <a:spcPts val="0"/>
              </a:spcAft>
              <a:buSzPts val="10702"/>
              <a:buNone/>
              <a:defRPr sz="10702"/>
            </a:lvl1pPr>
            <a:lvl2pPr lvl="1" algn="ctr">
              <a:lnSpc>
                <a:spcPct val="100000"/>
              </a:lnSpc>
              <a:spcBef>
                <a:spcPts val="0"/>
              </a:spcBef>
              <a:spcAft>
                <a:spcPts val="0"/>
              </a:spcAft>
              <a:buSzPts val="10702"/>
              <a:buNone/>
              <a:defRPr sz="10702"/>
            </a:lvl2pPr>
            <a:lvl3pPr lvl="2" algn="ctr">
              <a:lnSpc>
                <a:spcPct val="100000"/>
              </a:lnSpc>
              <a:spcBef>
                <a:spcPts val="0"/>
              </a:spcBef>
              <a:spcAft>
                <a:spcPts val="0"/>
              </a:spcAft>
              <a:buSzPts val="10702"/>
              <a:buNone/>
              <a:defRPr sz="10702"/>
            </a:lvl3pPr>
            <a:lvl4pPr lvl="3" algn="ctr">
              <a:lnSpc>
                <a:spcPct val="100000"/>
              </a:lnSpc>
              <a:spcBef>
                <a:spcPts val="0"/>
              </a:spcBef>
              <a:spcAft>
                <a:spcPts val="0"/>
              </a:spcAft>
              <a:buSzPts val="10702"/>
              <a:buNone/>
              <a:defRPr sz="10702"/>
            </a:lvl4pPr>
            <a:lvl5pPr lvl="4" algn="ctr">
              <a:lnSpc>
                <a:spcPct val="100000"/>
              </a:lnSpc>
              <a:spcBef>
                <a:spcPts val="0"/>
              </a:spcBef>
              <a:spcAft>
                <a:spcPts val="0"/>
              </a:spcAft>
              <a:buSzPts val="10702"/>
              <a:buNone/>
              <a:defRPr sz="10702"/>
            </a:lvl5pPr>
            <a:lvl6pPr lvl="5" algn="ctr">
              <a:lnSpc>
                <a:spcPct val="100000"/>
              </a:lnSpc>
              <a:spcBef>
                <a:spcPts val="0"/>
              </a:spcBef>
              <a:spcAft>
                <a:spcPts val="0"/>
              </a:spcAft>
              <a:buSzPts val="10702"/>
              <a:buNone/>
              <a:defRPr sz="10702"/>
            </a:lvl6pPr>
            <a:lvl7pPr lvl="6" algn="ctr">
              <a:lnSpc>
                <a:spcPct val="100000"/>
              </a:lnSpc>
              <a:spcBef>
                <a:spcPts val="0"/>
              </a:spcBef>
              <a:spcAft>
                <a:spcPts val="0"/>
              </a:spcAft>
              <a:buSzPts val="10702"/>
              <a:buNone/>
              <a:defRPr sz="10702"/>
            </a:lvl7pPr>
            <a:lvl8pPr lvl="7" algn="ctr">
              <a:lnSpc>
                <a:spcPct val="100000"/>
              </a:lnSpc>
              <a:spcBef>
                <a:spcPts val="0"/>
              </a:spcBef>
              <a:spcAft>
                <a:spcPts val="0"/>
              </a:spcAft>
              <a:buSzPts val="10702"/>
              <a:buNone/>
              <a:defRPr sz="10702"/>
            </a:lvl8pPr>
            <a:lvl9pPr lvl="8" algn="ctr">
              <a:lnSpc>
                <a:spcPct val="100000"/>
              </a:lnSpc>
              <a:spcBef>
                <a:spcPts val="0"/>
              </a:spcBef>
              <a:spcAft>
                <a:spcPts val="0"/>
              </a:spcAft>
              <a:buSzPts val="10702"/>
              <a:buNone/>
              <a:defRPr sz="10702"/>
            </a:lvl9pPr>
          </a:lstStyle>
          <a:p/>
        </p:txBody>
      </p:sp>
      <p:sp>
        <p:nvSpPr>
          <p:cNvPr id="12" name="Google Shape;12;p2"/>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122120" y="9176960"/>
            <a:ext cx="30675600" cy="3592800"/>
          </a:xfrm>
          <a:prstGeom prst="rect">
            <a:avLst/>
          </a:prstGeom>
        </p:spPr>
        <p:txBody>
          <a:bodyPr anchorCtr="0" anchor="ctr" bIns="349500" lIns="349500" spcFirstLastPara="1" rIns="349500" wrap="square" tIns="349500">
            <a:normAutofit/>
          </a:bodyPr>
          <a:lstStyle>
            <a:lvl1pPr lvl="0" algn="ctr">
              <a:spcBef>
                <a:spcPts val="0"/>
              </a:spcBef>
              <a:spcAft>
                <a:spcPts val="0"/>
              </a:spcAft>
              <a:buSzPts val="13760"/>
              <a:buNone/>
              <a:defRPr sz="13760"/>
            </a:lvl1pPr>
            <a:lvl2pPr lvl="1" algn="ctr">
              <a:spcBef>
                <a:spcPts val="0"/>
              </a:spcBef>
              <a:spcAft>
                <a:spcPts val="0"/>
              </a:spcAft>
              <a:buSzPts val="13760"/>
              <a:buNone/>
              <a:defRPr sz="13760"/>
            </a:lvl2pPr>
            <a:lvl3pPr lvl="2" algn="ctr">
              <a:spcBef>
                <a:spcPts val="0"/>
              </a:spcBef>
              <a:spcAft>
                <a:spcPts val="0"/>
              </a:spcAft>
              <a:buSzPts val="13760"/>
              <a:buNone/>
              <a:defRPr sz="13760"/>
            </a:lvl3pPr>
            <a:lvl4pPr lvl="3" algn="ctr">
              <a:spcBef>
                <a:spcPts val="0"/>
              </a:spcBef>
              <a:spcAft>
                <a:spcPts val="0"/>
              </a:spcAft>
              <a:buSzPts val="13760"/>
              <a:buNone/>
              <a:defRPr sz="13760"/>
            </a:lvl4pPr>
            <a:lvl5pPr lvl="4" algn="ctr">
              <a:spcBef>
                <a:spcPts val="0"/>
              </a:spcBef>
              <a:spcAft>
                <a:spcPts val="0"/>
              </a:spcAft>
              <a:buSzPts val="13760"/>
              <a:buNone/>
              <a:defRPr sz="13760"/>
            </a:lvl5pPr>
            <a:lvl6pPr lvl="5" algn="ctr">
              <a:spcBef>
                <a:spcPts val="0"/>
              </a:spcBef>
              <a:spcAft>
                <a:spcPts val="0"/>
              </a:spcAft>
              <a:buSzPts val="13760"/>
              <a:buNone/>
              <a:defRPr sz="13760"/>
            </a:lvl6pPr>
            <a:lvl7pPr lvl="6" algn="ctr">
              <a:spcBef>
                <a:spcPts val="0"/>
              </a:spcBef>
              <a:spcAft>
                <a:spcPts val="0"/>
              </a:spcAft>
              <a:buSzPts val="13760"/>
              <a:buNone/>
              <a:defRPr sz="13760"/>
            </a:lvl7pPr>
            <a:lvl8pPr lvl="7" algn="ctr">
              <a:spcBef>
                <a:spcPts val="0"/>
              </a:spcBef>
              <a:spcAft>
                <a:spcPts val="0"/>
              </a:spcAft>
              <a:buSzPts val="13760"/>
              <a:buNone/>
              <a:defRPr sz="13760"/>
            </a:lvl8pPr>
            <a:lvl9pPr lvl="8" algn="ctr">
              <a:spcBef>
                <a:spcPts val="0"/>
              </a:spcBef>
              <a:spcAft>
                <a:spcPts val="0"/>
              </a:spcAft>
              <a:buSzPts val="13760"/>
              <a:buNone/>
              <a:defRPr sz="13760"/>
            </a:lvl9pPr>
          </a:lstStyle>
          <a:p/>
        </p:txBody>
      </p:sp>
      <p:sp>
        <p:nvSpPr>
          <p:cNvPr id="15" name="Google Shape;15;p3"/>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122120" y="1898773"/>
            <a:ext cx="30675600" cy="2444400"/>
          </a:xfrm>
          <a:prstGeom prst="rect">
            <a:avLst/>
          </a:prstGeom>
        </p:spPr>
        <p:txBody>
          <a:bodyPr anchorCtr="0" anchor="t" bIns="349500" lIns="349500" spcFirstLastPara="1" rIns="349500" wrap="square" tIns="349500">
            <a:normAutofit/>
          </a:bodyPr>
          <a:lstStyle>
            <a:lvl1pPr lvl="0">
              <a:spcBef>
                <a:spcPts val="0"/>
              </a:spcBef>
              <a:spcAft>
                <a:spcPts val="0"/>
              </a:spcAft>
              <a:buSzPts val="10702"/>
              <a:buNone/>
              <a:defRPr sz="10702"/>
            </a:lvl1pPr>
            <a:lvl2pPr lvl="1">
              <a:spcBef>
                <a:spcPts val="0"/>
              </a:spcBef>
              <a:spcAft>
                <a:spcPts val="0"/>
              </a:spcAft>
              <a:buSzPts val="10702"/>
              <a:buNone/>
              <a:defRPr sz="10702"/>
            </a:lvl2pPr>
            <a:lvl3pPr lvl="2">
              <a:spcBef>
                <a:spcPts val="0"/>
              </a:spcBef>
              <a:spcAft>
                <a:spcPts val="0"/>
              </a:spcAft>
              <a:buSzPts val="10702"/>
              <a:buNone/>
              <a:defRPr sz="10702"/>
            </a:lvl3pPr>
            <a:lvl4pPr lvl="3">
              <a:spcBef>
                <a:spcPts val="0"/>
              </a:spcBef>
              <a:spcAft>
                <a:spcPts val="0"/>
              </a:spcAft>
              <a:buSzPts val="10702"/>
              <a:buNone/>
              <a:defRPr sz="10702"/>
            </a:lvl4pPr>
            <a:lvl5pPr lvl="4">
              <a:spcBef>
                <a:spcPts val="0"/>
              </a:spcBef>
              <a:spcAft>
                <a:spcPts val="0"/>
              </a:spcAft>
              <a:buSzPts val="10702"/>
              <a:buNone/>
              <a:defRPr sz="10702"/>
            </a:lvl5pPr>
            <a:lvl6pPr lvl="5">
              <a:spcBef>
                <a:spcPts val="0"/>
              </a:spcBef>
              <a:spcAft>
                <a:spcPts val="0"/>
              </a:spcAft>
              <a:buSzPts val="10702"/>
              <a:buNone/>
              <a:defRPr sz="10702"/>
            </a:lvl6pPr>
            <a:lvl7pPr lvl="6">
              <a:spcBef>
                <a:spcPts val="0"/>
              </a:spcBef>
              <a:spcAft>
                <a:spcPts val="0"/>
              </a:spcAft>
              <a:buSzPts val="10702"/>
              <a:buNone/>
              <a:defRPr sz="10702"/>
            </a:lvl7pPr>
            <a:lvl8pPr lvl="7">
              <a:spcBef>
                <a:spcPts val="0"/>
              </a:spcBef>
              <a:spcAft>
                <a:spcPts val="0"/>
              </a:spcAft>
              <a:buSzPts val="10702"/>
              <a:buNone/>
              <a:defRPr sz="10702"/>
            </a:lvl8pPr>
            <a:lvl9pPr lvl="8">
              <a:spcBef>
                <a:spcPts val="0"/>
              </a:spcBef>
              <a:spcAft>
                <a:spcPts val="0"/>
              </a:spcAft>
              <a:buSzPts val="10702"/>
              <a:buNone/>
              <a:defRPr sz="10702"/>
            </a:lvl9pPr>
          </a:lstStyle>
          <a:p/>
        </p:txBody>
      </p:sp>
      <p:sp>
        <p:nvSpPr>
          <p:cNvPr id="18" name="Google Shape;18;p4"/>
          <p:cNvSpPr txBox="1"/>
          <p:nvPr>
            <p:ph idx="1" type="body"/>
          </p:nvPr>
        </p:nvSpPr>
        <p:spPr>
          <a:xfrm>
            <a:off x="1122120" y="4917227"/>
            <a:ext cx="30675600" cy="14576400"/>
          </a:xfrm>
          <a:prstGeom prst="rect">
            <a:avLst/>
          </a:prstGeom>
        </p:spPr>
        <p:txBody>
          <a:bodyPr anchorCtr="0" anchor="t" bIns="349500" lIns="349500" spcFirstLastPara="1" rIns="349500" wrap="square" tIns="349500">
            <a:normAutofit/>
          </a:bodyPr>
          <a:lstStyle>
            <a:lvl1pPr indent="-665477" lvl="0" marL="457200">
              <a:spcBef>
                <a:spcPts val="0"/>
              </a:spcBef>
              <a:spcAft>
                <a:spcPts val="0"/>
              </a:spcAft>
              <a:buSzPts val="6880"/>
              <a:buChar char="●"/>
              <a:defRPr sz="6880"/>
            </a:lvl1pPr>
            <a:lvl2pPr indent="-568399" lvl="1" marL="914400">
              <a:spcBef>
                <a:spcPts val="0"/>
              </a:spcBef>
              <a:spcAft>
                <a:spcPts val="0"/>
              </a:spcAft>
              <a:buSzPts val="5351"/>
              <a:buChar char="○"/>
              <a:defRPr sz="5351"/>
            </a:lvl2pPr>
            <a:lvl3pPr indent="-568399" lvl="2" marL="1371600">
              <a:spcBef>
                <a:spcPts val="0"/>
              </a:spcBef>
              <a:spcAft>
                <a:spcPts val="0"/>
              </a:spcAft>
              <a:buSzPts val="5351"/>
              <a:buChar char="■"/>
              <a:defRPr sz="5351"/>
            </a:lvl3pPr>
            <a:lvl4pPr indent="-568399" lvl="3" marL="1828800">
              <a:spcBef>
                <a:spcPts val="0"/>
              </a:spcBef>
              <a:spcAft>
                <a:spcPts val="0"/>
              </a:spcAft>
              <a:buSzPts val="5351"/>
              <a:buChar char="●"/>
              <a:defRPr sz="5351"/>
            </a:lvl4pPr>
            <a:lvl5pPr indent="-568399" lvl="4" marL="2286000">
              <a:spcBef>
                <a:spcPts val="0"/>
              </a:spcBef>
              <a:spcAft>
                <a:spcPts val="0"/>
              </a:spcAft>
              <a:buSzPts val="5351"/>
              <a:buChar char="○"/>
              <a:defRPr sz="5351"/>
            </a:lvl5pPr>
            <a:lvl6pPr indent="-568399" lvl="5" marL="2743200">
              <a:spcBef>
                <a:spcPts val="0"/>
              </a:spcBef>
              <a:spcAft>
                <a:spcPts val="0"/>
              </a:spcAft>
              <a:buSzPts val="5351"/>
              <a:buChar char="■"/>
              <a:defRPr sz="5351"/>
            </a:lvl6pPr>
            <a:lvl7pPr indent="-568399" lvl="6" marL="3200400">
              <a:spcBef>
                <a:spcPts val="0"/>
              </a:spcBef>
              <a:spcAft>
                <a:spcPts val="0"/>
              </a:spcAft>
              <a:buSzPts val="5351"/>
              <a:buChar char="●"/>
              <a:defRPr sz="5351"/>
            </a:lvl7pPr>
            <a:lvl8pPr indent="-568399" lvl="7" marL="3657600">
              <a:spcBef>
                <a:spcPts val="0"/>
              </a:spcBef>
              <a:spcAft>
                <a:spcPts val="0"/>
              </a:spcAft>
              <a:buSzPts val="5351"/>
              <a:buChar char="○"/>
              <a:defRPr sz="5351"/>
            </a:lvl8pPr>
            <a:lvl9pPr indent="-568399" lvl="8" marL="4114800">
              <a:spcBef>
                <a:spcPts val="0"/>
              </a:spcBef>
              <a:spcAft>
                <a:spcPts val="0"/>
              </a:spcAft>
              <a:buSzPts val="5351"/>
              <a:buChar char="■"/>
              <a:defRPr sz="5351"/>
            </a:lvl9pPr>
          </a:lstStyle>
          <a:p/>
        </p:txBody>
      </p:sp>
      <p:sp>
        <p:nvSpPr>
          <p:cNvPr id="19" name="Google Shape;19;p4"/>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122120" y="1898773"/>
            <a:ext cx="30675600" cy="2444400"/>
          </a:xfrm>
          <a:prstGeom prst="rect">
            <a:avLst/>
          </a:prstGeom>
        </p:spPr>
        <p:txBody>
          <a:bodyPr anchorCtr="0" anchor="t" bIns="349500" lIns="349500" spcFirstLastPara="1" rIns="349500" wrap="square" tIns="349500">
            <a:normAutofit/>
          </a:bodyPr>
          <a:lstStyle>
            <a:lvl1pPr lvl="0">
              <a:spcBef>
                <a:spcPts val="0"/>
              </a:spcBef>
              <a:spcAft>
                <a:spcPts val="0"/>
              </a:spcAft>
              <a:buSzPts val="10702"/>
              <a:buNone/>
              <a:defRPr sz="10702"/>
            </a:lvl1pPr>
            <a:lvl2pPr lvl="1">
              <a:spcBef>
                <a:spcPts val="0"/>
              </a:spcBef>
              <a:spcAft>
                <a:spcPts val="0"/>
              </a:spcAft>
              <a:buSzPts val="10702"/>
              <a:buNone/>
              <a:defRPr sz="10702"/>
            </a:lvl2pPr>
            <a:lvl3pPr lvl="2">
              <a:spcBef>
                <a:spcPts val="0"/>
              </a:spcBef>
              <a:spcAft>
                <a:spcPts val="0"/>
              </a:spcAft>
              <a:buSzPts val="10702"/>
              <a:buNone/>
              <a:defRPr sz="10702"/>
            </a:lvl3pPr>
            <a:lvl4pPr lvl="3">
              <a:spcBef>
                <a:spcPts val="0"/>
              </a:spcBef>
              <a:spcAft>
                <a:spcPts val="0"/>
              </a:spcAft>
              <a:buSzPts val="10702"/>
              <a:buNone/>
              <a:defRPr sz="10702"/>
            </a:lvl4pPr>
            <a:lvl5pPr lvl="4">
              <a:spcBef>
                <a:spcPts val="0"/>
              </a:spcBef>
              <a:spcAft>
                <a:spcPts val="0"/>
              </a:spcAft>
              <a:buSzPts val="10702"/>
              <a:buNone/>
              <a:defRPr sz="10702"/>
            </a:lvl5pPr>
            <a:lvl6pPr lvl="5">
              <a:spcBef>
                <a:spcPts val="0"/>
              </a:spcBef>
              <a:spcAft>
                <a:spcPts val="0"/>
              </a:spcAft>
              <a:buSzPts val="10702"/>
              <a:buNone/>
              <a:defRPr sz="10702"/>
            </a:lvl6pPr>
            <a:lvl7pPr lvl="6">
              <a:spcBef>
                <a:spcPts val="0"/>
              </a:spcBef>
              <a:spcAft>
                <a:spcPts val="0"/>
              </a:spcAft>
              <a:buSzPts val="10702"/>
              <a:buNone/>
              <a:defRPr sz="10702"/>
            </a:lvl7pPr>
            <a:lvl8pPr lvl="7">
              <a:spcBef>
                <a:spcPts val="0"/>
              </a:spcBef>
              <a:spcAft>
                <a:spcPts val="0"/>
              </a:spcAft>
              <a:buSzPts val="10702"/>
              <a:buNone/>
              <a:defRPr sz="10702"/>
            </a:lvl8pPr>
            <a:lvl9pPr lvl="8">
              <a:spcBef>
                <a:spcPts val="0"/>
              </a:spcBef>
              <a:spcAft>
                <a:spcPts val="0"/>
              </a:spcAft>
              <a:buSzPts val="10702"/>
              <a:buNone/>
              <a:defRPr sz="10702"/>
            </a:lvl9pPr>
          </a:lstStyle>
          <a:p/>
        </p:txBody>
      </p:sp>
      <p:sp>
        <p:nvSpPr>
          <p:cNvPr id="22" name="Google Shape;22;p5"/>
          <p:cNvSpPr txBox="1"/>
          <p:nvPr>
            <p:ph idx="1" type="body"/>
          </p:nvPr>
        </p:nvSpPr>
        <p:spPr>
          <a:xfrm>
            <a:off x="1122120" y="4917227"/>
            <a:ext cx="14400000" cy="14576400"/>
          </a:xfrm>
          <a:prstGeom prst="rect">
            <a:avLst/>
          </a:prstGeom>
        </p:spPr>
        <p:txBody>
          <a:bodyPr anchorCtr="0" anchor="t" bIns="349500" lIns="349500" spcFirstLastPara="1" rIns="349500" wrap="square" tIns="349500">
            <a:normAutofit/>
          </a:bodyPr>
          <a:lstStyle>
            <a:lvl1pPr indent="-568399" lvl="0" marL="457200">
              <a:spcBef>
                <a:spcPts val="0"/>
              </a:spcBef>
              <a:spcAft>
                <a:spcPts val="0"/>
              </a:spcAft>
              <a:buSzPts val="5351"/>
              <a:buChar char="●"/>
              <a:defRPr sz="5351"/>
            </a:lvl1pPr>
            <a:lvl2pPr indent="-519852" lvl="1" marL="914400">
              <a:spcBef>
                <a:spcPts val="0"/>
              </a:spcBef>
              <a:spcAft>
                <a:spcPts val="0"/>
              </a:spcAft>
              <a:buSzPts val="4587"/>
              <a:buChar char="○"/>
              <a:defRPr sz="4587"/>
            </a:lvl2pPr>
            <a:lvl3pPr indent="-519852" lvl="2" marL="1371600">
              <a:spcBef>
                <a:spcPts val="0"/>
              </a:spcBef>
              <a:spcAft>
                <a:spcPts val="0"/>
              </a:spcAft>
              <a:buSzPts val="4587"/>
              <a:buChar char="■"/>
              <a:defRPr sz="4587"/>
            </a:lvl3pPr>
            <a:lvl4pPr indent="-519852" lvl="3" marL="1828800">
              <a:spcBef>
                <a:spcPts val="0"/>
              </a:spcBef>
              <a:spcAft>
                <a:spcPts val="0"/>
              </a:spcAft>
              <a:buSzPts val="4587"/>
              <a:buChar char="●"/>
              <a:defRPr sz="4587"/>
            </a:lvl4pPr>
            <a:lvl5pPr indent="-519852" lvl="4" marL="2286000">
              <a:spcBef>
                <a:spcPts val="0"/>
              </a:spcBef>
              <a:spcAft>
                <a:spcPts val="0"/>
              </a:spcAft>
              <a:buSzPts val="4587"/>
              <a:buChar char="○"/>
              <a:defRPr sz="4587"/>
            </a:lvl5pPr>
            <a:lvl6pPr indent="-519852" lvl="5" marL="2743200">
              <a:spcBef>
                <a:spcPts val="0"/>
              </a:spcBef>
              <a:spcAft>
                <a:spcPts val="0"/>
              </a:spcAft>
              <a:buSzPts val="4587"/>
              <a:buChar char="■"/>
              <a:defRPr sz="4587"/>
            </a:lvl6pPr>
            <a:lvl7pPr indent="-519852" lvl="6" marL="3200400">
              <a:spcBef>
                <a:spcPts val="0"/>
              </a:spcBef>
              <a:spcAft>
                <a:spcPts val="0"/>
              </a:spcAft>
              <a:buSzPts val="4587"/>
              <a:buChar char="●"/>
              <a:defRPr sz="4587"/>
            </a:lvl7pPr>
            <a:lvl8pPr indent="-519852" lvl="7" marL="3657600">
              <a:spcBef>
                <a:spcPts val="0"/>
              </a:spcBef>
              <a:spcAft>
                <a:spcPts val="0"/>
              </a:spcAft>
              <a:buSzPts val="4587"/>
              <a:buChar char="○"/>
              <a:defRPr sz="4587"/>
            </a:lvl8pPr>
            <a:lvl9pPr indent="-519852" lvl="8" marL="4114800">
              <a:spcBef>
                <a:spcPts val="0"/>
              </a:spcBef>
              <a:spcAft>
                <a:spcPts val="0"/>
              </a:spcAft>
              <a:buSzPts val="4587"/>
              <a:buChar char="■"/>
              <a:defRPr sz="4587"/>
            </a:lvl9pPr>
          </a:lstStyle>
          <a:p/>
        </p:txBody>
      </p:sp>
      <p:sp>
        <p:nvSpPr>
          <p:cNvPr id="23" name="Google Shape;23;p5"/>
          <p:cNvSpPr txBox="1"/>
          <p:nvPr>
            <p:ph idx="2" type="body"/>
          </p:nvPr>
        </p:nvSpPr>
        <p:spPr>
          <a:xfrm>
            <a:off x="17396640" y="4917227"/>
            <a:ext cx="14400000" cy="14576400"/>
          </a:xfrm>
          <a:prstGeom prst="rect">
            <a:avLst/>
          </a:prstGeom>
        </p:spPr>
        <p:txBody>
          <a:bodyPr anchorCtr="0" anchor="t" bIns="349500" lIns="349500" spcFirstLastPara="1" rIns="349500" wrap="square" tIns="349500">
            <a:normAutofit/>
          </a:bodyPr>
          <a:lstStyle>
            <a:lvl1pPr indent="-568399" lvl="0" marL="457200">
              <a:spcBef>
                <a:spcPts val="0"/>
              </a:spcBef>
              <a:spcAft>
                <a:spcPts val="0"/>
              </a:spcAft>
              <a:buSzPts val="5351"/>
              <a:buChar char="●"/>
              <a:defRPr sz="5351"/>
            </a:lvl1pPr>
            <a:lvl2pPr indent="-519852" lvl="1" marL="914400">
              <a:spcBef>
                <a:spcPts val="0"/>
              </a:spcBef>
              <a:spcAft>
                <a:spcPts val="0"/>
              </a:spcAft>
              <a:buSzPts val="4587"/>
              <a:buChar char="○"/>
              <a:defRPr sz="4587"/>
            </a:lvl2pPr>
            <a:lvl3pPr indent="-519852" lvl="2" marL="1371600">
              <a:spcBef>
                <a:spcPts val="0"/>
              </a:spcBef>
              <a:spcAft>
                <a:spcPts val="0"/>
              </a:spcAft>
              <a:buSzPts val="4587"/>
              <a:buChar char="■"/>
              <a:defRPr sz="4587"/>
            </a:lvl3pPr>
            <a:lvl4pPr indent="-519852" lvl="3" marL="1828800">
              <a:spcBef>
                <a:spcPts val="0"/>
              </a:spcBef>
              <a:spcAft>
                <a:spcPts val="0"/>
              </a:spcAft>
              <a:buSzPts val="4587"/>
              <a:buChar char="●"/>
              <a:defRPr sz="4587"/>
            </a:lvl4pPr>
            <a:lvl5pPr indent="-519852" lvl="4" marL="2286000">
              <a:spcBef>
                <a:spcPts val="0"/>
              </a:spcBef>
              <a:spcAft>
                <a:spcPts val="0"/>
              </a:spcAft>
              <a:buSzPts val="4587"/>
              <a:buChar char="○"/>
              <a:defRPr sz="4587"/>
            </a:lvl5pPr>
            <a:lvl6pPr indent="-519852" lvl="5" marL="2743200">
              <a:spcBef>
                <a:spcPts val="0"/>
              </a:spcBef>
              <a:spcAft>
                <a:spcPts val="0"/>
              </a:spcAft>
              <a:buSzPts val="4587"/>
              <a:buChar char="■"/>
              <a:defRPr sz="4587"/>
            </a:lvl6pPr>
            <a:lvl7pPr indent="-519852" lvl="6" marL="3200400">
              <a:spcBef>
                <a:spcPts val="0"/>
              </a:spcBef>
              <a:spcAft>
                <a:spcPts val="0"/>
              </a:spcAft>
              <a:buSzPts val="4587"/>
              <a:buChar char="●"/>
              <a:defRPr sz="4587"/>
            </a:lvl7pPr>
            <a:lvl8pPr indent="-519852" lvl="7" marL="3657600">
              <a:spcBef>
                <a:spcPts val="0"/>
              </a:spcBef>
              <a:spcAft>
                <a:spcPts val="0"/>
              </a:spcAft>
              <a:buSzPts val="4587"/>
              <a:buChar char="○"/>
              <a:defRPr sz="4587"/>
            </a:lvl8pPr>
            <a:lvl9pPr indent="-519852" lvl="8" marL="4114800">
              <a:spcBef>
                <a:spcPts val="0"/>
              </a:spcBef>
              <a:spcAft>
                <a:spcPts val="0"/>
              </a:spcAft>
              <a:buSzPts val="4587"/>
              <a:buChar char="■"/>
              <a:defRPr sz="4587"/>
            </a:lvl9pPr>
          </a:lstStyle>
          <a:p/>
        </p:txBody>
      </p:sp>
      <p:sp>
        <p:nvSpPr>
          <p:cNvPr id="24" name="Google Shape;24;p5"/>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122120" y="1898773"/>
            <a:ext cx="30675600" cy="2444400"/>
          </a:xfrm>
          <a:prstGeom prst="rect">
            <a:avLst/>
          </a:prstGeom>
        </p:spPr>
        <p:txBody>
          <a:bodyPr anchorCtr="0" anchor="t" bIns="349500" lIns="349500" spcFirstLastPara="1" rIns="349500" wrap="square" tIns="349500">
            <a:normAutofit/>
          </a:bodyPr>
          <a:lstStyle>
            <a:lvl1pPr lvl="0">
              <a:spcBef>
                <a:spcPts val="0"/>
              </a:spcBef>
              <a:spcAft>
                <a:spcPts val="0"/>
              </a:spcAft>
              <a:buSzPts val="10702"/>
              <a:buNone/>
              <a:defRPr sz="10702"/>
            </a:lvl1pPr>
            <a:lvl2pPr lvl="1">
              <a:spcBef>
                <a:spcPts val="0"/>
              </a:spcBef>
              <a:spcAft>
                <a:spcPts val="0"/>
              </a:spcAft>
              <a:buSzPts val="10702"/>
              <a:buNone/>
              <a:defRPr sz="10702"/>
            </a:lvl2pPr>
            <a:lvl3pPr lvl="2">
              <a:spcBef>
                <a:spcPts val="0"/>
              </a:spcBef>
              <a:spcAft>
                <a:spcPts val="0"/>
              </a:spcAft>
              <a:buSzPts val="10702"/>
              <a:buNone/>
              <a:defRPr sz="10702"/>
            </a:lvl3pPr>
            <a:lvl4pPr lvl="3">
              <a:spcBef>
                <a:spcPts val="0"/>
              </a:spcBef>
              <a:spcAft>
                <a:spcPts val="0"/>
              </a:spcAft>
              <a:buSzPts val="10702"/>
              <a:buNone/>
              <a:defRPr sz="10702"/>
            </a:lvl4pPr>
            <a:lvl5pPr lvl="4">
              <a:spcBef>
                <a:spcPts val="0"/>
              </a:spcBef>
              <a:spcAft>
                <a:spcPts val="0"/>
              </a:spcAft>
              <a:buSzPts val="10702"/>
              <a:buNone/>
              <a:defRPr sz="10702"/>
            </a:lvl5pPr>
            <a:lvl6pPr lvl="5">
              <a:spcBef>
                <a:spcPts val="0"/>
              </a:spcBef>
              <a:spcAft>
                <a:spcPts val="0"/>
              </a:spcAft>
              <a:buSzPts val="10702"/>
              <a:buNone/>
              <a:defRPr sz="10702"/>
            </a:lvl6pPr>
            <a:lvl7pPr lvl="6">
              <a:spcBef>
                <a:spcPts val="0"/>
              </a:spcBef>
              <a:spcAft>
                <a:spcPts val="0"/>
              </a:spcAft>
              <a:buSzPts val="10702"/>
              <a:buNone/>
              <a:defRPr sz="10702"/>
            </a:lvl7pPr>
            <a:lvl8pPr lvl="7">
              <a:spcBef>
                <a:spcPts val="0"/>
              </a:spcBef>
              <a:spcAft>
                <a:spcPts val="0"/>
              </a:spcAft>
              <a:buSzPts val="10702"/>
              <a:buNone/>
              <a:defRPr sz="10702"/>
            </a:lvl8pPr>
            <a:lvl9pPr lvl="8">
              <a:spcBef>
                <a:spcPts val="0"/>
              </a:spcBef>
              <a:spcAft>
                <a:spcPts val="0"/>
              </a:spcAft>
              <a:buSzPts val="10702"/>
              <a:buNone/>
              <a:defRPr sz="10702"/>
            </a:lvl9pPr>
          </a:lstStyle>
          <a:p/>
        </p:txBody>
      </p:sp>
      <p:sp>
        <p:nvSpPr>
          <p:cNvPr id="27" name="Google Shape;27;p6"/>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122120" y="2370560"/>
            <a:ext cx="10108800" cy="3225600"/>
          </a:xfrm>
          <a:prstGeom prst="rect">
            <a:avLst/>
          </a:prstGeom>
        </p:spPr>
        <p:txBody>
          <a:bodyPr anchorCtr="0" anchor="b" bIns="349500" lIns="349500" spcFirstLastPara="1" rIns="349500" wrap="square" tIns="349500">
            <a:normAutofit/>
          </a:bodyPr>
          <a:lstStyle>
            <a:lvl1pPr lvl="0">
              <a:spcBef>
                <a:spcPts val="0"/>
              </a:spcBef>
              <a:spcAft>
                <a:spcPts val="0"/>
              </a:spcAft>
              <a:buSzPts val="9173"/>
              <a:buNone/>
              <a:defRPr sz="9173"/>
            </a:lvl1pPr>
            <a:lvl2pPr lvl="1">
              <a:spcBef>
                <a:spcPts val="0"/>
              </a:spcBef>
              <a:spcAft>
                <a:spcPts val="0"/>
              </a:spcAft>
              <a:buSzPts val="9173"/>
              <a:buNone/>
              <a:defRPr sz="9173"/>
            </a:lvl2pPr>
            <a:lvl3pPr lvl="2">
              <a:spcBef>
                <a:spcPts val="0"/>
              </a:spcBef>
              <a:spcAft>
                <a:spcPts val="0"/>
              </a:spcAft>
              <a:buSzPts val="9173"/>
              <a:buNone/>
              <a:defRPr sz="9173"/>
            </a:lvl3pPr>
            <a:lvl4pPr lvl="3">
              <a:spcBef>
                <a:spcPts val="0"/>
              </a:spcBef>
              <a:spcAft>
                <a:spcPts val="0"/>
              </a:spcAft>
              <a:buSzPts val="9173"/>
              <a:buNone/>
              <a:defRPr sz="9173"/>
            </a:lvl4pPr>
            <a:lvl5pPr lvl="4">
              <a:spcBef>
                <a:spcPts val="0"/>
              </a:spcBef>
              <a:spcAft>
                <a:spcPts val="0"/>
              </a:spcAft>
              <a:buSzPts val="9173"/>
              <a:buNone/>
              <a:defRPr sz="9173"/>
            </a:lvl5pPr>
            <a:lvl6pPr lvl="5">
              <a:spcBef>
                <a:spcPts val="0"/>
              </a:spcBef>
              <a:spcAft>
                <a:spcPts val="0"/>
              </a:spcAft>
              <a:buSzPts val="9173"/>
              <a:buNone/>
              <a:defRPr sz="9173"/>
            </a:lvl6pPr>
            <a:lvl7pPr lvl="6">
              <a:spcBef>
                <a:spcPts val="0"/>
              </a:spcBef>
              <a:spcAft>
                <a:spcPts val="0"/>
              </a:spcAft>
              <a:buSzPts val="9173"/>
              <a:buNone/>
              <a:defRPr sz="9173"/>
            </a:lvl7pPr>
            <a:lvl8pPr lvl="7">
              <a:spcBef>
                <a:spcPts val="0"/>
              </a:spcBef>
              <a:spcAft>
                <a:spcPts val="0"/>
              </a:spcAft>
              <a:buSzPts val="9173"/>
              <a:buNone/>
              <a:defRPr sz="9173"/>
            </a:lvl8pPr>
            <a:lvl9pPr lvl="8">
              <a:spcBef>
                <a:spcPts val="0"/>
              </a:spcBef>
              <a:spcAft>
                <a:spcPts val="0"/>
              </a:spcAft>
              <a:buSzPts val="9173"/>
              <a:buNone/>
              <a:defRPr sz="9173"/>
            </a:lvl9pPr>
          </a:lstStyle>
          <a:p/>
        </p:txBody>
      </p:sp>
      <p:sp>
        <p:nvSpPr>
          <p:cNvPr id="30" name="Google Shape;30;p7"/>
          <p:cNvSpPr txBox="1"/>
          <p:nvPr>
            <p:ph idx="1" type="body"/>
          </p:nvPr>
        </p:nvSpPr>
        <p:spPr>
          <a:xfrm>
            <a:off x="1122120" y="5928960"/>
            <a:ext cx="10108800" cy="13564800"/>
          </a:xfrm>
          <a:prstGeom prst="rect">
            <a:avLst/>
          </a:prstGeom>
        </p:spPr>
        <p:txBody>
          <a:bodyPr anchorCtr="0" anchor="t" bIns="349500" lIns="349500" spcFirstLastPara="1" rIns="349500" wrap="square" tIns="349500">
            <a:normAutofit/>
          </a:bodyPr>
          <a:lstStyle>
            <a:lvl1pPr indent="-519852" lvl="0" marL="457200">
              <a:spcBef>
                <a:spcPts val="0"/>
              </a:spcBef>
              <a:spcAft>
                <a:spcPts val="0"/>
              </a:spcAft>
              <a:buSzPts val="4587"/>
              <a:buChar char="●"/>
              <a:defRPr sz="4587"/>
            </a:lvl1pPr>
            <a:lvl2pPr indent="-519852" lvl="1" marL="914400">
              <a:spcBef>
                <a:spcPts val="0"/>
              </a:spcBef>
              <a:spcAft>
                <a:spcPts val="0"/>
              </a:spcAft>
              <a:buSzPts val="4587"/>
              <a:buChar char="○"/>
              <a:defRPr sz="4587"/>
            </a:lvl2pPr>
            <a:lvl3pPr indent="-519852" lvl="2" marL="1371600">
              <a:spcBef>
                <a:spcPts val="0"/>
              </a:spcBef>
              <a:spcAft>
                <a:spcPts val="0"/>
              </a:spcAft>
              <a:buSzPts val="4587"/>
              <a:buChar char="■"/>
              <a:defRPr sz="4587"/>
            </a:lvl3pPr>
            <a:lvl4pPr indent="-519852" lvl="3" marL="1828800">
              <a:spcBef>
                <a:spcPts val="0"/>
              </a:spcBef>
              <a:spcAft>
                <a:spcPts val="0"/>
              </a:spcAft>
              <a:buSzPts val="4587"/>
              <a:buChar char="●"/>
              <a:defRPr sz="4587"/>
            </a:lvl4pPr>
            <a:lvl5pPr indent="-519852" lvl="4" marL="2286000">
              <a:spcBef>
                <a:spcPts val="0"/>
              </a:spcBef>
              <a:spcAft>
                <a:spcPts val="0"/>
              </a:spcAft>
              <a:buSzPts val="4587"/>
              <a:buChar char="○"/>
              <a:defRPr sz="4587"/>
            </a:lvl5pPr>
            <a:lvl6pPr indent="-519852" lvl="5" marL="2743200">
              <a:spcBef>
                <a:spcPts val="0"/>
              </a:spcBef>
              <a:spcAft>
                <a:spcPts val="0"/>
              </a:spcAft>
              <a:buSzPts val="4587"/>
              <a:buChar char="■"/>
              <a:defRPr sz="4587"/>
            </a:lvl6pPr>
            <a:lvl7pPr indent="-519852" lvl="6" marL="3200400">
              <a:spcBef>
                <a:spcPts val="0"/>
              </a:spcBef>
              <a:spcAft>
                <a:spcPts val="0"/>
              </a:spcAft>
              <a:buSzPts val="4587"/>
              <a:buChar char="●"/>
              <a:defRPr sz="4587"/>
            </a:lvl7pPr>
            <a:lvl8pPr indent="-519852" lvl="7" marL="3657600">
              <a:spcBef>
                <a:spcPts val="0"/>
              </a:spcBef>
              <a:spcAft>
                <a:spcPts val="0"/>
              </a:spcAft>
              <a:buSzPts val="4587"/>
              <a:buChar char="○"/>
              <a:defRPr sz="4587"/>
            </a:lvl8pPr>
            <a:lvl9pPr indent="-519852" lvl="8" marL="4114800">
              <a:spcBef>
                <a:spcPts val="0"/>
              </a:spcBef>
              <a:spcAft>
                <a:spcPts val="0"/>
              </a:spcAft>
              <a:buSzPts val="4587"/>
              <a:buChar char="■"/>
              <a:defRPr sz="4587"/>
            </a:lvl9pPr>
          </a:lstStyle>
          <a:p/>
        </p:txBody>
      </p:sp>
      <p:sp>
        <p:nvSpPr>
          <p:cNvPr id="31" name="Google Shape;31;p7"/>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764900" y="1920640"/>
            <a:ext cx="22924800" cy="17452800"/>
          </a:xfrm>
          <a:prstGeom prst="rect">
            <a:avLst/>
          </a:prstGeom>
        </p:spPr>
        <p:txBody>
          <a:bodyPr anchorCtr="0" anchor="ctr" bIns="349500" lIns="349500" spcFirstLastPara="1" rIns="349500" wrap="square" tIns="349500">
            <a:normAutofit/>
          </a:bodyPr>
          <a:lstStyle>
            <a:lvl1pPr lvl="0">
              <a:spcBef>
                <a:spcPts val="0"/>
              </a:spcBef>
              <a:spcAft>
                <a:spcPts val="0"/>
              </a:spcAft>
              <a:buSzPts val="18347"/>
              <a:buNone/>
              <a:defRPr sz="18347"/>
            </a:lvl1pPr>
            <a:lvl2pPr lvl="1">
              <a:spcBef>
                <a:spcPts val="0"/>
              </a:spcBef>
              <a:spcAft>
                <a:spcPts val="0"/>
              </a:spcAft>
              <a:buSzPts val="18347"/>
              <a:buNone/>
              <a:defRPr sz="18347"/>
            </a:lvl2pPr>
            <a:lvl3pPr lvl="2">
              <a:spcBef>
                <a:spcPts val="0"/>
              </a:spcBef>
              <a:spcAft>
                <a:spcPts val="0"/>
              </a:spcAft>
              <a:buSzPts val="18347"/>
              <a:buNone/>
              <a:defRPr sz="18347"/>
            </a:lvl3pPr>
            <a:lvl4pPr lvl="3">
              <a:spcBef>
                <a:spcPts val="0"/>
              </a:spcBef>
              <a:spcAft>
                <a:spcPts val="0"/>
              </a:spcAft>
              <a:buSzPts val="18347"/>
              <a:buNone/>
              <a:defRPr sz="18347"/>
            </a:lvl4pPr>
            <a:lvl5pPr lvl="4">
              <a:spcBef>
                <a:spcPts val="0"/>
              </a:spcBef>
              <a:spcAft>
                <a:spcPts val="0"/>
              </a:spcAft>
              <a:buSzPts val="18347"/>
              <a:buNone/>
              <a:defRPr sz="18347"/>
            </a:lvl5pPr>
            <a:lvl6pPr lvl="5">
              <a:spcBef>
                <a:spcPts val="0"/>
              </a:spcBef>
              <a:spcAft>
                <a:spcPts val="0"/>
              </a:spcAft>
              <a:buSzPts val="18347"/>
              <a:buNone/>
              <a:defRPr sz="18347"/>
            </a:lvl6pPr>
            <a:lvl7pPr lvl="6">
              <a:spcBef>
                <a:spcPts val="0"/>
              </a:spcBef>
              <a:spcAft>
                <a:spcPts val="0"/>
              </a:spcAft>
              <a:buSzPts val="18347"/>
              <a:buNone/>
              <a:defRPr sz="18347"/>
            </a:lvl7pPr>
            <a:lvl8pPr lvl="7">
              <a:spcBef>
                <a:spcPts val="0"/>
              </a:spcBef>
              <a:spcAft>
                <a:spcPts val="0"/>
              </a:spcAft>
              <a:buSzPts val="18347"/>
              <a:buNone/>
              <a:defRPr sz="18347"/>
            </a:lvl8pPr>
            <a:lvl9pPr lvl="8">
              <a:spcBef>
                <a:spcPts val="0"/>
              </a:spcBef>
              <a:spcAft>
                <a:spcPts val="0"/>
              </a:spcAft>
              <a:buSzPts val="18347"/>
              <a:buNone/>
              <a:defRPr sz="18347"/>
            </a:lvl9pPr>
          </a:lstStyle>
          <a:p/>
        </p:txBody>
      </p:sp>
      <p:sp>
        <p:nvSpPr>
          <p:cNvPr id="34" name="Google Shape;34;p8"/>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6459200" y="-533"/>
            <a:ext cx="16459200" cy="21945600"/>
          </a:xfrm>
          <a:prstGeom prst="rect">
            <a:avLst/>
          </a:prstGeom>
          <a:solidFill>
            <a:schemeClr val="lt2"/>
          </a:solidFill>
          <a:ln>
            <a:noFill/>
          </a:ln>
        </p:spPr>
        <p:txBody>
          <a:bodyPr anchorCtr="0" anchor="ctr" bIns="349500" lIns="349500" spcFirstLastPara="1" rIns="349500" wrap="square" tIns="3495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955800" y="5261547"/>
            <a:ext cx="14562000" cy="6325200"/>
          </a:xfrm>
          <a:prstGeom prst="rect">
            <a:avLst/>
          </a:prstGeom>
        </p:spPr>
        <p:txBody>
          <a:bodyPr anchorCtr="0" anchor="b" bIns="349500" lIns="349500" spcFirstLastPara="1" rIns="349500" wrap="square" tIns="349500">
            <a:normAutofit/>
          </a:bodyPr>
          <a:lstStyle>
            <a:lvl1pPr lvl="0" algn="ctr">
              <a:spcBef>
                <a:spcPts val="0"/>
              </a:spcBef>
              <a:spcAft>
                <a:spcPts val="0"/>
              </a:spcAft>
              <a:buSzPts val="16053"/>
              <a:buNone/>
              <a:defRPr sz="16053"/>
            </a:lvl1pPr>
            <a:lvl2pPr lvl="1" algn="ctr">
              <a:spcBef>
                <a:spcPts val="0"/>
              </a:spcBef>
              <a:spcAft>
                <a:spcPts val="0"/>
              </a:spcAft>
              <a:buSzPts val="16053"/>
              <a:buNone/>
              <a:defRPr sz="16053"/>
            </a:lvl2pPr>
            <a:lvl3pPr lvl="2" algn="ctr">
              <a:spcBef>
                <a:spcPts val="0"/>
              </a:spcBef>
              <a:spcAft>
                <a:spcPts val="0"/>
              </a:spcAft>
              <a:buSzPts val="16053"/>
              <a:buNone/>
              <a:defRPr sz="16053"/>
            </a:lvl3pPr>
            <a:lvl4pPr lvl="3" algn="ctr">
              <a:spcBef>
                <a:spcPts val="0"/>
              </a:spcBef>
              <a:spcAft>
                <a:spcPts val="0"/>
              </a:spcAft>
              <a:buSzPts val="16053"/>
              <a:buNone/>
              <a:defRPr sz="16053"/>
            </a:lvl4pPr>
            <a:lvl5pPr lvl="4" algn="ctr">
              <a:spcBef>
                <a:spcPts val="0"/>
              </a:spcBef>
              <a:spcAft>
                <a:spcPts val="0"/>
              </a:spcAft>
              <a:buSzPts val="16053"/>
              <a:buNone/>
              <a:defRPr sz="16053"/>
            </a:lvl5pPr>
            <a:lvl6pPr lvl="5" algn="ctr">
              <a:spcBef>
                <a:spcPts val="0"/>
              </a:spcBef>
              <a:spcAft>
                <a:spcPts val="0"/>
              </a:spcAft>
              <a:buSzPts val="16053"/>
              <a:buNone/>
              <a:defRPr sz="16053"/>
            </a:lvl6pPr>
            <a:lvl7pPr lvl="6" algn="ctr">
              <a:spcBef>
                <a:spcPts val="0"/>
              </a:spcBef>
              <a:spcAft>
                <a:spcPts val="0"/>
              </a:spcAft>
              <a:buSzPts val="16053"/>
              <a:buNone/>
              <a:defRPr sz="16053"/>
            </a:lvl7pPr>
            <a:lvl8pPr lvl="7" algn="ctr">
              <a:spcBef>
                <a:spcPts val="0"/>
              </a:spcBef>
              <a:spcAft>
                <a:spcPts val="0"/>
              </a:spcAft>
              <a:buSzPts val="16053"/>
              <a:buNone/>
              <a:defRPr sz="16053"/>
            </a:lvl8pPr>
            <a:lvl9pPr lvl="8" algn="ctr">
              <a:spcBef>
                <a:spcPts val="0"/>
              </a:spcBef>
              <a:spcAft>
                <a:spcPts val="0"/>
              </a:spcAft>
              <a:buSzPts val="16053"/>
              <a:buNone/>
              <a:defRPr sz="16053"/>
            </a:lvl9pPr>
          </a:lstStyle>
          <a:p/>
        </p:txBody>
      </p:sp>
      <p:sp>
        <p:nvSpPr>
          <p:cNvPr id="38" name="Google Shape;38;p9"/>
          <p:cNvSpPr txBox="1"/>
          <p:nvPr>
            <p:ph idx="1" type="subTitle"/>
          </p:nvPr>
        </p:nvSpPr>
        <p:spPr>
          <a:xfrm>
            <a:off x="955800" y="11959787"/>
            <a:ext cx="14562000" cy="5270400"/>
          </a:xfrm>
          <a:prstGeom prst="rect">
            <a:avLst/>
          </a:prstGeom>
        </p:spPr>
        <p:txBody>
          <a:bodyPr anchorCtr="0" anchor="t" bIns="349500" lIns="349500" spcFirstLastPara="1" rIns="349500" wrap="square" tIns="349500">
            <a:normAutofit/>
          </a:bodyPr>
          <a:lstStyle>
            <a:lvl1pPr lvl="0" algn="ctr">
              <a:lnSpc>
                <a:spcPct val="100000"/>
              </a:lnSpc>
              <a:spcBef>
                <a:spcPts val="0"/>
              </a:spcBef>
              <a:spcAft>
                <a:spcPts val="0"/>
              </a:spcAft>
              <a:buSzPts val="8027"/>
              <a:buNone/>
              <a:defRPr sz="8027"/>
            </a:lvl1pPr>
            <a:lvl2pPr lvl="1" algn="ctr">
              <a:lnSpc>
                <a:spcPct val="100000"/>
              </a:lnSpc>
              <a:spcBef>
                <a:spcPts val="0"/>
              </a:spcBef>
              <a:spcAft>
                <a:spcPts val="0"/>
              </a:spcAft>
              <a:buSzPts val="8027"/>
              <a:buNone/>
              <a:defRPr sz="8027"/>
            </a:lvl2pPr>
            <a:lvl3pPr lvl="2" algn="ctr">
              <a:lnSpc>
                <a:spcPct val="100000"/>
              </a:lnSpc>
              <a:spcBef>
                <a:spcPts val="0"/>
              </a:spcBef>
              <a:spcAft>
                <a:spcPts val="0"/>
              </a:spcAft>
              <a:buSzPts val="8027"/>
              <a:buNone/>
              <a:defRPr sz="8027"/>
            </a:lvl3pPr>
            <a:lvl4pPr lvl="3" algn="ctr">
              <a:lnSpc>
                <a:spcPct val="100000"/>
              </a:lnSpc>
              <a:spcBef>
                <a:spcPts val="0"/>
              </a:spcBef>
              <a:spcAft>
                <a:spcPts val="0"/>
              </a:spcAft>
              <a:buSzPts val="8027"/>
              <a:buNone/>
              <a:defRPr sz="8027"/>
            </a:lvl4pPr>
            <a:lvl5pPr lvl="4" algn="ctr">
              <a:lnSpc>
                <a:spcPct val="100000"/>
              </a:lnSpc>
              <a:spcBef>
                <a:spcPts val="0"/>
              </a:spcBef>
              <a:spcAft>
                <a:spcPts val="0"/>
              </a:spcAft>
              <a:buSzPts val="8027"/>
              <a:buNone/>
              <a:defRPr sz="8027"/>
            </a:lvl5pPr>
            <a:lvl6pPr lvl="5" algn="ctr">
              <a:lnSpc>
                <a:spcPct val="100000"/>
              </a:lnSpc>
              <a:spcBef>
                <a:spcPts val="0"/>
              </a:spcBef>
              <a:spcAft>
                <a:spcPts val="0"/>
              </a:spcAft>
              <a:buSzPts val="8027"/>
              <a:buNone/>
              <a:defRPr sz="8027"/>
            </a:lvl6pPr>
            <a:lvl7pPr lvl="6" algn="ctr">
              <a:lnSpc>
                <a:spcPct val="100000"/>
              </a:lnSpc>
              <a:spcBef>
                <a:spcPts val="0"/>
              </a:spcBef>
              <a:spcAft>
                <a:spcPts val="0"/>
              </a:spcAft>
              <a:buSzPts val="8027"/>
              <a:buNone/>
              <a:defRPr sz="8027"/>
            </a:lvl7pPr>
            <a:lvl8pPr lvl="7" algn="ctr">
              <a:lnSpc>
                <a:spcPct val="100000"/>
              </a:lnSpc>
              <a:spcBef>
                <a:spcPts val="0"/>
              </a:spcBef>
              <a:spcAft>
                <a:spcPts val="0"/>
              </a:spcAft>
              <a:buSzPts val="8027"/>
              <a:buNone/>
              <a:defRPr sz="8027"/>
            </a:lvl8pPr>
            <a:lvl9pPr lvl="8" algn="ctr">
              <a:lnSpc>
                <a:spcPct val="100000"/>
              </a:lnSpc>
              <a:spcBef>
                <a:spcPts val="0"/>
              </a:spcBef>
              <a:spcAft>
                <a:spcPts val="0"/>
              </a:spcAft>
              <a:buSzPts val="8027"/>
              <a:buNone/>
              <a:defRPr sz="8027"/>
            </a:lvl9pPr>
          </a:lstStyle>
          <a:p/>
        </p:txBody>
      </p:sp>
      <p:sp>
        <p:nvSpPr>
          <p:cNvPr id="39" name="Google Shape;39;p9"/>
          <p:cNvSpPr txBox="1"/>
          <p:nvPr>
            <p:ph idx="2" type="body"/>
          </p:nvPr>
        </p:nvSpPr>
        <p:spPr>
          <a:xfrm>
            <a:off x="17782200" y="3089387"/>
            <a:ext cx="13813200" cy="15764400"/>
          </a:xfrm>
          <a:prstGeom prst="rect">
            <a:avLst/>
          </a:prstGeom>
        </p:spPr>
        <p:txBody>
          <a:bodyPr anchorCtr="0" anchor="ctr" bIns="349500" lIns="349500" spcFirstLastPara="1" rIns="349500" wrap="square" tIns="349500">
            <a:normAutofit/>
          </a:bodyPr>
          <a:lstStyle>
            <a:lvl1pPr indent="-665477" lvl="0" marL="457200">
              <a:spcBef>
                <a:spcPts val="0"/>
              </a:spcBef>
              <a:spcAft>
                <a:spcPts val="0"/>
              </a:spcAft>
              <a:buSzPts val="6880"/>
              <a:buChar char="●"/>
              <a:defRPr sz="6880"/>
            </a:lvl1pPr>
            <a:lvl2pPr indent="-568399" lvl="1" marL="914400">
              <a:spcBef>
                <a:spcPts val="0"/>
              </a:spcBef>
              <a:spcAft>
                <a:spcPts val="0"/>
              </a:spcAft>
              <a:buSzPts val="5351"/>
              <a:buChar char="○"/>
              <a:defRPr sz="5351"/>
            </a:lvl2pPr>
            <a:lvl3pPr indent="-568399" lvl="2" marL="1371600">
              <a:spcBef>
                <a:spcPts val="0"/>
              </a:spcBef>
              <a:spcAft>
                <a:spcPts val="0"/>
              </a:spcAft>
              <a:buSzPts val="5351"/>
              <a:buChar char="■"/>
              <a:defRPr sz="5351"/>
            </a:lvl3pPr>
            <a:lvl4pPr indent="-568399" lvl="3" marL="1828800">
              <a:spcBef>
                <a:spcPts val="0"/>
              </a:spcBef>
              <a:spcAft>
                <a:spcPts val="0"/>
              </a:spcAft>
              <a:buSzPts val="5351"/>
              <a:buChar char="●"/>
              <a:defRPr sz="5351"/>
            </a:lvl4pPr>
            <a:lvl5pPr indent="-568399" lvl="4" marL="2286000">
              <a:spcBef>
                <a:spcPts val="0"/>
              </a:spcBef>
              <a:spcAft>
                <a:spcPts val="0"/>
              </a:spcAft>
              <a:buSzPts val="5351"/>
              <a:buChar char="○"/>
              <a:defRPr sz="5351"/>
            </a:lvl5pPr>
            <a:lvl6pPr indent="-568399" lvl="5" marL="2743200">
              <a:spcBef>
                <a:spcPts val="0"/>
              </a:spcBef>
              <a:spcAft>
                <a:spcPts val="0"/>
              </a:spcAft>
              <a:buSzPts val="5351"/>
              <a:buChar char="■"/>
              <a:defRPr sz="5351"/>
            </a:lvl6pPr>
            <a:lvl7pPr indent="-568399" lvl="6" marL="3200400">
              <a:spcBef>
                <a:spcPts val="0"/>
              </a:spcBef>
              <a:spcAft>
                <a:spcPts val="0"/>
              </a:spcAft>
              <a:buSzPts val="5351"/>
              <a:buChar char="●"/>
              <a:defRPr sz="5351"/>
            </a:lvl7pPr>
            <a:lvl8pPr indent="-568399" lvl="7" marL="3657600">
              <a:spcBef>
                <a:spcPts val="0"/>
              </a:spcBef>
              <a:spcAft>
                <a:spcPts val="0"/>
              </a:spcAft>
              <a:buSzPts val="5351"/>
              <a:buChar char="○"/>
              <a:defRPr sz="5351"/>
            </a:lvl8pPr>
            <a:lvl9pPr indent="-568399" lvl="8" marL="4114800">
              <a:spcBef>
                <a:spcPts val="0"/>
              </a:spcBef>
              <a:spcAft>
                <a:spcPts val="0"/>
              </a:spcAft>
              <a:buSzPts val="5351"/>
              <a:buChar char="■"/>
              <a:defRPr sz="5351"/>
            </a:lvl9pPr>
          </a:lstStyle>
          <a:p/>
        </p:txBody>
      </p:sp>
      <p:sp>
        <p:nvSpPr>
          <p:cNvPr id="40" name="Google Shape;40;p9"/>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122120" y="18050453"/>
            <a:ext cx="21596400" cy="2581200"/>
          </a:xfrm>
          <a:prstGeom prst="rect">
            <a:avLst/>
          </a:prstGeom>
        </p:spPr>
        <p:txBody>
          <a:bodyPr anchorCtr="0" anchor="ctr" bIns="349500" lIns="349500" spcFirstLastPara="1" rIns="349500" wrap="square" tIns="349500">
            <a:normAutofit/>
          </a:bodyPr>
          <a:lstStyle>
            <a:lvl1pPr indent="-228600" lvl="0" marL="457200">
              <a:lnSpc>
                <a:spcPct val="100000"/>
              </a:lnSpc>
              <a:spcBef>
                <a:spcPts val="0"/>
              </a:spcBef>
              <a:spcAft>
                <a:spcPts val="0"/>
              </a:spcAft>
              <a:buSzPts val="6880"/>
              <a:buNone/>
              <a:defRPr sz="6880"/>
            </a:lvl1pPr>
          </a:lstStyle>
          <a:p/>
        </p:txBody>
      </p:sp>
      <p:sp>
        <p:nvSpPr>
          <p:cNvPr id="43" name="Google Shape;43;p10"/>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122120" y="4719467"/>
            <a:ext cx="30675600" cy="8377200"/>
          </a:xfrm>
          <a:prstGeom prst="rect">
            <a:avLst/>
          </a:prstGeom>
        </p:spPr>
        <p:txBody>
          <a:bodyPr anchorCtr="0" anchor="b" bIns="349500" lIns="349500" spcFirstLastPara="1" rIns="349500" wrap="square" tIns="349500">
            <a:normAutofit/>
          </a:bodyPr>
          <a:lstStyle>
            <a:lvl1pPr lvl="0" algn="ctr">
              <a:spcBef>
                <a:spcPts val="0"/>
              </a:spcBef>
              <a:spcAft>
                <a:spcPts val="0"/>
              </a:spcAft>
              <a:buSzPts val="45867"/>
              <a:buNone/>
              <a:defRPr sz="45867"/>
            </a:lvl1pPr>
            <a:lvl2pPr lvl="1" algn="ctr">
              <a:spcBef>
                <a:spcPts val="0"/>
              </a:spcBef>
              <a:spcAft>
                <a:spcPts val="0"/>
              </a:spcAft>
              <a:buSzPts val="45867"/>
              <a:buNone/>
              <a:defRPr sz="45867"/>
            </a:lvl2pPr>
            <a:lvl3pPr lvl="2" algn="ctr">
              <a:spcBef>
                <a:spcPts val="0"/>
              </a:spcBef>
              <a:spcAft>
                <a:spcPts val="0"/>
              </a:spcAft>
              <a:buSzPts val="45867"/>
              <a:buNone/>
              <a:defRPr sz="45867"/>
            </a:lvl3pPr>
            <a:lvl4pPr lvl="3" algn="ctr">
              <a:spcBef>
                <a:spcPts val="0"/>
              </a:spcBef>
              <a:spcAft>
                <a:spcPts val="0"/>
              </a:spcAft>
              <a:buSzPts val="45867"/>
              <a:buNone/>
              <a:defRPr sz="45867"/>
            </a:lvl4pPr>
            <a:lvl5pPr lvl="4" algn="ctr">
              <a:spcBef>
                <a:spcPts val="0"/>
              </a:spcBef>
              <a:spcAft>
                <a:spcPts val="0"/>
              </a:spcAft>
              <a:buSzPts val="45867"/>
              <a:buNone/>
              <a:defRPr sz="45867"/>
            </a:lvl5pPr>
            <a:lvl6pPr lvl="5" algn="ctr">
              <a:spcBef>
                <a:spcPts val="0"/>
              </a:spcBef>
              <a:spcAft>
                <a:spcPts val="0"/>
              </a:spcAft>
              <a:buSzPts val="45867"/>
              <a:buNone/>
              <a:defRPr sz="45867"/>
            </a:lvl6pPr>
            <a:lvl7pPr lvl="6" algn="ctr">
              <a:spcBef>
                <a:spcPts val="0"/>
              </a:spcBef>
              <a:spcAft>
                <a:spcPts val="0"/>
              </a:spcAft>
              <a:buSzPts val="45867"/>
              <a:buNone/>
              <a:defRPr sz="45867"/>
            </a:lvl7pPr>
            <a:lvl8pPr lvl="7" algn="ctr">
              <a:spcBef>
                <a:spcPts val="0"/>
              </a:spcBef>
              <a:spcAft>
                <a:spcPts val="0"/>
              </a:spcAft>
              <a:buSzPts val="45867"/>
              <a:buNone/>
              <a:defRPr sz="45867"/>
            </a:lvl8pPr>
            <a:lvl9pPr lvl="8" algn="ctr">
              <a:spcBef>
                <a:spcPts val="0"/>
              </a:spcBef>
              <a:spcAft>
                <a:spcPts val="0"/>
              </a:spcAft>
              <a:buSzPts val="45867"/>
              <a:buNone/>
              <a:defRPr sz="45867"/>
            </a:lvl9pPr>
          </a:lstStyle>
          <a:p>
            <a:r>
              <a:t>xx%</a:t>
            </a:r>
          </a:p>
        </p:txBody>
      </p:sp>
      <p:sp>
        <p:nvSpPr>
          <p:cNvPr id="46" name="Google Shape;46;p11"/>
          <p:cNvSpPr txBox="1"/>
          <p:nvPr>
            <p:ph idx="1" type="body"/>
          </p:nvPr>
        </p:nvSpPr>
        <p:spPr>
          <a:xfrm>
            <a:off x="1122120" y="13449493"/>
            <a:ext cx="30675600" cy="5551200"/>
          </a:xfrm>
          <a:prstGeom prst="rect">
            <a:avLst/>
          </a:prstGeom>
        </p:spPr>
        <p:txBody>
          <a:bodyPr anchorCtr="0" anchor="t" bIns="349500" lIns="349500" spcFirstLastPara="1" rIns="349500" wrap="square" tIns="349500">
            <a:normAutofit/>
          </a:bodyPr>
          <a:lstStyle>
            <a:lvl1pPr indent="-665477" lvl="0" marL="457200" algn="ctr">
              <a:spcBef>
                <a:spcPts val="0"/>
              </a:spcBef>
              <a:spcAft>
                <a:spcPts val="0"/>
              </a:spcAft>
              <a:buSzPts val="6880"/>
              <a:buChar char="●"/>
              <a:defRPr sz="6880"/>
            </a:lvl1pPr>
            <a:lvl2pPr indent="-568399" lvl="1" marL="914400" algn="ctr">
              <a:spcBef>
                <a:spcPts val="0"/>
              </a:spcBef>
              <a:spcAft>
                <a:spcPts val="0"/>
              </a:spcAft>
              <a:buSzPts val="5351"/>
              <a:buChar char="○"/>
              <a:defRPr sz="5351"/>
            </a:lvl2pPr>
            <a:lvl3pPr indent="-568399" lvl="2" marL="1371600" algn="ctr">
              <a:spcBef>
                <a:spcPts val="0"/>
              </a:spcBef>
              <a:spcAft>
                <a:spcPts val="0"/>
              </a:spcAft>
              <a:buSzPts val="5351"/>
              <a:buChar char="■"/>
              <a:defRPr sz="5351"/>
            </a:lvl3pPr>
            <a:lvl4pPr indent="-568399" lvl="3" marL="1828800" algn="ctr">
              <a:spcBef>
                <a:spcPts val="0"/>
              </a:spcBef>
              <a:spcAft>
                <a:spcPts val="0"/>
              </a:spcAft>
              <a:buSzPts val="5351"/>
              <a:buChar char="●"/>
              <a:defRPr sz="5351"/>
            </a:lvl4pPr>
            <a:lvl5pPr indent="-568399" lvl="4" marL="2286000" algn="ctr">
              <a:spcBef>
                <a:spcPts val="0"/>
              </a:spcBef>
              <a:spcAft>
                <a:spcPts val="0"/>
              </a:spcAft>
              <a:buSzPts val="5351"/>
              <a:buChar char="○"/>
              <a:defRPr sz="5351"/>
            </a:lvl5pPr>
            <a:lvl6pPr indent="-568399" lvl="5" marL="2743200" algn="ctr">
              <a:spcBef>
                <a:spcPts val="0"/>
              </a:spcBef>
              <a:spcAft>
                <a:spcPts val="0"/>
              </a:spcAft>
              <a:buSzPts val="5351"/>
              <a:buChar char="■"/>
              <a:defRPr sz="5351"/>
            </a:lvl6pPr>
            <a:lvl7pPr indent="-568399" lvl="6" marL="3200400" algn="ctr">
              <a:spcBef>
                <a:spcPts val="0"/>
              </a:spcBef>
              <a:spcAft>
                <a:spcPts val="0"/>
              </a:spcAft>
              <a:buSzPts val="5351"/>
              <a:buChar char="●"/>
              <a:defRPr sz="5351"/>
            </a:lvl7pPr>
            <a:lvl8pPr indent="-568399" lvl="7" marL="3657600" algn="ctr">
              <a:spcBef>
                <a:spcPts val="0"/>
              </a:spcBef>
              <a:spcAft>
                <a:spcPts val="0"/>
              </a:spcAft>
              <a:buSzPts val="5351"/>
              <a:buChar char="○"/>
              <a:defRPr sz="5351"/>
            </a:lvl8pPr>
            <a:lvl9pPr indent="-568399" lvl="8" marL="4114800" algn="ctr">
              <a:spcBef>
                <a:spcPts val="0"/>
              </a:spcBef>
              <a:spcAft>
                <a:spcPts val="0"/>
              </a:spcAft>
              <a:buSzPts val="5351"/>
              <a:buChar char="■"/>
              <a:defRPr sz="5351"/>
            </a:lvl9pPr>
          </a:lstStyle>
          <a:p/>
        </p:txBody>
      </p:sp>
      <p:sp>
        <p:nvSpPr>
          <p:cNvPr id="47" name="Google Shape;47;p11"/>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30500848" y="19896392"/>
            <a:ext cx="1976400" cy="1677600"/>
          </a:xfrm>
          <a:prstGeom prst="rect">
            <a:avLst/>
          </a:prstGeom>
        </p:spPr>
        <p:txBody>
          <a:bodyPr anchorCtr="0" anchor="ctr" bIns="349500" lIns="349500" spcFirstLastPara="1" rIns="349500" wrap="square" tIns="349500">
            <a:normAutofit/>
          </a:bodyPr>
          <a:lstStyle>
            <a:lvl1pPr lvl="0">
              <a:buNone/>
              <a:defRPr sz="3822"/>
            </a:lvl1pPr>
            <a:lvl2pPr lvl="1">
              <a:buNone/>
              <a:defRPr sz="3822"/>
            </a:lvl2pPr>
            <a:lvl3pPr lvl="2">
              <a:buNone/>
              <a:defRPr sz="3822"/>
            </a:lvl3pPr>
            <a:lvl4pPr lvl="3">
              <a:buNone/>
              <a:defRPr sz="3822"/>
            </a:lvl4pPr>
            <a:lvl5pPr lvl="4">
              <a:buNone/>
              <a:defRPr sz="3822"/>
            </a:lvl5pPr>
            <a:lvl6pPr lvl="5">
              <a:buNone/>
              <a:defRPr sz="3822"/>
            </a:lvl6pPr>
            <a:lvl7pPr lvl="6">
              <a:buNone/>
              <a:defRPr sz="3822"/>
            </a:lvl7pPr>
            <a:lvl8pPr lvl="7">
              <a:buNone/>
              <a:defRPr sz="3822"/>
            </a:lvl8pPr>
            <a:lvl9pPr lvl="8">
              <a:buNone/>
              <a:defRPr sz="3822"/>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4114800" y="3591562"/>
            <a:ext cx="24688800" cy="7640400"/>
          </a:xfrm>
          <a:prstGeom prst="rect">
            <a:avLst/>
          </a:prstGeom>
          <a:noFill/>
          <a:ln>
            <a:noFill/>
          </a:ln>
        </p:spPr>
        <p:txBody>
          <a:bodyPr anchorCtr="0" anchor="b" bIns="131000" lIns="262075" spcFirstLastPara="1" rIns="262075" wrap="square" tIns="131000">
            <a:normAutofit/>
          </a:bodyPr>
          <a:lstStyle>
            <a:lvl1pPr lvl="0" algn="ctr">
              <a:lnSpc>
                <a:spcPct val="90000"/>
              </a:lnSpc>
              <a:spcBef>
                <a:spcPts val="0"/>
              </a:spcBef>
              <a:spcAft>
                <a:spcPts val="0"/>
              </a:spcAft>
              <a:buClr>
                <a:schemeClr val="dk1"/>
              </a:buClr>
              <a:buSzPts val="17160"/>
              <a:buFont typeface="Play"/>
              <a:buNone/>
              <a:defRPr sz="1716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58" name="Google Shape;58;p14"/>
          <p:cNvSpPr txBox="1"/>
          <p:nvPr>
            <p:ph idx="1" type="subTitle"/>
          </p:nvPr>
        </p:nvSpPr>
        <p:spPr>
          <a:xfrm>
            <a:off x="4114800" y="11526522"/>
            <a:ext cx="24688800" cy="5298300"/>
          </a:xfrm>
          <a:prstGeom prst="rect">
            <a:avLst/>
          </a:prstGeom>
          <a:noFill/>
          <a:ln>
            <a:noFill/>
          </a:ln>
        </p:spPr>
        <p:txBody>
          <a:bodyPr anchorCtr="0" anchor="t" bIns="131000" lIns="262075" spcFirstLastPara="1" rIns="262075" wrap="square" tIns="131000">
            <a:normAutofit/>
          </a:bodyPr>
          <a:lstStyle>
            <a:lvl1pPr lvl="0" algn="ctr">
              <a:lnSpc>
                <a:spcPct val="90000"/>
              </a:lnSpc>
              <a:spcBef>
                <a:spcPts val="2880"/>
              </a:spcBef>
              <a:spcAft>
                <a:spcPts val="0"/>
              </a:spcAft>
              <a:buClr>
                <a:schemeClr val="dk1"/>
              </a:buClr>
              <a:buSzPts val="6840"/>
              <a:buNone/>
              <a:defRPr sz="6840"/>
            </a:lvl1pPr>
            <a:lvl2pPr lvl="1" algn="ctr">
              <a:lnSpc>
                <a:spcPct val="90000"/>
              </a:lnSpc>
              <a:spcBef>
                <a:spcPts val="1440"/>
              </a:spcBef>
              <a:spcAft>
                <a:spcPts val="0"/>
              </a:spcAft>
              <a:buClr>
                <a:schemeClr val="dk1"/>
              </a:buClr>
              <a:buSzPts val="5760"/>
              <a:buNone/>
              <a:defRPr sz="5760"/>
            </a:lvl2pPr>
            <a:lvl3pPr lvl="2" algn="ctr">
              <a:lnSpc>
                <a:spcPct val="90000"/>
              </a:lnSpc>
              <a:spcBef>
                <a:spcPts val="1440"/>
              </a:spcBef>
              <a:spcAft>
                <a:spcPts val="0"/>
              </a:spcAft>
              <a:buClr>
                <a:schemeClr val="dk1"/>
              </a:buClr>
              <a:buSzPts val="5160"/>
              <a:buNone/>
              <a:defRPr sz="5160"/>
            </a:lvl3pPr>
            <a:lvl4pPr lvl="3" algn="ctr">
              <a:lnSpc>
                <a:spcPct val="90000"/>
              </a:lnSpc>
              <a:spcBef>
                <a:spcPts val="1440"/>
              </a:spcBef>
              <a:spcAft>
                <a:spcPts val="0"/>
              </a:spcAft>
              <a:buClr>
                <a:schemeClr val="dk1"/>
              </a:buClr>
              <a:buSzPts val="4560"/>
              <a:buNone/>
              <a:defRPr sz="4560"/>
            </a:lvl4pPr>
            <a:lvl5pPr lvl="4" algn="ctr">
              <a:lnSpc>
                <a:spcPct val="90000"/>
              </a:lnSpc>
              <a:spcBef>
                <a:spcPts val="1440"/>
              </a:spcBef>
              <a:spcAft>
                <a:spcPts val="0"/>
              </a:spcAft>
              <a:buClr>
                <a:schemeClr val="dk1"/>
              </a:buClr>
              <a:buSzPts val="4560"/>
              <a:buNone/>
              <a:defRPr sz="4560"/>
            </a:lvl5pPr>
            <a:lvl6pPr lvl="5" algn="ctr">
              <a:lnSpc>
                <a:spcPct val="90000"/>
              </a:lnSpc>
              <a:spcBef>
                <a:spcPts val="1440"/>
              </a:spcBef>
              <a:spcAft>
                <a:spcPts val="0"/>
              </a:spcAft>
              <a:buClr>
                <a:schemeClr val="dk1"/>
              </a:buClr>
              <a:buSzPts val="4560"/>
              <a:buNone/>
              <a:defRPr sz="4560"/>
            </a:lvl6pPr>
            <a:lvl7pPr lvl="6" algn="ctr">
              <a:lnSpc>
                <a:spcPct val="90000"/>
              </a:lnSpc>
              <a:spcBef>
                <a:spcPts val="1440"/>
              </a:spcBef>
              <a:spcAft>
                <a:spcPts val="0"/>
              </a:spcAft>
              <a:buClr>
                <a:schemeClr val="dk1"/>
              </a:buClr>
              <a:buSzPts val="4560"/>
              <a:buNone/>
              <a:defRPr sz="4560"/>
            </a:lvl7pPr>
            <a:lvl8pPr lvl="7" algn="ctr">
              <a:lnSpc>
                <a:spcPct val="90000"/>
              </a:lnSpc>
              <a:spcBef>
                <a:spcPts val="1440"/>
              </a:spcBef>
              <a:spcAft>
                <a:spcPts val="0"/>
              </a:spcAft>
              <a:buClr>
                <a:schemeClr val="dk1"/>
              </a:buClr>
              <a:buSzPts val="4560"/>
              <a:buNone/>
              <a:defRPr sz="4560"/>
            </a:lvl8pPr>
            <a:lvl9pPr lvl="8" algn="ctr">
              <a:lnSpc>
                <a:spcPct val="90000"/>
              </a:lnSpc>
              <a:spcBef>
                <a:spcPts val="1440"/>
              </a:spcBef>
              <a:spcAft>
                <a:spcPts val="0"/>
              </a:spcAft>
              <a:buClr>
                <a:schemeClr val="dk1"/>
              </a:buClr>
              <a:buSzPts val="4560"/>
              <a:buNone/>
              <a:defRPr sz="4560"/>
            </a:lvl9pPr>
          </a:lstStyle>
          <a:p/>
        </p:txBody>
      </p:sp>
      <p:sp>
        <p:nvSpPr>
          <p:cNvPr id="59" name="Google Shape;59;p14"/>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60" name="Google Shape;60;p14"/>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61" name="Google Shape;61;p14"/>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2263140" y="1168400"/>
            <a:ext cx="28392000" cy="4241700"/>
          </a:xfrm>
          <a:prstGeom prst="rect">
            <a:avLst/>
          </a:prstGeom>
          <a:noFill/>
          <a:ln>
            <a:noFill/>
          </a:ln>
        </p:spPr>
        <p:txBody>
          <a:bodyPr anchorCtr="0" anchor="ctr" bIns="131000" lIns="262075" spcFirstLastPara="1" rIns="262075" wrap="square" tIns="131000">
            <a:normAutofit/>
          </a:bodyPr>
          <a:lstStyle>
            <a:lvl1pPr lvl="0" algn="l">
              <a:lnSpc>
                <a:spcPct val="90000"/>
              </a:lnSpc>
              <a:spcBef>
                <a:spcPts val="0"/>
              </a:spcBef>
              <a:spcAft>
                <a:spcPts val="0"/>
              </a:spcAft>
              <a:buClr>
                <a:schemeClr val="dk1"/>
              </a:buClr>
              <a:buSzPts val="5160"/>
              <a:buNone/>
              <a:defRPr sz="1260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64" name="Google Shape;64;p15"/>
          <p:cNvSpPr txBox="1"/>
          <p:nvPr>
            <p:ph idx="1" type="body"/>
          </p:nvPr>
        </p:nvSpPr>
        <p:spPr>
          <a:xfrm>
            <a:off x="2263140" y="5842000"/>
            <a:ext cx="28392000" cy="13924200"/>
          </a:xfrm>
          <a:prstGeom prst="rect">
            <a:avLst/>
          </a:prstGeom>
          <a:noFill/>
          <a:ln>
            <a:noFill/>
          </a:ln>
        </p:spPr>
        <p:txBody>
          <a:bodyPr anchorCtr="0" anchor="t" bIns="131000" lIns="262075" spcFirstLastPara="1" rIns="262075" wrap="square" tIns="131000">
            <a:normAutofit/>
          </a:bodyPr>
          <a:lstStyle>
            <a:lvl1pPr indent="-556260" lvl="0" marL="457200" algn="l">
              <a:lnSpc>
                <a:spcPct val="90000"/>
              </a:lnSpc>
              <a:spcBef>
                <a:spcPts val="2880"/>
              </a:spcBef>
              <a:spcAft>
                <a:spcPts val="0"/>
              </a:spcAft>
              <a:buClr>
                <a:schemeClr val="dk1"/>
              </a:buClr>
              <a:buSzPts val="5160"/>
              <a:buChar char="•"/>
              <a:defRPr sz="8040"/>
            </a:lvl1pPr>
            <a:lvl2pPr indent="-556260" lvl="1" marL="914400" algn="l">
              <a:lnSpc>
                <a:spcPct val="90000"/>
              </a:lnSpc>
              <a:spcBef>
                <a:spcPts val="1440"/>
              </a:spcBef>
              <a:spcAft>
                <a:spcPts val="0"/>
              </a:spcAft>
              <a:buClr>
                <a:schemeClr val="dk1"/>
              </a:buClr>
              <a:buSzPts val="5160"/>
              <a:buChar char="•"/>
              <a:defRPr sz="6840"/>
            </a:lvl2pPr>
            <a:lvl3pPr indent="-556260" lvl="2" marL="1371600" algn="l">
              <a:lnSpc>
                <a:spcPct val="90000"/>
              </a:lnSpc>
              <a:spcBef>
                <a:spcPts val="1440"/>
              </a:spcBef>
              <a:spcAft>
                <a:spcPts val="0"/>
              </a:spcAft>
              <a:buClr>
                <a:schemeClr val="dk1"/>
              </a:buClr>
              <a:buSzPts val="5160"/>
              <a:buChar char="•"/>
              <a:defRPr sz="5760"/>
            </a:lvl3pPr>
            <a:lvl4pPr indent="-556260" lvl="3" marL="1828800" algn="l">
              <a:lnSpc>
                <a:spcPct val="90000"/>
              </a:lnSpc>
              <a:spcBef>
                <a:spcPts val="1440"/>
              </a:spcBef>
              <a:spcAft>
                <a:spcPts val="0"/>
              </a:spcAft>
              <a:buClr>
                <a:schemeClr val="dk1"/>
              </a:buClr>
              <a:buSzPts val="5160"/>
              <a:buChar char="•"/>
              <a:defRPr sz="5160"/>
            </a:lvl4pPr>
            <a:lvl5pPr indent="-556260" lvl="4" marL="2286000" algn="l">
              <a:lnSpc>
                <a:spcPct val="90000"/>
              </a:lnSpc>
              <a:spcBef>
                <a:spcPts val="1440"/>
              </a:spcBef>
              <a:spcAft>
                <a:spcPts val="0"/>
              </a:spcAft>
              <a:buClr>
                <a:schemeClr val="dk1"/>
              </a:buClr>
              <a:buSzPts val="5160"/>
              <a:buChar char="•"/>
              <a:defRPr sz="5160"/>
            </a:lvl5pPr>
            <a:lvl6pPr indent="-556260" lvl="5" marL="2743200" algn="l">
              <a:lnSpc>
                <a:spcPct val="90000"/>
              </a:lnSpc>
              <a:spcBef>
                <a:spcPts val="1440"/>
              </a:spcBef>
              <a:spcAft>
                <a:spcPts val="0"/>
              </a:spcAft>
              <a:buClr>
                <a:schemeClr val="dk1"/>
              </a:buClr>
              <a:buSzPts val="5160"/>
              <a:buChar char="•"/>
              <a:defRPr sz="5160"/>
            </a:lvl6pPr>
            <a:lvl7pPr indent="-556260" lvl="6" marL="3200400" algn="l">
              <a:lnSpc>
                <a:spcPct val="90000"/>
              </a:lnSpc>
              <a:spcBef>
                <a:spcPts val="1440"/>
              </a:spcBef>
              <a:spcAft>
                <a:spcPts val="0"/>
              </a:spcAft>
              <a:buClr>
                <a:schemeClr val="dk1"/>
              </a:buClr>
              <a:buSzPts val="5160"/>
              <a:buChar char="•"/>
              <a:defRPr sz="5160"/>
            </a:lvl7pPr>
            <a:lvl8pPr indent="-556260" lvl="7" marL="3657600" algn="l">
              <a:lnSpc>
                <a:spcPct val="90000"/>
              </a:lnSpc>
              <a:spcBef>
                <a:spcPts val="1440"/>
              </a:spcBef>
              <a:spcAft>
                <a:spcPts val="0"/>
              </a:spcAft>
              <a:buClr>
                <a:schemeClr val="dk1"/>
              </a:buClr>
              <a:buSzPts val="5160"/>
              <a:buChar char="•"/>
              <a:defRPr sz="5160"/>
            </a:lvl8pPr>
            <a:lvl9pPr indent="-556260" lvl="8" marL="4114800" algn="l">
              <a:lnSpc>
                <a:spcPct val="90000"/>
              </a:lnSpc>
              <a:spcBef>
                <a:spcPts val="1440"/>
              </a:spcBef>
              <a:spcAft>
                <a:spcPts val="0"/>
              </a:spcAft>
              <a:buClr>
                <a:schemeClr val="dk1"/>
              </a:buClr>
              <a:buSzPts val="5160"/>
              <a:buChar char="•"/>
              <a:defRPr sz="5160"/>
            </a:lvl9pPr>
          </a:lstStyle>
          <a:p/>
        </p:txBody>
      </p:sp>
      <p:sp>
        <p:nvSpPr>
          <p:cNvPr id="65" name="Google Shape;65;p15"/>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66" name="Google Shape;66;p15"/>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67" name="Google Shape;67;p15"/>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2245995" y="5471162"/>
            <a:ext cx="28392000" cy="9128700"/>
          </a:xfrm>
          <a:prstGeom prst="rect">
            <a:avLst/>
          </a:prstGeom>
          <a:noFill/>
          <a:ln>
            <a:noFill/>
          </a:ln>
        </p:spPr>
        <p:txBody>
          <a:bodyPr anchorCtr="0" anchor="b" bIns="131000" lIns="262075" spcFirstLastPara="1" rIns="262075" wrap="square" tIns="131000">
            <a:normAutofit/>
          </a:bodyPr>
          <a:lstStyle>
            <a:lvl1pPr lvl="0" algn="l">
              <a:lnSpc>
                <a:spcPct val="90000"/>
              </a:lnSpc>
              <a:spcBef>
                <a:spcPts val="0"/>
              </a:spcBef>
              <a:spcAft>
                <a:spcPts val="0"/>
              </a:spcAft>
              <a:buClr>
                <a:schemeClr val="dk1"/>
              </a:buClr>
              <a:buSzPts val="17160"/>
              <a:buFont typeface="Play"/>
              <a:buNone/>
              <a:defRPr sz="1716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70" name="Google Shape;70;p16"/>
          <p:cNvSpPr txBox="1"/>
          <p:nvPr>
            <p:ph idx="1" type="body"/>
          </p:nvPr>
        </p:nvSpPr>
        <p:spPr>
          <a:xfrm>
            <a:off x="2245995" y="14686282"/>
            <a:ext cx="28392000" cy="4800600"/>
          </a:xfrm>
          <a:prstGeom prst="rect">
            <a:avLst/>
          </a:prstGeom>
          <a:noFill/>
          <a:ln>
            <a:noFill/>
          </a:ln>
        </p:spPr>
        <p:txBody>
          <a:bodyPr anchorCtr="0" anchor="t" bIns="131000" lIns="262075" spcFirstLastPara="1" rIns="262075" wrap="square" tIns="131000">
            <a:normAutofit/>
          </a:bodyPr>
          <a:lstStyle>
            <a:lvl1pPr indent="-228600" lvl="0" marL="457200" algn="l">
              <a:lnSpc>
                <a:spcPct val="90000"/>
              </a:lnSpc>
              <a:spcBef>
                <a:spcPts val="2880"/>
              </a:spcBef>
              <a:spcAft>
                <a:spcPts val="0"/>
              </a:spcAft>
              <a:buClr>
                <a:srgbClr val="757575"/>
              </a:buClr>
              <a:buSzPts val="6840"/>
              <a:buNone/>
              <a:defRPr sz="6840">
                <a:solidFill>
                  <a:srgbClr val="757575"/>
                </a:solidFill>
              </a:defRPr>
            </a:lvl1pPr>
            <a:lvl2pPr indent="-228600" lvl="1" marL="914400" algn="l">
              <a:lnSpc>
                <a:spcPct val="90000"/>
              </a:lnSpc>
              <a:spcBef>
                <a:spcPts val="1440"/>
              </a:spcBef>
              <a:spcAft>
                <a:spcPts val="0"/>
              </a:spcAft>
              <a:buClr>
                <a:srgbClr val="757575"/>
              </a:buClr>
              <a:buSzPts val="5760"/>
              <a:buNone/>
              <a:defRPr sz="5760">
                <a:solidFill>
                  <a:srgbClr val="757575"/>
                </a:solidFill>
              </a:defRPr>
            </a:lvl2pPr>
            <a:lvl3pPr indent="-228600" lvl="2" marL="1371600" algn="l">
              <a:lnSpc>
                <a:spcPct val="90000"/>
              </a:lnSpc>
              <a:spcBef>
                <a:spcPts val="1440"/>
              </a:spcBef>
              <a:spcAft>
                <a:spcPts val="0"/>
              </a:spcAft>
              <a:buClr>
                <a:srgbClr val="757575"/>
              </a:buClr>
              <a:buSzPts val="5160"/>
              <a:buNone/>
              <a:defRPr sz="5160">
                <a:solidFill>
                  <a:srgbClr val="757575"/>
                </a:solidFill>
              </a:defRPr>
            </a:lvl3pPr>
            <a:lvl4pPr indent="-228600" lvl="3" marL="1828800" algn="l">
              <a:lnSpc>
                <a:spcPct val="90000"/>
              </a:lnSpc>
              <a:spcBef>
                <a:spcPts val="1440"/>
              </a:spcBef>
              <a:spcAft>
                <a:spcPts val="0"/>
              </a:spcAft>
              <a:buClr>
                <a:srgbClr val="757575"/>
              </a:buClr>
              <a:buSzPts val="4560"/>
              <a:buNone/>
              <a:defRPr sz="4560">
                <a:solidFill>
                  <a:srgbClr val="757575"/>
                </a:solidFill>
              </a:defRPr>
            </a:lvl4pPr>
            <a:lvl5pPr indent="-228600" lvl="4" marL="2286000" algn="l">
              <a:lnSpc>
                <a:spcPct val="90000"/>
              </a:lnSpc>
              <a:spcBef>
                <a:spcPts val="1440"/>
              </a:spcBef>
              <a:spcAft>
                <a:spcPts val="0"/>
              </a:spcAft>
              <a:buClr>
                <a:srgbClr val="757575"/>
              </a:buClr>
              <a:buSzPts val="4560"/>
              <a:buNone/>
              <a:defRPr sz="4560">
                <a:solidFill>
                  <a:srgbClr val="757575"/>
                </a:solidFill>
              </a:defRPr>
            </a:lvl5pPr>
            <a:lvl6pPr indent="-228600" lvl="5" marL="2743200" algn="l">
              <a:lnSpc>
                <a:spcPct val="90000"/>
              </a:lnSpc>
              <a:spcBef>
                <a:spcPts val="1440"/>
              </a:spcBef>
              <a:spcAft>
                <a:spcPts val="0"/>
              </a:spcAft>
              <a:buClr>
                <a:srgbClr val="757575"/>
              </a:buClr>
              <a:buSzPts val="4560"/>
              <a:buNone/>
              <a:defRPr sz="4560">
                <a:solidFill>
                  <a:srgbClr val="757575"/>
                </a:solidFill>
              </a:defRPr>
            </a:lvl6pPr>
            <a:lvl7pPr indent="-228600" lvl="6" marL="3200400" algn="l">
              <a:lnSpc>
                <a:spcPct val="90000"/>
              </a:lnSpc>
              <a:spcBef>
                <a:spcPts val="1440"/>
              </a:spcBef>
              <a:spcAft>
                <a:spcPts val="0"/>
              </a:spcAft>
              <a:buClr>
                <a:srgbClr val="757575"/>
              </a:buClr>
              <a:buSzPts val="4560"/>
              <a:buNone/>
              <a:defRPr sz="4560">
                <a:solidFill>
                  <a:srgbClr val="757575"/>
                </a:solidFill>
              </a:defRPr>
            </a:lvl7pPr>
            <a:lvl8pPr indent="-228600" lvl="7" marL="3657600" algn="l">
              <a:lnSpc>
                <a:spcPct val="90000"/>
              </a:lnSpc>
              <a:spcBef>
                <a:spcPts val="1440"/>
              </a:spcBef>
              <a:spcAft>
                <a:spcPts val="0"/>
              </a:spcAft>
              <a:buClr>
                <a:srgbClr val="757575"/>
              </a:buClr>
              <a:buSzPts val="4560"/>
              <a:buNone/>
              <a:defRPr sz="4560">
                <a:solidFill>
                  <a:srgbClr val="757575"/>
                </a:solidFill>
              </a:defRPr>
            </a:lvl8pPr>
            <a:lvl9pPr indent="-228600" lvl="8" marL="4114800" algn="l">
              <a:lnSpc>
                <a:spcPct val="90000"/>
              </a:lnSpc>
              <a:spcBef>
                <a:spcPts val="1440"/>
              </a:spcBef>
              <a:spcAft>
                <a:spcPts val="0"/>
              </a:spcAft>
              <a:buClr>
                <a:srgbClr val="757575"/>
              </a:buClr>
              <a:buSzPts val="4560"/>
              <a:buNone/>
              <a:defRPr sz="4560">
                <a:solidFill>
                  <a:srgbClr val="757575"/>
                </a:solidFill>
              </a:defRPr>
            </a:lvl9pPr>
          </a:lstStyle>
          <a:p/>
        </p:txBody>
      </p:sp>
      <p:sp>
        <p:nvSpPr>
          <p:cNvPr id="71" name="Google Shape;71;p16"/>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72" name="Google Shape;72;p16"/>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73" name="Google Shape;73;p16"/>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2263140" y="1168400"/>
            <a:ext cx="28392000" cy="4241700"/>
          </a:xfrm>
          <a:prstGeom prst="rect">
            <a:avLst/>
          </a:prstGeom>
          <a:noFill/>
          <a:ln>
            <a:noFill/>
          </a:ln>
        </p:spPr>
        <p:txBody>
          <a:bodyPr anchorCtr="0" anchor="ctr" bIns="131000" lIns="262075" spcFirstLastPara="1" rIns="262075" wrap="square" tIns="131000">
            <a:normAutofit/>
          </a:bodyPr>
          <a:lstStyle>
            <a:lvl1pPr lvl="0" algn="l">
              <a:lnSpc>
                <a:spcPct val="90000"/>
              </a:lnSpc>
              <a:spcBef>
                <a:spcPts val="0"/>
              </a:spcBef>
              <a:spcAft>
                <a:spcPts val="0"/>
              </a:spcAft>
              <a:buClr>
                <a:schemeClr val="dk1"/>
              </a:buClr>
              <a:buSzPts val="5160"/>
              <a:buNone/>
              <a:defRPr sz="1260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76" name="Google Shape;76;p17"/>
          <p:cNvSpPr txBox="1"/>
          <p:nvPr>
            <p:ph idx="1" type="body"/>
          </p:nvPr>
        </p:nvSpPr>
        <p:spPr>
          <a:xfrm>
            <a:off x="2263140" y="5842000"/>
            <a:ext cx="13990200" cy="13924200"/>
          </a:xfrm>
          <a:prstGeom prst="rect">
            <a:avLst/>
          </a:prstGeom>
          <a:noFill/>
          <a:ln>
            <a:noFill/>
          </a:ln>
        </p:spPr>
        <p:txBody>
          <a:bodyPr anchorCtr="0" anchor="t" bIns="131000" lIns="262075" spcFirstLastPara="1" rIns="262075" wrap="square" tIns="131000">
            <a:normAutofit/>
          </a:bodyPr>
          <a:lstStyle>
            <a:lvl1pPr indent="-556260" lvl="0" marL="457200" algn="l">
              <a:lnSpc>
                <a:spcPct val="90000"/>
              </a:lnSpc>
              <a:spcBef>
                <a:spcPts val="2880"/>
              </a:spcBef>
              <a:spcAft>
                <a:spcPts val="0"/>
              </a:spcAft>
              <a:buClr>
                <a:schemeClr val="dk1"/>
              </a:buClr>
              <a:buSzPts val="5160"/>
              <a:buChar char="•"/>
              <a:defRPr sz="8040"/>
            </a:lvl1pPr>
            <a:lvl2pPr indent="-556260" lvl="1" marL="914400" algn="l">
              <a:lnSpc>
                <a:spcPct val="90000"/>
              </a:lnSpc>
              <a:spcBef>
                <a:spcPts val="1440"/>
              </a:spcBef>
              <a:spcAft>
                <a:spcPts val="0"/>
              </a:spcAft>
              <a:buClr>
                <a:schemeClr val="dk1"/>
              </a:buClr>
              <a:buSzPts val="5160"/>
              <a:buChar char="•"/>
              <a:defRPr sz="6840"/>
            </a:lvl2pPr>
            <a:lvl3pPr indent="-556260" lvl="2" marL="1371600" algn="l">
              <a:lnSpc>
                <a:spcPct val="90000"/>
              </a:lnSpc>
              <a:spcBef>
                <a:spcPts val="1440"/>
              </a:spcBef>
              <a:spcAft>
                <a:spcPts val="0"/>
              </a:spcAft>
              <a:buClr>
                <a:schemeClr val="dk1"/>
              </a:buClr>
              <a:buSzPts val="5160"/>
              <a:buChar char="•"/>
              <a:defRPr sz="5760"/>
            </a:lvl3pPr>
            <a:lvl4pPr indent="-556260" lvl="3" marL="1828800" algn="l">
              <a:lnSpc>
                <a:spcPct val="90000"/>
              </a:lnSpc>
              <a:spcBef>
                <a:spcPts val="1440"/>
              </a:spcBef>
              <a:spcAft>
                <a:spcPts val="0"/>
              </a:spcAft>
              <a:buClr>
                <a:schemeClr val="dk1"/>
              </a:buClr>
              <a:buSzPts val="5160"/>
              <a:buChar char="•"/>
              <a:defRPr sz="5160"/>
            </a:lvl4pPr>
            <a:lvl5pPr indent="-556260" lvl="4" marL="2286000" algn="l">
              <a:lnSpc>
                <a:spcPct val="90000"/>
              </a:lnSpc>
              <a:spcBef>
                <a:spcPts val="1440"/>
              </a:spcBef>
              <a:spcAft>
                <a:spcPts val="0"/>
              </a:spcAft>
              <a:buClr>
                <a:schemeClr val="dk1"/>
              </a:buClr>
              <a:buSzPts val="5160"/>
              <a:buChar char="•"/>
              <a:defRPr sz="5160"/>
            </a:lvl5pPr>
            <a:lvl6pPr indent="-556260" lvl="5" marL="2743200" algn="l">
              <a:lnSpc>
                <a:spcPct val="90000"/>
              </a:lnSpc>
              <a:spcBef>
                <a:spcPts val="1440"/>
              </a:spcBef>
              <a:spcAft>
                <a:spcPts val="0"/>
              </a:spcAft>
              <a:buClr>
                <a:schemeClr val="dk1"/>
              </a:buClr>
              <a:buSzPts val="5160"/>
              <a:buChar char="•"/>
              <a:defRPr sz="5160"/>
            </a:lvl6pPr>
            <a:lvl7pPr indent="-556260" lvl="6" marL="3200400" algn="l">
              <a:lnSpc>
                <a:spcPct val="90000"/>
              </a:lnSpc>
              <a:spcBef>
                <a:spcPts val="1440"/>
              </a:spcBef>
              <a:spcAft>
                <a:spcPts val="0"/>
              </a:spcAft>
              <a:buClr>
                <a:schemeClr val="dk1"/>
              </a:buClr>
              <a:buSzPts val="5160"/>
              <a:buChar char="•"/>
              <a:defRPr sz="5160"/>
            </a:lvl7pPr>
            <a:lvl8pPr indent="-556260" lvl="7" marL="3657600" algn="l">
              <a:lnSpc>
                <a:spcPct val="90000"/>
              </a:lnSpc>
              <a:spcBef>
                <a:spcPts val="1440"/>
              </a:spcBef>
              <a:spcAft>
                <a:spcPts val="0"/>
              </a:spcAft>
              <a:buClr>
                <a:schemeClr val="dk1"/>
              </a:buClr>
              <a:buSzPts val="5160"/>
              <a:buChar char="•"/>
              <a:defRPr sz="5160"/>
            </a:lvl8pPr>
            <a:lvl9pPr indent="-556260" lvl="8" marL="4114800" algn="l">
              <a:lnSpc>
                <a:spcPct val="90000"/>
              </a:lnSpc>
              <a:spcBef>
                <a:spcPts val="1440"/>
              </a:spcBef>
              <a:spcAft>
                <a:spcPts val="0"/>
              </a:spcAft>
              <a:buClr>
                <a:schemeClr val="dk1"/>
              </a:buClr>
              <a:buSzPts val="5160"/>
              <a:buChar char="•"/>
              <a:defRPr sz="5160"/>
            </a:lvl9pPr>
          </a:lstStyle>
          <a:p/>
        </p:txBody>
      </p:sp>
      <p:sp>
        <p:nvSpPr>
          <p:cNvPr id="77" name="Google Shape;77;p17"/>
          <p:cNvSpPr txBox="1"/>
          <p:nvPr>
            <p:ph idx="2" type="body"/>
          </p:nvPr>
        </p:nvSpPr>
        <p:spPr>
          <a:xfrm>
            <a:off x="16664940" y="5842000"/>
            <a:ext cx="13990200" cy="13924200"/>
          </a:xfrm>
          <a:prstGeom prst="rect">
            <a:avLst/>
          </a:prstGeom>
          <a:noFill/>
          <a:ln>
            <a:noFill/>
          </a:ln>
        </p:spPr>
        <p:txBody>
          <a:bodyPr anchorCtr="0" anchor="t" bIns="131000" lIns="262075" spcFirstLastPara="1" rIns="262075" wrap="square" tIns="131000">
            <a:normAutofit/>
          </a:bodyPr>
          <a:lstStyle>
            <a:lvl1pPr indent="-556260" lvl="0" marL="457200" algn="l">
              <a:lnSpc>
                <a:spcPct val="90000"/>
              </a:lnSpc>
              <a:spcBef>
                <a:spcPts val="2880"/>
              </a:spcBef>
              <a:spcAft>
                <a:spcPts val="0"/>
              </a:spcAft>
              <a:buClr>
                <a:schemeClr val="dk1"/>
              </a:buClr>
              <a:buSzPts val="5160"/>
              <a:buChar char="•"/>
              <a:defRPr sz="8040"/>
            </a:lvl1pPr>
            <a:lvl2pPr indent="-556260" lvl="1" marL="914400" algn="l">
              <a:lnSpc>
                <a:spcPct val="90000"/>
              </a:lnSpc>
              <a:spcBef>
                <a:spcPts val="1440"/>
              </a:spcBef>
              <a:spcAft>
                <a:spcPts val="0"/>
              </a:spcAft>
              <a:buClr>
                <a:schemeClr val="dk1"/>
              </a:buClr>
              <a:buSzPts val="5160"/>
              <a:buChar char="•"/>
              <a:defRPr sz="6840"/>
            </a:lvl2pPr>
            <a:lvl3pPr indent="-556260" lvl="2" marL="1371600" algn="l">
              <a:lnSpc>
                <a:spcPct val="90000"/>
              </a:lnSpc>
              <a:spcBef>
                <a:spcPts val="1440"/>
              </a:spcBef>
              <a:spcAft>
                <a:spcPts val="0"/>
              </a:spcAft>
              <a:buClr>
                <a:schemeClr val="dk1"/>
              </a:buClr>
              <a:buSzPts val="5160"/>
              <a:buChar char="•"/>
              <a:defRPr sz="5760"/>
            </a:lvl3pPr>
            <a:lvl4pPr indent="-556260" lvl="3" marL="1828800" algn="l">
              <a:lnSpc>
                <a:spcPct val="90000"/>
              </a:lnSpc>
              <a:spcBef>
                <a:spcPts val="1440"/>
              </a:spcBef>
              <a:spcAft>
                <a:spcPts val="0"/>
              </a:spcAft>
              <a:buClr>
                <a:schemeClr val="dk1"/>
              </a:buClr>
              <a:buSzPts val="5160"/>
              <a:buChar char="•"/>
              <a:defRPr sz="5160"/>
            </a:lvl4pPr>
            <a:lvl5pPr indent="-556260" lvl="4" marL="2286000" algn="l">
              <a:lnSpc>
                <a:spcPct val="90000"/>
              </a:lnSpc>
              <a:spcBef>
                <a:spcPts val="1440"/>
              </a:spcBef>
              <a:spcAft>
                <a:spcPts val="0"/>
              </a:spcAft>
              <a:buClr>
                <a:schemeClr val="dk1"/>
              </a:buClr>
              <a:buSzPts val="5160"/>
              <a:buChar char="•"/>
              <a:defRPr sz="5160"/>
            </a:lvl5pPr>
            <a:lvl6pPr indent="-556260" lvl="5" marL="2743200" algn="l">
              <a:lnSpc>
                <a:spcPct val="90000"/>
              </a:lnSpc>
              <a:spcBef>
                <a:spcPts val="1440"/>
              </a:spcBef>
              <a:spcAft>
                <a:spcPts val="0"/>
              </a:spcAft>
              <a:buClr>
                <a:schemeClr val="dk1"/>
              </a:buClr>
              <a:buSzPts val="5160"/>
              <a:buChar char="•"/>
              <a:defRPr sz="5160"/>
            </a:lvl6pPr>
            <a:lvl7pPr indent="-556260" lvl="6" marL="3200400" algn="l">
              <a:lnSpc>
                <a:spcPct val="90000"/>
              </a:lnSpc>
              <a:spcBef>
                <a:spcPts val="1440"/>
              </a:spcBef>
              <a:spcAft>
                <a:spcPts val="0"/>
              </a:spcAft>
              <a:buClr>
                <a:schemeClr val="dk1"/>
              </a:buClr>
              <a:buSzPts val="5160"/>
              <a:buChar char="•"/>
              <a:defRPr sz="5160"/>
            </a:lvl7pPr>
            <a:lvl8pPr indent="-556260" lvl="7" marL="3657600" algn="l">
              <a:lnSpc>
                <a:spcPct val="90000"/>
              </a:lnSpc>
              <a:spcBef>
                <a:spcPts val="1440"/>
              </a:spcBef>
              <a:spcAft>
                <a:spcPts val="0"/>
              </a:spcAft>
              <a:buClr>
                <a:schemeClr val="dk1"/>
              </a:buClr>
              <a:buSzPts val="5160"/>
              <a:buChar char="•"/>
              <a:defRPr sz="5160"/>
            </a:lvl8pPr>
            <a:lvl9pPr indent="-556260" lvl="8" marL="4114800" algn="l">
              <a:lnSpc>
                <a:spcPct val="90000"/>
              </a:lnSpc>
              <a:spcBef>
                <a:spcPts val="1440"/>
              </a:spcBef>
              <a:spcAft>
                <a:spcPts val="0"/>
              </a:spcAft>
              <a:buClr>
                <a:schemeClr val="dk1"/>
              </a:buClr>
              <a:buSzPts val="5160"/>
              <a:buChar char="•"/>
              <a:defRPr sz="5160"/>
            </a:lvl9pPr>
          </a:lstStyle>
          <a:p/>
        </p:txBody>
      </p:sp>
      <p:sp>
        <p:nvSpPr>
          <p:cNvPr id="78" name="Google Shape;78;p17"/>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79" name="Google Shape;79;p17"/>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80" name="Google Shape;80;p17"/>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2267428" y="1168400"/>
            <a:ext cx="28392000" cy="4241700"/>
          </a:xfrm>
          <a:prstGeom prst="rect">
            <a:avLst/>
          </a:prstGeom>
          <a:noFill/>
          <a:ln>
            <a:noFill/>
          </a:ln>
        </p:spPr>
        <p:txBody>
          <a:bodyPr anchorCtr="0" anchor="ctr" bIns="131000" lIns="262075" spcFirstLastPara="1" rIns="262075" wrap="square" tIns="131000">
            <a:normAutofit/>
          </a:bodyPr>
          <a:lstStyle>
            <a:lvl1pPr lvl="0" algn="l">
              <a:lnSpc>
                <a:spcPct val="90000"/>
              </a:lnSpc>
              <a:spcBef>
                <a:spcPts val="0"/>
              </a:spcBef>
              <a:spcAft>
                <a:spcPts val="0"/>
              </a:spcAft>
              <a:buClr>
                <a:schemeClr val="dk1"/>
              </a:buClr>
              <a:buSzPts val="5160"/>
              <a:buNone/>
              <a:defRPr sz="1260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83" name="Google Shape;83;p18"/>
          <p:cNvSpPr txBox="1"/>
          <p:nvPr>
            <p:ph idx="1" type="body"/>
          </p:nvPr>
        </p:nvSpPr>
        <p:spPr>
          <a:xfrm>
            <a:off x="2267428" y="5379722"/>
            <a:ext cx="13926000" cy="2636400"/>
          </a:xfrm>
          <a:prstGeom prst="rect">
            <a:avLst/>
          </a:prstGeom>
          <a:noFill/>
          <a:ln>
            <a:noFill/>
          </a:ln>
        </p:spPr>
        <p:txBody>
          <a:bodyPr anchorCtr="0" anchor="b" bIns="131000" lIns="262075" spcFirstLastPara="1" rIns="262075" wrap="square" tIns="131000">
            <a:normAutofit/>
          </a:bodyPr>
          <a:lstStyle>
            <a:lvl1pPr indent="-228600" lvl="0" marL="457200" algn="l">
              <a:lnSpc>
                <a:spcPct val="90000"/>
              </a:lnSpc>
              <a:spcBef>
                <a:spcPts val="2880"/>
              </a:spcBef>
              <a:spcAft>
                <a:spcPts val="0"/>
              </a:spcAft>
              <a:buClr>
                <a:schemeClr val="dk1"/>
              </a:buClr>
              <a:buSzPts val="6840"/>
              <a:buNone/>
              <a:defRPr b="1" sz="6840"/>
            </a:lvl1pPr>
            <a:lvl2pPr indent="-228600" lvl="1" marL="914400" algn="l">
              <a:lnSpc>
                <a:spcPct val="90000"/>
              </a:lnSpc>
              <a:spcBef>
                <a:spcPts val="1440"/>
              </a:spcBef>
              <a:spcAft>
                <a:spcPts val="0"/>
              </a:spcAft>
              <a:buClr>
                <a:schemeClr val="dk1"/>
              </a:buClr>
              <a:buSzPts val="5760"/>
              <a:buNone/>
              <a:defRPr b="1" sz="5760"/>
            </a:lvl2pPr>
            <a:lvl3pPr indent="-228600" lvl="2" marL="1371600" algn="l">
              <a:lnSpc>
                <a:spcPct val="90000"/>
              </a:lnSpc>
              <a:spcBef>
                <a:spcPts val="1440"/>
              </a:spcBef>
              <a:spcAft>
                <a:spcPts val="0"/>
              </a:spcAft>
              <a:buClr>
                <a:schemeClr val="dk1"/>
              </a:buClr>
              <a:buSzPts val="5160"/>
              <a:buNone/>
              <a:defRPr b="1" sz="5160"/>
            </a:lvl3pPr>
            <a:lvl4pPr indent="-228600" lvl="3" marL="1828800" algn="l">
              <a:lnSpc>
                <a:spcPct val="90000"/>
              </a:lnSpc>
              <a:spcBef>
                <a:spcPts val="1440"/>
              </a:spcBef>
              <a:spcAft>
                <a:spcPts val="0"/>
              </a:spcAft>
              <a:buClr>
                <a:schemeClr val="dk1"/>
              </a:buClr>
              <a:buSzPts val="4560"/>
              <a:buNone/>
              <a:defRPr b="1" sz="4560"/>
            </a:lvl4pPr>
            <a:lvl5pPr indent="-228600" lvl="4" marL="2286000" algn="l">
              <a:lnSpc>
                <a:spcPct val="90000"/>
              </a:lnSpc>
              <a:spcBef>
                <a:spcPts val="1440"/>
              </a:spcBef>
              <a:spcAft>
                <a:spcPts val="0"/>
              </a:spcAft>
              <a:buClr>
                <a:schemeClr val="dk1"/>
              </a:buClr>
              <a:buSzPts val="4560"/>
              <a:buNone/>
              <a:defRPr b="1" sz="4560"/>
            </a:lvl5pPr>
            <a:lvl6pPr indent="-228600" lvl="5" marL="2743200" algn="l">
              <a:lnSpc>
                <a:spcPct val="90000"/>
              </a:lnSpc>
              <a:spcBef>
                <a:spcPts val="1440"/>
              </a:spcBef>
              <a:spcAft>
                <a:spcPts val="0"/>
              </a:spcAft>
              <a:buClr>
                <a:schemeClr val="dk1"/>
              </a:buClr>
              <a:buSzPts val="4560"/>
              <a:buNone/>
              <a:defRPr b="1" sz="4560"/>
            </a:lvl6pPr>
            <a:lvl7pPr indent="-228600" lvl="6" marL="3200400" algn="l">
              <a:lnSpc>
                <a:spcPct val="90000"/>
              </a:lnSpc>
              <a:spcBef>
                <a:spcPts val="1440"/>
              </a:spcBef>
              <a:spcAft>
                <a:spcPts val="0"/>
              </a:spcAft>
              <a:buClr>
                <a:schemeClr val="dk1"/>
              </a:buClr>
              <a:buSzPts val="4560"/>
              <a:buNone/>
              <a:defRPr b="1" sz="4560"/>
            </a:lvl7pPr>
            <a:lvl8pPr indent="-228600" lvl="7" marL="3657600" algn="l">
              <a:lnSpc>
                <a:spcPct val="90000"/>
              </a:lnSpc>
              <a:spcBef>
                <a:spcPts val="1440"/>
              </a:spcBef>
              <a:spcAft>
                <a:spcPts val="0"/>
              </a:spcAft>
              <a:buClr>
                <a:schemeClr val="dk1"/>
              </a:buClr>
              <a:buSzPts val="4560"/>
              <a:buNone/>
              <a:defRPr b="1" sz="4560"/>
            </a:lvl8pPr>
            <a:lvl9pPr indent="-228600" lvl="8" marL="4114800" algn="l">
              <a:lnSpc>
                <a:spcPct val="90000"/>
              </a:lnSpc>
              <a:spcBef>
                <a:spcPts val="1440"/>
              </a:spcBef>
              <a:spcAft>
                <a:spcPts val="0"/>
              </a:spcAft>
              <a:buClr>
                <a:schemeClr val="dk1"/>
              </a:buClr>
              <a:buSzPts val="4560"/>
              <a:buNone/>
              <a:defRPr b="1" sz="4560"/>
            </a:lvl9pPr>
          </a:lstStyle>
          <a:p/>
        </p:txBody>
      </p:sp>
      <p:sp>
        <p:nvSpPr>
          <p:cNvPr id="84" name="Google Shape;84;p18"/>
          <p:cNvSpPr txBox="1"/>
          <p:nvPr>
            <p:ph idx="2" type="body"/>
          </p:nvPr>
        </p:nvSpPr>
        <p:spPr>
          <a:xfrm>
            <a:off x="2267428" y="8016240"/>
            <a:ext cx="13926000" cy="11790600"/>
          </a:xfrm>
          <a:prstGeom prst="rect">
            <a:avLst/>
          </a:prstGeom>
          <a:noFill/>
          <a:ln>
            <a:noFill/>
          </a:ln>
        </p:spPr>
        <p:txBody>
          <a:bodyPr anchorCtr="0" anchor="t" bIns="131000" lIns="262075" spcFirstLastPara="1" rIns="262075" wrap="square" tIns="131000">
            <a:normAutofit/>
          </a:bodyPr>
          <a:lstStyle>
            <a:lvl1pPr indent="-556260" lvl="0" marL="457200" algn="l">
              <a:lnSpc>
                <a:spcPct val="90000"/>
              </a:lnSpc>
              <a:spcBef>
                <a:spcPts val="2880"/>
              </a:spcBef>
              <a:spcAft>
                <a:spcPts val="0"/>
              </a:spcAft>
              <a:buClr>
                <a:schemeClr val="dk1"/>
              </a:buClr>
              <a:buSzPts val="5160"/>
              <a:buChar char="•"/>
              <a:defRPr sz="8040"/>
            </a:lvl1pPr>
            <a:lvl2pPr indent="-556260" lvl="1" marL="914400" algn="l">
              <a:lnSpc>
                <a:spcPct val="90000"/>
              </a:lnSpc>
              <a:spcBef>
                <a:spcPts val="1440"/>
              </a:spcBef>
              <a:spcAft>
                <a:spcPts val="0"/>
              </a:spcAft>
              <a:buClr>
                <a:schemeClr val="dk1"/>
              </a:buClr>
              <a:buSzPts val="5160"/>
              <a:buChar char="•"/>
              <a:defRPr sz="6840"/>
            </a:lvl2pPr>
            <a:lvl3pPr indent="-556260" lvl="2" marL="1371600" algn="l">
              <a:lnSpc>
                <a:spcPct val="90000"/>
              </a:lnSpc>
              <a:spcBef>
                <a:spcPts val="1440"/>
              </a:spcBef>
              <a:spcAft>
                <a:spcPts val="0"/>
              </a:spcAft>
              <a:buClr>
                <a:schemeClr val="dk1"/>
              </a:buClr>
              <a:buSzPts val="5160"/>
              <a:buChar char="•"/>
              <a:defRPr sz="5760"/>
            </a:lvl3pPr>
            <a:lvl4pPr indent="-556260" lvl="3" marL="1828800" algn="l">
              <a:lnSpc>
                <a:spcPct val="90000"/>
              </a:lnSpc>
              <a:spcBef>
                <a:spcPts val="1440"/>
              </a:spcBef>
              <a:spcAft>
                <a:spcPts val="0"/>
              </a:spcAft>
              <a:buClr>
                <a:schemeClr val="dk1"/>
              </a:buClr>
              <a:buSzPts val="5160"/>
              <a:buChar char="•"/>
              <a:defRPr sz="5160"/>
            </a:lvl4pPr>
            <a:lvl5pPr indent="-556260" lvl="4" marL="2286000" algn="l">
              <a:lnSpc>
                <a:spcPct val="90000"/>
              </a:lnSpc>
              <a:spcBef>
                <a:spcPts val="1440"/>
              </a:spcBef>
              <a:spcAft>
                <a:spcPts val="0"/>
              </a:spcAft>
              <a:buClr>
                <a:schemeClr val="dk1"/>
              </a:buClr>
              <a:buSzPts val="5160"/>
              <a:buChar char="•"/>
              <a:defRPr sz="5160"/>
            </a:lvl5pPr>
            <a:lvl6pPr indent="-556260" lvl="5" marL="2743200" algn="l">
              <a:lnSpc>
                <a:spcPct val="90000"/>
              </a:lnSpc>
              <a:spcBef>
                <a:spcPts val="1440"/>
              </a:spcBef>
              <a:spcAft>
                <a:spcPts val="0"/>
              </a:spcAft>
              <a:buClr>
                <a:schemeClr val="dk1"/>
              </a:buClr>
              <a:buSzPts val="5160"/>
              <a:buChar char="•"/>
              <a:defRPr sz="5160"/>
            </a:lvl6pPr>
            <a:lvl7pPr indent="-556260" lvl="6" marL="3200400" algn="l">
              <a:lnSpc>
                <a:spcPct val="90000"/>
              </a:lnSpc>
              <a:spcBef>
                <a:spcPts val="1440"/>
              </a:spcBef>
              <a:spcAft>
                <a:spcPts val="0"/>
              </a:spcAft>
              <a:buClr>
                <a:schemeClr val="dk1"/>
              </a:buClr>
              <a:buSzPts val="5160"/>
              <a:buChar char="•"/>
              <a:defRPr sz="5160"/>
            </a:lvl7pPr>
            <a:lvl8pPr indent="-556260" lvl="7" marL="3657600" algn="l">
              <a:lnSpc>
                <a:spcPct val="90000"/>
              </a:lnSpc>
              <a:spcBef>
                <a:spcPts val="1440"/>
              </a:spcBef>
              <a:spcAft>
                <a:spcPts val="0"/>
              </a:spcAft>
              <a:buClr>
                <a:schemeClr val="dk1"/>
              </a:buClr>
              <a:buSzPts val="5160"/>
              <a:buChar char="•"/>
              <a:defRPr sz="5160"/>
            </a:lvl8pPr>
            <a:lvl9pPr indent="-556260" lvl="8" marL="4114800" algn="l">
              <a:lnSpc>
                <a:spcPct val="90000"/>
              </a:lnSpc>
              <a:spcBef>
                <a:spcPts val="1440"/>
              </a:spcBef>
              <a:spcAft>
                <a:spcPts val="0"/>
              </a:spcAft>
              <a:buClr>
                <a:schemeClr val="dk1"/>
              </a:buClr>
              <a:buSzPts val="5160"/>
              <a:buChar char="•"/>
              <a:defRPr sz="5160"/>
            </a:lvl9pPr>
          </a:lstStyle>
          <a:p/>
        </p:txBody>
      </p:sp>
      <p:sp>
        <p:nvSpPr>
          <p:cNvPr id="85" name="Google Shape;85;p18"/>
          <p:cNvSpPr txBox="1"/>
          <p:nvPr>
            <p:ph idx="3" type="body"/>
          </p:nvPr>
        </p:nvSpPr>
        <p:spPr>
          <a:xfrm>
            <a:off x="16664940" y="5379722"/>
            <a:ext cx="13994700" cy="2636400"/>
          </a:xfrm>
          <a:prstGeom prst="rect">
            <a:avLst/>
          </a:prstGeom>
          <a:noFill/>
          <a:ln>
            <a:noFill/>
          </a:ln>
        </p:spPr>
        <p:txBody>
          <a:bodyPr anchorCtr="0" anchor="b" bIns="131000" lIns="262075" spcFirstLastPara="1" rIns="262075" wrap="square" tIns="131000">
            <a:normAutofit/>
          </a:bodyPr>
          <a:lstStyle>
            <a:lvl1pPr indent="-228600" lvl="0" marL="457200" algn="l">
              <a:lnSpc>
                <a:spcPct val="90000"/>
              </a:lnSpc>
              <a:spcBef>
                <a:spcPts val="2880"/>
              </a:spcBef>
              <a:spcAft>
                <a:spcPts val="0"/>
              </a:spcAft>
              <a:buClr>
                <a:schemeClr val="dk1"/>
              </a:buClr>
              <a:buSzPts val="6840"/>
              <a:buNone/>
              <a:defRPr b="1" sz="6840"/>
            </a:lvl1pPr>
            <a:lvl2pPr indent="-228600" lvl="1" marL="914400" algn="l">
              <a:lnSpc>
                <a:spcPct val="90000"/>
              </a:lnSpc>
              <a:spcBef>
                <a:spcPts val="1440"/>
              </a:spcBef>
              <a:spcAft>
                <a:spcPts val="0"/>
              </a:spcAft>
              <a:buClr>
                <a:schemeClr val="dk1"/>
              </a:buClr>
              <a:buSzPts val="5760"/>
              <a:buNone/>
              <a:defRPr b="1" sz="5760"/>
            </a:lvl2pPr>
            <a:lvl3pPr indent="-228600" lvl="2" marL="1371600" algn="l">
              <a:lnSpc>
                <a:spcPct val="90000"/>
              </a:lnSpc>
              <a:spcBef>
                <a:spcPts val="1440"/>
              </a:spcBef>
              <a:spcAft>
                <a:spcPts val="0"/>
              </a:spcAft>
              <a:buClr>
                <a:schemeClr val="dk1"/>
              </a:buClr>
              <a:buSzPts val="5160"/>
              <a:buNone/>
              <a:defRPr b="1" sz="5160"/>
            </a:lvl3pPr>
            <a:lvl4pPr indent="-228600" lvl="3" marL="1828800" algn="l">
              <a:lnSpc>
                <a:spcPct val="90000"/>
              </a:lnSpc>
              <a:spcBef>
                <a:spcPts val="1440"/>
              </a:spcBef>
              <a:spcAft>
                <a:spcPts val="0"/>
              </a:spcAft>
              <a:buClr>
                <a:schemeClr val="dk1"/>
              </a:buClr>
              <a:buSzPts val="4560"/>
              <a:buNone/>
              <a:defRPr b="1" sz="4560"/>
            </a:lvl4pPr>
            <a:lvl5pPr indent="-228600" lvl="4" marL="2286000" algn="l">
              <a:lnSpc>
                <a:spcPct val="90000"/>
              </a:lnSpc>
              <a:spcBef>
                <a:spcPts val="1440"/>
              </a:spcBef>
              <a:spcAft>
                <a:spcPts val="0"/>
              </a:spcAft>
              <a:buClr>
                <a:schemeClr val="dk1"/>
              </a:buClr>
              <a:buSzPts val="4560"/>
              <a:buNone/>
              <a:defRPr b="1" sz="4560"/>
            </a:lvl5pPr>
            <a:lvl6pPr indent="-228600" lvl="5" marL="2743200" algn="l">
              <a:lnSpc>
                <a:spcPct val="90000"/>
              </a:lnSpc>
              <a:spcBef>
                <a:spcPts val="1440"/>
              </a:spcBef>
              <a:spcAft>
                <a:spcPts val="0"/>
              </a:spcAft>
              <a:buClr>
                <a:schemeClr val="dk1"/>
              </a:buClr>
              <a:buSzPts val="4560"/>
              <a:buNone/>
              <a:defRPr b="1" sz="4560"/>
            </a:lvl6pPr>
            <a:lvl7pPr indent="-228600" lvl="6" marL="3200400" algn="l">
              <a:lnSpc>
                <a:spcPct val="90000"/>
              </a:lnSpc>
              <a:spcBef>
                <a:spcPts val="1440"/>
              </a:spcBef>
              <a:spcAft>
                <a:spcPts val="0"/>
              </a:spcAft>
              <a:buClr>
                <a:schemeClr val="dk1"/>
              </a:buClr>
              <a:buSzPts val="4560"/>
              <a:buNone/>
              <a:defRPr b="1" sz="4560"/>
            </a:lvl7pPr>
            <a:lvl8pPr indent="-228600" lvl="7" marL="3657600" algn="l">
              <a:lnSpc>
                <a:spcPct val="90000"/>
              </a:lnSpc>
              <a:spcBef>
                <a:spcPts val="1440"/>
              </a:spcBef>
              <a:spcAft>
                <a:spcPts val="0"/>
              </a:spcAft>
              <a:buClr>
                <a:schemeClr val="dk1"/>
              </a:buClr>
              <a:buSzPts val="4560"/>
              <a:buNone/>
              <a:defRPr b="1" sz="4560"/>
            </a:lvl8pPr>
            <a:lvl9pPr indent="-228600" lvl="8" marL="4114800" algn="l">
              <a:lnSpc>
                <a:spcPct val="90000"/>
              </a:lnSpc>
              <a:spcBef>
                <a:spcPts val="1440"/>
              </a:spcBef>
              <a:spcAft>
                <a:spcPts val="0"/>
              </a:spcAft>
              <a:buClr>
                <a:schemeClr val="dk1"/>
              </a:buClr>
              <a:buSzPts val="4560"/>
              <a:buNone/>
              <a:defRPr b="1" sz="4560"/>
            </a:lvl9pPr>
          </a:lstStyle>
          <a:p/>
        </p:txBody>
      </p:sp>
      <p:sp>
        <p:nvSpPr>
          <p:cNvPr id="86" name="Google Shape;86;p18"/>
          <p:cNvSpPr txBox="1"/>
          <p:nvPr>
            <p:ph idx="4" type="body"/>
          </p:nvPr>
        </p:nvSpPr>
        <p:spPr>
          <a:xfrm>
            <a:off x="16664940" y="8016240"/>
            <a:ext cx="13994700" cy="11790600"/>
          </a:xfrm>
          <a:prstGeom prst="rect">
            <a:avLst/>
          </a:prstGeom>
          <a:noFill/>
          <a:ln>
            <a:noFill/>
          </a:ln>
        </p:spPr>
        <p:txBody>
          <a:bodyPr anchorCtr="0" anchor="t" bIns="131000" lIns="262075" spcFirstLastPara="1" rIns="262075" wrap="square" tIns="131000">
            <a:normAutofit/>
          </a:bodyPr>
          <a:lstStyle>
            <a:lvl1pPr indent="-556260" lvl="0" marL="457200" algn="l">
              <a:lnSpc>
                <a:spcPct val="90000"/>
              </a:lnSpc>
              <a:spcBef>
                <a:spcPts val="2880"/>
              </a:spcBef>
              <a:spcAft>
                <a:spcPts val="0"/>
              </a:spcAft>
              <a:buClr>
                <a:schemeClr val="dk1"/>
              </a:buClr>
              <a:buSzPts val="5160"/>
              <a:buChar char="•"/>
              <a:defRPr sz="8040"/>
            </a:lvl1pPr>
            <a:lvl2pPr indent="-556260" lvl="1" marL="914400" algn="l">
              <a:lnSpc>
                <a:spcPct val="90000"/>
              </a:lnSpc>
              <a:spcBef>
                <a:spcPts val="1440"/>
              </a:spcBef>
              <a:spcAft>
                <a:spcPts val="0"/>
              </a:spcAft>
              <a:buClr>
                <a:schemeClr val="dk1"/>
              </a:buClr>
              <a:buSzPts val="5160"/>
              <a:buChar char="•"/>
              <a:defRPr sz="6840"/>
            </a:lvl2pPr>
            <a:lvl3pPr indent="-556260" lvl="2" marL="1371600" algn="l">
              <a:lnSpc>
                <a:spcPct val="90000"/>
              </a:lnSpc>
              <a:spcBef>
                <a:spcPts val="1440"/>
              </a:spcBef>
              <a:spcAft>
                <a:spcPts val="0"/>
              </a:spcAft>
              <a:buClr>
                <a:schemeClr val="dk1"/>
              </a:buClr>
              <a:buSzPts val="5160"/>
              <a:buChar char="•"/>
              <a:defRPr sz="5760"/>
            </a:lvl3pPr>
            <a:lvl4pPr indent="-556260" lvl="3" marL="1828800" algn="l">
              <a:lnSpc>
                <a:spcPct val="90000"/>
              </a:lnSpc>
              <a:spcBef>
                <a:spcPts val="1440"/>
              </a:spcBef>
              <a:spcAft>
                <a:spcPts val="0"/>
              </a:spcAft>
              <a:buClr>
                <a:schemeClr val="dk1"/>
              </a:buClr>
              <a:buSzPts val="5160"/>
              <a:buChar char="•"/>
              <a:defRPr sz="5160"/>
            </a:lvl4pPr>
            <a:lvl5pPr indent="-556260" lvl="4" marL="2286000" algn="l">
              <a:lnSpc>
                <a:spcPct val="90000"/>
              </a:lnSpc>
              <a:spcBef>
                <a:spcPts val="1440"/>
              </a:spcBef>
              <a:spcAft>
                <a:spcPts val="0"/>
              </a:spcAft>
              <a:buClr>
                <a:schemeClr val="dk1"/>
              </a:buClr>
              <a:buSzPts val="5160"/>
              <a:buChar char="•"/>
              <a:defRPr sz="5160"/>
            </a:lvl5pPr>
            <a:lvl6pPr indent="-556260" lvl="5" marL="2743200" algn="l">
              <a:lnSpc>
                <a:spcPct val="90000"/>
              </a:lnSpc>
              <a:spcBef>
                <a:spcPts val="1440"/>
              </a:spcBef>
              <a:spcAft>
                <a:spcPts val="0"/>
              </a:spcAft>
              <a:buClr>
                <a:schemeClr val="dk1"/>
              </a:buClr>
              <a:buSzPts val="5160"/>
              <a:buChar char="•"/>
              <a:defRPr sz="5160"/>
            </a:lvl6pPr>
            <a:lvl7pPr indent="-556260" lvl="6" marL="3200400" algn="l">
              <a:lnSpc>
                <a:spcPct val="90000"/>
              </a:lnSpc>
              <a:spcBef>
                <a:spcPts val="1440"/>
              </a:spcBef>
              <a:spcAft>
                <a:spcPts val="0"/>
              </a:spcAft>
              <a:buClr>
                <a:schemeClr val="dk1"/>
              </a:buClr>
              <a:buSzPts val="5160"/>
              <a:buChar char="•"/>
              <a:defRPr sz="5160"/>
            </a:lvl7pPr>
            <a:lvl8pPr indent="-556260" lvl="7" marL="3657600" algn="l">
              <a:lnSpc>
                <a:spcPct val="90000"/>
              </a:lnSpc>
              <a:spcBef>
                <a:spcPts val="1440"/>
              </a:spcBef>
              <a:spcAft>
                <a:spcPts val="0"/>
              </a:spcAft>
              <a:buClr>
                <a:schemeClr val="dk1"/>
              </a:buClr>
              <a:buSzPts val="5160"/>
              <a:buChar char="•"/>
              <a:defRPr sz="5160"/>
            </a:lvl8pPr>
            <a:lvl9pPr indent="-556260" lvl="8" marL="4114800" algn="l">
              <a:lnSpc>
                <a:spcPct val="90000"/>
              </a:lnSpc>
              <a:spcBef>
                <a:spcPts val="1440"/>
              </a:spcBef>
              <a:spcAft>
                <a:spcPts val="0"/>
              </a:spcAft>
              <a:buClr>
                <a:schemeClr val="dk1"/>
              </a:buClr>
              <a:buSzPts val="5160"/>
              <a:buChar char="•"/>
              <a:defRPr sz="5160"/>
            </a:lvl9pPr>
          </a:lstStyle>
          <a:p/>
        </p:txBody>
      </p:sp>
      <p:sp>
        <p:nvSpPr>
          <p:cNvPr id="87" name="Google Shape;87;p18"/>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88" name="Google Shape;88;p18"/>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89" name="Google Shape;89;p18"/>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2263140" y="1168400"/>
            <a:ext cx="28392000" cy="4241700"/>
          </a:xfrm>
          <a:prstGeom prst="rect">
            <a:avLst/>
          </a:prstGeom>
          <a:noFill/>
          <a:ln>
            <a:noFill/>
          </a:ln>
        </p:spPr>
        <p:txBody>
          <a:bodyPr anchorCtr="0" anchor="ctr" bIns="131000" lIns="262075" spcFirstLastPara="1" rIns="262075" wrap="square" tIns="131000">
            <a:normAutofit/>
          </a:bodyPr>
          <a:lstStyle>
            <a:lvl1pPr lvl="0" algn="l">
              <a:lnSpc>
                <a:spcPct val="90000"/>
              </a:lnSpc>
              <a:spcBef>
                <a:spcPts val="0"/>
              </a:spcBef>
              <a:spcAft>
                <a:spcPts val="0"/>
              </a:spcAft>
              <a:buClr>
                <a:schemeClr val="dk1"/>
              </a:buClr>
              <a:buSzPts val="5160"/>
              <a:buNone/>
              <a:defRPr sz="1260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92" name="Google Shape;92;p19"/>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93" name="Google Shape;93;p19"/>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94" name="Google Shape;94;p19"/>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97" name="Google Shape;97;p20"/>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98" name="Google Shape;98;p20"/>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67428" y="1463040"/>
            <a:ext cx="10617000" cy="5120700"/>
          </a:xfrm>
          <a:prstGeom prst="rect">
            <a:avLst/>
          </a:prstGeom>
          <a:noFill/>
          <a:ln>
            <a:noFill/>
          </a:ln>
        </p:spPr>
        <p:txBody>
          <a:bodyPr anchorCtr="0" anchor="b" bIns="131000" lIns="262075" spcFirstLastPara="1" rIns="262075" wrap="square" tIns="131000">
            <a:normAutofit/>
          </a:bodyPr>
          <a:lstStyle>
            <a:lvl1pPr lvl="0" algn="l">
              <a:lnSpc>
                <a:spcPct val="90000"/>
              </a:lnSpc>
              <a:spcBef>
                <a:spcPts val="0"/>
              </a:spcBef>
              <a:spcAft>
                <a:spcPts val="0"/>
              </a:spcAft>
              <a:buClr>
                <a:schemeClr val="dk1"/>
              </a:buClr>
              <a:buSzPts val="9120"/>
              <a:buFont typeface="Play"/>
              <a:buNone/>
              <a:defRPr sz="912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101" name="Google Shape;101;p21"/>
          <p:cNvSpPr txBox="1"/>
          <p:nvPr>
            <p:ph idx="1" type="body"/>
          </p:nvPr>
        </p:nvSpPr>
        <p:spPr>
          <a:xfrm>
            <a:off x="13994608" y="3159760"/>
            <a:ext cx="16665000" cy="15595500"/>
          </a:xfrm>
          <a:prstGeom prst="rect">
            <a:avLst/>
          </a:prstGeom>
          <a:noFill/>
          <a:ln>
            <a:noFill/>
          </a:ln>
        </p:spPr>
        <p:txBody>
          <a:bodyPr anchorCtr="0" anchor="t" bIns="131000" lIns="262075" spcFirstLastPara="1" rIns="262075" wrap="square" tIns="131000">
            <a:normAutofit/>
          </a:bodyPr>
          <a:lstStyle>
            <a:lvl1pPr indent="-807720" lvl="0" marL="457200" algn="l">
              <a:lnSpc>
                <a:spcPct val="90000"/>
              </a:lnSpc>
              <a:spcBef>
                <a:spcPts val="2880"/>
              </a:spcBef>
              <a:spcAft>
                <a:spcPts val="0"/>
              </a:spcAft>
              <a:buClr>
                <a:schemeClr val="dk1"/>
              </a:buClr>
              <a:buSzPts val="9120"/>
              <a:buChar char="•"/>
              <a:defRPr sz="9120"/>
            </a:lvl1pPr>
            <a:lvl2pPr indent="-739140" lvl="1" marL="914400" algn="l">
              <a:lnSpc>
                <a:spcPct val="90000"/>
              </a:lnSpc>
              <a:spcBef>
                <a:spcPts val="1440"/>
              </a:spcBef>
              <a:spcAft>
                <a:spcPts val="0"/>
              </a:spcAft>
              <a:buClr>
                <a:schemeClr val="dk1"/>
              </a:buClr>
              <a:buSzPts val="8040"/>
              <a:buChar char="•"/>
              <a:defRPr sz="8040"/>
            </a:lvl2pPr>
            <a:lvl3pPr indent="-662940" lvl="2" marL="1371600" algn="l">
              <a:lnSpc>
                <a:spcPct val="90000"/>
              </a:lnSpc>
              <a:spcBef>
                <a:spcPts val="1440"/>
              </a:spcBef>
              <a:spcAft>
                <a:spcPts val="0"/>
              </a:spcAft>
              <a:buClr>
                <a:schemeClr val="dk1"/>
              </a:buClr>
              <a:buSzPts val="6840"/>
              <a:buChar char="•"/>
              <a:defRPr sz="6840"/>
            </a:lvl3pPr>
            <a:lvl4pPr indent="-594360" lvl="3" marL="1828800" algn="l">
              <a:lnSpc>
                <a:spcPct val="90000"/>
              </a:lnSpc>
              <a:spcBef>
                <a:spcPts val="1440"/>
              </a:spcBef>
              <a:spcAft>
                <a:spcPts val="0"/>
              </a:spcAft>
              <a:buClr>
                <a:schemeClr val="dk1"/>
              </a:buClr>
              <a:buSzPts val="5760"/>
              <a:buChar char="•"/>
              <a:defRPr sz="5760"/>
            </a:lvl4pPr>
            <a:lvl5pPr indent="-594360" lvl="4" marL="2286000" algn="l">
              <a:lnSpc>
                <a:spcPct val="90000"/>
              </a:lnSpc>
              <a:spcBef>
                <a:spcPts val="1440"/>
              </a:spcBef>
              <a:spcAft>
                <a:spcPts val="0"/>
              </a:spcAft>
              <a:buClr>
                <a:schemeClr val="dk1"/>
              </a:buClr>
              <a:buSzPts val="5760"/>
              <a:buChar char="•"/>
              <a:defRPr sz="5760"/>
            </a:lvl5pPr>
            <a:lvl6pPr indent="-594360" lvl="5" marL="2743200" algn="l">
              <a:lnSpc>
                <a:spcPct val="90000"/>
              </a:lnSpc>
              <a:spcBef>
                <a:spcPts val="1440"/>
              </a:spcBef>
              <a:spcAft>
                <a:spcPts val="0"/>
              </a:spcAft>
              <a:buClr>
                <a:schemeClr val="dk1"/>
              </a:buClr>
              <a:buSzPts val="5760"/>
              <a:buChar char="•"/>
              <a:defRPr sz="5760"/>
            </a:lvl6pPr>
            <a:lvl7pPr indent="-594360" lvl="6" marL="3200400" algn="l">
              <a:lnSpc>
                <a:spcPct val="90000"/>
              </a:lnSpc>
              <a:spcBef>
                <a:spcPts val="1440"/>
              </a:spcBef>
              <a:spcAft>
                <a:spcPts val="0"/>
              </a:spcAft>
              <a:buClr>
                <a:schemeClr val="dk1"/>
              </a:buClr>
              <a:buSzPts val="5760"/>
              <a:buChar char="•"/>
              <a:defRPr sz="5760"/>
            </a:lvl7pPr>
            <a:lvl8pPr indent="-594360" lvl="7" marL="3657600" algn="l">
              <a:lnSpc>
                <a:spcPct val="90000"/>
              </a:lnSpc>
              <a:spcBef>
                <a:spcPts val="1440"/>
              </a:spcBef>
              <a:spcAft>
                <a:spcPts val="0"/>
              </a:spcAft>
              <a:buClr>
                <a:schemeClr val="dk1"/>
              </a:buClr>
              <a:buSzPts val="5760"/>
              <a:buChar char="•"/>
              <a:defRPr sz="5760"/>
            </a:lvl8pPr>
            <a:lvl9pPr indent="-594360" lvl="8" marL="4114800" algn="l">
              <a:lnSpc>
                <a:spcPct val="90000"/>
              </a:lnSpc>
              <a:spcBef>
                <a:spcPts val="1440"/>
              </a:spcBef>
              <a:spcAft>
                <a:spcPts val="0"/>
              </a:spcAft>
              <a:buClr>
                <a:schemeClr val="dk1"/>
              </a:buClr>
              <a:buSzPts val="5760"/>
              <a:buChar char="•"/>
              <a:defRPr sz="5760"/>
            </a:lvl9pPr>
          </a:lstStyle>
          <a:p/>
        </p:txBody>
      </p:sp>
      <p:sp>
        <p:nvSpPr>
          <p:cNvPr id="102" name="Google Shape;102;p21"/>
          <p:cNvSpPr txBox="1"/>
          <p:nvPr>
            <p:ph idx="2" type="body"/>
          </p:nvPr>
        </p:nvSpPr>
        <p:spPr>
          <a:xfrm>
            <a:off x="2267428" y="6583680"/>
            <a:ext cx="10617000" cy="12197100"/>
          </a:xfrm>
          <a:prstGeom prst="rect">
            <a:avLst/>
          </a:prstGeom>
          <a:noFill/>
          <a:ln>
            <a:noFill/>
          </a:ln>
        </p:spPr>
        <p:txBody>
          <a:bodyPr anchorCtr="0" anchor="t" bIns="131000" lIns="262075" spcFirstLastPara="1" rIns="262075" wrap="square" tIns="131000">
            <a:normAutofit/>
          </a:bodyPr>
          <a:lstStyle>
            <a:lvl1pPr indent="-228600" lvl="0" marL="457200" algn="l">
              <a:lnSpc>
                <a:spcPct val="90000"/>
              </a:lnSpc>
              <a:spcBef>
                <a:spcPts val="2880"/>
              </a:spcBef>
              <a:spcAft>
                <a:spcPts val="0"/>
              </a:spcAft>
              <a:buClr>
                <a:schemeClr val="dk1"/>
              </a:buClr>
              <a:buSzPts val="4560"/>
              <a:buNone/>
              <a:defRPr sz="4560"/>
            </a:lvl1pPr>
            <a:lvl2pPr indent="-228600" lvl="1" marL="914400" algn="l">
              <a:lnSpc>
                <a:spcPct val="90000"/>
              </a:lnSpc>
              <a:spcBef>
                <a:spcPts val="1440"/>
              </a:spcBef>
              <a:spcAft>
                <a:spcPts val="0"/>
              </a:spcAft>
              <a:buClr>
                <a:schemeClr val="dk1"/>
              </a:buClr>
              <a:buSzPts val="3960"/>
              <a:buNone/>
              <a:defRPr sz="3960"/>
            </a:lvl2pPr>
            <a:lvl3pPr indent="-228600" lvl="2" marL="1371600" algn="l">
              <a:lnSpc>
                <a:spcPct val="90000"/>
              </a:lnSpc>
              <a:spcBef>
                <a:spcPts val="1440"/>
              </a:spcBef>
              <a:spcAft>
                <a:spcPts val="0"/>
              </a:spcAft>
              <a:buClr>
                <a:schemeClr val="dk1"/>
              </a:buClr>
              <a:buSzPts val="3480"/>
              <a:buNone/>
              <a:defRPr sz="3480"/>
            </a:lvl3pPr>
            <a:lvl4pPr indent="-228600" lvl="3" marL="1828800" algn="l">
              <a:lnSpc>
                <a:spcPct val="90000"/>
              </a:lnSpc>
              <a:spcBef>
                <a:spcPts val="1440"/>
              </a:spcBef>
              <a:spcAft>
                <a:spcPts val="0"/>
              </a:spcAft>
              <a:buClr>
                <a:schemeClr val="dk1"/>
              </a:buClr>
              <a:buSzPts val="2880"/>
              <a:buNone/>
              <a:defRPr sz="2880"/>
            </a:lvl4pPr>
            <a:lvl5pPr indent="-228600" lvl="4" marL="2286000" algn="l">
              <a:lnSpc>
                <a:spcPct val="90000"/>
              </a:lnSpc>
              <a:spcBef>
                <a:spcPts val="1440"/>
              </a:spcBef>
              <a:spcAft>
                <a:spcPts val="0"/>
              </a:spcAft>
              <a:buClr>
                <a:schemeClr val="dk1"/>
              </a:buClr>
              <a:buSzPts val="2880"/>
              <a:buNone/>
              <a:defRPr sz="2880"/>
            </a:lvl5pPr>
            <a:lvl6pPr indent="-228600" lvl="5" marL="2743200" algn="l">
              <a:lnSpc>
                <a:spcPct val="90000"/>
              </a:lnSpc>
              <a:spcBef>
                <a:spcPts val="1440"/>
              </a:spcBef>
              <a:spcAft>
                <a:spcPts val="0"/>
              </a:spcAft>
              <a:buClr>
                <a:schemeClr val="dk1"/>
              </a:buClr>
              <a:buSzPts val="2880"/>
              <a:buNone/>
              <a:defRPr sz="2880"/>
            </a:lvl6pPr>
            <a:lvl7pPr indent="-228600" lvl="6" marL="3200400" algn="l">
              <a:lnSpc>
                <a:spcPct val="90000"/>
              </a:lnSpc>
              <a:spcBef>
                <a:spcPts val="1440"/>
              </a:spcBef>
              <a:spcAft>
                <a:spcPts val="0"/>
              </a:spcAft>
              <a:buClr>
                <a:schemeClr val="dk1"/>
              </a:buClr>
              <a:buSzPts val="2880"/>
              <a:buNone/>
              <a:defRPr sz="2880"/>
            </a:lvl7pPr>
            <a:lvl8pPr indent="-228600" lvl="7" marL="3657600" algn="l">
              <a:lnSpc>
                <a:spcPct val="90000"/>
              </a:lnSpc>
              <a:spcBef>
                <a:spcPts val="1440"/>
              </a:spcBef>
              <a:spcAft>
                <a:spcPts val="0"/>
              </a:spcAft>
              <a:buClr>
                <a:schemeClr val="dk1"/>
              </a:buClr>
              <a:buSzPts val="2880"/>
              <a:buNone/>
              <a:defRPr sz="2880"/>
            </a:lvl8pPr>
            <a:lvl9pPr indent="-228600" lvl="8" marL="4114800" algn="l">
              <a:lnSpc>
                <a:spcPct val="90000"/>
              </a:lnSpc>
              <a:spcBef>
                <a:spcPts val="1440"/>
              </a:spcBef>
              <a:spcAft>
                <a:spcPts val="0"/>
              </a:spcAft>
              <a:buClr>
                <a:schemeClr val="dk1"/>
              </a:buClr>
              <a:buSzPts val="2880"/>
              <a:buNone/>
              <a:defRPr sz="2880"/>
            </a:lvl9pPr>
          </a:lstStyle>
          <a:p/>
        </p:txBody>
      </p:sp>
      <p:sp>
        <p:nvSpPr>
          <p:cNvPr id="103" name="Google Shape;103;p21"/>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104" name="Google Shape;104;p21"/>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105" name="Google Shape;105;p21"/>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2267428" y="1463040"/>
            <a:ext cx="10617000" cy="5120700"/>
          </a:xfrm>
          <a:prstGeom prst="rect">
            <a:avLst/>
          </a:prstGeom>
          <a:noFill/>
          <a:ln>
            <a:noFill/>
          </a:ln>
        </p:spPr>
        <p:txBody>
          <a:bodyPr anchorCtr="0" anchor="b" bIns="131000" lIns="262075" spcFirstLastPara="1" rIns="262075" wrap="square" tIns="131000">
            <a:normAutofit/>
          </a:bodyPr>
          <a:lstStyle>
            <a:lvl1pPr lvl="0" algn="l">
              <a:lnSpc>
                <a:spcPct val="90000"/>
              </a:lnSpc>
              <a:spcBef>
                <a:spcPts val="0"/>
              </a:spcBef>
              <a:spcAft>
                <a:spcPts val="0"/>
              </a:spcAft>
              <a:buClr>
                <a:schemeClr val="dk1"/>
              </a:buClr>
              <a:buSzPts val="9120"/>
              <a:buFont typeface="Play"/>
              <a:buNone/>
              <a:defRPr sz="912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108" name="Google Shape;108;p22"/>
          <p:cNvSpPr/>
          <p:nvPr>
            <p:ph idx="2" type="pic"/>
          </p:nvPr>
        </p:nvSpPr>
        <p:spPr>
          <a:xfrm>
            <a:off x="13994608" y="3159760"/>
            <a:ext cx="16665000" cy="15595500"/>
          </a:xfrm>
          <a:prstGeom prst="rect">
            <a:avLst/>
          </a:prstGeom>
          <a:noFill/>
          <a:ln>
            <a:noFill/>
          </a:ln>
        </p:spPr>
      </p:sp>
      <p:sp>
        <p:nvSpPr>
          <p:cNvPr id="109" name="Google Shape;109;p22"/>
          <p:cNvSpPr txBox="1"/>
          <p:nvPr>
            <p:ph idx="1" type="body"/>
          </p:nvPr>
        </p:nvSpPr>
        <p:spPr>
          <a:xfrm>
            <a:off x="2267428" y="6583680"/>
            <a:ext cx="10617000" cy="12197100"/>
          </a:xfrm>
          <a:prstGeom prst="rect">
            <a:avLst/>
          </a:prstGeom>
          <a:noFill/>
          <a:ln>
            <a:noFill/>
          </a:ln>
        </p:spPr>
        <p:txBody>
          <a:bodyPr anchorCtr="0" anchor="t" bIns="131000" lIns="262075" spcFirstLastPara="1" rIns="262075" wrap="square" tIns="131000">
            <a:normAutofit/>
          </a:bodyPr>
          <a:lstStyle>
            <a:lvl1pPr indent="-228600" lvl="0" marL="457200" algn="l">
              <a:lnSpc>
                <a:spcPct val="90000"/>
              </a:lnSpc>
              <a:spcBef>
                <a:spcPts val="2880"/>
              </a:spcBef>
              <a:spcAft>
                <a:spcPts val="0"/>
              </a:spcAft>
              <a:buClr>
                <a:schemeClr val="dk1"/>
              </a:buClr>
              <a:buSzPts val="4560"/>
              <a:buNone/>
              <a:defRPr sz="4560"/>
            </a:lvl1pPr>
            <a:lvl2pPr indent="-228600" lvl="1" marL="914400" algn="l">
              <a:lnSpc>
                <a:spcPct val="90000"/>
              </a:lnSpc>
              <a:spcBef>
                <a:spcPts val="1440"/>
              </a:spcBef>
              <a:spcAft>
                <a:spcPts val="0"/>
              </a:spcAft>
              <a:buClr>
                <a:schemeClr val="dk1"/>
              </a:buClr>
              <a:buSzPts val="3960"/>
              <a:buNone/>
              <a:defRPr sz="3960"/>
            </a:lvl2pPr>
            <a:lvl3pPr indent="-228600" lvl="2" marL="1371600" algn="l">
              <a:lnSpc>
                <a:spcPct val="90000"/>
              </a:lnSpc>
              <a:spcBef>
                <a:spcPts val="1440"/>
              </a:spcBef>
              <a:spcAft>
                <a:spcPts val="0"/>
              </a:spcAft>
              <a:buClr>
                <a:schemeClr val="dk1"/>
              </a:buClr>
              <a:buSzPts val="3480"/>
              <a:buNone/>
              <a:defRPr sz="3480"/>
            </a:lvl3pPr>
            <a:lvl4pPr indent="-228600" lvl="3" marL="1828800" algn="l">
              <a:lnSpc>
                <a:spcPct val="90000"/>
              </a:lnSpc>
              <a:spcBef>
                <a:spcPts val="1440"/>
              </a:spcBef>
              <a:spcAft>
                <a:spcPts val="0"/>
              </a:spcAft>
              <a:buClr>
                <a:schemeClr val="dk1"/>
              </a:buClr>
              <a:buSzPts val="2880"/>
              <a:buNone/>
              <a:defRPr sz="2880"/>
            </a:lvl4pPr>
            <a:lvl5pPr indent="-228600" lvl="4" marL="2286000" algn="l">
              <a:lnSpc>
                <a:spcPct val="90000"/>
              </a:lnSpc>
              <a:spcBef>
                <a:spcPts val="1440"/>
              </a:spcBef>
              <a:spcAft>
                <a:spcPts val="0"/>
              </a:spcAft>
              <a:buClr>
                <a:schemeClr val="dk1"/>
              </a:buClr>
              <a:buSzPts val="2880"/>
              <a:buNone/>
              <a:defRPr sz="2880"/>
            </a:lvl5pPr>
            <a:lvl6pPr indent="-228600" lvl="5" marL="2743200" algn="l">
              <a:lnSpc>
                <a:spcPct val="90000"/>
              </a:lnSpc>
              <a:spcBef>
                <a:spcPts val="1440"/>
              </a:spcBef>
              <a:spcAft>
                <a:spcPts val="0"/>
              </a:spcAft>
              <a:buClr>
                <a:schemeClr val="dk1"/>
              </a:buClr>
              <a:buSzPts val="2880"/>
              <a:buNone/>
              <a:defRPr sz="2880"/>
            </a:lvl6pPr>
            <a:lvl7pPr indent="-228600" lvl="6" marL="3200400" algn="l">
              <a:lnSpc>
                <a:spcPct val="90000"/>
              </a:lnSpc>
              <a:spcBef>
                <a:spcPts val="1440"/>
              </a:spcBef>
              <a:spcAft>
                <a:spcPts val="0"/>
              </a:spcAft>
              <a:buClr>
                <a:schemeClr val="dk1"/>
              </a:buClr>
              <a:buSzPts val="2880"/>
              <a:buNone/>
              <a:defRPr sz="2880"/>
            </a:lvl7pPr>
            <a:lvl8pPr indent="-228600" lvl="7" marL="3657600" algn="l">
              <a:lnSpc>
                <a:spcPct val="90000"/>
              </a:lnSpc>
              <a:spcBef>
                <a:spcPts val="1440"/>
              </a:spcBef>
              <a:spcAft>
                <a:spcPts val="0"/>
              </a:spcAft>
              <a:buClr>
                <a:schemeClr val="dk1"/>
              </a:buClr>
              <a:buSzPts val="2880"/>
              <a:buNone/>
              <a:defRPr sz="2880"/>
            </a:lvl8pPr>
            <a:lvl9pPr indent="-228600" lvl="8" marL="4114800" algn="l">
              <a:lnSpc>
                <a:spcPct val="90000"/>
              </a:lnSpc>
              <a:spcBef>
                <a:spcPts val="1440"/>
              </a:spcBef>
              <a:spcAft>
                <a:spcPts val="0"/>
              </a:spcAft>
              <a:buClr>
                <a:schemeClr val="dk1"/>
              </a:buClr>
              <a:buSzPts val="2880"/>
              <a:buNone/>
              <a:defRPr sz="2880"/>
            </a:lvl9pPr>
          </a:lstStyle>
          <a:p/>
        </p:txBody>
      </p:sp>
      <p:sp>
        <p:nvSpPr>
          <p:cNvPr id="110" name="Google Shape;110;p22"/>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111" name="Google Shape;111;p22"/>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112" name="Google Shape;112;p22"/>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63140" y="1168400"/>
            <a:ext cx="28392000" cy="4241700"/>
          </a:xfrm>
          <a:prstGeom prst="rect">
            <a:avLst/>
          </a:prstGeom>
          <a:noFill/>
          <a:ln>
            <a:noFill/>
          </a:ln>
        </p:spPr>
        <p:txBody>
          <a:bodyPr anchorCtr="0" anchor="ctr" bIns="131000" lIns="262075" spcFirstLastPara="1" rIns="262075" wrap="square" tIns="131000">
            <a:normAutofit/>
          </a:bodyPr>
          <a:lstStyle>
            <a:lvl1pPr lvl="0" algn="l">
              <a:lnSpc>
                <a:spcPct val="90000"/>
              </a:lnSpc>
              <a:spcBef>
                <a:spcPts val="0"/>
              </a:spcBef>
              <a:spcAft>
                <a:spcPts val="0"/>
              </a:spcAft>
              <a:buClr>
                <a:schemeClr val="dk1"/>
              </a:buClr>
              <a:buSzPts val="5160"/>
              <a:buNone/>
              <a:defRPr sz="1260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115" name="Google Shape;115;p23"/>
          <p:cNvSpPr txBox="1"/>
          <p:nvPr>
            <p:ph idx="1" type="body"/>
          </p:nvPr>
        </p:nvSpPr>
        <p:spPr>
          <a:xfrm rot="5400000">
            <a:off x="9497160" y="-1391900"/>
            <a:ext cx="13924200" cy="28392000"/>
          </a:xfrm>
          <a:prstGeom prst="rect">
            <a:avLst/>
          </a:prstGeom>
          <a:noFill/>
          <a:ln>
            <a:noFill/>
          </a:ln>
        </p:spPr>
        <p:txBody>
          <a:bodyPr anchorCtr="0" anchor="t" bIns="131000" lIns="262075" spcFirstLastPara="1" rIns="262075" wrap="square" tIns="131000">
            <a:normAutofit/>
          </a:bodyPr>
          <a:lstStyle>
            <a:lvl1pPr indent="-556260" lvl="0" marL="457200" algn="l">
              <a:lnSpc>
                <a:spcPct val="90000"/>
              </a:lnSpc>
              <a:spcBef>
                <a:spcPts val="2880"/>
              </a:spcBef>
              <a:spcAft>
                <a:spcPts val="0"/>
              </a:spcAft>
              <a:buClr>
                <a:schemeClr val="dk1"/>
              </a:buClr>
              <a:buSzPts val="5160"/>
              <a:buChar char="•"/>
              <a:defRPr sz="8040"/>
            </a:lvl1pPr>
            <a:lvl2pPr indent="-556260" lvl="1" marL="914400" algn="l">
              <a:lnSpc>
                <a:spcPct val="90000"/>
              </a:lnSpc>
              <a:spcBef>
                <a:spcPts val="1440"/>
              </a:spcBef>
              <a:spcAft>
                <a:spcPts val="0"/>
              </a:spcAft>
              <a:buClr>
                <a:schemeClr val="dk1"/>
              </a:buClr>
              <a:buSzPts val="5160"/>
              <a:buChar char="•"/>
              <a:defRPr sz="6840"/>
            </a:lvl2pPr>
            <a:lvl3pPr indent="-556260" lvl="2" marL="1371600" algn="l">
              <a:lnSpc>
                <a:spcPct val="90000"/>
              </a:lnSpc>
              <a:spcBef>
                <a:spcPts val="1440"/>
              </a:spcBef>
              <a:spcAft>
                <a:spcPts val="0"/>
              </a:spcAft>
              <a:buClr>
                <a:schemeClr val="dk1"/>
              </a:buClr>
              <a:buSzPts val="5160"/>
              <a:buChar char="•"/>
              <a:defRPr sz="5760"/>
            </a:lvl3pPr>
            <a:lvl4pPr indent="-556260" lvl="3" marL="1828800" algn="l">
              <a:lnSpc>
                <a:spcPct val="90000"/>
              </a:lnSpc>
              <a:spcBef>
                <a:spcPts val="1440"/>
              </a:spcBef>
              <a:spcAft>
                <a:spcPts val="0"/>
              </a:spcAft>
              <a:buClr>
                <a:schemeClr val="dk1"/>
              </a:buClr>
              <a:buSzPts val="5160"/>
              <a:buChar char="•"/>
              <a:defRPr sz="5160"/>
            </a:lvl4pPr>
            <a:lvl5pPr indent="-556260" lvl="4" marL="2286000" algn="l">
              <a:lnSpc>
                <a:spcPct val="90000"/>
              </a:lnSpc>
              <a:spcBef>
                <a:spcPts val="1440"/>
              </a:spcBef>
              <a:spcAft>
                <a:spcPts val="0"/>
              </a:spcAft>
              <a:buClr>
                <a:schemeClr val="dk1"/>
              </a:buClr>
              <a:buSzPts val="5160"/>
              <a:buChar char="•"/>
              <a:defRPr sz="5160"/>
            </a:lvl5pPr>
            <a:lvl6pPr indent="-556260" lvl="5" marL="2743200" algn="l">
              <a:lnSpc>
                <a:spcPct val="90000"/>
              </a:lnSpc>
              <a:spcBef>
                <a:spcPts val="1440"/>
              </a:spcBef>
              <a:spcAft>
                <a:spcPts val="0"/>
              </a:spcAft>
              <a:buClr>
                <a:schemeClr val="dk1"/>
              </a:buClr>
              <a:buSzPts val="5160"/>
              <a:buChar char="•"/>
              <a:defRPr sz="5160"/>
            </a:lvl6pPr>
            <a:lvl7pPr indent="-556260" lvl="6" marL="3200400" algn="l">
              <a:lnSpc>
                <a:spcPct val="90000"/>
              </a:lnSpc>
              <a:spcBef>
                <a:spcPts val="1440"/>
              </a:spcBef>
              <a:spcAft>
                <a:spcPts val="0"/>
              </a:spcAft>
              <a:buClr>
                <a:schemeClr val="dk1"/>
              </a:buClr>
              <a:buSzPts val="5160"/>
              <a:buChar char="•"/>
              <a:defRPr sz="5160"/>
            </a:lvl7pPr>
            <a:lvl8pPr indent="-556260" lvl="7" marL="3657600" algn="l">
              <a:lnSpc>
                <a:spcPct val="90000"/>
              </a:lnSpc>
              <a:spcBef>
                <a:spcPts val="1440"/>
              </a:spcBef>
              <a:spcAft>
                <a:spcPts val="0"/>
              </a:spcAft>
              <a:buClr>
                <a:schemeClr val="dk1"/>
              </a:buClr>
              <a:buSzPts val="5160"/>
              <a:buChar char="•"/>
              <a:defRPr sz="5160"/>
            </a:lvl8pPr>
            <a:lvl9pPr indent="-556260" lvl="8" marL="4114800" algn="l">
              <a:lnSpc>
                <a:spcPct val="90000"/>
              </a:lnSpc>
              <a:spcBef>
                <a:spcPts val="1440"/>
              </a:spcBef>
              <a:spcAft>
                <a:spcPts val="0"/>
              </a:spcAft>
              <a:buClr>
                <a:schemeClr val="dk1"/>
              </a:buClr>
              <a:buSzPts val="5160"/>
              <a:buChar char="•"/>
              <a:defRPr sz="5160"/>
            </a:lvl9pPr>
          </a:lstStyle>
          <a:p/>
        </p:txBody>
      </p:sp>
      <p:sp>
        <p:nvSpPr>
          <p:cNvPr id="116" name="Google Shape;116;p23"/>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117" name="Google Shape;117;p23"/>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118" name="Google Shape;118;p23"/>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17807310" y="6918350"/>
            <a:ext cx="18597900" cy="7098000"/>
          </a:xfrm>
          <a:prstGeom prst="rect">
            <a:avLst/>
          </a:prstGeom>
          <a:noFill/>
          <a:ln>
            <a:noFill/>
          </a:ln>
        </p:spPr>
        <p:txBody>
          <a:bodyPr anchorCtr="0" anchor="ctr" bIns="131000" lIns="262075" spcFirstLastPara="1" rIns="262075" wrap="square" tIns="131000">
            <a:normAutofit/>
          </a:bodyPr>
          <a:lstStyle>
            <a:lvl1pPr lvl="0" algn="l">
              <a:lnSpc>
                <a:spcPct val="90000"/>
              </a:lnSpc>
              <a:spcBef>
                <a:spcPts val="0"/>
              </a:spcBef>
              <a:spcAft>
                <a:spcPts val="0"/>
              </a:spcAft>
              <a:buClr>
                <a:schemeClr val="dk1"/>
              </a:buClr>
              <a:buSzPts val="5160"/>
              <a:buNone/>
              <a:defRPr sz="12600"/>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121" name="Google Shape;121;p24"/>
          <p:cNvSpPr txBox="1"/>
          <p:nvPr>
            <p:ph idx="1" type="body"/>
          </p:nvPr>
        </p:nvSpPr>
        <p:spPr>
          <a:xfrm rot="5400000">
            <a:off x="3405450" y="26000"/>
            <a:ext cx="18597900" cy="20882700"/>
          </a:xfrm>
          <a:prstGeom prst="rect">
            <a:avLst/>
          </a:prstGeom>
          <a:noFill/>
          <a:ln>
            <a:noFill/>
          </a:ln>
        </p:spPr>
        <p:txBody>
          <a:bodyPr anchorCtr="0" anchor="t" bIns="131000" lIns="262075" spcFirstLastPara="1" rIns="262075" wrap="square" tIns="131000">
            <a:normAutofit/>
          </a:bodyPr>
          <a:lstStyle>
            <a:lvl1pPr indent="-556260" lvl="0" marL="457200" algn="l">
              <a:lnSpc>
                <a:spcPct val="90000"/>
              </a:lnSpc>
              <a:spcBef>
                <a:spcPts val="2880"/>
              </a:spcBef>
              <a:spcAft>
                <a:spcPts val="0"/>
              </a:spcAft>
              <a:buClr>
                <a:schemeClr val="dk1"/>
              </a:buClr>
              <a:buSzPts val="5160"/>
              <a:buChar char="•"/>
              <a:defRPr sz="8040"/>
            </a:lvl1pPr>
            <a:lvl2pPr indent="-556260" lvl="1" marL="914400" algn="l">
              <a:lnSpc>
                <a:spcPct val="90000"/>
              </a:lnSpc>
              <a:spcBef>
                <a:spcPts val="1440"/>
              </a:spcBef>
              <a:spcAft>
                <a:spcPts val="0"/>
              </a:spcAft>
              <a:buClr>
                <a:schemeClr val="dk1"/>
              </a:buClr>
              <a:buSzPts val="5160"/>
              <a:buChar char="•"/>
              <a:defRPr sz="6840"/>
            </a:lvl2pPr>
            <a:lvl3pPr indent="-556260" lvl="2" marL="1371600" algn="l">
              <a:lnSpc>
                <a:spcPct val="90000"/>
              </a:lnSpc>
              <a:spcBef>
                <a:spcPts val="1440"/>
              </a:spcBef>
              <a:spcAft>
                <a:spcPts val="0"/>
              </a:spcAft>
              <a:buClr>
                <a:schemeClr val="dk1"/>
              </a:buClr>
              <a:buSzPts val="5160"/>
              <a:buChar char="•"/>
              <a:defRPr sz="5760"/>
            </a:lvl3pPr>
            <a:lvl4pPr indent="-556260" lvl="3" marL="1828800" algn="l">
              <a:lnSpc>
                <a:spcPct val="90000"/>
              </a:lnSpc>
              <a:spcBef>
                <a:spcPts val="1440"/>
              </a:spcBef>
              <a:spcAft>
                <a:spcPts val="0"/>
              </a:spcAft>
              <a:buClr>
                <a:schemeClr val="dk1"/>
              </a:buClr>
              <a:buSzPts val="5160"/>
              <a:buChar char="•"/>
              <a:defRPr sz="5160"/>
            </a:lvl4pPr>
            <a:lvl5pPr indent="-556260" lvl="4" marL="2286000" algn="l">
              <a:lnSpc>
                <a:spcPct val="90000"/>
              </a:lnSpc>
              <a:spcBef>
                <a:spcPts val="1440"/>
              </a:spcBef>
              <a:spcAft>
                <a:spcPts val="0"/>
              </a:spcAft>
              <a:buClr>
                <a:schemeClr val="dk1"/>
              </a:buClr>
              <a:buSzPts val="5160"/>
              <a:buChar char="•"/>
              <a:defRPr sz="5160"/>
            </a:lvl5pPr>
            <a:lvl6pPr indent="-556260" lvl="5" marL="2743200" algn="l">
              <a:lnSpc>
                <a:spcPct val="90000"/>
              </a:lnSpc>
              <a:spcBef>
                <a:spcPts val="1440"/>
              </a:spcBef>
              <a:spcAft>
                <a:spcPts val="0"/>
              </a:spcAft>
              <a:buClr>
                <a:schemeClr val="dk1"/>
              </a:buClr>
              <a:buSzPts val="5160"/>
              <a:buChar char="•"/>
              <a:defRPr sz="5160"/>
            </a:lvl6pPr>
            <a:lvl7pPr indent="-556260" lvl="6" marL="3200400" algn="l">
              <a:lnSpc>
                <a:spcPct val="90000"/>
              </a:lnSpc>
              <a:spcBef>
                <a:spcPts val="1440"/>
              </a:spcBef>
              <a:spcAft>
                <a:spcPts val="0"/>
              </a:spcAft>
              <a:buClr>
                <a:schemeClr val="dk1"/>
              </a:buClr>
              <a:buSzPts val="5160"/>
              <a:buChar char="•"/>
              <a:defRPr sz="5160"/>
            </a:lvl7pPr>
            <a:lvl8pPr indent="-556260" lvl="7" marL="3657600" algn="l">
              <a:lnSpc>
                <a:spcPct val="90000"/>
              </a:lnSpc>
              <a:spcBef>
                <a:spcPts val="1440"/>
              </a:spcBef>
              <a:spcAft>
                <a:spcPts val="0"/>
              </a:spcAft>
              <a:buClr>
                <a:schemeClr val="dk1"/>
              </a:buClr>
              <a:buSzPts val="5160"/>
              <a:buChar char="•"/>
              <a:defRPr sz="5160"/>
            </a:lvl8pPr>
            <a:lvl9pPr indent="-556260" lvl="8" marL="4114800" algn="l">
              <a:lnSpc>
                <a:spcPct val="90000"/>
              </a:lnSpc>
              <a:spcBef>
                <a:spcPts val="1440"/>
              </a:spcBef>
              <a:spcAft>
                <a:spcPts val="0"/>
              </a:spcAft>
              <a:buClr>
                <a:schemeClr val="dk1"/>
              </a:buClr>
              <a:buSzPts val="5160"/>
              <a:buChar char="•"/>
              <a:defRPr sz="5160"/>
            </a:lvl9pPr>
          </a:lstStyle>
          <a:p/>
        </p:txBody>
      </p:sp>
      <p:sp>
        <p:nvSpPr>
          <p:cNvPr id="122" name="Google Shape;122;p24"/>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algn="l">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123" name="Google Shape;123;p24"/>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algn="ctr">
              <a:spcBef>
                <a:spcPts val="0"/>
              </a:spcBef>
              <a:spcAft>
                <a:spcPts val="0"/>
              </a:spcAft>
              <a:buSzPts val="3960"/>
              <a:buNone/>
              <a:defRPr sz="3480"/>
            </a:lvl1pPr>
            <a:lvl2pPr lvl="1" algn="l">
              <a:spcBef>
                <a:spcPts val="0"/>
              </a:spcBef>
              <a:spcAft>
                <a:spcPts val="0"/>
              </a:spcAft>
              <a:buSzPts val="3960"/>
              <a:buNone/>
              <a:defRPr sz="5160"/>
            </a:lvl2pPr>
            <a:lvl3pPr lvl="2" algn="l">
              <a:spcBef>
                <a:spcPts val="0"/>
              </a:spcBef>
              <a:spcAft>
                <a:spcPts val="0"/>
              </a:spcAft>
              <a:buSzPts val="3960"/>
              <a:buNone/>
              <a:defRPr sz="5160"/>
            </a:lvl3pPr>
            <a:lvl4pPr lvl="3" algn="l">
              <a:spcBef>
                <a:spcPts val="0"/>
              </a:spcBef>
              <a:spcAft>
                <a:spcPts val="0"/>
              </a:spcAft>
              <a:buSzPts val="3960"/>
              <a:buNone/>
              <a:defRPr sz="5160"/>
            </a:lvl4pPr>
            <a:lvl5pPr lvl="4" algn="l">
              <a:spcBef>
                <a:spcPts val="0"/>
              </a:spcBef>
              <a:spcAft>
                <a:spcPts val="0"/>
              </a:spcAft>
              <a:buSzPts val="3960"/>
              <a:buNone/>
              <a:defRPr sz="5160"/>
            </a:lvl5pPr>
            <a:lvl6pPr lvl="5" algn="l">
              <a:spcBef>
                <a:spcPts val="0"/>
              </a:spcBef>
              <a:spcAft>
                <a:spcPts val="0"/>
              </a:spcAft>
              <a:buSzPts val="3960"/>
              <a:buNone/>
              <a:defRPr sz="5160"/>
            </a:lvl6pPr>
            <a:lvl7pPr lvl="6" algn="l">
              <a:spcBef>
                <a:spcPts val="0"/>
              </a:spcBef>
              <a:spcAft>
                <a:spcPts val="0"/>
              </a:spcAft>
              <a:buSzPts val="3960"/>
              <a:buNone/>
              <a:defRPr sz="5160"/>
            </a:lvl7pPr>
            <a:lvl8pPr lvl="7" algn="l">
              <a:spcBef>
                <a:spcPts val="0"/>
              </a:spcBef>
              <a:spcAft>
                <a:spcPts val="0"/>
              </a:spcAft>
              <a:buSzPts val="3960"/>
              <a:buNone/>
              <a:defRPr sz="5160"/>
            </a:lvl8pPr>
            <a:lvl9pPr lvl="8" algn="l">
              <a:spcBef>
                <a:spcPts val="0"/>
              </a:spcBef>
              <a:spcAft>
                <a:spcPts val="0"/>
              </a:spcAft>
              <a:buSzPts val="3960"/>
              <a:buNone/>
              <a:defRPr sz="5160"/>
            </a:lvl9pPr>
          </a:lstStyle>
          <a:p/>
        </p:txBody>
      </p:sp>
      <p:sp>
        <p:nvSpPr>
          <p:cNvPr id="124" name="Google Shape;124;p24"/>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algn="r">
              <a:spcBef>
                <a:spcPts val="0"/>
              </a:spcBef>
              <a:buNone/>
              <a:defRPr sz="3480"/>
            </a:lvl1pPr>
            <a:lvl2pPr indent="0" lvl="1" marL="0" algn="r">
              <a:spcBef>
                <a:spcPts val="0"/>
              </a:spcBef>
              <a:buNone/>
              <a:defRPr sz="3480"/>
            </a:lvl2pPr>
            <a:lvl3pPr indent="0" lvl="2" marL="0" algn="r">
              <a:spcBef>
                <a:spcPts val="0"/>
              </a:spcBef>
              <a:buNone/>
              <a:defRPr sz="3480"/>
            </a:lvl3pPr>
            <a:lvl4pPr indent="0" lvl="3" marL="0" algn="r">
              <a:spcBef>
                <a:spcPts val="0"/>
              </a:spcBef>
              <a:buNone/>
              <a:defRPr sz="3480"/>
            </a:lvl4pPr>
            <a:lvl5pPr indent="0" lvl="4" marL="0" algn="r">
              <a:spcBef>
                <a:spcPts val="0"/>
              </a:spcBef>
              <a:buNone/>
              <a:defRPr sz="3480"/>
            </a:lvl5pPr>
            <a:lvl6pPr indent="0" lvl="5" marL="0" algn="r">
              <a:spcBef>
                <a:spcPts val="0"/>
              </a:spcBef>
              <a:buNone/>
              <a:defRPr sz="3480"/>
            </a:lvl6pPr>
            <a:lvl7pPr indent="0" lvl="6" marL="0" algn="r">
              <a:spcBef>
                <a:spcPts val="0"/>
              </a:spcBef>
              <a:buNone/>
              <a:defRPr sz="3480"/>
            </a:lvl7pPr>
            <a:lvl8pPr indent="0" lvl="7" marL="0" algn="r">
              <a:spcBef>
                <a:spcPts val="0"/>
              </a:spcBef>
              <a:buNone/>
              <a:defRPr sz="3480"/>
            </a:lvl8pPr>
            <a:lvl9pPr indent="0" lvl="8" marL="0" algn="r">
              <a:spcBef>
                <a:spcPts val="0"/>
              </a:spcBef>
              <a:buNone/>
              <a:defRPr sz="3480"/>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22120" y="1898773"/>
            <a:ext cx="30675600" cy="2444400"/>
          </a:xfrm>
          <a:prstGeom prst="rect">
            <a:avLst/>
          </a:prstGeom>
          <a:noFill/>
          <a:ln>
            <a:noFill/>
          </a:ln>
        </p:spPr>
        <p:txBody>
          <a:bodyPr anchorCtr="0" anchor="t" bIns="349500" lIns="349500" spcFirstLastPara="1" rIns="349500" wrap="square" tIns="349500">
            <a:normAutofit/>
          </a:bodyPr>
          <a:lstStyle>
            <a:lvl1pPr lvl="0">
              <a:spcBef>
                <a:spcPts val="0"/>
              </a:spcBef>
              <a:spcAft>
                <a:spcPts val="0"/>
              </a:spcAft>
              <a:buClr>
                <a:schemeClr val="dk1"/>
              </a:buClr>
              <a:buSzPts val="10702"/>
              <a:buNone/>
              <a:defRPr sz="10702">
                <a:solidFill>
                  <a:schemeClr val="dk1"/>
                </a:solidFill>
              </a:defRPr>
            </a:lvl1pPr>
            <a:lvl2pPr lvl="1">
              <a:spcBef>
                <a:spcPts val="0"/>
              </a:spcBef>
              <a:spcAft>
                <a:spcPts val="0"/>
              </a:spcAft>
              <a:buClr>
                <a:schemeClr val="dk1"/>
              </a:buClr>
              <a:buSzPts val="10702"/>
              <a:buNone/>
              <a:defRPr sz="10702">
                <a:solidFill>
                  <a:schemeClr val="dk1"/>
                </a:solidFill>
              </a:defRPr>
            </a:lvl2pPr>
            <a:lvl3pPr lvl="2">
              <a:spcBef>
                <a:spcPts val="0"/>
              </a:spcBef>
              <a:spcAft>
                <a:spcPts val="0"/>
              </a:spcAft>
              <a:buClr>
                <a:schemeClr val="dk1"/>
              </a:buClr>
              <a:buSzPts val="10702"/>
              <a:buNone/>
              <a:defRPr sz="10702">
                <a:solidFill>
                  <a:schemeClr val="dk1"/>
                </a:solidFill>
              </a:defRPr>
            </a:lvl3pPr>
            <a:lvl4pPr lvl="3">
              <a:spcBef>
                <a:spcPts val="0"/>
              </a:spcBef>
              <a:spcAft>
                <a:spcPts val="0"/>
              </a:spcAft>
              <a:buClr>
                <a:schemeClr val="dk1"/>
              </a:buClr>
              <a:buSzPts val="10702"/>
              <a:buNone/>
              <a:defRPr sz="10702">
                <a:solidFill>
                  <a:schemeClr val="dk1"/>
                </a:solidFill>
              </a:defRPr>
            </a:lvl4pPr>
            <a:lvl5pPr lvl="4">
              <a:spcBef>
                <a:spcPts val="0"/>
              </a:spcBef>
              <a:spcAft>
                <a:spcPts val="0"/>
              </a:spcAft>
              <a:buClr>
                <a:schemeClr val="dk1"/>
              </a:buClr>
              <a:buSzPts val="10702"/>
              <a:buNone/>
              <a:defRPr sz="10702">
                <a:solidFill>
                  <a:schemeClr val="dk1"/>
                </a:solidFill>
              </a:defRPr>
            </a:lvl5pPr>
            <a:lvl6pPr lvl="5">
              <a:spcBef>
                <a:spcPts val="0"/>
              </a:spcBef>
              <a:spcAft>
                <a:spcPts val="0"/>
              </a:spcAft>
              <a:buClr>
                <a:schemeClr val="dk1"/>
              </a:buClr>
              <a:buSzPts val="10702"/>
              <a:buNone/>
              <a:defRPr sz="10702">
                <a:solidFill>
                  <a:schemeClr val="dk1"/>
                </a:solidFill>
              </a:defRPr>
            </a:lvl6pPr>
            <a:lvl7pPr lvl="6">
              <a:spcBef>
                <a:spcPts val="0"/>
              </a:spcBef>
              <a:spcAft>
                <a:spcPts val="0"/>
              </a:spcAft>
              <a:buClr>
                <a:schemeClr val="dk1"/>
              </a:buClr>
              <a:buSzPts val="10702"/>
              <a:buNone/>
              <a:defRPr sz="10702">
                <a:solidFill>
                  <a:schemeClr val="dk1"/>
                </a:solidFill>
              </a:defRPr>
            </a:lvl7pPr>
            <a:lvl8pPr lvl="7">
              <a:spcBef>
                <a:spcPts val="0"/>
              </a:spcBef>
              <a:spcAft>
                <a:spcPts val="0"/>
              </a:spcAft>
              <a:buClr>
                <a:schemeClr val="dk1"/>
              </a:buClr>
              <a:buSzPts val="10702"/>
              <a:buNone/>
              <a:defRPr sz="10702">
                <a:solidFill>
                  <a:schemeClr val="dk1"/>
                </a:solidFill>
              </a:defRPr>
            </a:lvl8pPr>
            <a:lvl9pPr lvl="8">
              <a:spcBef>
                <a:spcPts val="0"/>
              </a:spcBef>
              <a:spcAft>
                <a:spcPts val="0"/>
              </a:spcAft>
              <a:buClr>
                <a:schemeClr val="dk1"/>
              </a:buClr>
              <a:buSzPts val="10702"/>
              <a:buNone/>
              <a:defRPr sz="10702">
                <a:solidFill>
                  <a:schemeClr val="dk1"/>
                </a:solidFill>
              </a:defRPr>
            </a:lvl9pPr>
          </a:lstStyle>
          <a:p/>
        </p:txBody>
      </p:sp>
      <p:sp>
        <p:nvSpPr>
          <p:cNvPr id="7" name="Google Shape;7;p1"/>
          <p:cNvSpPr txBox="1"/>
          <p:nvPr>
            <p:ph idx="1" type="body"/>
          </p:nvPr>
        </p:nvSpPr>
        <p:spPr>
          <a:xfrm>
            <a:off x="1122120" y="4917227"/>
            <a:ext cx="30675600" cy="14576400"/>
          </a:xfrm>
          <a:prstGeom prst="rect">
            <a:avLst/>
          </a:prstGeom>
          <a:noFill/>
          <a:ln>
            <a:noFill/>
          </a:ln>
        </p:spPr>
        <p:txBody>
          <a:bodyPr anchorCtr="0" anchor="t" bIns="349500" lIns="349500" spcFirstLastPara="1" rIns="349500" wrap="square" tIns="349500">
            <a:normAutofit/>
          </a:bodyPr>
          <a:lstStyle>
            <a:lvl1pPr indent="-665477" lvl="0" marL="457200">
              <a:lnSpc>
                <a:spcPct val="115000"/>
              </a:lnSpc>
              <a:spcBef>
                <a:spcPts val="0"/>
              </a:spcBef>
              <a:spcAft>
                <a:spcPts val="0"/>
              </a:spcAft>
              <a:buClr>
                <a:schemeClr val="dk2"/>
              </a:buClr>
              <a:buSzPts val="6880"/>
              <a:buChar char="●"/>
              <a:defRPr sz="6880">
                <a:solidFill>
                  <a:schemeClr val="dk2"/>
                </a:solidFill>
              </a:defRPr>
            </a:lvl1pPr>
            <a:lvl2pPr indent="-568399" lvl="1" marL="914400">
              <a:lnSpc>
                <a:spcPct val="115000"/>
              </a:lnSpc>
              <a:spcBef>
                <a:spcPts val="0"/>
              </a:spcBef>
              <a:spcAft>
                <a:spcPts val="0"/>
              </a:spcAft>
              <a:buClr>
                <a:schemeClr val="dk2"/>
              </a:buClr>
              <a:buSzPts val="5351"/>
              <a:buChar char="○"/>
              <a:defRPr sz="5351">
                <a:solidFill>
                  <a:schemeClr val="dk2"/>
                </a:solidFill>
              </a:defRPr>
            </a:lvl2pPr>
            <a:lvl3pPr indent="-568399" lvl="2" marL="1371600">
              <a:lnSpc>
                <a:spcPct val="115000"/>
              </a:lnSpc>
              <a:spcBef>
                <a:spcPts val="0"/>
              </a:spcBef>
              <a:spcAft>
                <a:spcPts val="0"/>
              </a:spcAft>
              <a:buClr>
                <a:schemeClr val="dk2"/>
              </a:buClr>
              <a:buSzPts val="5351"/>
              <a:buChar char="■"/>
              <a:defRPr sz="5351">
                <a:solidFill>
                  <a:schemeClr val="dk2"/>
                </a:solidFill>
              </a:defRPr>
            </a:lvl3pPr>
            <a:lvl4pPr indent="-568399" lvl="3" marL="1828800">
              <a:lnSpc>
                <a:spcPct val="115000"/>
              </a:lnSpc>
              <a:spcBef>
                <a:spcPts val="0"/>
              </a:spcBef>
              <a:spcAft>
                <a:spcPts val="0"/>
              </a:spcAft>
              <a:buClr>
                <a:schemeClr val="dk2"/>
              </a:buClr>
              <a:buSzPts val="5351"/>
              <a:buChar char="●"/>
              <a:defRPr sz="5351">
                <a:solidFill>
                  <a:schemeClr val="dk2"/>
                </a:solidFill>
              </a:defRPr>
            </a:lvl4pPr>
            <a:lvl5pPr indent="-568399" lvl="4" marL="2286000">
              <a:lnSpc>
                <a:spcPct val="115000"/>
              </a:lnSpc>
              <a:spcBef>
                <a:spcPts val="0"/>
              </a:spcBef>
              <a:spcAft>
                <a:spcPts val="0"/>
              </a:spcAft>
              <a:buClr>
                <a:schemeClr val="dk2"/>
              </a:buClr>
              <a:buSzPts val="5351"/>
              <a:buChar char="○"/>
              <a:defRPr sz="5351">
                <a:solidFill>
                  <a:schemeClr val="dk2"/>
                </a:solidFill>
              </a:defRPr>
            </a:lvl5pPr>
            <a:lvl6pPr indent="-568399" lvl="5" marL="2743200">
              <a:lnSpc>
                <a:spcPct val="115000"/>
              </a:lnSpc>
              <a:spcBef>
                <a:spcPts val="0"/>
              </a:spcBef>
              <a:spcAft>
                <a:spcPts val="0"/>
              </a:spcAft>
              <a:buClr>
                <a:schemeClr val="dk2"/>
              </a:buClr>
              <a:buSzPts val="5351"/>
              <a:buChar char="■"/>
              <a:defRPr sz="5351">
                <a:solidFill>
                  <a:schemeClr val="dk2"/>
                </a:solidFill>
              </a:defRPr>
            </a:lvl6pPr>
            <a:lvl7pPr indent="-568399" lvl="6" marL="3200400">
              <a:lnSpc>
                <a:spcPct val="115000"/>
              </a:lnSpc>
              <a:spcBef>
                <a:spcPts val="0"/>
              </a:spcBef>
              <a:spcAft>
                <a:spcPts val="0"/>
              </a:spcAft>
              <a:buClr>
                <a:schemeClr val="dk2"/>
              </a:buClr>
              <a:buSzPts val="5351"/>
              <a:buChar char="●"/>
              <a:defRPr sz="5351">
                <a:solidFill>
                  <a:schemeClr val="dk2"/>
                </a:solidFill>
              </a:defRPr>
            </a:lvl7pPr>
            <a:lvl8pPr indent="-568399" lvl="7" marL="3657600">
              <a:lnSpc>
                <a:spcPct val="115000"/>
              </a:lnSpc>
              <a:spcBef>
                <a:spcPts val="0"/>
              </a:spcBef>
              <a:spcAft>
                <a:spcPts val="0"/>
              </a:spcAft>
              <a:buClr>
                <a:schemeClr val="dk2"/>
              </a:buClr>
              <a:buSzPts val="5351"/>
              <a:buChar char="○"/>
              <a:defRPr sz="5351">
                <a:solidFill>
                  <a:schemeClr val="dk2"/>
                </a:solidFill>
              </a:defRPr>
            </a:lvl8pPr>
            <a:lvl9pPr indent="-568399" lvl="8" marL="4114800">
              <a:lnSpc>
                <a:spcPct val="115000"/>
              </a:lnSpc>
              <a:spcBef>
                <a:spcPts val="0"/>
              </a:spcBef>
              <a:spcAft>
                <a:spcPts val="0"/>
              </a:spcAft>
              <a:buClr>
                <a:schemeClr val="dk2"/>
              </a:buClr>
              <a:buSzPts val="5351"/>
              <a:buChar char="■"/>
              <a:defRPr sz="5351">
                <a:solidFill>
                  <a:schemeClr val="dk2"/>
                </a:solidFill>
              </a:defRPr>
            </a:lvl9pPr>
          </a:lstStyle>
          <a:p/>
        </p:txBody>
      </p:sp>
      <p:sp>
        <p:nvSpPr>
          <p:cNvPr id="8" name="Google Shape;8;p1"/>
          <p:cNvSpPr txBox="1"/>
          <p:nvPr>
            <p:ph idx="12" type="sldNum"/>
          </p:nvPr>
        </p:nvSpPr>
        <p:spPr>
          <a:xfrm>
            <a:off x="30500848" y="19896392"/>
            <a:ext cx="1976400" cy="1677600"/>
          </a:xfrm>
          <a:prstGeom prst="rect">
            <a:avLst/>
          </a:prstGeom>
          <a:noFill/>
          <a:ln>
            <a:noFill/>
          </a:ln>
        </p:spPr>
        <p:txBody>
          <a:bodyPr anchorCtr="0" anchor="ctr" bIns="349500" lIns="349500" spcFirstLastPara="1" rIns="349500" wrap="square" tIns="349500">
            <a:normAutofit/>
          </a:bodyPr>
          <a:lstStyle>
            <a:lvl1pPr lvl="0" algn="r">
              <a:buNone/>
              <a:defRPr sz="3822">
                <a:solidFill>
                  <a:schemeClr val="dk2"/>
                </a:solidFill>
              </a:defRPr>
            </a:lvl1pPr>
            <a:lvl2pPr lvl="1" algn="r">
              <a:buNone/>
              <a:defRPr sz="3822">
                <a:solidFill>
                  <a:schemeClr val="dk2"/>
                </a:solidFill>
              </a:defRPr>
            </a:lvl2pPr>
            <a:lvl3pPr lvl="2" algn="r">
              <a:buNone/>
              <a:defRPr sz="3822">
                <a:solidFill>
                  <a:schemeClr val="dk2"/>
                </a:solidFill>
              </a:defRPr>
            </a:lvl3pPr>
            <a:lvl4pPr lvl="3" algn="r">
              <a:buNone/>
              <a:defRPr sz="3822">
                <a:solidFill>
                  <a:schemeClr val="dk2"/>
                </a:solidFill>
              </a:defRPr>
            </a:lvl4pPr>
            <a:lvl5pPr lvl="4" algn="r">
              <a:buNone/>
              <a:defRPr sz="3822">
                <a:solidFill>
                  <a:schemeClr val="dk2"/>
                </a:solidFill>
              </a:defRPr>
            </a:lvl5pPr>
            <a:lvl6pPr lvl="5" algn="r">
              <a:buNone/>
              <a:defRPr sz="3822">
                <a:solidFill>
                  <a:schemeClr val="dk2"/>
                </a:solidFill>
              </a:defRPr>
            </a:lvl6pPr>
            <a:lvl7pPr lvl="6" algn="r">
              <a:buNone/>
              <a:defRPr sz="3822">
                <a:solidFill>
                  <a:schemeClr val="dk2"/>
                </a:solidFill>
              </a:defRPr>
            </a:lvl7pPr>
            <a:lvl8pPr lvl="7" algn="r">
              <a:buNone/>
              <a:defRPr sz="3822">
                <a:solidFill>
                  <a:schemeClr val="dk2"/>
                </a:solidFill>
              </a:defRPr>
            </a:lvl8pPr>
            <a:lvl9pPr lvl="8" algn="r">
              <a:buNone/>
              <a:defRPr sz="3822">
                <a:solidFill>
                  <a:schemeClr val="dk2"/>
                </a:solidFil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63140" y="1168400"/>
            <a:ext cx="28392000" cy="4241700"/>
          </a:xfrm>
          <a:prstGeom prst="rect">
            <a:avLst/>
          </a:prstGeom>
          <a:noFill/>
          <a:ln>
            <a:noFill/>
          </a:ln>
        </p:spPr>
        <p:txBody>
          <a:bodyPr anchorCtr="0" anchor="ctr" bIns="131000" lIns="262075" spcFirstLastPara="1" rIns="262075" wrap="square" tIns="131000">
            <a:normAutofit/>
          </a:bodyPr>
          <a:lstStyle>
            <a:lvl1pPr lvl="0" marR="0" rtl="0" algn="l">
              <a:lnSpc>
                <a:spcPct val="90000"/>
              </a:lnSpc>
              <a:spcBef>
                <a:spcPts val="0"/>
              </a:spcBef>
              <a:spcAft>
                <a:spcPts val="0"/>
              </a:spcAft>
              <a:buClr>
                <a:schemeClr val="dk1"/>
              </a:buClr>
              <a:buSzPts val="12600"/>
              <a:buFont typeface="Play"/>
              <a:buNone/>
              <a:defRPr b="0" i="0" sz="12600" u="none" cap="none" strike="noStrike">
                <a:solidFill>
                  <a:schemeClr val="dk1"/>
                </a:solidFill>
                <a:latin typeface="Play"/>
                <a:ea typeface="Play"/>
                <a:cs typeface="Play"/>
                <a:sym typeface="Play"/>
              </a:defRPr>
            </a:lvl1pPr>
            <a:lvl2pPr lvl="1">
              <a:spcBef>
                <a:spcPts val="0"/>
              </a:spcBef>
              <a:spcAft>
                <a:spcPts val="0"/>
              </a:spcAft>
              <a:buSzPts val="3960"/>
              <a:buNone/>
              <a:defRPr sz="5160"/>
            </a:lvl2pPr>
            <a:lvl3pPr lvl="2">
              <a:spcBef>
                <a:spcPts val="0"/>
              </a:spcBef>
              <a:spcAft>
                <a:spcPts val="0"/>
              </a:spcAft>
              <a:buSzPts val="3960"/>
              <a:buNone/>
              <a:defRPr sz="5160"/>
            </a:lvl3pPr>
            <a:lvl4pPr lvl="3">
              <a:spcBef>
                <a:spcPts val="0"/>
              </a:spcBef>
              <a:spcAft>
                <a:spcPts val="0"/>
              </a:spcAft>
              <a:buSzPts val="3960"/>
              <a:buNone/>
              <a:defRPr sz="5160"/>
            </a:lvl4pPr>
            <a:lvl5pPr lvl="4">
              <a:spcBef>
                <a:spcPts val="0"/>
              </a:spcBef>
              <a:spcAft>
                <a:spcPts val="0"/>
              </a:spcAft>
              <a:buSzPts val="3960"/>
              <a:buNone/>
              <a:defRPr sz="5160"/>
            </a:lvl5pPr>
            <a:lvl6pPr lvl="5">
              <a:spcBef>
                <a:spcPts val="0"/>
              </a:spcBef>
              <a:spcAft>
                <a:spcPts val="0"/>
              </a:spcAft>
              <a:buSzPts val="3960"/>
              <a:buNone/>
              <a:defRPr sz="5160"/>
            </a:lvl6pPr>
            <a:lvl7pPr lvl="6">
              <a:spcBef>
                <a:spcPts val="0"/>
              </a:spcBef>
              <a:spcAft>
                <a:spcPts val="0"/>
              </a:spcAft>
              <a:buSzPts val="3960"/>
              <a:buNone/>
              <a:defRPr sz="5160"/>
            </a:lvl7pPr>
            <a:lvl8pPr lvl="7">
              <a:spcBef>
                <a:spcPts val="0"/>
              </a:spcBef>
              <a:spcAft>
                <a:spcPts val="0"/>
              </a:spcAft>
              <a:buSzPts val="3960"/>
              <a:buNone/>
              <a:defRPr sz="5160"/>
            </a:lvl8pPr>
            <a:lvl9pPr lvl="8">
              <a:spcBef>
                <a:spcPts val="0"/>
              </a:spcBef>
              <a:spcAft>
                <a:spcPts val="0"/>
              </a:spcAft>
              <a:buSzPts val="3960"/>
              <a:buNone/>
              <a:defRPr sz="5160"/>
            </a:lvl9pPr>
          </a:lstStyle>
          <a:p/>
        </p:txBody>
      </p:sp>
      <p:sp>
        <p:nvSpPr>
          <p:cNvPr id="52" name="Google Shape;52;p13"/>
          <p:cNvSpPr txBox="1"/>
          <p:nvPr>
            <p:ph idx="1" type="body"/>
          </p:nvPr>
        </p:nvSpPr>
        <p:spPr>
          <a:xfrm>
            <a:off x="2263140" y="5842000"/>
            <a:ext cx="28392000" cy="13924200"/>
          </a:xfrm>
          <a:prstGeom prst="rect">
            <a:avLst/>
          </a:prstGeom>
          <a:noFill/>
          <a:ln>
            <a:noFill/>
          </a:ln>
        </p:spPr>
        <p:txBody>
          <a:bodyPr anchorCtr="0" anchor="t" bIns="131000" lIns="262075" spcFirstLastPara="1" rIns="262075" wrap="square" tIns="131000">
            <a:normAutofit/>
          </a:bodyPr>
          <a:lstStyle>
            <a:lvl1pPr indent="-739140" lvl="0" marL="457200" marR="0" rtl="0" algn="l">
              <a:lnSpc>
                <a:spcPct val="90000"/>
              </a:lnSpc>
              <a:spcBef>
                <a:spcPts val="2880"/>
              </a:spcBef>
              <a:spcAft>
                <a:spcPts val="0"/>
              </a:spcAft>
              <a:buClr>
                <a:schemeClr val="dk1"/>
              </a:buClr>
              <a:buSzPts val="8040"/>
              <a:buFont typeface="Arial"/>
              <a:buChar char="•"/>
              <a:defRPr b="0" i="0" sz="8040" u="none" cap="none" strike="noStrike">
                <a:solidFill>
                  <a:schemeClr val="dk1"/>
                </a:solidFill>
                <a:latin typeface="Arial"/>
                <a:ea typeface="Arial"/>
                <a:cs typeface="Arial"/>
                <a:sym typeface="Arial"/>
              </a:defRPr>
            </a:lvl1pPr>
            <a:lvl2pPr indent="-662940" lvl="1" marL="914400" marR="0" rtl="0" algn="l">
              <a:lnSpc>
                <a:spcPct val="90000"/>
              </a:lnSpc>
              <a:spcBef>
                <a:spcPts val="1440"/>
              </a:spcBef>
              <a:spcAft>
                <a:spcPts val="0"/>
              </a:spcAft>
              <a:buClr>
                <a:schemeClr val="dk1"/>
              </a:buClr>
              <a:buSzPts val="6840"/>
              <a:buFont typeface="Arial"/>
              <a:buChar char="•"/>
              <a:defRPr b="0" i="0" sz="6840" u="none" cap="none" strike="noStrike">
                <a:solidFill>
                  <a:schemeClr val="dk1"/>
                </a:solidFill>
                <a:latin typeface="Arial"/>
                <a:ea typeface="Arial"/>
                <a:cs typeface="Arial"/>
                <a:sym typeface="Arial"/>
              </a:defRPr>
            </a:lvl2pPr>
            <a:lvl3pPr indent="-594360" lvl="2" marL="1371600" marR="0" rtl="0" algn="l">
              <a:lnSpc>
                <a:spcPct val="90000"/>
              </a:lnSpc>
              <a:spcBef>
                <a:spcPts val="1440"/>
              </a:spcBef>
              <a:spcAft>
                <a:spcPts val="0"/>
              </a:spcAft>
              <a:buClr>
                <a:schemeClr val="dk1"/>
              </a:buClr>
              <a:buSzPts val="5760"/>
              <a:buFont typeface="Arial"/>
              <a:buChar char="•"/>
              <a:defRPr b="0" i="0" sz="5760" u="none" cap="none" strike="noStrike">
                <a:solidFill>
                  <a:schemeClr val="dk1"/>
                </a:solidFill>
                <a:latin typeface="Arial"/>
                <a:ea typeface="Arial"/>
                <a:cs typeface="Arial"/>
                <a:sym typeface="Arial"/>
              </a:defRPr>
            </a:lvl3pPr>
            <a:lvl4pPr indent="-556260" lvl="3" marL="1828800" marR="0" rtl="0" algn="l">
              <a:lnSpc>
                <a:spcPct val="90000"/>
              </a:lnSpc>
              <a:spcBef>
                <a:spcPts val="1440"/>
              </a:spcBef>
              <a:spcAft>
                <a:spcPts val="0"/>
              </a:spcAft>
              <a:buClr>
                <a:schemeClr val="dk1"/>
              </a:buClr>
              <a:buSzPts val="5160"/>
              <a:buFont typeface="Arial"/>
              <a:buChar char="•"/>
              <a:defRPr b="0" i="0" sz="5160" u="none" cap="none" strike="noStrike">
                <a:solidFill>
                  <a:schemeClr val="dk1"/>
                </a:solidFill>
                <a:latin typeface="Arial"/>
                <a:ea typeface="Arial"/>
                <a:cs typeface="Arial"/>
                <a:sym typeface="Arial"/>
              </a:defRPr>
            </a:lvl4pPr>
            <a:lvl5pPr indent="-556260" lvl="4" marL="2286000" marR="0" rtl="0" algn="l">
              <a:lnSpc>
                <a:spcPct val="90000"/>
              </a:lnSpc>
              <a:spcBef>
                <a:spcPts val="1440"/>
              </a:spcBef>
              <a:spcAft>
                <a:spcPts val="0"/>
              </a:spcAft>
              <a:buClr>
                <a:schemeClr val="dk1"/>
              </a:buClr>
              <a:buSzPts val="5160"/>
              <a:buFont typeface="Arial"/>
              <a:buChar char="•"/>
              <a:defRPr b="0" i="0" sz="5160" u="none" cap="none" strike="noStrike">
                <a:solidFill>
                  <a:schemeClr val="dk1"/>
                </a:solidFill>
                <a:latin typeface="Arial"/>
                <a:ea typeface="Arial"/>
                <a:cs typeface="Arial"/>
                <a:sym typeface="Arial"/>
              </a:defRPr>
            </a:lvl5pPr>
            <a:lvl6pPr indent="-556260" lvl="5" marL="2743200" marR="0" rtl="0" algn="l">
              <a:lnSpc>
                <a:spcPct val="90000"/>
              </a:lnSpc>
              <a:spcBef>
                <a:spcPts val="1440"/>
              </a:spcBef>
              <a:spcAft>
                <a:spcPts val="0"/>
              </a:spcAft>
              <a:buClr>
                <a:schemeClr val="dk1"/>
              </a:buClr>
              <a:buSzPts val="5160"/>
              <a:buFont typeface="Arial"/>
              <a:buChar char="•"/>
              <a:defRPr b="0" i="0" sz="5160" u="none" cap="none" strike="noStrike">
                <a:solidFill>
                  <a:schemeClr val="dk1"/>
                </a:solidFill>
                <a:latin typeface="Arial"/>
                <a:ea typeface="Arial"/>
                <a:cs typeface="Arial"/>
                <a:sym typeface="Arial"/>
              </a:defRPr>
            </a:lvl6pPr>
            <a:lvl7pPr indent="-556260" lvl="6" marL="3200400" marR="0" rtl="0" algn="l">
              <a:lnSpc>
                <a:spcPct val="90000"/>
              </a:lnSpc>
              <a:spcBef>
                <a:spcPts val="1440"/>
              </a:spcBef>
              <a:spcAft>
                <a:spcPts val="0"/>
              </a:spcAft>
              <a:buClr>
                <a:schemeClr val="dk1"/>
              </a:buClr>
              <a:buSzPts val="5160"/>
              <a:buFont typeface="Arial"/>
              <a:buChar char="•"/>
              <a:defRPr b="0" i="0" sz="5160" u="none" cap="none" strike="noStrike">
                <a:solidFill>
                  <a:schemeClr val="dk1"/>
                </a:solidFill>
                <a:latin typeface="Arial"/>
                <a:ea typeface="Arial"/>
                <a:cs typeface="Arial"/>
                <a:sym typeface="Arial"/>
              </a:defRPr>
            </a:lvl7pPr>
            <a:lvl8pPr indent="-556260" lvl="7" marL="3657600" marR="0" rtl="0" algn="l">
              <a:lnSpc>
                <a:spcPct val="90000"/>
              </a:lnSpc>
              <a:spcBef>
                <a:spcPts val="1440"/>
              </a:spcBef>
              <a:spcAft>
                <a:spcPts val="0"/>
              </a:spcAft>
              <a:buClr>
                <a:schemeClr val="dk1"/>
              </a:buClr>
              <a:buSzPts val="5160"/>
              <a:buFont typeface="Arial"/>
              <a:buChar char="•"/>
              <a:defRPr b="0" i="0" sz="5160" u="none" cap="none" strike="noStrike">
                <a:solidFill>
                  <a:schemeClr val="dk1"/>
                </a:solidFill>
                <a:latin typeface="Arial"/>
                <a:ea typeface="Arial"/>
                <a:cs typeface="Arial"/>
                <a:sym typeface="Arial"/>
              </a:defRPr>
            </a:lvl8pPr>
            <a:lvl9pPr indent="-556260" lvl="8" marL="4114800" marR="0" rtl="0" algn="l">
              <a:lnSpc>
                <a:spcPct val="90000"/>
              </a:lnSpc>
              <a:spcBef>
                <a:spcPts val="1440"/>
              </a:spcBef>
              <a:spcAft>
                <a:spcPts val="0"/>
              </a:spcAft>
              <a:buClr>
                <a:schemeClr val="dk1"/>
              </a:buClr>
              <a:buSzPts val="5160"/>
              <a:buFont typeface="Arial"/>
              <a:buChar char="•"/>
              <a:defRPr b="0" i="0" sz="516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2263140" y="20340320"/>
            <a:ext cx="7406700" cy="1168500"/>
          </a:xfrm>
          <a:prstGeom prst="rect">
            <a:avLst/>
          </a:prstGeom>
          <a:noFill/>
          <a:ln>
            <a:noFill/>
          </a:ln>
        </p:spPr>
        <p:txBody>
          <a:bodyPr anchorCtr="0" anchor="ctr" bIns="131000" lIns="262075" spcFirstLastPara="1" rIns="262075" wrap="square" tIns="131000">
            <a:noAutofit/>
          </a:bodyPr>
          <a:lstStyle>
            <a:lvl1pPr lvl="0" marR="0" rtl="0" algn="l">
              <a:spcBef>
                <a:spcPts val="0"/>
              </a:spcBef>
              <a:spcAft>
                <a:spcPts val="0"/>
              </a:spcAft>
              <a:buSzPts val="3960"/>
              <a:buNone/>
              <a:defRPr b="0" i="0" sz="3480" u="none" cap="none" strike="noStrike">
                <a:solidFill>
                  <a:srgbClr val="757575"/>
                </a:solidFill>
                <a:latin typeface="Arial"/>
                <a:ea typeface="Arial"/>
                <a:cs typeface="Arial"/>
                <a:sym typeface="Arial"/>
              </a:defRPr>
            </a:lvl1pPr>
            <a:lvl2pPr lvl="1" marR="0" rtl="0" algn="l">
              <a:spcBef>
                <a:spcPts val="0"/>
              </a:spcBef>
              <a:spcAft>
                <a:spcPts val="0"/>
              </a:spcAft>
              <a:buSzPts val="3960"/>
              <a:buNone/>
              <a:defRPr b="0" i="0" sz="5160" u="none" cap="none" strike="noStrike">
                <a:solidFill>
                  <a:schemeClr val="dk1"/>
                </a:solidFill>
                <a:latin typeface="Arial"/>
                <a:ea typeface="Arial"/>
                <a:cs typeface="Arial"/>
                <a:sym typeface="Arial"/>
              </a:defRPr>
            </a:lvl2pPr>
            <a:lvl3pPr lvl="2" marR="0" rtl="0" algn="l">
              <a:spcBef>
                <a:spcPts val="0"/>
              </a:spcBef>
              <a:spcAft>
                <a:spcPts val="0"/>
              </a:spcAft>
              <a:buSzPts val="3960"/>
              <a:buNone/>
              <a:defRPr b="0" i="0" sz="5160" u="none" cap="none" strike="noStrike">
                <a:solidFill>
                  <a:schemeClr val="dk1"/>
                </a:solidFill>
                <a:latin typeface="Arial"/>
                <a:ea typeface="Arial"/>
                <a:cs typeface="Arial"/>
                <a:sym typeface="Arial"/>
              </a:defRPr>
            </a:lvl3pPr>
            <a:lvl4pPr lvl="3" marR="0" rtl="0" algn="l">
              <a:spcBef>
                <a:spcPts val="0"/>
              </a:spcBef>
              <a:spcAft>
                <a:spcPts val="0"/>
              </a:spcAft>
              <a:buSzPts val="3960"/>
              <a:buNone/>
              <a:defRPr b="0" i="0" sz="5160" u="none" cap="none" strike="noStrike">
                <a:solidFill>
                  <a:schemeClr val="dk1"/>
                </a:solidFill>
                <a:latin typeface="Arial"/>
                <a:ea typeface="Arial"/>
                <a:cs typeface="Arial"/>
                <a:sym typeface="Arial"/>
              </a:defRPr>
            </a:lvl4pPr>
            <a:lvl5pPr lvl="4" marR="0" rtl="0" algn="l">
              <a:spcBef>
                <a:spcPts val="0"/>
              </a:spcBef>
              <a:spcAft>
                <a:spcPts val="0"/>
              </a:spcAft>
              <a:buSzPts val="3960"/>
              <a:buNone/>
              <a:defRPr b="0" i="0" sz="5160" u="none" cap="none" strike="noStrike">
                <a:solidFill>
                  <a:schemeClr val="dk1"/>
                </a:solidFill>
                <a:latin typeface="Arial"/>
                <a:ea typeface="Arial"/>
                <a:cs typeface="Arial"/>
                <a:sym typeface="Arial"/>
              </a:defRPr>
            </a:lvl5pPr>
            <a:lvl6pPr lvl="5" marR="0" rtl="0" algn="l">
              <a:spcBef>
                <a:spcPts val="0"/>
              </a:spcBef>
              <a:spcAft>
                <a:spcPts val="0"/>
              </a:spcAft>
              <a:buSzPts val="3960"/>
              <a:buNone/>
              <a:defRPr b="0" i="0" sz="5160" u="none" cap="none" strike="noStrike">
                <a:solidFill>
                  <a:schemeClr val="dk1"/>
                </a:solidFill>
                <a:latin typeface="Arial"/>
                <a:ea typeface="Arial"/>
                <a:cs typeface="Arial"/>
                <a:sym typeface="Arial"/>
              </a:defRPr>
            </a:lvl6pPr>
            <a:lvl7pPr lvl="6" marR="0" rtl="0" algn="l">
              <a:spcBef>
                <a:spcPts val="0"/>
              </a:spcBef>
              <a:spcAft>
                <a:spcPts val="0"/>
              </a:spcAft>
              <a:buSzPts val="3960"/>
              <a:buNone/>
              <a:defRPr b="0" i="0" sz="5160" u="none" cap="none" strike="noStrike">
                <a:solidFill>
                  <a:schemeClr val="dk1"/>
                </a:solidFill>
                <a:latin typeface="Arial"/>
                <a:ea typeface="Arial"/>
                <a:cs typeface="Arial"/>
                <a:sym typeface="Arial"/>
              </a:defRPr>
            </a:lvl7pPr>
            <a:lvl8pPr lvl="7" marR="0" rtl="0" algn="l">
              <a:spcBef>
                <a:spcPts val="0"/>
              </a:spcBef>
              <a:spcAft>
                <a:spcPts val="0"/>
              </a:spcAft>
              <a:buSzPts val="3960"/>
              <a:buNone/>
              <a:defRPr b="0" i="0" sz="5160" u="none" cap="none" strike="noStrike">
                <a:solidFill>
                  <a:schemeClr val="dk1"/>
                </a:solidFill>
                <a:latin typeface="Arial"/>
                <a:ea typeface="Arial"/>
                <a:cs typeface="Arial"/>
                <a:sym typeface="Arial"/>
              </a:defRPr>
            </a:lvl8pPr>
            <a:lvl9pPr lvl="8" marR="0" rtl="0" algn="l">
              <a:spcBef>
                <a:spcPts val="0"/>
              </a:spcBef>
              <a:spcAft>
                <a:spcPts val="0"/>
              </a:spcAft>
              <a:buSzPts val="3960"/>
              <a:buNone/>
              <a:defRPr b="0" i="0" sz="516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10904220" y="20340320"/>
            <a:ext cx="11109900" cy="1168500"/>
          </a:xfrm>
          <a:prstGeom prst="rect">
            <a:avLst/>
          </a:prstGeom>
          <a:noFill/>
          <a:ln>
            <a:noFill/>
          </a:ln>
        </p:spPr>
        <p:txBody>
          <a:bodyPr anchorCtr="0" anchor="ctr" bIns="131000" lIns="262075" spcFirstLastPara="1" rIns="262075" wrap="square" tIns="131000">
            <a:noAutofit/>
          </a:bodyPr>
          <a:lstStyle>
            <a:lvl1pPr lvl="0" marR="0" rtl="0" algn="ctr">
              <a:spcBef>
                <a:spcPts val="0"/>
              </a:spcBef>
              <a:spcAft>
                <a:spcPts val="0"/>
              </a:spcAft>
              <a:buSzPts val="3960"/>
              <a:buNone/>
              <a:defRPr b="0" i="0" sz="3480" u="none" cap="none" strike="noStrike">
                <a:solidFill>
                  <a:srgbClr val="757575"/>
                </a:solidFill>
                <a:latin typeface="Arial"/>
                <a:ea typeface="Arial"/>
                <a:cs typeface="Arial"/>
                <a:sym typeface="Arial"/>
              </a:defRPr>
            </a:lvl1pPr>
            <a:lvl2pPr lvl="1" marR="0" rtl="0" algn="l">
              <a:spcBef>
                <a:spcPts val="0"/>
              </a:spcBef>
              <a:spcAft>
                <a:spcPts val="0"/>
              </a:spcAft>
              <a:buSzPts val="3960"/>
              <a:buNone/>
              <a:defRPr b="0" i="0" sz="5160" u="none" cap="none" strike="noStrike">
                <a:solidFill>
                  <a:schemeClr val="dk1"/>
                </a:solidFill>
                <a:latin typeface="Arial"/>
                <a:ea typeface="Arial"/>
                <a:cs typeface="Arial"/>
                <a:sym typeface="Arial"/>
              </a:defRPr>
            </a:lvl2pPr>
            <a:lvl3pPr lvl="2" marR="0" rtl="0" algn="l">
              <a:spcBef>
                <a:spcPts val="0"/>
              </a:spcBef>
              <a:spcAft>
                <a:spcPts val="0"/>
              </a:spcAft>
              <a:buSzPts val="3960"/>
              <a:buNone/>
              <a:defRPr b="0" i="0" sz="5160" u="none" cap="none" strike="noStrike">
                <a:solidFill>
                  <a:schemeClr val="dk1"/>
                </a:solidFill>
                <a:latin typeface="Arial"/>
                <a:ea typeface="Arial"/>
                <a:cs typeface="Arial"/>
                <a:sym typeface="Arial"/>
              </a:defRPr>
            </a:lvl3pPr>
            <a:lvl4pPr lvl="3" marR="0" rtl="0" algn="l">
              <a:spcBef>
                <a:spcPts val="0"/>
              </a:spcBef>
              <a:spcAft>
                <a:spcPts val="0"/>
              </a:spcAft>
              <a:buSzPts val="3960"/>
              <a:buNone/>
              <a:defRPr b="0" i="0" sz="5160" u="none" cap="none" strike="noStrike">
                <a:solidFill>
                  <a:schemeClr val="dk1"/>
                </a:solidFill>
                <a:latin typeface="Arial"/>
                <a:ea typeface="Arial"/>
                <a:cs typeface="Arial"/>
                <a:sym typeface="Arial"/>
              </a:defRPr>
            </a:lvl4pPr>
            <a:lvl5pPr lvl="4" marR="0" rtl="0" algn="l">
              <a:spcBef>
                <a:spcPts val="0"/>
              </a:spcBef>
              <a:spcAft>
                <a:spcPts val="0"/>
              </a:spcAft>
              <a:buSzPts val="3960"/>
              <a:buNone/>
              <a:defRPr b="0" i="0" sz="5160" u="none" cap="none" strike="noStrike">
                <a:solidFill>
                  <a:schemeClr val="dk1"/>
                </a:solidFill>
                <a:latin typeface="Arial"/>
                <a:ea typeface="Arial"/>
                <a:cs typeface="Arial"/>
                <a:sym typeface="Arial"/>
              </a:defRPr>
            </a:lvl5pPr>
            <a:lvl6pPr lvl="5" marR="0" rtl="0" algn="l">
              <a:spcBef>
                <a:spcPts val="0"/>
              </a:spcBef>
              <a:spcAft>
                <a:spcPts val="0"/>
              </a:spcAft>
              <a:buSzPts val="3960"/>
              <a:buNone/>
              <a:defRPr b="0" i="0" sz="5160" u="none" cap="none" strike="noStrike">
                <a:solidFill>
                  <a:schemeClr val="dk1"/>
                </a:solidFill>
                <a:latin typeface="Arial"/>
                <a:ea typeface="Arial"/>
                <a:cs typeface="Arial"/>
                <a:sym typeface="Arial"/>
              </a:defRPr>
            </a:lvl6pPr>
            <a:lvl7pPr lvl="6" marR="0" rtl="0" algn="l">
              <a:spcBef>
                <a:spcPts val="0"/>
              </a:spcBef>
              <a:spcAft>
                <a:spcPts val="0"/>
              </a:spcAft>
              <a:buSzPts val="3960"/>
              <a:buNone/>
              <a:defRPr b="0" i="0" sz="5160" u="none" cap="none" strike="noStrike">
                <a:solidFill>
                  <a:schemeClr val="dk1"/>
                </a:solidFill>
                <a:latin typeface="Arial"/>
                <a:ea typeface="Arial"/>
                <a:cs typeface="Arial"/>
                <a:sym typeface="Arial"/>
              </a:defRPr>
            </a:lvl7pPr>
            <a:lvl8pPr lvl="7" marR="0" rtl="0" algn="l">
              <a:spcBef>
                <a:spcPts val="0"/>
              </a:spcBef>
              <a:spcAft>
                <a:spcPts val="0"/>
              </a:spcAft>
              <a:buSzPts val="3960"/>
              <a:buNone/>
              <a:defRPr b="0" i="0" sz="5160" u="none" cap="none" strike="noStrike">
                <a:solidFill>
                  <a:schemeClr val="dk1"/>
                </a:solidFill>
                <a:latin typeface="Arial"/>
                <a:ea typeface="Arial"/>
                <a:cs typeface="Arial"/>
                <a:sym typeface="Arial"/>
              </a:defRPr>
            </a:lvl8pPr>
            <a:lvl9pPr lvl="8" marR="0" rtl="0" algn="l">
              <a:spcBef>
                <a:spcPts val="0"/>
              </a:spcBef>
              <a:spcAft>
                <a:spcPts val="0"/>
              </a:spcAft>
              <a:buSzPts val="3960"/>
              <a:buNone/>
              <a:defRPr b="0" i="0" sz="516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23248620" y="20340320"/>
            <a:ext cx="7406700" cy="1168500"/>
          </a:xfrm>
          <a:prstGeom prst="rect">
            <a:avLst/>
          </a:prstGeom>
          <a:noFill/>
          <a:ln>
            <a:noFill/>
          </a:ln>
        </p:spPr>
        <p:txBody>
          <a:bodyPr anchorCtr="0" anchor="ctr" bIns="131000" lIns="262075" spcFirstLastPara="1" rIns="262075" wrap="square" tIns="131000">
            <a:noAutofit/>
          </a:bodyPr>
          <a:lstStyle>
            <a:lvl1pPr indent="0" lvl="0" marL="0" marR="0" rtl="0" algn="r">
              <a:spcBef>
                <a:spcPts val="0"/>
              </a:spcBef>
              <a:buNone/>
              <a:defRPr b="0" i="0" sz="3480" u="none" cap="none" strike="noStrike">
                <a:solidFill>
                  <a:srgbClr val="757575"/>
                </a:solidFill>
                <a:latin typeface="Arial"/>
                <a:ea typeface="Arial"/>
                <a:cs typeface="Arial"/>
                <a:sym typeface="Arial"/>
              </a:defRPr>
            </a:lvl1pPr>
            <a:lvl2pPr indent="0" lvl="1" marL="0" marR="0" rtl="0" algn="r">
              <a:spcBef>
                <a:spcPts val="0"/>
              </a:spcBef>
              <a:buNone/>
              <a:defRPr b="0" i="0" sz="3480" u="none" cap="none" strike="noStrike">
                <a:solidFill>
                  <a:srgbClr val="757575"/>
                </a:solidFill>
                <a:latin typeface="Arial"/>
                <a:ea typeface="Arial"/>
                <a:cs typeface="Arial"/>
                <a:sym typeface="Arial"/>
              </a:defRPr>
            </a:lvl2pPr>
            <a:lvl3pPr indent="0" lvl="2" marL="0" marR="0" rtl="0" algn="r">
              <a:spcBef>
                <a:spcPts val="0"/>
              </a:spcBef>
              <a:buNone/>
              <a:defRPr b="0" i="0" sz="3480" u="none" cap="none" strike="noStrike">
                <a:solidFill>
                  <a:srgbClr val="757575"/>
                </a:solidFill>
                <a:latin typeface="Arial"/>
                <a:ea typeface="Arial"/>
                <a:cs typeface="Arial"/>
                <a:sym typeface="Arial"/>
              </a:defRPr>
            </a:lvl3pPr>
            <a:lvl4pPr indent="0" lvl="3" marL="0" marR="0" rtl="0" algn="r">
              <a:spcBef>
                <a:spcPts val="0"/>
              </a:spcBef>
              <a:buNone/>
              <a:defRPr b="0" i="0" sz="3480" u="none" cap="none" strike="noStrike">
                <a:solidFill>
                  <a:srgbClr val="757575"/>
                </a:solidFill>
                <a:latin typeface="Arial"/>
                <a:ea typeface="Arial"/>
                <a:cs typeface="Arial"/>
                <a:sym typeface="Arial"/>
              </a:defRPr>
            </a:lvl4pPr>
            <a:lvl5pPr indent="0" lvl="4" marL="0" marR="0" rtl="0" algn="r">
              <a:spcBef>
                <a:spcPts val="0"/>
              </a:spcBef>
              <a:buNone/>
              <a:defRPr b="0" i="0" sz="3480" u="none" cap="none" strike="noStrike">
                <a:solidFill>
                  <a:srgbClr val="757575"/>
                </a:solidFill>
                <a:latin typeface="Arial"/>
                <a:ea typeface="Arial"/>
                <a:cs typeface="Arial"/>
                <a:sym typeface="Arial"/>
              </a:defRPr>
            </a:lvl5pPr>
            <a:lvl6pPr indent="0" lvl="5" marL="0" marR="0" rtl="0" algn="r">
              <a:spcBef>
                <a:spcPts val="0"/>
              </a:spcBef>
              <a:buNone/>
              <a:defRPr b="0" i="0" sz="3480" u="none" cap="none" strike="noStrike">
                <a:solidFill>
                  <a:srgbClr val="757575"/>
                </a:solidFill>
                <a:latin typeface="Arial"/>
                <a:ea typeface="Arial"/>
                <a:cs typeface="Arial"/>
                <a:sym typeface="Arial"/>
              </a:defRPr>
            </a:lvl6pPr>
            <a:lvl7pPr indent="0" lvl="6" marL="0" marR="0" rtl="0" algn="r">
              <a:spcBef>
                <a:spcPts val="0"/>
              </a:spcBef>
              <a:buNone/>
              <a:defRPr b="0" i="0" sz="3480" u="none" cap="none" strike="noStrike">
                <a:solidFill>
                  <a:srgbClr val="757575"/>
                </a:solidFill>
                <a:latin typeface="Arial"/>
                <a:ea typeface="Arial"/>
                <a:cs typeface="Arial"/>
                <a:sym typeface="Arial"/>
              </a:defRPr>
            </a:lvl7pPr>
            <a:lvl8pPr indent="0" lvl="7" marL="0" marR="0" rtl="0" algn="r">
              <a:spcBef>
                <a:spcPts val="0"/>
              </a:spcBef>
              <a:buNone/>
              <a:defRPr b="0" i="0" sz="3480" u="none" cap="none" strike="noStrike">
                <a:solidFill>
                  <a:srgbClr val="757575"/>
                </a:solidFill>
                <a:latin typeface="Arial"/>
                <a:ea typeface="Arial"/>
                <a:cs typeface="Arial"/>
                <a:sym typeface="Arial"/>
              </a:defRPr>
            </a:lvl8pPr>
            <a:lvl9pPr indent="0" lvl="8" marL="0" marR="0" rtl="0" algn="r">
              <a:spcBef>
                <a:spcPts val="0"/>
              </a:spcBef>
              <a:buNone/>
              <a:defRPr b="0" i="0" sz="348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16.png"/><Relationship Id="rId11" Type="http://schemas.openxmlformats.org/officeDocument/2006/relationships/image" Target="../media/image2.png"/><Relationship Id="rId10" Type="http://schemas.openxmlformats.org/officeDocument/2006/relationships/image" Target="../media/image3.png"/><Relationship Id="rId13" Type="http://schemas.openxmlformats.org/officeDocument/2006/relationships/image" Target="../media/image5.png"/><Relationship Id="rId12" Type="http://schemas.openxmlformats.org/officeDocument/2006/relationships/image" Target="../media/image4.png"/><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4.png"/><Relationship Id="rId9" Type="http://schemas.openxmlformats.org/officeDocument/2006/relationships/image" Target="../media/image9.png"/><Relationship Id="rId15" Type="http://schemas.openxmlformats.org/officeDocument/2006/relationships/image" Target="../media/image8.png"/><Relationship Id="rId14" Type="http://schemas.openxmlformats.org/officeDocument/2006/relationships/image" Target="../media/image11.png"/><Relationship Id="rId17" Type="http://schemas.openxmlformats.org/officeDocument/2006/relationships/image" Target="../media/image12.png"/><Relationship Id="rId16" Type="http://schemas.openxmlformats.org/officeDocument/2006/relationships/image" Target="../media/image15.png"/><Relationship Id="rId5" Type="http://schemas.openxmlformats.org/officeDocument/2006/relationships/image" Target="../media/image13.png"/><Relationship Id="rId19" Type="http://schemas.openxmlformats.org/officeDocument/2006/relationships/image" Target="../media/image6.png"/><Relationship Id="rId6" Type="http://schemas.openxmlformats.org/officeDocument/2006/relationships/image" Target="../media/image7.png"/><Relationship Id="rId18" Type="http://schemas.openxmlformats.org/officeDocument/2006/relationships/image" Target="../media/image23.png"/><Relationship Id="rId7" Type="http://schemas.openxmlformats.org/officeDocument/2006/relationships/image" Target="../media/image20.png"/><Relationship Id="rId8"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3.png"/><Relationship Id="rId13" Type="http://schemas.openxmlformats.org/officeDocument/2006/relationships/image" Target="../media/image19.png"/><Relationship Id="rId12" Type="http://schemas.openxmlformats.org/officeDocument/2006/relationships/image" Target="../media/image20.png"/><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1.png"/><Relationship Id="rId9" Type="http://schemas.openxmlformats.org/officeDocument/2006/relationships/image" Target="../media/image14.png"/><Relationship Id="rId15" Type="http://schemas.openxmlformats.org/officeDocument/2006/relationships/image" Target="../media/image9.png"/><Relationship Id="rId14" Type="http://schemas.openxmlformats.org/officeDocument/2006/relationships/image" Target="../media/image10.png"/><Relationship Id="rId5" Type="http://schemas.openxmlformats.org/officeDocument/2006/relationships/image" Target="../media/image25.png"/><Relationship Id="rId6" Type="http://schemas.openxmlformats.org/officeDocument/2006/relationships/image" Target="../media/image18.png"/><Relationship Id="rId7" Type="http://schemas.openxmlformats.org/officeDocument/2006/relationships/image" Target="../media/image21.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4.png"/><Relationship Id="rId6"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4.png"/><Relationship Id="rId6" Type="http://schemas.openxmlformats.org/officeDocument/2006/relationships/image" Target="../media/image22.png"/></Relationships>
</file>

<file path=ppt/slides/_rels/slide6.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18.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7.png"/><Relationship Id="rId9" Type="http://schemas.openxmlformats.org/officeDocument/2006/relationships/image" Target="../media/image27.png"/><Relationship Id="rId5" Type="http://schemas.openxmlformats.org/officeDocument/2006/relationships/image" Target="../media/image24.png"/><Relationship Id="rId6" Type="http://schemas.openxmlformats.org/officeDocument/2006/relationships/image" Target="../media/image22.png"/><Relationship Id="rId7" Type="http://schemas.openxmlformats.org/officeDocument/2006/relationships/image" Target="../media/image25.png"/><Relationship Id="rId8"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7.png"/><Relationship Id="rId5" Type="http://schemas.openxmlformats.org/officeDocument/2006/relationships/image" Target="../media/image24.png"/><Relationship Id="rId6"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9617580" y="0"/>
            <a:ext cx="13559100" cy="21945600"/>
          </a:xfrm>
          <a:prstGeom prst="rect">
            <a:avLst/>
          </a:prstGeom>
          <a:solidFill>
            <a:srgbClr val="F3F3F3"/>
          </a:solidFill>
          <a:ln>
            <a:noFill/>
          </a:ln>
        </p:spPr>
        <p:txBody>
          <a:bodyPr anchorCtr="0" anchor="ctr" bIns="98250" lIns="98250" spcFirstLastPara="1" rIns="98250" wrap="square" tIns="98250">
            <a:noAutofit/>
          </a:bodyPr>
          <a:lstStyle/>
          <a:p>
            <a:pPr indent="0" lvl="0" marL="0" marR="0" rtl="0" algn="ctr">
              <a:spcBef>
                <a:spcPts val="0"/>
              </a:spcBef>
              <a:spcAft>
                <a:spcPts val="0"/>
              </a:spcAft>
              <a:buNone/>
            </a:pPr>
            <a:r>
              <a:t/>
            </a:r>
            <a:endParaRPr b="0" i="0" sz="1920" u="none" cap="none" strike="noStrike">
              <a:solidFill>
                <a:schemeClr val="dk1"/>
              </a:solidFill>
              <a:latin typeface="Arial"/>
              <a:ea typeface="Arial"/>
              <a:cs typeface="Arial"/>
              <a:sym typeface="Arial"/>
            </a:endParaRPr>
          </a:p>
        </p:txBody>
      </p:sp>
      <p:pic>
        <p:nvPicPr>
          <p:cNvPr id="130" name="Google Shape;130;p25" title="Artboard 1Sanguine_finalcutout.png"/>
          <p:cNvPicPr preferRelativeResize="0"/>
          <p:nvPr/>
        </p:nvPicPr>
        <p:blipFill rotWithShape="1">
          <a:blip r:embed="rId3">
            <a:alphaModFix/>
          </a:blip>
          <a:srcRect b="0" l="5304" r="1811" t="0"/>
          <a:stretch/>
        </p:blipFill>
        <p:spPr>
          <a:xfrm>
            <a:off x="0" y="114030"/>
            <a:ext cx="8062440" cy="2169802"/>
          </a:xfrm>
          <a:prstGeom prst="rect">
            <a:avLst/>
          </a:prstGeom>
          <a:noFill/>
          <a:ln>
            <a:noFill/>
          </a:ln>
        </p:spPr>
      </p:pic>
      <p:sp>
        <p:nvSpPr>
          <p:cNvPr id="131" name="Google Shape;131;p25"/>
          <p:cNvSpPr txBox="1"/>
          <p:nvPr/>
        </p:nvSpPr>
        <p:spPr>
          <a:xfrm>
            <a:off x="9679681" y="316510"/>
            <a:ext cx="13559100" cy="10398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920">
                <a:solidFill>
                  <a:srgbClr val="0B5394"/>
                </a:solidFill>
                <a:latin typeface="Montserrat"/>
                <a:ea typeface="Montserrat"/>
                <a:cs typeface="Montserrat"/>
                <a:sym typeface="Montserrat"/>
              </a:rPr>
              <a:t>Concept Search</a:t>
            </a:r>
            <a:endParaRPr sz="3920">
              <a:solidFill>
                <a:srgbClr val="0B5394"/>
              </a:solidFill>
              <a:latin typeface="Montserrat"/>
              <a:ea typeface="Montserrat"/>
              <a:cs typeface="Montserrat"/>
              <a:sym typeface="Montserrat"/>
            </a:endParaRPr>
          </a:p>
        </p:txBody>
      </p:sp>
      <p:sp>
        <p:nvSpPr>
          <p:cNvPr id="132" name="Google Shape;132;p25"/>
          <p:cNvSpPr txBox="1"/>
          <p:nvPr/>
        </p:nvSpPr>
        <p:spPr>
          <a:xfrm>
            <a:off x="9555480" y="8001210"/>
            <a:ext cx="13683300" cy="1039800"/>
          </a:xfrm>
          <a:prstGeom prst="rect">
            <a:avLst/>
          </a:prstGeom>
          <a:noFill/>
          <a:ln>
            <a:noFill/>
          </a:ln>
        </p:spPr>
        <p:txBody>
          <a:bodyPr anchorCtr="0" anchor="t" bIns="216000" lIns="216000" spcFirstLastPara="1" rIns="216000" wrap="square" tIns="216000">
            <a:spAutoFit/>
          </a:bodyPr>
          <a:lstStyle/>
          <a:p>
            <a:pPr indent="0" lvl="0" marL="0" marR="0" rtl="0" algn="ctr">
              <a:lnSpc>
                <a:spcPct val="100000"/>
              </a:lnSpc>
              <a:spcBef>
                <a:spcPts val="0"/>
              </a:spcBef>
              <a:spcAft>
                <a:spcPts val="0"/>
              </a:spcAft>
              <a:buNone/>
            </a:pPr>
            <a:r>
              <a:rPr lang="pt-BR" sz="3920">
                <a:solidFill>
                  <a:srgbClr val="0B5394"/>
                </a:solidFill>
                <a:latin typeface="Montserrat"/>
                <a:ea typeface="Montserrat"/>
                <a:cs typeface="Montserrat"/>
                <a:sym typeface="Montserrat"/>
              </a:rPr>
              <a:t>Architectural hotspots and change propagation</a:t>
            </a:r>
            <a:endParaRPr sz="3920">
              <a:solidFill>
                <a:srgbClr val="0B5394"/>
              </a:solidFill>
              <a:latin typeface="Montserrat"/>
              <a:ea typeface="Montserrat"/>
              <a:cs typeface="Montserrat"/>
              <a:sym typeface="Montserrat"/>
            </a:endParaRPr>
          </a:p>
        </p:txBody>
      </p:sp>
      <p:sp>
        <p:nvSpPr>
          <p:cNvPr id="133" name="Google Shape;133;p25"/>
          <p:cNvSpPr txBox="1"/>
          <p:nvPr/>
        </p:nvSpPr>
        <p:spPr>
          <a:xfrm>
            <a:off x="9493380" y="15712856"/>
            <a:ext cx="13807500" cy="10398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920">
                <a:solidFill>
                  <a:srgbClr val="0B5394"/>
                </a:solidFill>
                <a:latin typeface="Montserrat"/>
                <a:ea typeface="Montserrat"/>
                <a:cs typeface="Montserrat"/>
                <a:sym typeface="Montserrat"/>
              </a:rPr>
              <a:t>Risks mitigation design walk</a:t>
            </a:r>
            <a:endParaRPr sz="3920">
              <a:solidFill>
                <a:srgbClr val="0B5394"/>
              </a:solidFill>
              <a:latin typeface="Montserrat"/>
              <a:ea typeface="Montserrat"/>
              <a:cs typeface="Montserrat"/>
              <a:sym typeface="Montserrat"/>
            </a:endParaRPr>
          </a:p>
        </p:txBody>
      </p:sp>
      <p:grpSp>
        <p:nvGrpSpPr>
          <p:cNvPr id="134" name="Google Shape;134;p25"/>
          <p:cNvGrpSpPr/>
          <p:nvPr/>
        </p:nvGrpSpPr>
        <p:grpSpPr>
          <a:xfrm>
            <a:off x="142097" y="10049741"/>
            <a:ext cx="9255464" cy="5669308"/>
            <a:chOff x="11465487" y="9211798"/>
            <a:chExt cx="16116079" cy="8412685"/>
          </a:xfrm>
        </p:grpSpPr>
        <p:sp>
          <p:nvSpPr>
            <p:cNvPr id="135" name="Google Shape;135;p25"/>
            <p:cNvSpPr/>
            <p:nvPr/>
          </p:nvSpPr>
          <p:spPr>
            <a:xfrm>
              <a:off x="15867473" y="11457283"/>
              <a:ext cx="380700" cy="1087800"/>
            </a:xfrm>
            <a:prstGeom prst="roundRect">
              <a:avLst>
                <a:gd fmla="val 16667" name="adj"/>
              </a:avLst>
            </a:prstGeom>
            <a:solidFill>
              <a:srgbClr val="0F9ED5">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136" name="Google Shape;136;p25"/>
            <p:cNvCxnSpPr/>
            <p:nvPr/>
          </p:nvCxnSpPr>
          <p:spPr>
            <a:xfrm>
              <a:off x="16070970"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137" name="Google Shape;137;p25"/>
            <p:cNvSpPr txBox="1"/>
            <p:nvPr/>
          </p:nvSpPr>
          <p:spPr>
            <a:xfrm>
              <a:off x="15031756" y="9211798"/>
              <a:ext cx="2078700" cy="6504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External Laboratory</a:t>
              </a:r>
              <a:endParaRPr sz="1158">
                <a:solidFill>
                  <a:srgbClr val="000000"/>
                </a:solidFill>
                <a:latin typeface="Proxima Nova"/>
                <a:ea typeface="Proxima Nova"/>
                <a:cs typeface="Proxima Nova"/>
                <a:sym typeface="Proxima Nova"/>
              </a:endParaRPr>
            </a:p>
          </p:txBody>
        </p:sp>
        <p:cxnSp>
          <p:nvCxnSpPr>
            <p:cNvPr id="138" name="Google Shape;138;p25"/>
            <p:cNvCxnSpPr/>
            <p:nvPr/>
          </p:nvCxnSpPr>
          <p:spPr>
            <a:xfrm>
              <a:off x="18685657"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139" name="Google Shape;139;p25"/>
            <p:cNvSpPr txBox="1"/>
            <p:nvPr/>
          </p:nvSpPr>
          <p:spPr>
            <a:xfrm>
              <a:off x="17646454" y="9211798"/>
              <a:ext cx="2078700" cy="11793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Mayo Clinic Labs</a:t>
              </a:r>
              <a:endParaRPr sz="1247">
                <a:latin typeface="Proxima Nova"/>
                <a:ea typeface="Proxima Nova"/>
                <a:cs typeface="Proxima Nova"/>
                <a:sym typeface="Proxima Nova"/>
              </a:endParaRPr>
            </a:p>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(Tests Execution)</a:t>
              </a:r>
              <a:endParaRPr sz="1158">
                <a:solidFill>
                  <a:srgbClr val="000000"/>
                </a:solidFill>
                <a:latin typeface="Proxima Nova"/>
                <a:ea typeface="Proxima Nova"/>
                <a:cs typeface="Proxima Nova"/>
                <a:sym typeface="Proxima Nova"/>
              </a:endParaRPr>
            </a:p>
          </p:txBody>
        </p:sp>
        <p:cxnSp>
          <p:nvCxnSpPr>
            <p:cNvPr id="140" name="Google Shape;140;p25"/>
            <p:cNvCxnSpPr/>
            <p:nvPr/>
          </p:nvCxnSpPr>
          <p:spPr>
            <a:xfrm>
              <a:off x="21300369"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141" name="Google Shape;141;p25"/>
            <p:cNvSpPr txBox="1"/>
            <p:nvPr/>
          </p:nvSpPr>
          <p:spPr>
            <a:xfrm>
              <a:off x="20261155" y="9211798"/>
              <a:ext cx="2078700" cy="3861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Patient Record</a:t>
              </a:r>
              <a:endParaRPr sz="1247">
                <a:latin typeface="Proxima Nova"/>
                <a:ea typeface="Proxima Nova"/>
                <a:cs typeface="Proxima Nova"/>
                <a:sym typeface="Proxima Nova"/>
              </a:endParaRPr>
            </a:p>
          </p:txBody>
        </p:sp>
        <p:cxnSp>
          <p:nvCxnSpPr>
            <p:cNvPr id="142" name="Google Shape;142;p25"/>
            <p:cNvCxnSpPr/>
            <p:nvPr/>
          </p:nvCxnSpPr>
          <p:spPr>
            <a:xfrm>
              <a:off x="23915067"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143" name="Google Shape;143;p25"/>
            <p:cNvSpPr txBox="1"/>
            <p:nvPr/>
          </p:nvSpPr>
          <p:spPr>
            <a:xfrm>
              <a:off x="25173466" y="9211798"/>
              <a:ext cx="2408100" cy="6504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Sanguine Librarian Layer</a:t>
              </a:r>
              <a:endParaRPr sz="1158">
                <a:solidFill>
                  <a:srgbClr val="000000"/>
                </a:solidFill>
                <a:latin typeface="Proxima Nova"/>
                <a:ea typeface="Proxima Nova"/>
                <a:cs typeface="Proxima Nova"/>
                <a:sym typeface="Proxima Nova"/>
              </a:endParaRPr>
            </a:p>
          </p:txBody>
        </p:sp>
        <p:sp>
          <p:nvSpPr>
            <p:cNvPr id="144" name="Google Shape;144;p25"/>
            <p:cNvSpPr/>
            <p:nvPr/>
          </p:nvSpPr>
          <p:spPr>
            <a:xfrm>
              <a:off x="18495302" y="11457283"/>
              <a:ext cx="380700" cy="1060500"/>
            </a:xfrm>
            <a:prstGeom prst="roundRect">
              <a:avLst>
                <a:gd fmla="val 16667" name="adj"/>
              </a:avLst>
            </a:prstGeom>
            <a:solidFill>
              <a:srgbClr val="4EA72E">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145" name="Google Shape;145;p25"/>
            <p:cNvSpPr/>
            <p:nvPr/>
          </p:nvSpPr>
          <p:spPr>
            <a:xfrm>
              <a:off x="21089755" y="11457283"/>
              <a:ext cx="380700" cy="1041900"/>
            </a:xfrm>
            <a:prstGeom prst="roundRect">
              <a:avLst>
                <a:gd fmla="val 16667" name="adj"/>
              </a:avLst>
            </a:prstGeom>
            <a:solidFill>
              <a:srgbClr val="E9713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146" name="Google Shape;146;p25"/>
            <p:cNvCxnSpPr/>
            <p:nvPr/>
          </p:nvCxnSpPr>
          <p:spPr>
            <a:xfrm>
              <a:off x="16248209" y="11606279"/>
              <a:ext cx="2220600" cy="0"/>
            </a:xfrm>
            <a:prstGeom prst="straightConnector1">
              <a:avLst/>
            </a:prstGeom>
            <a:noFill/>
            <a:ln cap="flat" cmpd="sng" w="25450">
              <a:solidFill>
                <a:srgbClr val="7F7F7F"/>
              </a:solidFill>
              <a:prstDash val="solid"/>
              <a:miter lim="800000"/>
              <a:headEnd len="sm" w="sm" type="none"/>
              <a:tailEnd len="med" w="med" type="triangle"/>
            </a:ln>
          </p:spPr>
        </p:cxnSp>
        <p:cxnSp>
          <p:nvCxnSpPr>
            <p:cNvPr id="147" name="Google Shape;147;p25"/>
            <p:cNvCxnSpPr/>
            <p:nvPr/>
          </p:nvCxnSpPr>
          <p:spPr>
            <a:xfrm>
              <a:off x="18876038" y="11582967"/>
              <a:ext cx="2226600" cy="0"/>
            </a:xfrm>
            <a:prstGeom prst="straightConnector1">
              <a:avLst/>
            </a:prstGeom>
            <a:noFill/>
            <a:ln cap="flat" cmpd="sng" w="25450">
              <a:solidFill>
                <a:srgbClr val="7F7F7F"/>
              </a:solidFill>
              <a:prstDash val="solid"/>
              <a:miter lim="800000"/>
              <a:headEnd len="sm" w="sm" type="none"/>
              <a:tailEnd len="med" w="med" type="triangle"/>
            </a:ln>
          </p:spPr>
        </p:cxnSp>
        <p:cxnSp>
          <p:nvCxnSpPr>
            <p:cNvPr id="148" name="Google Shape;148;p25"/>
            <p:cNvCxnSpPr/>
            <p:nvPr/>
          </p:nvCxnSpPr>
          <p:spPr>
            <a:xfrm rot="10800000">
              <a:off x="16239464" y="15170200"/>
              <a:ext cx="9880500" cy="0"/>
            </a:xfrm>
            <a:prstGeom prst="straightConnector1">
              <a:avLst/>
            </a:prstGeom>
            <a:noFill/>
            <a:ln cap="flat" cmpd="sng" w="25450">
              <a:solidFill>
                <a:srgbClr val="7F7F7F"/>
              </a:solidFill>
              <a:prstDash val="solid"/>
              <a:miter lim="800000"/>
              <a:headEnd len="sm" w="sm" type="none"/>
              <a:tailEnd len="med" w="med" type="triangle"/>
            </a:ln>
          </p:spPr>
        </p:cxnSp>
        <p:sp>
          <p:nvSpPr>
            <p:cNvPr id="149" name="Google Shape;149;p25"/>
            <p:cNvSpPr txBox="1"/>
            <p:nvPr/>
          </p:nvSpPr>
          <p:spPr>
            <a:xfrm>
              <a:off x="16320938" y="11697840"/>
              <a:ext cx="19080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Collecs and send samples</a:t>
              </a:r>
              <a:endParaRPr sz="1069">
                <a:solidFill>
                  <a:srgbClr val="000000"/>
                </a:solidFill>
                <a:latin typeface="Proxima Nova"/>
                <a:ea typeface="Proxima Nova"/>
                <a:cs typeface="Proxima Nova"/>
                <a:sym typeface="Proxima Nova"/>
              </a:endParaRPr>
            </a:p>
          </p:txBody>
        </p:sp>
        <p:sp>
          <p:nvSpPr>
            <p:cNvPr id="150" name="Google Shape;150;p25"/>
            <p:cNvSpPr txBox="1"/>
            <p:nvPr/>
          </p:nvSpPr>
          <p:spPr>
            <a:xfrm>
              <a:off x="23903091" y="15223203"/>
              <a:ext cx="2353800" cy="10980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i="0" lang="pt-BR" sz="1069">
                  <a:solidFill>
                    <a:srgbClr val="000000"/>
                  </a:solidFill>
                  <a:latin typeface="Proxima Nova"/>
                  <a:ea typeface="Proxima Nova"/>
                  <a:cs typeface="Proxima Nova"/>
                  <a:sym typeface="Proxima Nova"/>
                </a:rPr>
                <a:t>Notification of results interpretation complete</a:t>
              </a:r>
              <a:endParaRPr sz="1247">
                <a:latin typeface="Proxima Nova"/>
                <a:ea typeface="Proxima Nova"/>
                <a:cs typeface="Proxima Nova"/>
                <a:sym typeface="Proxima Nova"/>
              </a:endParaRPr>
            </a:p>
          </p:txBody>
        </p:sp>
        <p:sp>
          <p:nvSpPr>
            <p:cNvPr id="151" name="Google Shape;151;p25"/>
            <p:cNvSpPr txBox="1"/>
            <p:nvPr/>
          </p:nvSpPr>
          <p:spPr>
            <a:xfrm>
              <a:off x="18937140" y="11697840"/>
              <a:ext cx="19080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Analyses and store results</a:t>
              </a:r>
              <a:endParaRPr sz="1069">
                <a:solidFill>
                  <a:srgbClr val="000000"/>
                </a:solidFill>
                <a:latin typeface="Proxima Nova"/>
                <a:ea typeface="Proxima Nova"/>
                <a:cs typeface="Proxima Nova"/>
                <a:sym typeface="Proxima Nova"/>
              </a:endParaRPr>
            </a:p>
          </p:txBody>
        </p:sp>
        <p:sp>
          <p:nvSpPr>
            <p:cNvPr id="152" name="Google Shape;152;p25"/>
            <p:cNvSpPr txBox="1"/>
            <p:nvPr/>
          </p:nvSpPr>
          <p:spPr>
            <a:xfrm>
              <a:off x="21531932" y="11697840"/>
              <a:ext cx="19080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Test raw results</a:t>
              </a:r>
              <a:endParaRPr sz="1069">
                <a:solidFill>
                  <a:srgbClr val="000000"/>
                </a:solidFill>
                <a:latin typeface="Proxima Nova"/>
                <a:ea typeface="Proxima Nova"/>
                <a:cs typeface="Proxima Nova"/>
                <a:sym typeface="Proxima Nova"/>
              </a:endParaRPr>
            </a:p>
          </p:txBody>
        </p:sp>
        <p:cxnSp>
          <p:nvCxnSpPr>
            <p:cNvPr id="153" name="Google Shape;153;p25"/>
            <p:cNvCxnSpPr/>
            <p:nvPr/>
          </p:nvCxnSpPr>
          <p:spPr>
            <a:xfrm rot="10800000">
              <a:off x="24094959" y="13848647"/>
              <a:ext cx="2070300" cy="0"/>
            </a:xfrm>
            <a:prstGeom prst="straightConnector1">
              <a:avLst/>
            </a:prstGeom>
            <a:noFill/>
            <a:ln cap="flat" cmpd="sng" w="25450">
              <a:solidFill>
                <a:srgbClr val="7F7F7F"/>
              </a:solidFill>
              <a:prstDash val="solid"/>
              <a:miter lim="800000"/>
              <a:headEnd len="sm" w="sm" type="none"/>
              <a:tailEnd len="med" w="med" type="triangle"/>
            </a:ln>
          </p:spPr>
        </p:cxnSp>
        <p:sp>
          <p:nvSpPr>
            <p:cNvPr id="154" name="Google Shape;154;p25"/>
            <p:cNvSpPr txBox="1"/>
            <p:nvPr/>
          </p:nvSpPr>
          <p:spPr>
            <a:xfrm>
              <a:off x="22106638" y="12891743"/>
              <a:ext cx="46635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Request patient context</a:t>
              </a:r>
              <a:endParaRPr sz="1069">
                <a:solidFill>
                  <a:srgbClr val="000000"/>
                </a:solidFill>
                <a:latin typeface="Proxima Nova"/>
                <a:ea typeface="Proxima Nova"/>
                <a:cs typeface="Proxima Nova"/>
                <a:sym typeface="Proxima Nova"/>
              </a:endParaRPr>
            </a:p>
          </p:txBody>
        </p:sp>
        <p:sp>
          <p:nvSpPr>
            <p:cNvPr id="155" name="Google Shape;155;p25"/>
            <p:cNvSpPr txBox="1"/>
            <p:nvPr/>
          </p:nvSpPr>
          <p:spPr>
            <a:xfrm>
              <a:off x="24105503" y="13903847"/>
              <a:ext cx="19545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Request clinical references</a:t>
              </a:r>
              <a:endParaRPr sz="1069">
                <a:solidFill>
                  <a:srgbClr val="000000"/>
                </a:solidFill>
                <a:latin typeface="Proxima Nova"/>
                <a:ea typeface="Proxima Nova"/>
                <a:cs typeface="Proxima Nova"/>
                <a:sym typeface="Proxima Nova"/>
              </a:endParaRPr>
            </a:p>
          </p:txBody>
        </p:sp>
        <p:cxnSp>
          <p:nvCxnSpPr>
            <p:cNvPr id="156" name="Google Shape;156;p25"/>
            <p:cNvCxnSpPr/>
            <p:nvPr/>
          </p:nvCxnSpPr>
          <p:spPr>
            <a:xfrm>
              <a:off x="26377558"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157" name="Google Shape;157;p25"/>
            <p:cNvSpPr/>
            <p:nvPr/>
          </p:nvSpPr>
          <p:spPr>
            <a:xfrm>
              <a:off x="26175833" y="11457283"/>
              <a:ext cx="380700" cy="4614000"/>
            </a:xfrm>
            <a:prstGeom prst="roundRect">
              <a:avLst>
                <a:gd fmla="val 16667" name="adj"/>
              </a:avLst>
            </a:prstGeom>
            <a:solidFill>
              <a:srgbClr val="FF0000">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158" name="Google Shape;158;p25"/>
            <p:cNvSpPr txBox="1"/>
            <p:nvPr/>
          </p:nvSpPr>
          <p:spPr>
            <a:xfrm>
              <a:off x="22875855" y="9211798"/>
              <a:ext cx="2078700" cy="9150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Mayo Clinic Knowledge &amp; Research</a:t>
              </a:r>
              <a:endParaRPr sz="1247">
                <a:latin typeface="Proxima Nova"/>
                <a:ea typeface="Proxima Nova"/>
                <a:cs typeface="Proxima Nova"/>
                <a:sym typeface="Proxima Nova"/>
              </a:endParaRPr>
            </a:p>
          </p:txBody>
        </p:sp>
        <p:sp>
          <p:nvSpPr>
            <p:cNvPr id="159" name="Google Shape;159;p25"/>
            <p:cNvSpPr/>
            <p:nvPr/>
          </p:nvSpPr>
          <p:spPr>
            <a:xfrm>
              <a:off x="23714193" y="13684467"/>
              <a:ext cx="380700" cy="1041600"/>
            </a:xfrm>
            <a:prstGeom prst="roundRect">
              <a:avLst>
                <a:gd fmla="val 16667" name="adj"/>
              </a:avLst>
            </a:prstGeom>
            <a:solidFill>
              <a:srgbClr val="AEAEAE">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160" name="Google Shape;160;p25"/>
            <p:cNvSpPr/>
            <p:nvPr/>
          </p:nvSpPr>
          <p:spPr>
            <a:xfrm>
              <a:off x="21102742" y="12636556"/>
              <a:ext cx="380700" cy="855600"/>
            </a:xfrm>
            <a:prstGeom prst="roundRect">
              <a:avLst>
                <a:gd fmla="val 16667" name="adj"/>
              </a:avLst>
            </a:prstGeom>
            <a:solidFill>
              <a:srgbClr val="E9713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161" name="Google Shape;161;p25"/>
            <p:cNvCxnSpPr/>
            <p:nvPr/>
          </p:nvCxnSpPr>
          <p:spPr>
            <a:xfrm rot="10800000">
              <a:off x="12703818" y="11163267"/>
              <a:ext cx="1522800" cy="0"/>
            </a:xfrm>
            <a:prstGeom prst="straightConnector1">
              <a:avLst/>
            </a:prstGeom>
            <a:noFill/>
            <a:ln cap="flat" cmpd="sng" w="25450">
              <a:solidFill>
                <a:srgbClr val="7F7F7F"/>
              </a:solidFill>
              <a:prstDash val="solid"/>
              <a:miter lim="800000"/>
              <a:headEnd len="sm" w="sm" type="none"/>
              <a:tailEnd len="med" w="med" type="triangle"/>
            </a:ln>
          </p:spPr>
        </p:cxnSp>
        <p:cxnSp>
          <p:nvCxnSpPr>
            <p:cNvPr id="162" name="Google Shape;162;p25"/>
            <p:cNvCxnSpPr/>
            <p:nvPr/>
          </p:nvCxnSpPr>
          <p:spPr>
            <a:xfrm>
              <a:off x="21456434" y="11606279"/>
              <a:ext cx="4745400" cy="0"/>
            </a:xfrm>
            <a:prstGeom prst="straightConnector1">
              <a:avLst/>
            </a:prstGeom>
            <a:noFill/>
            <a:ln cap="flat" cmpd="sng" w="25450">
              <a:solidFill>
                <a:srgbClr val="7F7F7F"/>
              </a:solidFill>
              <a:prstDash val="solid"/>
              <a:miter lim="800000"/>
              <a:headEnd len="sm" w="sm" type="none"/>
              <a:tailEnd len="med" w="med" type="triangle"/>
            </a:ln>
          </p:spPr>
        </p:cxnSp>
        <p:sp>
          <p:nvSpPr>
            <p:cNvPr id="163" name="Google Shape;163;p25"/>
            <p:cNvSpPr txBox="1"/>
            <p:nvPr/>
          </p:nvSpPr>
          <p:spPr>
            <a:xfrm>
              <a:off x="21456434" y="13354498"/>
              <a:ext cx="25419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Send patient clinical context</a:t>
              </a:r>
              <a:endParaRPr sz="1069">
                <a:solidFill>
                  <a:srgbClr val="000000"/>
                </a:solidFill>
                <a:latin typeface="Proxima Nova"/>
                <a:ea typeface="Proxima Nova"/>
                <a:cs typeface="Proxima Nova"/>
                <a:sym typeface="Proxima Nova"/>
              </a:endParaRPr>
            </a:p>
          </p:txBody>
        </p:sp>
        <p:cxnSp>
          <p:nvCxnSpPr>
            <p:cNvPr id="164" name="Google Shape;164;p25"/>
            <p:cNvCxnSpPr/>
            <p:nvPr/>
          </p:nvCxnSpPr>
          <p:spPr>
            <a:xfrm>
              <a:off x="24058504" y="14514168"/>
              <a:ext cx="2128800" cy="0"/>
            </a:xfrm>
            <a:prstGeom prst="straightConnector1">
              <a:avLst/>
            </a:prstGeom>
            <a:noFill/>
            <a:ln cap="flat" cmpd="sng" w="25450">
              <a:solidFill>
                <a:srgbClr val="7F7F7F"/>
              </a:solidFill>
              <a:prstDash val="solid"/>
              <a:miter lim="800000"/>
              <a:headEnd len="sm" w="sm" type="none"/>
              <a:tailEnd len="med" w="med" type="triangle"/>
            </a:ln>
          </p:spPr>
        </p:cxnSp>
        <p:sp>
          <p:nvSpPr>
            <p:cNvPr id="165" name="Google Shape;165;p25"/>
            <p:cNvSpPr txBox="1"/>
            <p:nvPr/>
          </p:nvSpPr>
          <p:spPr>
            <a:xfrm>
              <a:off x="24058504" y="14525107"/>
              <a:ext cx="16320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Send clinical references</a:t>
              </a:r>
              <a:endParaRPr sz="1069">
                <a:solidFill>
                  <a:srgbClr val="000000"/>
                </a:solidFill>
                <a:latin typeface="Proxima Nova"/>
                <a:ea typeface="Proxima Nova"/>
                <a:cs typeface="Proxima Nova"/>
                <a:sym typeface="Proxima Nova"/>
              </a:endParaRPr>
            </a:p>
          </p:txBody>
        </p:sp>
        <p:sp>
          <p:nvSpPr>
            <p:cNvPr id="166" name="Google Shape;166;p25"/>
            <p:cNvSpPr/>
            <p:nvPr/>
          </p:nvSpPr>
          <p:spPr>
            <a:xfrm>
              <a:off x="15858667" y="15086608"/>
              <a:ext cx="380700" cy="1353900"/>
            </a:xfrm>
            <a:prstGeom prst="roundRect">
              <a:avLst>
                <a:gd fmla="val 16667" name="adj"/>
              </a:avLst>
            </a:prstGeom>
            <a:solidFill>
              <a:srgbClr val="0F9ED5">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167" name="Google Shape;167;p25"/>
            <p:cNvSpPr/>
            <p:nvPr/>
          </p:nvSpPr>
          <p:spPr>
            <a:xfrm>
              <a:off x="12318864" y="10242365"/>
              <a:ext cx="380700" cy="1749900"/>
            </a:xfrm>
            <a:prstGeom prst="roundRect">
              <a:avLst>
                <a:gd fmla="val 16667" name="adj"/>
              </a:avLst>
            </a:prstGeom>
            <a:solidFill>
              <a:srgbClr val="15608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168" name="Google Shape;168;p25"/>
            <p:cNvCxnSpPr/>
            <p:nvPr/>
          </p:nvCxnSpPr>
          <p:spPr>
            <a:xfrm>
              <a:off x="12504700"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169" name="Google Shape;169;p25"/>
            <p:cNvSpPr txBox="1"/>
            <p:nvPr/>
          </p:nvSpPr>
          <p:spPr>
            <a:xfrm>
              <a:off x="11465487" y="9211798"/>
              <a:ext cx="2078700" cy="3861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Patient</a:t>
              </a:r>
              <a:endParaRPr sz="1158">
                <a:solidFill>
                  <a:srgbClr val="000000"/>
                </a:solidFill>
                <a:latin typeface="Proxima Nova"/>
                <a:ea typeface="Proxima Nova"/>
                <a:cs typeface="Proxima Nova"/>
                <a:sym typeface="Proxima Nova"/>
              </a:endParaRPr>
            </a:p>
          </p:txBody>
        </p:sp>
        <p:sp>
          <p:nvSpPr>
            <p:cNvPr id="170" name="Google Shape;170;p25"/>
            <p:cNvSpPr/>
            <p:nvPr/>
          </p:nvSpPr>
          <p:spPr>
            <a:xfrm>
              <a:off x="12316454" y="15752918"/>
              <a:ext cx="380700" cy="581400"/>
            </a:xfrm>
            <a:prstGeom prst="roundRect">
              <a:avLst>
                <a:gd fmla="val 16667" name="adj"/>
              </a:avLst>
            </a:prstGeom>
            <a:solidFill>
              <a:srgbClr val="15608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171" name="Google Shape;171;p25"/>
            <p:cNvSpPr/>
            <p:nvPr/>
          </p:nvSpPr>
          <p:spPr>
            <a:xfrm>
              <a:off x="14226618" y="10284614"/>
              <a:ext cx="380700" cy="1055100"/>
            </a:xfrm>
            <a:prstGeom prst="roundRect">
              <a:avLst>
                <a:gd fmla="val 16667" name="adj"/>
              </a:avLst>
            </a:prstGeom>
            <a:solidFill>
              <a:srgbClr val="A02B93">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172" name="Google Shape;172;p25"/>
            <p:cNvCxnSpPr/>
            <p:nvPr/>
          </p:nvCxnSpPr>
          <p:spPr>
            <a:xfrm>
              <a:off x="14416986"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173" name="Google Shape;173;p25"/>
            <p:cNvSpPr txBox="1"/>
            <p:nvPr/>
          </p:nvSpPr>
          <p:spPr>
            <a:xfrm>
              <a:off x="13377773" y="9211798"/>
              <a:ext cx="2078700" cy="3861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Physician</a:t>
              </a:r>
              <a:endParaRPr sz="1158">
                <a:solidFill>
                  <a:srgbClr val="000000"/>
                </a:solidFill>
                <a:latin typeface="Proxima Nova"/>
                <a:ea typeface="Proxima Nova"/>
                <a:cs typeface="Proxima Nova"/>
                <a:sym typeface="Proxima Nova"/>
              </a:endParaRPr>
            </a:p>
          </p:txBody>
        </p:sp>
        <p:sp>
          <p:nvSpPr>
            <p:cNvPr id="174" name="Google Shape;174;p25"/>
            <p:cNvSpPr/>
            <p:nvPr/>
          </p:nvSpPr>
          <p:spPr>
            <a:xfrm>
              <a:off x="14226618" y="15077351"/>
              <a:ext cx="380700" cy="581400"/>
            </a:xfrm>
            <a:prstGeom prst="roundRect">
              <a:avLst>
                <a:gd fmla="val 16667" name="adj"/>
              </a:avLst>
            </a:prstGeom>
            <a:solidFill>
              <a:srgbClr val="A02B93">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175" name="Google Shape;175;p25"/>
            <p:cNvCxnSpPr/>
            <p:nvPr/>
          </p:nvCxnSpPr>
          <p:spPr>
            <a:xfrm>
              <a:off x="12641221" y="10446061"/>
              <a:ext cx="1585200" cy="0"/>
            </a:xfrm>
            <a:prstGeom prst="straightConnector1">
              <a:avLst/>
            </a:prstGeom>
            <a:noFill/>
            <a:ln cap="flat" cmpd="sng" w="25450">
              <a:solidFill>
                <a:srgbClr val="7F7F7F"/>
              </a:solidFill>
              <a:prstDash val="solid"/>
              <a:miter lim="800000"/>
              <a:headEnd len="sm" w="sm" type="none"/>
              <a:tailEnd len="med" w="med" type="triangle"/>
            </a:ln>
          </p:spPr>
        </p:cxnSp>
        <p:sp>
          <p:nvSpPr>
            <p:cNvPr id="176" name="Google Shape;176;p25"/>
            <p:cNvSpPr txBox="1"/>
            <p:nvPr/>
          </p:nvSpPr>
          <p:spPr>
            <a:xfrm>
              <a:off x="12684299" y="9971282"/>
              <a:ext cx="25419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Medical consultation</a:t>
              </a:r>
              <a:endParaRPr sz="1069">
                <a:solidFill>
                  <a:srgbClr val="000000"/>
                </a:solidFill>
                <a:latin typeface="Proxima Nova"/>
                <a:ea typeface="Proxima Nova"/>
                <a:cs typeface="Proxima Nova"/>
                <a:sym typeface="Proxima Nova"/>
              </a:endParaRPr>
            </a:p>
          </p:txBody>
        </p:sp>
        <p:sp>
          <p:nvSpPr>
            <p:cNvPr id="177" name="Google Shape;177;p25"/>
            <p:cNvSpPr txBox="1"/>
            <p:nvPr/>
          </p:nvSpPr>
          <p:spPr>
            <a:xfrm>
              <a:off x="12728501" y="11207089"/>
              <a:ext cx="24081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Exam request</a:t>
              </a:r>
              <a:endParaRPr sz="1069">
                <a:solidFill>
                  <a:srgbClr val="000000"/>
                </a:solidFill>
                <a:latin typeface="Proxima Nova"/>
                <a:ea typeface="Proxima Nova"/>
                <a:cs typeface="Proxima Nova"/>
                <a:sym typeface="Proxima Nova"/>
              </a:endParaRPr>
            </a:p>
          </p:txBody>
        </p:sp>
        <p:cxnSp>
          <p:nvCxnSpPr>
            <p:cNvPr id="178" name="Google Shape;178;p25"/>
            <p:cNvCxnSpPr/>
            <p:nvPr/>
          </p:nvCxnSpPr>
          <p:spPr>
            <a:xfrm rot="10800000">
              <a:off x="21456464" y="12817687"/>
              <a:ext cx="4663500" cy="0"/>
            </a:xfrm>
            <a:prstGeom prst="straightConnector1">
              <a:avLst/>
            </a:prstGeom>
            <a:noFill/>
            <a:ln cap="flat" cmpd="sng" w="25450">
              <a:solidFill>
                <a:srgbClr val="7F7F7F"/>
              </a:solidFill>
              <a:prstDash val="solid"/>
              <a:miter lim="800000"/>
              <a:headEnd len="sm" w="sm" type="none"/>
              <a:tailEnd len="med" w="med" type="triangle"/>
            </a:ln>
          </p:spPr>
        </p:cxnSp>
        <p:cxnSp>
          <p:nvCxnSpPr>
            <p:cNvPr id="179" name="Google Shape;179;p25"/>
            <p:cNvCxnSpPr/>
            <p:nvPr/>
          </p:nvCxnSpPr>
          <p:spPr>
            <a:xfrm>
              <a:off x="12715955" y="11606279"/>
              <a:ext cx="3151500" cy="0"/>
            </a:xfrm>
            <a:prstGeom prst="straightConnector1">
              <a:avLst/>
            </a:prstGeom>
            <a:noFill/>
            <a:ln cap="flat" cmpd="sng" w="25450">
              <a:solidFill>
                <a:srgbClr val="7F7F7F"/>
              </a:solidFill>
              <a:prstDash val="solid"/>
              <a:miter lim="800000"/>
              <a:headEnd len="sm" w="sm" type="none"/>
              <a:tailEnd len="med" w="med" type="triangle"/>
            </a:ln>
          </p:spPr>
        </p:cxnSp>
        <p:sp>
          <p:nvSpPr>
            <p:cNvPr id="180" name="Google Shape;180;p25"/>
            <p:cNvSpPr txBox="1"/>
            <p:nvPr/>
          </p:nvSpPr>
          <p:spPr>
            <a:xfrm>
              <a:off x="12676593" y="11637411"/>
              <a:ext cx="23538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Exam schedule</a:t>
              </a:r>
              <a:endParaRPr sz="1069">
                <a:solidFill>
                  <a:srgbClr val="000000"/>
                </a:solidFill>
                <a:latin typeface="Proxima Nova"/>
                <a:ea typeface="Proxima Nova"/>
                <a:cs typeface="Proxima Nova"/>
                <a:sym typeface="Proxima Nova"/>
              </a:endParaRPr>
            </a:p>
          </p:txBody>
        </p:sp>
        <p:cxnSp>
          <p:nvCxnSpPr>
            <p:cNvPr id="181" name="Google Shape;181;p25"/>
            <p:cNvCxnSpPr/>
            <p:nvPr/>
          </p:nvCxnSpPr>
          <p:spPr>
            <a:xfrm>
              <a:off x="21499378" y="13291150"/>
              <a:ext cx="4676400" cy="0"/>
            </a:xfrm>
            <a:prstGeom prst="straightConnector1">
              <a:avLst/>
            </a:prstGeom>
            <a:noFill/>
            <a:ln cap="flat" cmpd="sng" w="25450">
              <a:solidFill>
                <a:srgbClr val="7F7F7F"/>
              </a:solidFill>
              <a:prstDash val="solid"/>
              <a:miter lim="800000"/>
              <a:headEnd len="sm" w="sm" type="none"/>
              <a:tailEnd len="med" w="med" type="triangle"/>
            </a:ln>
          </p:spPr>
        </p:cxnSp>
        <p:sp>
          <p:nvSpPr>
            <p:cNvPr id="182" name="Google Shape;182;p25"/>
            <p:cNvSpPr txBox="1"/>
            <p:nvPr/>
          </p:nvSpPr>
          <p:spPr>
            <a:xfrm>
              <a:off x="14564440" y="15318800"/>
              <a:ext cx="15186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i="0" lang="pt-BR" sz="1069">
                  <a:solidFill>
                    <a:srgbClr val="000000"/>
                  </a:solidFill>
                  <a:latin typeface="Proxima Nova"/>
                  <a:ea typeface="Proxima Nova"/>
                  <a:cs typeface="Proxima Nova"/>
                  <a:sym typeface="Proxima Nova"/>
                </a:rPr>
                <a:t>Notification</a:t>
              </a:r>
              <a:endParaRPr sz="1247">
                <a:latin typeface="Proxima Nova"/>
                <a:ea typeface="Proxima Nova"/>
                <a:cs typeface="Proxima Nova"/>
                <a:sym typeface="Proxima Nova"/>
              </a:endParaRPr>
            </a:p>
          </p:txBody>
        </p:sp>
        <p:cxnSp>
          <p:nvCxnSpPr>
            <p:cNvPr id="183" name="Google Shape;183;p25"/>
            <p:cNvCxnSpPr/>
            <p:nvPr/>
          </p:nvCxnSpPr>
          <p:spPr>
            <a:xfrm rot="10800000">
              <a:off x="14591917" y="15223203"/>
              <a:ext cx="1263600" cy="0"/>
            </a:xfrm>
            <a:prstGeom prst="straightConnector1">
              <a:avLst/>
            </a:prstGeom>
            <a:noFill/>
            <a:ln cap="flat" cmpd="sng" w="25450">
              <a:solidFill>
                <a:srgbClr val="7F7F7F"/>
              </a:solidFill>
              <a:prstDash val="solid"/>
              <a:miter lim="800000"/>
              <a:headEnd len="sm" w="sm" type="none"/>
              <a:tailEnd len="med" w="med" type="triangle"/>
            </a:ln>
          </p:spPr>
        </p:cxnSp>
        <p:sp>
          <p:nvSpPr>
            <p:cNvPr id="184" name="Google Shape;184;p25"/>
            <p:cNvSpPr txBox="1"/>
            <p:nvPr/>
          </p:nvSpPr>
          <p:spPr>
            <a:xfrm>
              <a:off x="14530538" y="15926441"/>
              <a:ext cx="15186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i="0" lang="pt-BR" sz="1069">
                  <a:solidFill>
                    <a:srgbClr val="000000"/>
                  </a:solidFill>
                  <a:latin typeface="Proxima Nova"/>
                  <a:ea typeface="Proxima Nova"/>
                  <a:cs typeface="Proxima Nova"/>
                  <a:sym typeface="Proxima Nova"/>
                </a:rPr>
                <a:t>Notification</a:t>
              </a:r>
              <a:endParaRPr sz="1247">
                <a:latin typeface="Proxima Nova"/>
                <a:ea typeface="Proxima Nova"/>
                <a:cs typeface="Proxima Nova"/>
                <a:sym typeface="Proxima Nova"/>
              </a:endParaRPr>
            </a:p>
          </p:txBody>
        </p:sp>
        <p:cxnSp>
          <p:nvCxnSpPr>
            <p:cNvPr id="185" name="Google Shape;185;p25"/>
            <p:cNvCxnSpPr/>
            <p:nvPr/>
          </p:nvCxnSpPr>
          <p:spPr>
            <a:xfrm rot="10800000">
              <a:off x="12697262" y="15868426"/>
              <a:ext cx="3141000" cy="0"/>
            </a:xfrm>
            <a:prstGeom prst="straightConnector1">
              <a:avLst/>
            </a:prstGeom>
            <a:noFill/>
            <a:ln cap="flat" cmpd="sng" w="25450">
              <a:solidFill>
                <a:srgbClr val="7F7F7F"/>
              </a:solidFill>
              <a:prstDash val="solid"/>
              <a:miter lim="800000"/>
              <a:headEnd len="sm" w="sm" type="none"/>
              <a:tailEnd len="med" w="med" type="triangle"/>
            </a:ln>
          </p:spPr>
        </p:cxnSp>
        <p:sp>
          <p:nvSpPr>
            <p:cNvPr id="186" name="Google Shape;186;p25"/>
            <p:cNvSpPr/>
            <p:nvPr/>
          </p:nvSpPr>
          <p:spPr>
            <a:xfrm>
              <a:off x="26159497" y="16384833"/>
              <a:ext cx="380700" cy="1121100"/>
            </a:xfrm>
            <a:prstGeom prst="roundRect">
              <a:avLst>
                <a:gd fmla="val 16667" name="adj"/>
              </a:avLst>
            </a:prstGeom>
            <a:solidFill>
              <a:srgbClr val="FF0000">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187" name="Google Shape;187;p25"/>
            <p:cNvCxnSpPr/>
            <p:nvPr/>
          </p:nvCxnSpPr>
          <p:spPr>
            <a:xfrm>
              <a:off x="14653655" y="16577065"/>
              <a:ext cx="11485500" cy="2100"/>
            </a:xfrm>
            <a:prstGeom prst="straightConnector1">
              <a:avLst/>
            </a:prstGeom>
            <a:noFill/>
            <a:ln cap="flat" cmpd="sng" w="25450">
              <a:solidFill>
                <a:srgbClr val="7F7F7F"/>
              </a:solidFill>
              <a:prstDash val="solid"/>
              <a:miter lim="800000"/>
              <a:headEnd len="sm" w="sm" type="none"/>
              <a:tailEnd len="med" w="med" type="triangle"/>
            </a:ln>
          </p:spPr>
        </p:cxnSp>
        <p:sp>
          <p:nvSpPr>
            <p:cNvPr id="188" name="Google Shape;188;p25"/>
            <p:cNvSpPr/>
            <p:nvPr/>
          </p:nvSpPr>
          <p:spPr>
            <a:xfrm>
              <a:off x="14211281" y="16503383"/>
              <a:ext cx="380700" cy="1121100"/>
            </a:xfrm>
            <a:prstGeom prst="roundRect">
              <a:avLst>
                <a:gd fmla="val 16667" name="adj"/>
              </a:avLst>
            </a:prstGeom>
            <a:solidFill>
              <a:srgbClr val="A02B93">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189" name="Google Shape;189;p25"/>
            <p:cNvSpPr txBox="1"/>
            <p:nvPr/>
          </p:nvSpPr>
          <p:spPr>
            <a:xfrm>
              <a:off x="14495619" y="16629190"/>
              <a:ext cx="19080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i="0" lang="pt-BR" sz="1069">
                  <a:solidFill>
                    <a:srgbClr val="000000"/>
                  </a:solidFill>
                  <a:latin typeface="Proxima Nova"/>
                  <a:ea typeface="Proxima Nova"/>
                  <a:cs typeface="Proxima Nova"/>
                  <a:sym typeface="Proxima Nova"/>
                </a:rPr>
                <a:t>Access test interpretation</a:t>
              </a:r>
              <a:endParaRPr i="0" sz="1069">
                <a:solidFill>
                  <a:srgbClr val="000000"/>
                </a:solidFill>
                <a:latin typeface="Proxima Nova"/>
                <a:ea typeface="Proxima Nova"/>
                <a:cs typeface="Proxima Nova"/>
                <a:sym typeface="Proxima Nova"/>
              </a:endParaRPr>
            </a:p>
          </p:txBody>
        </p:sp>
        <p:sp>
          <p:nvSpPr>
            <p:cNvPr id="190" name="Google Shape;190;p25"/>
            <p:cNvSpPr/>
            <p:nvPr/>
          </p:nvSpPr>
          <p:spPr>
            <a:xfrm>
              <a:off x="12316458" y="16847915"/>
              <a:ext cx="380700" cy="776400"/>
            </a:xfrm>
            <a:prstGeom prst="roundRect">
              <a:avLst>
                <a:gd fmla="val 16667" name="adj"/>
              </a:avLst>
            </a:prstGeom>
            <a:solidFill>
              <a:srgbClr val="15608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191" name="Google Shape;191;p25"/>
            <p:cNvCxnSpPr/>
            <p:nvPr/>
          </p:nvCxnSpPr>
          <p:spPr>
            <a:xfrm flipH="1">
              <a:off x="12717197" y="17340784"/>
              <a:ext cx="1480500" cy="6000"/>
            </a:xfrm>
            <a:prstGeom prst="straightConnector1">
              <a:avLst/>
            </a:prstGeom>
            <a:noFill/>
            <a:ln cap="flat" cmpd="sng" w="25450">
              <a:solidFill>
                <a:srgbClr val="7F7F7F"/>
              </a:solidFill>
              <a:prstDash val="solid"/>
              <a:miter lim="800000"/>
              <a:headEnd len="sm" w="sm" type="none"/>
              <a:tailEnd len="med" w="med" type="triangle"/>
            </a:ln>
          </p:spPr>
        </p:cxnSp>
        <p:sp>
          <p:nvSpPr>
            <p:cNvPr id="192" name="Google Shape;192;p25"/>
            <p:cNvSpPr txBox="1"/>
            <p:nvPr/>
          </p:nvSpPr>
          <p:spPr>
            <a:xfrm>
              <a:off x="12621112" y="16410222"/>
              <a:ext cx="1810500" cy="8538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Deliver personalized interpretation</a:t>
              </a:r>
              <a:endParaRPr i="0" sz="1069">
                <a:solidFill>
                  <a:srgbClr val="000000"/>
                </a:solidFill>
                <a:latin typeface="Proxima Nova"/>
                <a:ea typeface="Proxima Nova"/>
                <a:cs typeface="Proxima Nova"/>
                <a:sym typeface="Proxima Nova"/>
              </a:endParaRPr>
            </a:p>
          </p:txBody>
        </p:sp>
      </p:grpSp>
      <p:sp>
        <p:nvSpPr>
          <p:cNvPr id="193" name="Google Shape;193;p25"/>
          <p:cNvSpPr txBox="1"/>
          <p:nvPr/>
        </p:nvSpPr>
        <p:spPr>
          <a:xfrm>
            <a:off x="-30125" y="9219083"/>
            <a:ext cx="9679800" cy="10398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920">
                <a:solidFill>
                  <a:srgbClr val="0B5394"/>
                </a:solidFill>
                <a:latin typeface="Montserrat"/>
                <a:ea typeface="Montserrat"/>
                <a:cs typeface="Montserrat"/>
                <a:sym typeface="Montserrat"/>
              </a:rPr>
              <a:t>Lab result interpretation workflow</a:t>
            </a:r>
            <a:endParaRPr sz="3920">
              <a:solidFill>
                <a:srgbClr val="0B5394"/>
              </a:solidFill>
              <a:latin typeface="Montserrat"/>
              <a:ea typeface="Montserrat"/>
              <a:cs typeface="Montserrat"/>
              <a:sym typeface="Montserrat"/>
            </a:endParaRPr>
          </a:p>
        </p:txBody>
      </p:sp>
      <p:sp>
        <p:nvSpPr>
          <p:cNvPr id="194" name="Google Shape;194;p25"/>
          <p:cNvSpPr txBox="1"/>
          <p:nvPr/>
        </p:nvSpPr>
        <p:spPr>
          <a:xfrm>
            <a:off x="23417145" y="21096295"/>
            <a:ext cx="9555600" cy="713400"/>
          </a:xfrm>
          <a:prstGeom prst="rect">
            <a:avLst/>
          </a:prstGeom>
          <a:noFill/>
          <a:ln>
            <a:noFill/>
          </a:ln>
        </p:spPr>
        <p:txBody>
          <a:bodyPr anchorCtr="0" anchor="t" bIns="216000" lIns="216000" spcFirstLastPara="1" rIns="216000" wrap="square" tIns="216000">
            <a:spAutoFit/>
          </a:bodyPr>
          <a:lstStyle/>
          <a:p>
            <a:pPr indent="0" lvl="0" marL="0" rtl="0" algn="ctr">
              <a:lnSpc>
                <a:spcPct val="115000"/>
              </a:lnSpc>
              <a:spcBef>
                <a:spcPts val="14400"/>
              </a:spcBef>
              <a:spcAft>
                <a:spcPts val="14400"/>
              </a:spcAft>
              <a:buNone/>
            </a:pPr>
            <a:r>
              <a:rPr lang="pt-BR" sz="1800">
                <a:solidFill>
                  <a:srgbClr val="E85453"/>
                </a:solidFill>
                <a:latin typeface="Proxima Nova"/>
                <a:ea typeface="Proxima Nova"/>
                <a:cs typeface="Proxima Nova"/>
                <a:sym typeface="Proxima Nova"/>
              </a:rPr>
              <a:t>Acknowledgements: Dr. Chris Garcia, Angela Tomczik, Molly Brenner, SDM staff</a:t>
            </a:r>
            <a:endParaRPr sz="1800">
              <a:solidFill>
                <a:srgbClr val="E85453"/>
              </a:solidFill>
              <a:latin typeface="Proxima Nova"/>
              <a:ea typeface="Proxima Nova"/>
              <a:cs typeface="Proxima Nova"/>
              <a:sym typeface="Proxima Nova"/>
            </a:endParaRPr>
          </a:p>
        </p:txBody>
      </p:sp>
      <p:sp>
        <p:nvSpPr>
          <p:cNvPr id="195" name="Google Shape;195;p25"/>
          <p:cNvSpPr txBox="1"/>
          <p:nvPr/>
        </p:nvSpPr>
        <p:spPr>
          <a:xfrm>
            <a:off x="23348460" y="12986821"/>
            <a:ext cx="9555600" cy="10398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920">
                <a:solidFill>
                  <a:srgbClr val="0B5394"/>
                </a:solidFill>
                <a:latin typeface="Montserrat"/>
                <a:ea typeface="Montserrat"/>
                <a:cs typeface="Montserrat"/>
                <a:sym typeface="Montserrat"/>
              </a:rPr>
              <a:t>Risk exposure mitigation strategy</a:t>
            </a:r>
            <a:endParaRPr sz="3920">
              <a:solidFill>
                <a:srgbClr val="0B5394"/>
              </a:solidFill>
              <a:latin typeface="Montserrat"/>
              <a:ea typeface="Montserrat"/>
              <a:cs typeface="Montserrat"/>
              <a:sym typeface="Montserrat"/>
            </a:endParaRPr>
          </a:p>
        </p:txBody>
      </p:sp>
      <p:graphicFrame>
        <p:nvGraphicFramePr>
          <p:cNvPr id="196" name="Google Shape;196;p25"/>
          <p:cNvGraphicFramePr/>
          <p:nvPr/>
        </p:nvGraphicFramePr>
        <p:xfrm>
          <a:off x="23751795" y="16397794"/>
          <a:ext cx="3000000" cy="3000000"/>
        </p:xfrm>
        <a:graphic>
          <a:graphicData uri="http://schemas.openxmlformats.org/drawingml/2006/table">
            <a:tbl>
              <a:tblPr>
                <a:noFill/>
                <a:tableStyleId>{9A381E13-A8F7-4022-86C5-07623F0ABA3E}</a:tableStyleId>
              </a:tblPr>
              <a:tblGrid>
                <a:gridCol w="1941475"/>
                <a:gridCol w="6807325"/>
              </a:tblGrid>
              <a:tr h="357025">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Mitigation </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Commentary</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073763"/>
                    </a:solidFill>
                  </a:tcPr>
                </a:tc>
              </a:tr>
              <a:tr h="622675">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Data Integration</a:t>
                      </a:r>
                      <a:endParaRPr sz="2040">
                        <a:latin typeface="Proxima Nova"/>
                        <a:ea typeface="Proxima Nova"/>
                        <a:cs typeface="Proxima Nova"/>
                        <a:sym typeface="Proxima Nova"/>
                      </a:endParaRPr>
                    </a:p>
                  </a:txBody>
                  <a:tcPr marT="60950" marB="60950" marR="91450" marL="91450"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proof-of-concept to expose EHR/lab integration blockers before they cascade. Reduces probability from 50% to 20%.</a:t>
                      </a:r>
                      <a:endParaRPr sz="2040">
                        <a:latin typeface="Proxima Nova"/>
                        <a:ea typeface="Proxima Nova"/>
                        <a:cs typeface="Proxima Nova"/>
                        <a:sym typeface="Proxima Nova"/>
                      </a:endParaRPr>
                    </a:p>
                  </a:txBody>
                  <a:tcPr marT="60950" marB="60950" marR="91450" marL="91450" anchor="ctr">
                    <a:lnL cap="flat" cmpd="sng" w="11425">
                      <a:solidFill>
                        <a:srgbClr val="000000"/>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Clinical Validation Readiness</a:t>
                      </a:r>
                      <a:endParaRPr sz="2040">
                        <a:latin typeface="Proxima Nova"/>
                        <a:ea typeface="Proxima Nova"/>
                        <a:cs typeface="Proxima Nova"/>
                        <a:sym typeface="Proxima Nova"/>
                      </a:endParaRPr>
                    </a:p>
                  </a:txBody>
                  <a:tcPr marT="60950" marB="60950" marR="91450" marL="91450"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Physician review board before shadow mode to reduce hallucination and clinical accuracy risk. Reduces probability from 40% to 15%.</a:t>
                      </a:r>
                      <a:endParaRPr sz="2040">
                        <a:latin typeface="Proxima Nova"/>
                        <a:ea typeface="Proxima Nova"/>
                        <a:cs typeface="Proxima Nova"/>
                        <a:sym typeface="Proxima Nova"/>
                      </a:endParaRPr>
                    </a:p>
                  </a:txBody>
                  <a:tcPr marT="60950" marB="60950" marR="91450" marL="91450" anchor="ctr">
                    <a:lnL cap="flat" cmpd="sng" w="11425">
                      <a:solidFill>
                        <a:srgbClr val="000000"/>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Integration &amp; Interface Testing</a:t>
                      </a:r>
                      <a:endParaRPr sz="2040">
                        <a:latin typeface="Proxima Nova"/>
                        <a:ea typeface="Proxima Nova"/>
                        <a:cs typeface="Proxima Nova"/>
                        <a:sym typeface="Proxima Nova"/>
                      </a:endParaRPr>
                    </a:p>
                  </a:txBody>
                  <a:tcPr marT="60950" marB="60950" marR="91450" marL="91450" anchor="ctr">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interface testing across the data pipeline, retrieval layer, agentic AI core, physician workflow, and validation workflow. Reduces probability from 40% to 20%.</a:t>
                      </a:r>
                      <a:endParaRPr sz="2040">
                        <a:latin typeface="Proxima Nova"/>
                        <a:ea typeface="Proxima Nova"/>
                        <a:cs typeface="Proxima Nova"/>
                        <a:sym typeface="Proxima Nova"/>
                      </a:endParaRPr>
                    </a:p>
                  </a:txBody>
                  <a:tcPr marT="60950" marB="60950" marR="91450" marL="91450" anchor="ctr">
                    <a:lnL cap="flat" cmpd="sng" w="11425">
                      <a:solidFill>
                        <a:srgbClr val="000000"/>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bl>
          </a:graphicData>
        </a:graphic>
      </p:graphicFrame>
      <p:sp>
        <p:nvSpPr>
          <p:cNvPr id="197" name="Google Shape;197;p25"/>
          <p:cNvSpPr txBox="1"/>
          <p:nvPr/>
        </p:nvSpPr>
        <p:spPr>
          <a:xfrm>
            <a:off x="23255220" y="1358145"/>
            <a:ext cx="9741900" cy="10398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920">
                <a:solidFill>
                  <a:srgbClr val="0B5394"/>
                </a:solidFill>
                <a:latin typeface="Montserrat"/>
                <a:ea typeface="Montserrat"/>
                <a:cs typeface="Montserrat"/>
                <a:sym typeface="Montserrat"/>
              </a:rPr>
              <a:t>Recommended</a:t>
            </a:r>
            <a:r>
              <a:rPr lang="pt-BR" sz="3920">
                <a:solidFill>
                  <a:srgbClr val="0B5394"/>
                </a:solidFill>
                <a:latin typeface="Montserrat"/>
                <a:ea typeface="Montserrat"/>
                <a:cs typeface="Montserrat"/>
                <a:sym typeface="Montserrat"/>
              </a:rPr>
              <a:t> Concept: </a:t>
            </a:r>
            <a:r>
              <a:rPr b="1" lang="pt-BR" sz="3920">
                <a:solidFill>
                  <a:srgbClr val="0B5394"/>
                </a:solidFill>
                <a:latin typeface="Montserrat"/>
                <a:ea typeface="Montserrat"/>
                <a:cs typeface="Montserrat"/>
                <a:sym typeface="Montserrat"/>
              </a:rPr>
              <a:t>Maximalist</a:t>
            </a:r>
            <a:endParaRPr b="1" sz="3920">
              <a:solidFill>
                <a:srgbClr val="0B5394"/>
              </a:solidFill>
              <a:latin typeface="Montserrat"/>
              <a:ea typeface="Montserrat"/>
              <a:cs typeface="Montserrat"/>
              <a:sym typeface="Montserrat"/>
            </a:endParaRPr>
          </a:p>
        </p:txBody>
      </p:sp>
      <p:sp>
        <p:nvSpPr>
          <p:cNvPr id="198" name="Google Shape;198;p25"/>
          <p:cNvSpPr txBox="1"/>
          <p:nvPr/>
        </p:nvSpPr>
        <p:spPr>
          <a:xfrm>
            <a:off x="23751840" y="14133999"/>
            <a:ext cx="8748600" cy="1980000"/>
          </a:xfrm>
          <a:prstGeom prst="rect">
            <a:avLst/>
          </a:prstGeom>
          <a:noFill/>
          <a:ln>
            <a:noFill/>
          </a:ln>
        </p:spPr>
        <p:txBody>
          <a:bodyPr anchorCtr="0" anchor="t" bIns="109700" lIns="109700" spcFirstLastPara="1" rIns="109700" wrap="square" tIns="109700">
            <a:spAutoFit/>
          </a:bodyPr>
          <a:lstStyle/>
          <a:p>
            <a:pPr indent="0" lvl="0" marL="0" rtl="0" algn="just">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selected mitigation reduces riskiness from 179 to 102, removing 43% of baseline risk. It increases cost to $6.45M and schedule to 49 weeks, exceeding the $6M target but staying within the 50-week limit. The tradeoff is justified because it targets integration failure, hallucination risk, and late rework before clinical validation.</a:t>
            </a:r>
            <a:endParaRPr sz="2040">
              <a:solidFill>
                <a:schemeClr val="dk2"/>
              </a:solidFill>
              <a:latin typeface="Proxima Nova"/>
              <a:ea typeface="Proxima Nova"/>
              <a:cs typeface="Proxima Nova"/>
              <a:sym typeface="Proxima Nova"/>
            </a:endParaRPr>
          </a:p>
        </p:txBody>
      </p:sp>
      <p:pic>
        <p:nvPicPr>
          <p:cNvPr id="199" name="Google Shape;199;p25"/>
          <p:cNvPicPr preferRelativeResize="0"/>
          <p:nvPr/>
        </p:nvPicPr>
        <p:blipFill>
          <a:blip r:embed="rId4">
            <a:alphaModFix/>
          </a:blip>
          <a:stretch>
            <a:fillRect/>
          </a:stretch>
        </p:blipFill>
        <p:spPr>
          <a:xfrm>
            <a:off x="11109554" y="8945842"/>
            <a:ext cx="10575104" cy="6877955"/>
          </a:xfrm>
          <a:prstGeom prst="rect">
            <a:avLst/>
          </a:prstGeom>
          <a:noFill/>
          <a:ln>
            <a:noFill/>
          </a:ln>
        </p:spPr>
      </p:pic>
      <p:pic>
        <p:nvPicPr>
          <p:cNvPr id="200" name="Google Shape;200;p25"/>
          <p:cNvPicPr preferRelativeResize="0"/>
          <p:nvPr/>
        </p:nvPicPr>
        <p:blipFill>
          <a:blip r:embed="rId5">
            <a:alphaModFix/>
          </a:blip>
          <a:stretch>
            <a:fillRect/>
          </a:stretch>
        </p:blipFill>
        <p:spPr>
          <a:xfrm>
            <a:off x="11109510" y="1392975"/>
            <a:ext cx="10575120" cy="6622165"/>
          </a:xfrm>
          <a:prstGeom prst="rect">
            <a:avLst/>
          </a:prstGeom>
          <a:noFill/>
          <a:ln>
            <a:noFill/>
          </a:ln>
        </p:spPr>
      </p:pic>
      <p:pic>
        <p:nvPicPr>
          <p:cNvPr id="201" name="Google Shape;201;p25"/>
          <p:cNvPicPr preferRelativeResize="0"/>
          <p:nvPr/>
        </p:nvPicPr>
        <p:blipFill>
          <a:blip r:embed="rId6">
            <a:alphaModFix/>
          </a:blip>
          <a:stretch>
            <a:fillRect/>
          </a:stretch>
        </p:blipFill>
        <p:spPr>
          <a:xfrm>
            <a:off x="31701378" y="0"/>
            <a:ext cx="1217021" cy="1332179"/>
          </a:xfrm>
          <a:prstGeom prst="rect">
            <a:avLst/>
          </a:prstGeom>
          <a:noFill/>
          <a:ln>
            <a:noFill/>
          </a:ln>
        </p:spPr>
      </p:pic>
      <p:pic>
        <p:nvPicPr>
          <p:cNvPr id="202" name="Google Shape;202;p25"/>
          <p:cNvPicPr preferRelativeResize="0"/>
          <p:nvPr/>
        </p:nvPicPr>
        <p:blipFill>
          <a:blip r:embed="rId7">
            <a:alphaModFix/>
          </a:blip>
          <a:stretch>
            <a:fillRect/>
          </a:stretch>
        </p:blipFill>
        <p:spPr>
          <a:xfrm>
            <a:off x="29879609" y="0"/>
            <a:ext cx="1598039" cy="825795"/>
          </a:xfrm>
          <a:prstGeom prst="rect">
            <a:avLst/>
          </a:prstGeom>
          <a:noFill/>
          <a:ln>
            <a:noFill/>
          </a:ln>
        </p:spPr>
      </p:pic>
      <p:pic>
        <p:nvPicPr>
          <p:cNvPr id="203" name="Google Shape;203;p25"/>
          <p:cNvPicPr preferRelativeResize="0"/>
          <p:nvPr/>
        </p:nvPicPr>
        <p:blipFill>
          <a:blip r:embed="rId8">
            <a:alphaModFix/>
          </a:blip>
          <a:stretch>
            <a:fillRect/>
          </a:stretch>
        </p:blipFill>
        <p:spPr>
          <a:xfrm>
            <a:off x="9883410" y="16709349"/>
            <a:ext cx="6705981" cy="4927560"/>
          </a:xfrm>
          <a:prstGeom prst="rect">
            <a:avLst/>
          </a:prstGeom>
          <a:noFill/>
          <a:ln>
            <a:noFill/>
          </a:ln>
        </p:spPr>
      </p:pic>
      <p:pic>
        <p:nvPicPr>
          <p:cNvPr id="204" name="Google Shape;204;p25"/>
          <p:cNvPicPr preferRelativeResize="0"/>
          <p:nvPr/>
        </p:nvPicPr>
        <p:blipFill>
          <a:blip r:embed="rId9">
            <a:alphaModFix/>
          </a:blip>
          <a:stretch>
            <a:fillRect/>
          </a:stretch>
        </p:blipFill>
        <p:spPr>
          <a:xfrm>
            <a:off x="16589400" y="16709349"/>
            <a:ext cx="6466984" cy="4927560"/>
          </a:xfrm>
          <a:prstGeom prst="rect">
            <a:avLst/>
          </a:prstGeom>
          <a:noFill/>
          <a:ln>
            <a:noFill/>
          </a:ln>
        </p:spPr>
      </p:pic>
      <p:sp>
        <p:nvSpPr>
          <p:cNvPr id="205" name="Google Shape;205;p25"/>
          <p:cNvSpPr/>
          <p:nvPr/>
        </p:nvSpPr>
        <p:spPr>
          <a:xfrm>
            <a:off x="24534632" y="2487582"/>
            <a:ext cx="1985400" cy="913200"/>
          </a:xfrm>
          <a:prstGeom prst="rect">
            <a:avLst/>
          </a:prstGeom>
          <a:noFill/>
          <a:ln>
            <a:noFill/>
          </a:ln>
        </p:spPr>
        <p:txBody>
          <a:bodyPr anchorCtr="0" anchor="ctr" bIns="36875" lIns="73700" spcFirstLastPara="1" rIns="73700" wrap="square" tIns="36875">
            <a:noAutofit/>
          </a:bodyPr>
          <a:lstStyle/>
          <a:p>
            <a:pPr indent="0" lvl="0" marL="0" marR="0" rtl="0" algn="l">
              <a:spcBef>
                <a:spcPts val="0"/>
              </a:spcBef>
              <a:spcAft>
                <a:spcPts val="0"/>
              </a:spcAft>
              <a:buNone/>
            </a:pPr>
            <a:r>
              <a:rPr lang="pt-BR" sz="1894">
                <a:solidFill>
                  <a:srgbClr val="073763"/>
                </a:solidFill>
                <a:latin typeface="Proxima Nova"/>
                <a:ea typeface="Proxima Nova"/>
                <a:cs typeface="Proxima Nova"/>
                <a:sym typeface="Proxima Nova"/>
              </a:rPr>
              <a:t>Gemini model family</a:t>
            </a:r>
            <a:endParaRPr sz="1894">
              <a:solidFill>
                <a:srgbClr val="073763"/>
              </a:solidFill>
              <a:latin typeface="Proxima Nova"/>
              <a:ea typeface="Proxima Nova"/>
              <a:cs typeface="Proxima Nova"/>
              <a:sym typeface="Proxima Nova"/>
            </a:endParaRPr>
          </a:p>
        </p:txBody>
      </p:sp>
      <p:sp>
        <p:nvSpPr>
          <p:cNvPr id="206" name="Google Shape;206;p25"/>
          <p:cNvSpPr/>
          <p:nvPr/>
        </p:nvSpPr>
        <p:spPr>
          <a:xfrm>
            <a:off x="27672047" y="3707965"/>
            <a:ext cx="1985400" cy="913200"/>
          </a:xfrm>
          <a:prstGeom prst="rect">
            <a:avLst/>
          </a:prstGeom>
          <a:noFill/>
          <a:ln>
            <a:noFill/>
          </a:ln>
        </p:spPr>
        <p:txBody>
          <a:bodyPr anchorCtr="0" anchor="ctr" bIns="36875" lIns="73700" spcFirstLastPara="1" rIns="73700" wrap="square" tIns="36875">
            <a:noAutofit/>
          </a:bodyPr>
          <a:lstStyle/>
          <a:p>
            <a:pPr indent="0" lvl="0" marL="0" marR="0" rtl="0" algn="l">
              <a:spcBef>
                <a:spcPts val="0"/>
              </a:spcBef>
              <a:spcAft>
                <a:spcPts val="0"/>
              </a:spcAft>
              <a:buNone/>
            </a:pPr>
            <a:r>
              <a:rPr lang="pt-BR" sz="1894">
                <a:solidFill>
                  <a:srgbClr val="073763"/>
                </a:solidFill>
                <a:latin typeface="Proxima Nova"/>
                <a:ea typeface="Proxima Nova"/>
                <a:cs typeface="Proxima Nova"/>
                <a:sym typeface="Proxima Nova"/>
              </a:rPr>
              <a:t>RAG and fine-tuning</a:t>
            </a:r>
            <a:endParaRPr sz="1894">
              <a:solidFill>
                <a:srgbClr val="073763"/>
              </a:solidFill>
              <a:latin typeface="Proxima Nova"/>
              <a:ea typeface="Proxima Nova"/>
              <a:cs typeface="Proxima Nova"/>
              <a:sym typeface="Proxima Nova"/>
            </a:endParaRPr>
          </a:p>
        </p:txBody>
      </p:sp>
      <p:sp>
        <p:nvSpPr>
          <p:cNvPr id="207" name="Google Shape;207;p25"/>
          <p:cNvSpPr/>
          <p:nvPr/>
        </p:nvSpPr>
        <p:spPr>
          <a:xfrm>
            <a:off x="30968462" y="2421837"/>
            <a:ext cx="1985400" cy="913200"/>
          </a:xfrm>
          <a:prstGeom prst="rect">
            <a:avLst/>
          </a:prstGeom>
          <a:noFill/>
          <a:ln>
            <a:noFill/>
          </a:ln>
        </p:spPr>
        <p:txBody>
          <a:bodyPr anchorCtr="0" anchor="ctr" bIns="36875" lIns="73700" spcFirstLastPara="1" rIns="73700" wrap="square" tIns="36875">
            <a:noAutofit/>
          </a:bodyPr>
          <a:lstStyle/>
          <a:p>
            <a:pPr indent="0" lvl="0" marL="0" marR="0" rtl="0" algn="l">
              <a:spcBef>
                <a:spcPts val="0"/>
              </a:spcBef>
              <a:spcAft>
                <a:spcPts val="0"/>
              </a:spcAft>
              <a:buNone/>
            </a:pPr>
            <a:r>
              <a:rPr lang="pt-BR" sz="1894">
                <a:solidFill>
                  <a:srgbClr val="073763"/>
                </a:solidFill>
                <a:latin typeface="Proxima Nova"/>
                <a:ea typeface="Proxima Nova"/>
                <a:cs typeface="Proxima Nova"/>
                <a:sym typeface="Proxima Nova"/>
              </a:rPr>
              <a:t>Large specialized group</a:t>
            </a:r>
            <a:endParaRPr sz="1894">
              <a:solidFill>
                <a:srgbClr val="073763"/>
              </a:solidFill>
              <a:latin typeface="Proxima Nova"/>
              <a:ea typeface="Proxima Nova"/>
              <a:cs typeface="Proxima Nova"/>
              <a:sym typeface="Proxima Nova"/>
            </a:endParaRPr>
          </a:p>
        </p:txBody>
      </p:sp>
      <p:sp>
        <p:nvSpPr>
          <p:cNvPr id="208" name="Google Shape;208;p25"/>
          <p:cNvSpPr/>
          <p:nvPr/>
        </p:nvSpPr>
        <p:spPr>
          <a:xfrm>
            <a:off x="30932095" y="3707985"/>
            <a:ext cx="1985400" cy="913200"/>
          </a:xfrm>
          <a:prstGeom prst="rect">
            <a:avLst/>
          </a:prstGeom>
          <a:noFill/>
          <a:ln>
            <a:noFill/>
          </a:ln>
        </p:spPr>
        <p:txBody>
          <a:bodyPr anchorCtr="0" anchor="ctr" bIns="36875" lIns="73700" spcFirstLastPara="1" rIns="73700" wrap="square" tIns="36875">
            <a:noAutofit/>
          </a:bodyPr>
          <a:lstStyle/>
          <a:p>
            <a:pPr indent="0" lvl="0" marL="0" marR="0" rtl="0" algn="l">
              <a:spcBef>
                <a:spcPts val="0"/>
              </a:spcBef>
              <a:spcAft>
                <a:spcPts val="0"/>
              </a:spcAft>
              <a:buNone/>
            </a:pPr>
            <a:r>
              <a:rPr lang="pt-BR" sz="1894">
                <a:solidFill>
                  <a:srgbClr val="073763"/>
                </a:solidFill>
                <a:latin typeface="Proxima Nova"/>
                <a:ea typeface="Proxima Nova"/>
                <a:cs typeface="Proxima Nova"/>
                <a:sym typeface="Proxima Nova"/>
              </a:rPr>
              <a:t>Tiered release</a:t>
            </a:r>
            <a:endParaRPr sz="1894">
              <a:solidFill>
                <a:srgbClr val="073763"/>
              </a:solidFill>
              <a:latin typeface="Proxima Nova"/>
              <a:ea typeface="Proxima Nova"/>
              <a:cs typeface="Proxima Nova"/>
              <a:sym typeface="Proxima Nova"/>
            </a:endParaRPr>
          </a:p>
        </p:txBody>
      </p:sp>
      <p:sp>
        <p:nvSpPr>
          <p:cNvPr id="209" name="Google Shape;209;p25"/>
          <p:cNvSpPr/>
          <p:nvPr/>
        </p:nvSpPr>
        <p:spPr>
          <a:xfrm>
            <a:off x="27672059" y="2454738"/>
            <a:ext cx="1985400" cy="913200"/>
          </a:xfrm>
          <a:prstGeom prst="rect">
            <a:avLst/>
          </a:prstGeom>
          <a:noFill/>
          <a:ln>
            <a:noFill/>
          </a:ln>
        </p:spPr>
        <p:txBody>
          <a:bodyPr anchorCtr="0" anchor="ctr" bIns="36875" lIns="73700" spcFirstLastPara="1" rIns="73700" wrap="square" tIns="36875">
            <a:noAutofit/>
          </a:bodyPr>
          <a:lstStyle/>
          <a:p>
            <a:pPr indent="0" lvl="0" marL="0" marR="0" rtl="0" algn="l">
              <a:spcBef>
                <a:spcPts val="0"/>
              </a:spcBef>
              <a:spcAft>
                <a:spcPts val="0"/>
              </a:spcAft>
              <a:buNone/>
            </a:pPr>
            <a:r>
              <a:rPr lang="pt-BR" sz="1894">
                <a:solidFill>
                  <a:srgbClr val="073763"/>
                </a:solidFill>
                <a:latin typeface="Proxima Nova"/>
                <a:ea typeface="Proxima Nova"/>
                <a:cs typeface="Proxima Nova"/>
                <a:sym typeface="Proxima Nova"/>
              </a:rPr>
              <a:t>Multiple internal and external sources</a:t>
            </a:r>
            <a:endParaRPr sz="1894">
              <a:solidFill>
                <a:srgbClr val="073763"/>
              </a:solidFill>
              <a:latin typeface="Proxima Nova"/>
              <a:ea typeface="Proxima Nova"/>
              <a:cs typeface="Proxima Nova"/>
              <a:sym typeface="Proxima Nova"/>
            </a:endParaRPr>
          </a:p>
        </p:txBody>
      </p:sp>
      <p:sp>
        <p:nvSpPr>
          <p:cNvPr id="210" name="Google Shape;210;p25"/>
          <p:cNvSpPr/>
          <p:nvPr/>
        </p:nvSpPr>
        <p:spPr>
          <a:xfrm>
            <a:off x="24534632" y="3750379"/>
            <a:ext cx="1985400" cy="913200"/>
          </a:xfrm>
          <a:prstGeom prst="rect">
            <a:avLst/>
          </a:prstGeom>
          <a:noFill/>
          <a:ln>
            <a:noFill/>
          </a:ln>
        </p:spPr>
        <p:txBody>
          <a:bodyPr anchorCtr="0" anchor="ctr" bIns="36875" lIns="73700" spcFirstLastPara="1" rIns="73700" wrap="square" tIns="36875">
            <a:noAutofit/>
          </a:bodyPr>
          <a:lstStyle/>
          <a:p>
            <a:pPr indent="0" lvl="0" marL="0" marR="0" rtl="0" algn="l">
              <a:spcBef>
                <a:spcPts val="0"/>
              </a:spcBef>
              <a:spcAft>
                <a:spcPts val="0"/>
              </a:spcAft>
              <a:buNone/>
            </a:pPr>
            <a:r>
              <a:rPr lang="pt-BR" sz="1894">
                <a:solidFill>
                  <a:srgbClr val="073763"/>
                </a:solidFill>
                <a:latin typeface="Proxima Nova"/>
                <a:ea typeface="Proxima Nova"/>
                <a:cs typeface="Proxima Nova"/>
                <a:sym typeface="Proxima Nova"/>
              </a:rPr>
              <a:t>Multimodal, higher cost model</a:t>
            </a:r>
            <a:endParaRPr sz="1894">
              <a:solidFill>
                <a:srgbClr val="073763"/>
              </a:solidFill>
              <a:latin typeface="Proxima Nova"/>
              <a:ea typeface="Proxima Nova"/>
              <a:cs typeface="Proxima Nova"/>
              <a:sym typeface="Proxima Nova"/>
            </a:endParaRPr>
          </a:p>
        </p:txBody>
      </p:sp>
      <p:sp>
        <p:nvSpPr>
          <p:cNvPr id="211" name="Google Shape;211;p25"/>
          <p:cNvSpPr txBox="1"/>
          <p:nvPr/>
        </p:nvSpPr>
        <p:spPr>
          <a:xfrm>
            <a:off x="23460960" y="4663695"/>
            <a:ext cx="9330600" cy="1618800"/>
          </a:xfrm>
          <a:prstGeom prst="rect">
            <a:avLst/>
          </a:prstGeom>
          <a:noFill/>
          <a:ln>
            <a:noFill/>
          </a:ln>
        </p:spPr>
        <p:txBody>
          <a:bodyPr anchorCtr="0" anchor="t" bIns="109700" lIns="109700" spcFirstLastPara="1" rIns="109700" wrap="square" tIns="109700">
            <a:spAutoFit/>
          </a:bodyPr>
          <a:lstStyle/>
          <a:p>
            <a:pPr indent="0" lvl="0" marL="0" marR="0" rtl="0" algn="just">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selected concept prioritizes clinical accuracy, traceability, and safe deployment over minimum cost. Its added complexity is intentional: stronger models, richer evidence sources, specialized AI roles, and tiered release controls create a more reliable physician-facing interpretation system</a:t>
            </a:r>
            <a:r>
              <a:rPr lang="pt-BR" sz="2040">
                <a:latin typeface="Proxima Nova"/>
                <a:ea typeface="Proxima Nova"/>
                <a:cs typeface="Proxima Nova"/>
                <a:sym typeface="Proxima Nova"/>
              </a:rPr>
              <a:t>.</a:t>
            </a:r>
            <a:endParaRPr sz="2040">
              <a:latin typeface="Proxima Nova"/>
              <a:ea typeface="Proxima Nova"/>
              <a:cs typeface="Proxima Nova"/>
              <a:sym typeface="Proxima Nova"/>
            </a:endParaRPr>
          </a:p>
        </p:txBody>
      </p:sp>
      <p:pic>
        <p:nvPicPr>
          <p:cNvPr id="212" name="Google Shape;212;p25"/>
          <p:cNvPicPr preferRelativeResize="0"/>
          <p:nvPr/>
        </p:nvPicPr>
        <p:blipFill>
          <a:blip r:embed="rId10">
            <a:alphaModFix/>
          </a:blip>
          <a:stretch>
            <a:fillRect/>
          </a:stretch>
        </p:blipFill>
        <p:spPr>
          <a:xfrm>
            <a:off x="26698055" y="2484612"/>
            <a:ext cx="853560" cy="853560"/>
          </a:xfrm>
          <a:prstGeom prst="rect">
            <a:avLst/>
          </a:prstGeom>
          <a:noFill/>
          <a:ln>
            <a:noFill/>
          </a:ln>
        </p:spPr>
      </p:pic>
      <p:pic>
        <p:nvPicPr>
          <p:cNvPr id="213" name="Google Shape;213;p25"/>
          <p:cNvPicPr preferRelativeResize="0"/>
          <p:nvPr/>
        </p:nvPicPr>
        <p:blipFill>
          <a:blip r:embed="rId11">
            <a:alphaModFix/>
          </a:blip>
          <a:stretch>
            <a:fillRect/>
          </a:stretch>
        </p:blipFill>
        <p:spPr>
          <a:xfrm>
            <a:off x="26668160" y="3707935"/>
            <a:ext cx="913350" cy="913350"/>
          </a:xfrm>
          <a:prstGeom prst="rect">
            <a:avLst/>
          </a:prstGeom>
          <a:noFill/>
          <a:ln>
            <a:noFill/>
          </a:ln>
        </p:spPr>
      </p:pic>
      <p:pic>
        <p:nvPicPr>
          <p:cNvPr id="214" name="Google Shape;214;p25"/>
          <p:cNvPicPr preferRelativeResize="0"/>
          <p:nvPr/>
        </p:nvPicPr>
        <p:blipFill>
          <a:blip r:embed="rId12">
            <a:alphaModFix/>
          </a:blip>
          <a:stretch>
            <a:fillRect/>
          </a:stretch>
        </p:blipFill>
        <p:spPr>
          <a:xfrm>
            <a:off x="29975726" y="2487582"/>
            <a:ext cx="913350" cy="913350"/>
          </a:xfrm>
          <a:prstGeom prst="rect">
            <a:avLst/>
          </a:prstGeom>
          <a:noFill/>
          <a:ln>
            <a:noFill/>
          </a:ln>
        </p:spPr>
      </p:pic>
      <p:pic>
        <p:nvPicPr>
          <p:cNvPr id="215" name="Google Shape;215;p25"/>
          <p:cNvPicPr preferRelativeResize="0"/>
          <p:nvPr/>
        </p:nvPicPr>
        <p:blipFill>
          <a:blip r:embed="rId13">
            <a:alphaModFix/>
          </a:blip>
          <a:stretch>
            <a:fillRect/>
          </a:stretch>
        </p:blipFill>
        <p:spPr>
          <a:xfrm>
            <a:off x="29975726" y="3707964"/>
            <a:ext cx="913350" cy="913350"/>
          </a:xfrm>
          <a:prstGeom prst="rect">
            <a:avLst/>
          </a:prstGeom>
          <a:noFill/>
          <a:ln>
            <a:noFill/>
          </a:ln>
        </p:spPr>
      </p:pic>
      <p:pic>
        <p:nvPicPr>
          <p:cNvPr id="216" name="Google Shape;216;p25"/>
          <p:cNvPicPr preferRelativeResize="0"/>
          <p:nvPr/>
        </p:nvPicPr>
        <p:blipFill>
          <a:blip r:embed="rId14">
            <a:alphaModFix/>
          </a:blip>
          <a:stretch>
            <a:fillRect/>
          </a:stretch>
        </p:blipFill>
        <p:spPr>
          <a:xfrm>
            <a:off x="23596022" y="3771762"/>
            <a:ext cx="853560" cy="853560"/>
          </a:xfrm>
          <a:prstGeom prst="rect">
            <a:avLst/>
          </a:prstGeom>
          <a:noFill/>
          <a:ln>
            <a:noFill/>
          </a:ln>
        </p:spPr>
      </p:pic>
      <p:pic>
        <p:nvPicPr>
          <p:cNvPr id="217" name="Google Shape;217;p25"/>
          <p:cNvPicPr preferRelativeResize="0"/>
          <p:nvPr/>
        </p:nvPicPr>
        <p:blipFill>
          <a:blip r:embed="rId15">
            <a:alphaModFix/>
          </a:blip>
          <a:stretch>
            <a:fillRect/>
          </a:stretch>
        </p:blipFill>
        <p:spPr>
          <a:xfrm>
            <a:off x="20733632" y="2179973"/>
            <a:ext cx="478639" cy="478639"/>
          </a:xfrm>
          <a:prstGeom prst="rect">
            <a:avLst/>
          </a:prstGeom>
          <a:noFill/>
          <a:ln>
            <a:noFill/>
          </a:ln>
        </p:spPr>
      </p:pic>
      <p:pic>
        <p:nvPicPr>
          <p:cNvPr id="218" name="Google Shape;218;p25"/>
          <p:cNvPicPr preferRelativeResize="0"/>
          <p:nvPr/>
        </p:nvPicPr>
        <p:blipFill>
          <a:blip r:embed="rId15">
            <a:alphaModFix/>
          </a:blip>
          <a:stretch>
            <a:fillRect/>
          </a:stretch>
        </p:blipFill>
        <p:spPr>
          <a:xfrm>
            <a:off x="12829058" y="6533877"/>
            <a:ext cx="659035" cy="659035"/>
          </a:xfrm>
          <a:prstGeom prst="rect">
            <a:avLst/>
          </a:prstGeom>
          <a:noFill/>
          <a:ln>
            <a:noFill/>
          </a:ln>
        </p:spPr>
      </p:pic>
      <p:pic>
        <p:nvPicPr>
          <p:cNvPr id="219" name="Google Shape;219;p25"/>
          <p:cNvPicPr preferRelativeResize="0"/>
          <p:nvPr/>
        </p:nvPicPr>
        <p:blipFill>
          <a:blip r:embed="rId15">
            <a:alphaModFix/>
          </a:blip>
          <a:stretch>
            <a:fillRect/>
          </a:stretch>
        </p:blipFill>
        <p:spPr>
          <a:xfrm>
            <a:off x="13359789" y="5703838"/>
            <a:ext cx="659035" cy="659035"/>
          </a:xfrm>
          <a:prstGeom prst="rect">
            <a:avLst/>
          </a:prstGeom>
          <a:noFill/>
          <a:ln>
            <a:noFill/>
          </a:ln>
        </p:spPr>
      </p:pic>
      <p:sp>
        <p:nvSpPr>
          <p:cNvPr id="220" name="Google Shape;220;p25"/>
          <p:cNvSpPr txBox="1"/>
          <p:nvPr/>
        </p:nvSpPr>
        <p:spPr>
          <a:xfrm>
            <a:off x="17635259" y="1859523"/>
            <a:ext cx="3260400" cy="704100"/>
          </a:xfrm>
          <a:prstGeom prst="rect">
            <a:avLst/>
          </a:prstGeom>
          <a:noFill/>
          <a:ln>
            <a:noFill/>
          </a:ln>
        </p:spPr>
        <p:txBody>
          <a:bodyPr anchorCtr="0" anchor="t" bIns="207125" lIns="207125" spcFirstLastPara="1" rIns="207125" wrap="square" tIns="207125">
            <a:spAutoFit/>
          </a:bodyPr>
          <a:lstStyle/>
          <a:p>
            <a:pPr indent="0" lvl="0" marL="0" marR="0" rtl="0" algn="r">
              <a:lnSpc>
                <a:spcPct val="115000"/>
              </a:lnSpc>
              <a:spcBef>
                <a:spcPts val="13832"/>
              </a:spcBef>
              <a:spcAft>
                <a:spcPts val="13832"/>
              </a:spcAft>
              <a:buNone/>
            </a:pPr>
            <a:r>
              <a:rPr i="0" lang="pt-BR" sz="1856" u="none" cap="none" strike="noStrike">
                <a:solidFill>
                  <a:schemeClr val="dk1"/>
                </a:solidFill>
              </a:rPr>
              <a:t>Mayo Clinic Model of Care</a:t>
            </a:r>
            <a:endParaRPr i="0" sz="1856" u="none" cap="none" strike="noStrike">
              <a:solidFill>
                <a:schemeClr val="dk1"/>
              </a:solidFill>
            </a:endParaRPr>
          </a:p>
        </p:txBody>
      </p:sp>
      <p:sp>
        <p:nvSpPr>
          <p:cNvPr id="221" name="Google Shape;221;p25"/>
          <p:cNvSpPr txBox="1"/>
          <p:nvPr/>
        </p:nvSpPr>
        <p:spPr>
          <a:xfrm>
            <a:off x="13359583" y="6387461"/>
            <a:ext cx="1513500" cy="1032300"/>
          </a:xfrm>
          <a:prstGeom prst="rect">
            <a:avLst/>
          </a:prstGeom>
          <a:noFill/>
          <a:ln>
            <a:noFill/>
          </a:ln>
        </p:spPr>
        <p:txBody>
          <a:bodyPr anchorCtr="0" anchor="t" bIns="207125" lIns="207125" spcFirstLastPara="1" rIns="207125" wrap="square" tIns="207125">
            <a:spAutoFit/>
          </a:bodyPr>
          <a:lstStyle/>
          <a:p>
            <a:pPr indent="0" lvl="0" marL="0" marR="0" rtl="0" algn="l">
              <a:lnSpc>
                <a:spcPct val="115000"/>
              </a:lnSpc>
              <a:spcBef>
                <a:spcPts val="13832"/>
              </a:spcBef>
              <a:spcAft>
                <a:spcPts val="13832"/>
              </a:spcAft>
              <a:buNone/>
            </a:pPr>
            <a:r>
              <a:rPr lang="pt-BR" sz="1856">
                <a:solidFill>
                  <a:schemeClr val="dk1"/>
                </a:solidFill>
              </a:rPr>
              <a:t>Epic MyChart</a:t>
            </a:r>
            <a:endParaRPr sz="1856">
              <a:solidFill>
                <a:schemeClr val="dk1"/>
              </a:solidFill>
            </a:endParaRPr>
          </a:p>
        </p:txBody>
      </p:sp>
      <p:sp>
        <p:nvSpPr>
          <p:cNvPr id="222" name="Google Shape;222;p25"/>
          <p:cNvSpPr txBox="1"/>
          <p:nvPr/>
        </p:nvSpPr>
        <p:spPr>
          <a:xfrm>
            <a:off x="13851728" y="5681403"/>
            <a:ext cx="1513500" cy="704100"/>
          </a:xfrm>
          <a:prstGeom prst="rect">
            <a:avLst/>
          </a:prstGeom>
          <a:noFill/>
          <a:ln>
            <a:noFill/>
          </a:ln>
        </p:spPr>
        <p:txBody>
          <a:bodyPr anchorCtr="0" anchor="t" bIns="207125" lIns="207125" spcFirstLastPara="1" rIns="207125" wrap="square" tIns="207125">
            <a:spAutoFit/>
          </a:bodyPr>
          <a:lstStyle/>
          <a:p>
            <a:pPr indent="0" lvl="0" marL="0" marR="0" rtl="0" algn="l">
              <a:lnSpc>
                <a:spcPct val="115000"/>
              </a:lnSpc>
              <a:spcBef>
                <a:spcPts val="13832"/>
              </a:spcBef>
              <a:spcAft>
                <a:spcPts val="13832"/>
              </a:spcAft>
              <a:buNone/>
            </a:pPr>
            <a:r>
              <a:rPr lang="pt-BR" sz="1856">
                <a:solidFill>
                  <a:schemeClr val="dk1"/>
                </a:solidFill>
              </a:rPr>
              <a:t>LabCorp</a:t>
            </a:r>
            <a:endParaRPr sz="1856">
              <a:solidFill>
                <a:schemeClr val="dk1"/>
              </a:solidFill>
            </a:endParaRPr>
          </a:p>
        </p:txBody>
      </p:sp>
      <p:sp>
        <p:nvSpPr>
          <p:cNvPr id="223" name="Google Shape;223;p25"/>
          <p:cNvSpPr txBox="1"/>
          <p:nvPr/>
        </p:nvSpPr>
        <p:spPr>
          <a:xfrm>
            <a:off x="-30120" y="2783871"/>
            <a:ext cx="9555600" cy="3977400"/>
          </a:xfrm>
          <a:prstGeom prst="rect">
            <a:avLst/>
          </a:prstGeom>
          <a:noFill/>
          <a:ln>
            <a:noFill/>
          </a:ln>
        </p:spPr>
        <p:txBody>
          <a:bodyPr anchorCtr="0" anchor="t" bIns="109700" lIns="109700" spcFirstLastPara="1" rIns="109700" wrap="square" tIns="109700">
            <a:spAutoFit/>
          </a:bodyPr>
          <a:lstStyle/>
          <a:p>
            <a:pPr indent="0" lvl="0" marL="0" rtl="0" algn="ctr">
              <a:spcBef>
                <a:spcPts val="0"/>
              </a:spcBef>
              <a:spcAft>
                <a:spcPts val="0"/>
              </a:spcAft>
              <a:buNone/>
            </a:pPr>
            <a:r>
              <a:rPr b="1" lang="pt-BR" sz="4080">
                <a:solidFill>
                  <a:srgbClr val="E85453"/>
                </a:solidFill>
                <a:latin typeface="Montserrat"/>
                <a:ea typeface="Montserrat"/>
                <a:cs typeface="Montserrat"/>
                <a:sym typeface="Montserrat"/>
              </a:rPr>
              <a:t>To</a:t>
            </a:r>
            <a:r>
              <a:rPr lang="pt-BR" sz="4080">
                <a:solidFill>
                  <a:schemeClr val="dk1"/>
                </a:solidFill>
                <a:latin typeface="Montserrat"/>
                <a:ea typeface="Montserrat"/>
                <a:cs typeface="Montserrat"/>
                <a:sym typeface="Montserrat"/>
              </a:rPr>
              <a:t> improve Mayo Clinic lab patient car</a:t>
            </a:r>
            <a:r>
              <a:rPr lang="pt-BR" sz="4080">
                <a:solidFill>
                  <a:schemeClr val="dk1"/>
                </a:solidFill>
                <a:latin typeface="Montserrat"/>
                <a:ea typeface="Montserrat"/>
                <a:cs typeface="Montserrat"/>
                <a:sym typeface="Montserrat"/>
              </a:rPr>
              <a:t>e </a:t>
            </a:r>
            <a:r>
              <a:rPr lang="pt-BR" sz="4080">
                <a:solidFill>
                  <a:schemeClr val="dk1"/>
                </a:solidFill>
                <a:latin typeface="Montserrat"/>
                <a:ea typeface="Montserrat"/>
                <a:cs typeface="Montserrat"/>
                <a:sym typeface="Montserrat"/>
              </a:rPr>
              <a:t>outcomes at scale </a:t>
            </a:r>
            <a:endParaRPr sz="4080">
              <a:solidFill>
                <a:schemeClr val="dk1"/>
              </a:solidFill>
              <a:latin typeface="Montserrat"/>
              <a:ea typeface="Montserrat"/>
              <a:cs typeface="Montserrat"/>
              <a:sym typeface="Montserrat"/>
            </a:endParaRPr>
          </a:p>
          <a:p>
            <a:pPr indent="0" lvl="0" marL="0" rtl="0" algn="ctr">
              <a:spcBef>
                <a:spcPts val="2400"/>
              </a:spcBef>
              <a:spcAft>
                <a:spcPts val="0"/>
              </a:spcAft>
              <a:buNone/>
            </a:pPr>
            <a:r>
              <a:rPr b="1" lang="pt-BR" sz="4080">
                <a:solidFill>
                  <a:srgbClr val="E85453"/>
                </a:solidFill>
                <a:latin typeface="Montserrat"/>
                <a:ea typeface="Montserrat"/>
                <a:cs typeface="Montserrat"/>
                <a:sym typeface="Montserrat"/>
              </a:rPr>
              <a:t>By</a:t>
            </a:r>
            <a:r>
              <a:rPr lang="pt-BR" sz="4080">
                <a:solidFill>
                  <a:schemeClr val="dk1"/>
                </a:solidFill>
                <a:latin typeface="Montserrat"/>
                <a:ea typeface="Montserrat"/>
                <a:cs typeface="Montserrat"/>
                <a:sym typeface="Montserrat"/>
              </a:rPr>
              <a:t> augmenting physician-facing test results with relevant research</a:t>
            </a:r>
            <a:endParaRPr b="1" sz="4080">
              <a:solidFill>
                <a:srgbClr val="E85453"/>
              </a:solidFill>
              <a:latin typeface="Montserrat"/>
              <a:ea typeface="Montserrat"/>
              <a:cs typeface="Montserrat"/>
              <a:sym typeface="Montserrat"/>
            </a:endParaRPr>
          </a:p>
          <a:p>
            <a:pPr indent="0" lvl="0" marL="0" rtl="0" algn="ctr">
              <a:spcBef>
                <a:spcPts val="2400"/>
              </a:spcBef>
              <a:spcAft>
                <a:spcPts val="2400"/>
              </a:spcAft>
              <a:buNone/>
            </a:pPr>
            <a:r>
              <a:rPr b="1" lang="pt-BR" sz="4080">
                <a:solidFill>
                  <a:srgbClr val="E85453"/>
                </a:solidFill>
                <a:latin typeface="Montserrat"/>
                <a:ea typeface="Montserrat"/>
                <a:cs typeface="Montserrat"/>
                <a:sym typeface="Montserrat"/>
              </a:rPr>
              <a:t>Using</a:t>
            </a:r>
            <a:r>
              <a:rPr lang="pt-BR" sz="4080">
                <a:solidFill>
                  <a:schemeClr val="dk1"/>
                </a:solidFill>
                <a:latin typeface="Montserrat"/>
                <a:ea typeface="Montserrat"/>
                <a:cs typeface="Montserrat"/>
                <a:sym typeface="Montserrat"/>
              </a:rPr>
              <a:t> an agentic AI clinical librarian</a:t>
            </a:r>
            <a:endParaRPr sz="4080">
              <a:solidFill>
                <a:schemeClr val="dk1"/>
              </a:solidFill>
              <a:latin typeface="Montserrat"/>
              <a:ea typeface="Montserrat"/>
              <a:cs typeface="Montserrat"/>
              <a:sym typeface="Montserrat"/>
            </a:endParaRPr>
          </a:p>
        </p:txBody>
      </p:sp>
      <p:grpSp>
        <p:nvGrpSpPr>
          <p:cNvPr id="224" name="Google Shape;224;p25"/>
          <p:cNvGrpSpPr/>
          <p:nvPr/>
        </p:nvGrpSpPr>
        <p:grpSpPr>
          <a:xfrm>
            <a:off x="716606" y="7018515"/>
            <a:ext cx="8062029" cy="1943711"/>
            <a:chOff x="233500" y="5492576"/>
            <a:chExt cx="7290675" cy="1757742"/>
          </a:xfrm>
        </p:grpSpPr>
        <p:pic>
          <p:nvPicPr>
            <p:cNvPr id="225" name="Google Shape;225;p25"/>
            <p:cNvPicPr preferRelativeResize="0"/>
            <p:nvPr/>
          </p:nvPicPr>
          <p:blipFill>
            <a:blip r:embed="rId16">
              <a:alphaModFix/>
            </a:blip>
            <a:stretch>
              <a:fillRect/>
            </a:stretch>
          </p:blipFill>
          <p:spPr>
            <a:xfrm>
              <a:off x="2999967" y="5492576"/>
              <a:ext cx="1757742" cy="1757742"/>
            </a:xfrm>
            <a:prstGeom prst="rect">
              <a:avLst/>
            </a:prstGeom>
            <a:noFill/>
            <a:ln>
              <a:noFill/>
            </a:ln>
          </p:spPr>
        </p:pic>
        <p:pic>
          <p:nvPicPr>
            <p:cNvPr id="226" name="Google Shape;226;p25"/>
            <p:cNvPicPr preferRelativeResize="0"/>
            <p:nvPr/>
          </p:nvPicPr>
          <p:blipFill>
            <a:blip r:embed="rId17">
              <a:alphaModFix/>
            </a:blip>
            <a:stretch>
              <a:fillRect/>
            </a:stretch>
          </p:blipFill>
          <p:spPr>
            <a:xfrm>
              <a:off x="233500" y="5492576"/>
              <a:ext cx="1757742" cy="1757742"/>
            </a:xfrm>
            <a:prstGeom prst="rect">
              <a:avLst/>
            </a:prstGeom>
            <a:noFill/>
            <a:ln>
              <a:noFill/>
            </a:ln>
          </p:spPr>
        </p:pic>
        <p:pic>
          <p:nvPicPr>
            <p:cNvPr id="227" name="Google Shape;227;p25"/>
            <p:cNvPicPr preferRelativeResize="0"/>
            <p:nvPr/>
          </p:nvPicPr>
          <p:blipFill rotWithShape="1">
            <a:blip r:embed="rId18">
              <a:alphaModFix/>
            </a:blip>
            <a:srcRect b="0" l="0" r="0" t="0"/>
            <a:stretch/>
          </p:blipFill>
          <p:spPr>
            <a:xfrm>
              <a:off x="5766433" y="5492576"/>
              <a:ext cx="1757742" cy="1757742"/>
            </a:xfrm>
            <a:prstGeom prst="rect">
              <a:avLst/>
            </a:prstGeom>
            <a:noFill/>
            <a:ln>
              <a:noFill/>
            </a:ln>
          </p:spPr>
        </p:pic>
        <p:cxnSp>
          <p:nvCxnSpPr>
            <p:cNvPr id="228" name="Google Shape;228;p25"/>
            <p:cNvCxnSpPr/>
            <p:nvPr/>
          </p:nvCxnSpPr>
          <p:spPr>
            <a:xfrm rot="10800000">
              <a:off x="4669739" y="6736657"/>
              <a:ext cx="1145100" cy="0"/>
            </a:xfrm>
            <a:prstGeom prst="straightConnector1">
              <a:avLst/>
            </a:prstGeom>
            <a:noFill/>
            <a:ln cap="flat" cmpd="sng" w="79525">
              <a:solidFill>
                <a:srgbClr val="67B4D5"/>
              </a:solidFill>
              <a:prstDash val="solid"/>
              <a:round/>
              <a:headEnd len="med" w="med" type="none"/>
              <a:tailEnd len="med" w="med" type="triangle"/>
            </a:ln>
          </p:spPr>
        </p:cxnSp>
        <p:cxnSp>
          <p:nvCxnSpPr>
            <p:cNvPr id="229" name="Google Shape;229;p25"/>
            <p:cNvCxnSpPr/>
            <p:nvPr/>
          </p:nvCxnSpPr>
          <p:spPr>
            <a:xfrm rot="10800000">
              <a:off x="1991218" y="6736667"/>
              <a:ext cx="1145100" cy="0"/>
            </a:xfrm>
            <a:prstGeom prst="straightConnector1">
              <a:avLst/>
            </a:prstGeom>
            <a:noFill/>
            <a:ln cap="flat" cmpd="sng" w="79525">
              <a:solidFill>
                <a:srgbClr val="434343"/>
              </a:solidFill>
              <a:prstDash val="solid"/>
              <a:round/>
              <a:headEnd len="med" w="med" type="none"/>
              <a:tailEnd len="med" w="med" type="triangle"/>
            </a:ln>
          </p:spPr>
        </p:cxnSp>
        <p:cxnSp>
          <p:nvCxnSpPr>
            <p:cNvPr id="230" name="Google Shape;230;p25"/>
            <p:cNvCxnSpPr/>
            <p:nvPr/>
          </p:nvCxnSpPr>
          <p:spPr>
            <a:xfrm rot="10800000">
              <a:off x="1991218" y="6089704"/>
              <a:ext cx="1145100" cy="0"/>
            </a:xfrm>
            <a:prstGeom prst="straightConnector1">
              <a:avLst/>
            </a:prstGeom>
            <a:noFill/>
            <a:ln cap="flat" cmpd="sng" w="79525">
              <a:solidFill>
                <a:srgbClr val="434343"/>
              </a:solidFill>
              <a:prstDash val="solid"/>
              <a:round/>
              <a:headEnd len="med" w="med" type="triangle"/>
              <a:tailEnd len="med" w="med" type="none"/>
            </a:ln>
          </p:spPr>
        </p:cxnSp>
      </p:grpSp>
      <p:pic>
        <p:nvPicPr>
          <p:cNvPr id="231" name="Google Shape;231;p25" title="spark_4c.png"/>
          <p:cNvPicPr preferRelativeResize="0"/>
          <p:nvPr/>
        </p:nvPicPr>
        <p:blipFill>
          <a:blip r:embed="rId19">
            <a:alphaModFix/>
          </a:blip>
          <a:stretch>
            <a:fillRect/>
          </a:stretch>
        </p:blipFill>
        <p:spPr>
          <a:xfrm>
            <a:off x="23652780" y="2597971"/>
            <a:ext cx="714691" cy="713521"/>
          </a:xfrm>
          <a:prstGeom prst="rect">
            <a:avLst/>
          </a:prstGeom>
          <a:noFill/>
          <a:ln>
            <a:noFill/>
          </a:ln>
        </p:spPr>
      </p:pic>
      <p:sp>
        <p:nvSpPr>
          <p:cNvPr id="232" name="Google Shape;232;p25"/>
          <p:cNvSpPr txBox="1"/>
          <p:nvPr/>
        </p:nvSpPr>
        <p:spPr>
          <a:xfrm>
            <a:off x="1278840" y="15490800"/>
            <a:ext cx="6937500" cy="10398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920">
                <a:solidFill>
                  <a:srgbClr val="0B5394"/>
                </a:solidFill>
                <a:latin typeface="Montserrat"/>
                <a:ea typeface="Montserrat"/>
                <a:cs typeface="Montserrat"/>
                <a:sym typeface="Montserrat"/>
              </a:rPr>
              <a:t>Iron Triangle</a:t>
            </a:r>
            <a:endParaRPr sz="3920">
              <a:solidFill>
                <a:srgbClr val="0B5394"/>
              </a:solidFill>
              <a:latin typeface="Montserrat"/>
              <a:ea typeface="Montserrat"/>
              <a:cs typeface="Montserrat"/>
              <a:sym typeface="Montserrat"/>
            </a:endParaRPr>
          </a:p>
        </p:txBody>
      </p:sp>
      <p:sp>
        <p:nvSpPr>
          <p:cNvPr id="233" name="Google Shape;233;p25"/>
          <p:cNvSpPr/>
          <p:nvPr/>
        </p:nvSpPr>
        <p:spPr>
          <a:xfrm>
            <a:off x="3009502" y="16896245"/>
            <a:ext cx="3601500" cy="3115200"/>
          </a:xfrm>
          <a:prstGeom prst="triangle">
            <a:avLst>
              <a:gd fmla="val 50000" name="adj"/>
            </a:avLst>
          </a:prstGeom>
          <a:gradFill>
            <a:gsLst>
              <a:gs pos="0">
                <a:srgbClr val="FFFFFF">
                  <a:alpha val="0"/>
                </a:srgbClr>
              </a:gs>
              <a:gs pos="100000">
                <a:srgbClr val="67B4D4"/>
              </a:gs>
            </a:gsLst>
            <a:lin ang="16200038" scaled="0"/>
          </a:gradFill>
          <a:ln cap="flat" cmpd="sng" w="125425">
            <a:solidFill>
              <a:srgbClr val="67B4D4"/>
            </a:solidFill>
            <a:prstDash val="solid"/>
            <a:round/>
            <a:headEnd len="sm" w="sm" type="none"/>
            <a:tailEnd len="sm" w="sm" type="none"/>
          </a:ln>
        </p:spPr>
        <p:txBody>
          <a:bodyPr anchorCtr="0" anchor="ctr" bIns="100350" lIns="100350" spcFirstLastPara="1" rIns="100350" wrap="square" tIns="100350">
            <a:noAutofit/>
          </a:bodyPr>
          <a:lstStyle/>
          <a:p>
            <a:pPr indent="0" lvl="0" marL="0" rtl="0" algn="ctr">
              <a:spcBef>
                <a:spcPts val="0"/>
              </a:spcBef>
              <a:spcAft>
                <a:spcPts val="0"/>
              </a:spcAft>
              <a:buNone/>
            </a:pPr>
            <a:r>
              <a:t/>
            </a:r>
            <a:endParaRPr sz="1536"/>
          </a:p>
        </p:txBody>
      </p:sp>
      <p:sp>
        <p:nvSpPr>
          <p:cNvPr id="234" name="Google Shape;234;p25"/>
          <p:cNvSpPr txBox="1"/>
          <p:nvPr/>
        </p:nvSpPr>
        <p:spPr>
          <a:xfrm>
            <a:off x="3259069" y="16115058"/>
            <a:ext cx="3102600" cy="879300"/>
          </a:xfrm>
          <a:prstGeom prst="rect">
            <a:avLst/>
          </a:prstGeom>
          <a:noFill/>
          <a:ln>
            <a:noFill/>
          </a:ln>
        </p:spPr>
        <p:txBody>
          <a:bodyPr anchorCtr="0" anchor="t" bIns="197550" lIns="197550" spcFirstLastPara="1" rIns="197550" wrap="square" tIns="197550">
            <a:spAutoFit/>
          </a:bodyPr>
          <a:lstStyle/>
          <a:p>
            <a:pPr indent="0" lvl="0" marL="0" rtl="0" algn="ctr">
              <a:spcBef>
                <a:spcPts val="0"/>
              </a:spcBef>
              <a:spcAft>
                <a:spcPts val="0"/>
              </a:spcAft>
              <a:buNone/>
            </a:pPr>
            <a:r>
              <a:rPr lang="pt-BR" sz="3120">
                <a:solidFill>
                  <a:srgbClr val="0B5394"/>
                </a:solidFill>
                <a:latin typeface="Proxima Nova"/>
                <a:ea typeface="Proxima Nova"/>
                <a:cs typeface="Proxima Nova"/>
                <a:sym typeface="Proxima Nova"/>
              </a:rPr>
              <a:t>Scope</a:t>
            </a:r>
            <a:endParaRPr sz="3120">
              <a:solidFill>
                <a:srgbClr val="0B5394"/>
              </a:solidFill>
              <a:latin typeface="Proxima Nova"/>
              <a:ea typeface="Proxima Nova"/>
              <a:cs typeface="Proxima Nova"/>
              <a:sym typeface="Proxima Nova"/>
            </a:endParaRPr>
          </a:p>
        </p:txBody>
      </p:sp>
      <p:sp>
        <p:nvSpPr>
          <p:cNvPr id="235" name="Google Shape;235;p25"/>
          <p:cNvSpPr txBox="1"/>
          <p:nvPr/>
        </p:nvSpPr>
        <p:spPr>
          <a:xfrm>
            <a:off x="1015605" y="19831310"/>
            <a:ext cx="3102600" cy="879300"/>
          </a:xfrm>
          <a:prstGeom prst="rect">
            <a:avLst/>
          </a:prstGeom>
          <a:noFill/>
          <a:ln>
            <a:noFill/>
          </a:ln>
        </p:spPr>
        <p:txBody>
          <a:bodyPr anchorCtr="0" anchor="t" bIns="197550" lIns="197550" spcFirstLastPara="1" rIns="197550" wrap="square" tIns="197550">
            <a:spAutoFit/>
          </a:bodyPr>
          <a:lstStyle/>
          <a:p>
            <a:pPr indent="0" lvl="0" marL="0" rtl="0" algn="ctr">
              <a:spcBef>
                <a:spcPts val="0"/>
              </a:spcBef>
              <a:spcAft>
                <a:spcPts val="0"/>
              </a:spcAft>
              <a:buNone/>
            </a:pPr>
            <a:r>
              <a:rPr lang="pt-BR" sz="3120">
                <a:solidFill>
                  <a:srgbClr val="0B5394"/>
                </a:solidFill>
                <a:latin typeface="Proxima Nova"/>
                <a:ea typeface="Proxima Nova"/>
                <a:cs typeface="Proxima Nova"/>
                <a:sym typeface="Proxima Nova"/>
              </a:rPr>
              <a:t>Schedule</a:t>
            </a:r>
            <a:endParaRPr sz="3120">
              <a:solidFill>
                <a:srgbClr val="0B5394"/>
              </a:solidFill>
              <a:latin typeface="Proxima Nova"/>
              <a:ea typeface="Proxima Nova"/>
              <a:cs typeface="Proxima Nova"/>
              <a:sym typeface="Proxima Nova"/>
            </a:endParaRPr>
          </a:p>
        </p:txBody>
      </p:sp>
      <p:sp>
        <p:nvSpPr>
          <p:cNvPr id="236" name="Google Shape;236;p25"/>
          <p:cNvSpPr txBox="1"/>
          <p:nvPr/>
        </p:nvSpPr>
        <p:spPr>
          <a:xfrm>
            <a:off x="5377146" y="19831310"/>
            <a:ext cx="3102600" cy="879300"/>
          </a:xfrm>
          <a:prstGeom prst="rect">
            <a:avLst/>
          </a:prstGeom>
          <a:noFill/>
          <a:ln>
            <a:noFill/>
          </a:ln>
        </p:spPr>
        <p:txBody>
          <a:bodyPr anchorCtr="0" anchor="t" bIns="197550" lIns="197550" spcFirstLastPara="1" rIns="197550" wrap="square" tIns="197550">
            <a:spAutoFit/>
          </a:bodyPr>
          <a:lstStyle/>
          <a:p>
            <a:pPr indent="0" lvl="0" marL="0" rtl="0" algn="ctr">
              <a:spcBef>
                <a:spcPts val="0"/>
              </a:spcBef>
              <a:spcAft>
                <a:spcPts val="0"/>
              </a:spcAft>
              <a:buNone/>
            </a:pPr>
            <a:r>
              <a:rPr lang="pt-BR" sz="3120">
                <a:solidFill>
                  <a:srgbClr val="0B5394"/>
                </a:solidFill>
                <a:latin typeface="Proxima Nova"/>
                <a:ea typeface="Proxima Nova"/>
                <a:cs typeface="Proxima Nova"/>
                <a:sym typeface="Proxima Nova"/>
              </a:rPr>
              <a:t>Budget</a:t>
            </a:r>
            <a:endParaRPr sz="3120">
              <a:solidFill>
                <a:srgbClr val="0B5394"/>
              </a:solidFill>
              <a:latin typeface="Proxima Nova"/>
              <a:ea typeface="Proxima Nova"/>
              <a:cs typeface="Proxima Nova"/>
              <a:sym typeface="Proxima Nova"/>
            </a:endParaRPr>
          </a:p>
        </p:txBody>
      </p:sp>
      <p:sp>
        <p:nvSpPr>
          <p:cNvPr id="237" name="Google Shape;237;p25"/>
          <p:cNvSpPr txBox="1"/>
          <p:nvPr/>
        </p:nvSpPr>
        <p:spPr>
          <a:xfrm>
            <a:off x="0" y="20434080"/>
            <a:ext cx="9679800" cy="13968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120">
                <a:solidFill>
                  <a:srgbClr val="0B5394"/>
                </a:solidFill>
                <a:latin typeface="Proxima Nova"/>
                <a:ea typeface="Proxima Nova"/>
                <a:cs typeface="Proxima Nova"/>
                <a:sym typeface="Proxima Nova"/>
              </a:rPr>
              <a:t>Health care is sensitive to risk. Prioritize scope of risk mitigations over schedule and budget.</a:t>
            </a:r>
            <a:endParaRPr sz="3120">
              <a:solidFill>
                <a:srgbClr val="0B5394"/>
              </a:solidFill>
              <a:latin typeface="Proxima Nova"/>
              <a:ea typeface="Proxima Nova"/>
              <a:cs typeface="Proxima Nova"/>
              <a:sym typeface="Proxima Nova"/>
            </a:endParaRPr>
          </a:p>
        </p:txBody>
      </p:sp>
      <p:sp>
        <p:nvSpPr>
          <p:cNvPr id="238" name="Google Shape;238;p25"/>
          <p:cNvSpPr txBox="1"/>
          <p:nvPr/>
        </p:nvSpPr>
        <p:spPr>
          <a:xfrm>
            <a:off x="-30120" y="2089200"/>
            <a:ext cx="9555600" cy="11637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Clr>
                <a:schemeClr val="dk1"/>
              </a:buClr>
              <a:buSzPts val="1320"/>
              <a:buFont typeface="Arial"/>
              <a:buNone/>
            </a:pPr>
            <a:r>
              <a:rPr lang="pt-BR" sz="2040">
                <a:solidFill>
                  <a:schemeClr val="dk1"/>
                </a:solidFill>
              </a:rPr>
              <a:t>Team 14A: </a:t>
            </a:r>
            <a:r>
              <a:rPr lang="pt-BR" sz="2040">
                <a:solidFill>
                  <a:schemeClr val="dk1"/>
                </a:solidFill>
              </a:rPr>
              <a:t>Camden Ramsay, David Ricardo, Michel Fernandes, Nora Alshareef</a:t>
            </a:r>
            <a:endParaRPr sz="2040">
              <a:solidFill>
                <a:schemeClr val="dk1"/>
              </a:solidFill>
            </a:endParaRPr>
          </a:p>
          <a:p>
            <a:pPr indent="0" lvl="0" marL="0" rtl="0" algn="l">
              <a:spcBef>
                <a:spcPts val="0"/>
              </a:spcBef>
              <a:spcAft>
                <a:spcPts val="0"/>
              </a:spcAft>
              <a:buClr>
                <a:schemeClr val="dk1"/>
              </a:buClr>
              <a:buSzPts val="1320"/>
              <a:buFont typeface="Arial"/>
              <a:buNone/>
            </a:pPr>
            <a:r>
              <a:t/>
            </a:r>
            <a:endParaRPr sz="2040">
              <a:solidFill>
                <a:schemeClr val="dk1"/>
              </a:solidFill>
            </a:endParaRPr>
          </a:p>
          <a:p>
            <a:pPr indent="0" lvl="0" marL="0" rtl="0" algn="l">
              <a:spcBef>
                <a:spcPts val="0"/>
              </a:spcBef>
              <a:spcAft>
                <a:spcPts val="0"/>
              </a:spcAft>
              <a:buNone/>
            </a:pPr>
            <a:r>
              <a:t/>
            </a:r>
            <a:endParaRPr sz="2040">
              <a:solidFill>
                <a:schemeClr val="dk1"/>
              </a:solidFill>
            </a:endParaRPr>
          </a:p>
        </p:txBody>
      </p:sp>
      <p:pic>
        <p:nvPicPr>
          <p:cNvPr id="239" name="Google Shape;239;p25"/>
          <p:cNvPicPr preferRelativeResize="0"/>
          <p:nvPr/>
        </p:nvPicPr>
        <p:blipFill rotWithShape="1">
          <a:blip r:embed="rId20">
            <a:alphaModFix/>
          </a:blip>
          <a:srcRect b="0" l="0" r="0" t="62731"/>
          <a:stretch/>
        </p:blipFill>
        <p:spPr>
          <a:xfrm>
            <a:off x="24015570" y="10128631"/>
            <a:ext cx="7546952" cy="2169809"/>
          </a:xfrm>
          <a:prstGeom prst="rect">
            <a:avLst/>
          </a:prstGeom>
          <a:noFill/>
          <a:ln>
            <a:noFill/>
          </a:ln>
        </p:spPr>
      </p:pic>
      <p:pic>
        <p:nvPicPr>
          <p:cNvPr id="240" name="Google Shape;240;p25"/>
          <p:cNvPicPr preferRelativeResize="0"/>
          <p:nvPr/>
        </p:nvPicPr>
        <p:blipFill rotWithShape="1">
          <a:blip r:embed="rId20">
            <a:alphaModFix/>
          </a:blip>
          <a:srcRect b="74251" l="0" r="0" t="0"/>
          <a:stretch/>
        </p:blipFill>
        <p:spPr>
          <a:xfrm>
            <a:off x="24015570" y="8921791"/>
            <a:ext cx="7546952" cy="1499069"/>
          </a:xfrm>
          <a:prstGeom prst="rect">
            <a:avLst/>
          </a:prstGeom>
          <a:noFill/>
          <a:ln>
            <a:noFill/>
          </a:ln>
        </p:spPr>
      </p:pic>
      <p:sp>
        <p:nvSpPr>
          <p:cNvPr id="241" name="Google Shape;241;p25"/>
          <p:cNvSpPr txBox="1"/>
          <p:nvPr/>
        </p:nvSpPr>
        <p:spPr>
          <a:xfrm>
            <a:off x="23255220" y="6763905"/>
            <a:ext cx="9741900" cy="10398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920">
                <a:solidFill>
                  <a:srgbClr val="0B5394"/>
                </a:solidFill>
                <a:latin typeface="Montserrat"/>
                <a:ea typeface="Montserrat"/>
                <a:cs typeface="Montserrat"/>
                <a:sym typeface="Montserrat"/>
              </a:rPr>
              <a:t>Example</a:t>
            </a:r>
            <a:r>
              <a:rPr lang="pt-BR" sz="3920">
                <a:solidFill>
                  <a:srgbClr val="0B5394"/>
                </a:solidFill>
                <a:latin typeface="Montserrat"/>
                <a:ea typeface="Montserrat"/>
                <a:cs typeface="Montserrat"/>
                <a:sym typeface="Montserrat"/>
              </a:rPr>
              <a:t> Output</a:t>
            </a:r>
            <a:endParaRPr b="1" sz="3920">
              <a:solidFill>
                <a:srgbClr val="0B5394"/>
              </a:solidFill>
              <a:latin typeface="Montserrat"/>
              <a:ea typeface="Montserrat"/>
              <a:cs typeface="Montserrat"/>
              <a:sym typeface="Montserrat"/>
            </a:endParaRPr>
          </a:p>
        </p:txBody>
      </p:sp>
      <p:sp>
        <p:nvSpPr>
          <p:cNvPr id="242" name="Google Shape;242;p25"/>
          <p:cNvSpPr txBox="1"/>
          <p:nvPr/>
        </p:nvSpPr>
        <p:spPr>
          <a:xfrm>
            <a:off x="23460960" y="7578255"/>
            <a:ext cx="9330600" cy="1257900"/>
          </a:xfrm>
          <a:prstGeom prst="rect">
            <a:avLst/>
          </a:prstGeom>
          <a:noFill/>
          <a:ln>
            <a:noFill/>
          </a:ln>
        </p:spPr>
        <p:txBody>
          <a:bodyPr anchorCtr="0" anchor="t" bIns="109700" lIns="109700" spcFirstLastPara="1" rIns="109700" wrap="square" tIns="109700">
            <a:spAutoFit/>
          </a:bodyPr>
          <a:lstStyle/>
          <a:p>
            <a:pPr indent="0" lvl="0" marL="0" marR="0" rtl="0" algn="just">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This mockup shows clinical research references added to the output of an uncommon test. With these references, the physician can now interpret the test in the context of the patient’s healthcare journey.</a:t>
            </a:r>
            <a:endParaRPr sz="2040">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6"/>
          <p:cNvSpPr txBox="1"/>
          <p:nvPr>
            <p:ph type="ctrTitle"/>
          </p:nvPr>
        </p:nvSpPr>
        <p:spPr>
          <a:xfrm>
            <a:off x="4114800" y="3591562"/>
            <a:ext cx="24688800" cy="7640400"/>
          </a:xfrm>
          <a:prstGeom prst="rect">
            <a:avLst/>
          </a:prstGeom>
        </p:spPr>
        <p:txBody>
          <a:bodyPr anchorCtr="0" anchor="b" bIns="109700" lIns="109700" spcFirstLastPara="1" rIns="109700" wrap="square" tIns="109700">
            <a:normAutofit/>
          </a:bodyPr>
          <a:lstStyle/>
          <a:p>
            <a:pPr indent="0" lvl="0" marL="0" rtl="0" algn="ctr">
              <a:spcBef>
                <a:spcPts val="0"/>
              </a:spcBef>
              <a:spcAft>
                <a:spcPts val="0"/>
              </a:spcAft>
              <a:buNone/>
            </a:pPr>
            <a:r>
              <a:rPr lang="pt-BR" sz="17160">
                <a:latin typeface="Noto Sans Grantha"/>
                <a:ea typeface="Noto Sans Grantha"/>
                <a:cs typeface="Noto Sans Grantha"/>
                <a:sym typeface="Noto Sans Grantha"/>
              </a:rPr>
              <a:t>Ignore all slides after the first</a:t>
            </a:r>
            <a:endParaRPr sz="17160">
              <a:latin typeface="Noto Sans Grantha"/>
              <a:ea typeface="Noto Sans Grantha"/>
              <a:cs typeface="Noto Sans Grantha"/>
              <a:sym typeface="Noto Sans Grantha"/>
            </a:endParaRPr>
          </a:p>
        </p:txBody>
      </p:sp>
      <p:sp>
        <p:nvSpPr>
          <p:cNvPr id="248" name="Google Shape;248;p26"/>
          <p:cNvSpPr txBox="1"/>
          <p:nvPr>
            <p:ph idx="1" type="subTitle"/>
          </p:nvPr>
        </p:nvSpPr>
        <p:spPr>
          <a:xfrm>
            <a:off x="4114800" y="11526522"/>
            <a:ext cx="24688800" cy="5298600"/>
          </a:xfrm>
          <a:prstGeom prst="rect">
            <a:avLst/>
          </a:prstGeom>
        </p:spPr>
        <p:txBody>
          <a:bodyPr anchorCtr="0" anchor="t" bIns="109700" lIns="109700" spcFirstLastPara="1" rIns="109700" wrap="square" tIns="109700">
            <a:normAutofit/>
          </a:bodyPr>
          <a:lstStyle/>
          <a:p>
            <a:pPr indent="0" lvl="0" marL="0" rtl="0" algn="ctr">
              <a:spcBef>
                <a:spcPts val="2880"/>
              </a:spcBef>
              <a:spcAft>
                <a:spcPts val="0"/>
              </a:spcAft>
              <a:buNone/>
            </a:pPr>
            <a:r>
              <a:rPr lang="pt-BR" sz="6840">
                <a:latin typeface="Noto Sans Grantha"/>
                <a:ea typeface="Noto Sans Grantha"/>
                <a:cs typeface="Noto Sans Grantha"/>
                <a:sym typeface="Noto Sans Grantha"/>
              </a:rPr>
              <a:t>They are prior drafts</a:t>
            </a:r>
            <a:endParaRPr sz="6840">
              <a:latin typeface="Noto Sans Grantha"/>
              <a:ea typeface="Noto Sans Grantha"/>
              <a:cs typeface="Noto Sans Grantha"/>
              <a:sym typeface="Noto Sans Granth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7"/>
          <p:cNvSpPr/>
          <p:nvPr/>
        </p:nvSpPr>
        <p:spPr>
          <a:xfrm>
            <a:off x="9617580" y="0"/>
            <a:ext cx="13559100" cy="21945600"/>
          </a:xfrm>
          <a:prstGeom prst="rect">
            <a:avLst/>
          </a:prstGeom>
          <a:solidFill>
            <a:srgbClr val="F3F3F3"/>
          </a:solidFill>
          <a:ln>
            <a:noFill/>
          </a:ln>
        </p:spPr>
        <p:txBody>
          <a:bodyPr anchorCtr="0" anchor="ctr" bIns="98250" lIns="98250" spcFirstLastPara="1" rIns="98250" wrap="square" tIns="98250">
            <a:noAutofit/>
          </a:bodyPr>
          <a:lstStyle/>
          <a:p>
            <a:pPr indent="0" lvl="0" marL="0" marR="0" rtl="0" algn="ctr">
              <a:spcBef>
                <a:spcPts val="0"/>
              </a:spcBef>
              <a:spcAft>
                <a:spcPts val="0"/>
              </a:spcAft>
              <a:buNone/>
            </a:pPr>
            <a:r>
              <a:t/>
            </a:r>
            <a:endParaRPr b="0" i="0" sz="1920" u="none" cap="none" strike="noStrike">
              <a:solidFill>
                <a:schemeClr val="dk1"/>
              </a:solidFill>
              <a:latin typeface="Arial"/>
              <a:ea typeface="Arial"/>
              <a:cs typeface="Arial"/>
              <a:sym typeface="Arial"/>
            </a:endParaRPr>
          </a:p>
        </p:txBody>
      </p:sp>
      <p:pic>
        <p:nvPicPr>
          <p:cNvPr id="254" name="Google Shape;254;p27" title="Artboard 1Sanguine_finalcutout.png"/>
          <p:cNvPicPr preferRelativeResize="0"/>
          <p:nvPr/>
        </p:nvPicPr>
        <p:blipFill rotWithShape="1">
          <a:blip r:embed="rId4">
            <a:alphaModFix/>
          </a:blip>
          <a:srcRect b="0" l="5304" r="1811" t="0"/>
          <a:stretch/>
        </p:blipFill>
        <p:spPr>
          <a:xfrm>
            <a:off x="0" y="114030"/>
            <a:ext cx="7112280" cy="1914078"/>
          </a:xfrm>
          <a:prstGeom prst="rect">
            <a:avLst/>
          </a:prstGeom>
          <a:noFill/>
          <a:ln>
            <a:noFill/>
          </a:ln>
        </p:spPr>
      </p:pic>
      <p:sp>
        <p:nvSpPr>
          <p:cNvPr id="255" name="Google Shape;255;p27"/>
          <p:cNvSpPr txBox="1"/>
          <p:nvPr/>
        </p:nvSpPr>
        <p:spPr>
          <a:xfrm>
            <a:off x="9679681" y="642780"/>
            <a:ext cx="135591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0B5394"/>
                </a:solidFill>
                <a:latin typeface="Proxima Nova"/>
                <a:ea typeface="Proxima Nova"/>
                <a:cs typeface="Proxima Nova"/>
                <a:sym typeface="Proxima Nova"/>
              </a:rPr>
              <a:t>Selecting the preferred concept</a:t>
            </a:r>
            <a:endParaRPr sz="3640">
              <a:solidFill>
                <a:srgbClr val="0B5394"/>
              </a:solidFill>
              <a:latin typeface="Proxima Nova"/>
              <a:ea typeface="Proxima Nova"/>
              <a:cs typeface="Proxima Nova"/>
              <a:sym typeface="Proxima Nova"/>
            </a:endParaRPr>
          </a:p>
        </p:txBody>
      </p:sp>
      <p:sp>
        <p:nvSpPr>
          <p:cNvPr id="256" name="Google Shape;256;p27"/>
          <p:cNvSpPr txBox="1"/>
          <p:nvPr/>
        </p:nvSpPr>
        <p:spPr>
          <a:xfrm>
            <a:off x="9555480" y="6986295"/>
            <a:ext cx="13683300" cy="996600"/>
          </a:xfrm>
          <a:prstGeom prst="rect">
            <a:avLst/>
          </a:prstGeom>
          <a:noFill/>
          <a:ln>
            <a:noFill/>
          </a:ln>
        </p:spPr>
        <p:txBody>
          <a:bodyPr anchorCtr="0" anchor="t" bIns="216000" lIns="216000" spcFirstLastPara="1" rIns="216000" wrap="square" tIns="216000">
            <a:spAutoFit/>
          </a:bodyPr>
          <a:lstStyle/>
          <a:p>
            <a:pPr indent="0" lvl="0" marL="0" marR="0" rtl="0" algn="ctr">
              <a:lnSpc>
                <a:spcPct val="100000"/>
              </a:lnSpc>
              <a:spcBef>
                <a:spcPts val="0"/>
              </a:spcBef>
              <a:spcAft>
                <a:spcPts val="0"/>
              </a:spcAft>
              <a:buNone/>
            </a:pPr>
            <a:r>
              <a:rPr lang="pt-BR" sz="3640">
                <a:solidFill>
                  <a:srgbClr val="0B5394"/>
                </a:solidFill>
                <a:latin typeface="Proxima Nova"/>
                <a:ea typeface="Proxima Nova"/>
                <a:cs typeface="Proxima Nova"/>
                <a:sym typeface="Proxima Nova"/>
              </a:rPr>
              <a:t>Architectural hotspots and change propagation</a:t>
            </a:r>
            <a:endParaRPr sz="3640">
              <a:solidFill>
                <a:srgbClr val="0B5394"/>
              </a:solidFill>
              <a:latin typeface="Proxima Nova"/>
              <a:ea typeface="Proxima Nova"/>
              <a:cs typeface="Proxima Nova"/>
              <a:sym typeface="Proxima Nova"/>
            </a:endParaRPr>
          </a:p>
        </p:txBody>
      </p:sp>
      <p:sp>
        <p:nvSpPr>
          <p:cNvPr id="257" name="Google Shape;257;p27"/>
          <p:cNvSpPr txBox="1"/>
          <p:nvPr/>
        </p:nvSpPr>
        <p:spPr>
          <a:xfrm>
            <a:off x="9493380" y="15712856"/>
            <a:ext cx="138075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0B5394"/>
                </a:solidFill>
                <a:latin typeface="Proxima Nova"/>
                <a:ea typeface="Proxima Nova"/>
                <a:cs typeface="Proxima Nova"/>
                <a:sym typeface="Proxima Nova"/>
              </a:rPr>
              <a:t>Risks mitigation design walk</a:t>
            </a:r>
            <a:endParaRPr sz="3640">
              <a:solidFill>
                <a:srgbClr val="0B5394"/>
              </a:solidFill>
              <a:latin typeface="Proxima Nova"/>
              <a:ea typeface="Proxima Nova"/>
              <a:cs typeface="Proxima Nova"/>
              <a:sym typeface="Proxima Nova"/>
            </a:endParaRPr>
          </a:p>
        </p:txBody>
      </p:sp>
      <p:grpSp>
        <p:nvGrpSpPr>
          <p:cNvPr id="258" name="Google Shape;258;p27"/>
          <p:cNvGrpSpPr/>
          <p:nvPr/>
        </p:nvGrpSpPr>
        <p:grpSpPr>
          <a:xfrm>
            <a:off x="142097" y="9139216"/>
            <a:ext cx="9255464" cy="5669308"/>
            <a:chOff x="11465487" y="9211798"/>
            <a:chExt cx="16116079" cy="8412685"/>
          </a:xfrm>
        </p:grpSpPr>
        <p:sp>
          <p:nvSpPr>
            <p:cNvPr id="259" name="Google Shape;259;p27"/>
            <p:cNvSpPr/>
            <p:nvPr/>
          </p:nvSpPr>
          <p:spPr>
            <a:xfrm>
              <a:off x="15867473" y="11457283"/>
              <a:ext cx="380700" cy="1087800"/>
            </a:xfrm>
            <a:prstGeom prst="roundRect">
              <a:avLst>
                <a:gd fmla="val 16667" name="adj"/>
              </a:avLst>
            </a:prstGeom>
            <a:solidFill>
              <a:srgbClr val="0F9ED5">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260" name="Google Shape;260;p27"/>
            <p:cNvCxnSpPr/>
            <p:nvPr/>
          </p:nvCxnSpPr>
          <p:spPr>
            <a:xfrm>
              <a:off x="16070970"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261" name="Google Shape;261;p27"/>
            <p:cNvSpPr txBox="1"/>
            <p:nvPr/>
          </p:nvSpPr>
          <p:spPr>
            <a:xfrm>
              <a:off x="15031756" y="9211798"/>
              <a:ext cx="2078700" cy="6504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External Laboratory</a:t>
              </a:r>
              <a:endParaRPr sz="1158">
                <a:solidFill>
                  <a:srgbClr val="000000"/>
                </a:solidFill>
                <a:latin typeface="Proxima Nova"/>
                <a:ea typeface="Proxima Nova"/>
                <a:cs typeface="Proxima Nova"/>
                <a:sym typeface="Proxima Nova"/>
              </a:endParaRPr>
            </a:p>
          </p:txBody>
        </p:sp>
        <p:cxnSp>
          <p:nvCxnSpPr>
            <p:cNvPr id="262" name="Google Shape;262;p27"/>
            <p:cNvCxnSpPr/>
            <p:nvPr/>
          </p:nvCxnSpPr>
          <p:spPr>
            <a:xfrm>
              <a:off x="18685657"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263" name="Google Shape;263;p27"/>
            <p:cNvSpPr txBox="1"/>
            <p:nvPr/>
          </p:nvSpPr>
          <p:spPr>
            <a:xfrm>
              <a:off x="17646454" y="9211798"/>
              <a:ext cx="2078700" cy="11793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Mayo Clinic Labs</a:t>
              </a:r>
              <a:endParaRPr sz="1247">
                <a:latin typeface="Proxima Nova"/>
                <a:ea typeface="Proxima Nova"/>
                <a:cs typeface="Proxima Nova"/>
                <a:sym typeface="Proxima Nova"/>
              </a:endParaRPr>
            </a:p>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(Tests Execution)</a:t>
              </a:r>
              <a:endParaRPr sz="1158">
                <a:solidFill>
                  <a:srgbClr val="000000"/>
                </a:solidFill>
                <a:latin typeface="Proxima Nova"/>
                <a:ea typeface="Proxima Nova"/>
                <a:cs typeface="Proxima Nova"/>
                <a:sym typeface="Proxima Nova"/>
              </a:endParaRPr>
            </a:p>
          </p:txBody>
        </p:sp>
        <p:cxnSp>
          <p:nvCxnSpPr>
            <p:cNvPr id="264" name="Google Shape;264;p27"/>
            <p:cNvCxnSpPr/>
            <p:nvPr/>
          </p:nvCxnSpPr>
          <p:spPr>
            <a:xfrm>
              <a:off x="21300369"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265" name="Google Shape;265;p27"/>
            <p:cNvSpPr txBox="1"/>
            <p:nvPr/>
          </p:nvSpPr>
          <p:spPr>
            <a:xfrm>
              <a:off x="20261155" y="9211798"/>
              <a:ext cx="2078700" cy="3861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Patient Record</a:t>
              </a:r>
              <a:endParaRPr sz="1247">
                <a:latin typeface="Proxima Nova"/>
                <a:ea typeface="Proxima Nova"/>
                <a:cs typeface="Proxima Nova"/>
                <a:sym typeface="Proxima Nova"/>
              </a:endParaRPr>
            </a:p>
          </p:txBody>
        </p:sp>
        <p:cxnSp>
          <p:nvCxnSpPr>
            <p:cNvPr id="266" name="Google Shape;266;p27"/>
            <p:cNvCxnSpPr/>
            <p:nvPr/>
          </p:nvCxnSpPr>
          <p:spPr>
            <a:xfrm>
              <a:off x="23915067"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267" name="Google Shape;267;p27"/>
            <p:cNvSpPr txBox="1"/>
            <p:nvPr/>
          </p:nvSpPr>
          <p:spPr>
            <a:xfrm>
              <a:off x="25173466" y="9211798"/>
              <a:ext cx="2408100" cy="6504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Sanguine Librarian Layer</a:t>
              </a:r>
              <a:endParaRPr sz="1158">
                <a:solidFill>
                  <a:srgbClr val="000000"/>
                </a:solidFill>
                <a:latin typeface="Proxima Nova"/>
                <a:ea typeface="Proxima Nova"/>
                <a:cs typeface="Proxima Nova"/>
                <a:sym typeface="Proxima Nova"/>
              </a:endParaRPr>
            </a:p>
          </p:txBody>
        </p:sp>
        <p:sp>
          <p:nvSpPr>
            <p:cNvPr id="268" name="Google Shape;268;p27"/>
            <p:cNvSpPr/>
            <p:nvPr/>
          </p:nvSpPr>
          <p:spPr>
            <a:xfrm>
              <a:off x="18495302" y="11457283"/>
              <a:ext cx="380700" cy="1060500"/>
            </a:xfrm>
            <a:prstGeom prst="roundRect">
              <a:avLst>
                <a:gd fmla="val 16667" name="adj"/>
              </a:avLst>
            </a:prstGeom>
            <a:solidFill>
              <a:srgbClr val="4EA72E">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269" name="Google Shape;269;p27"/>
            <p:cNvSpPr/>
            <p:nvPr/>
          </p:nvSpPr>
          <p:spPr>
            <a:xfrm>
              <a:off x="21089755" y="11457283"/>
              <a:ext cx="380700" cy="1041900"/>
            </a:xfrm>
            <a:prstGeom prst="roundRect">
              <a:avLst>
                <a:gd fmla="val 16667" name="adj"/>
              </a:avLst>
            </a:prstGeom>
            <a:solidFill>
              <a:srgbClr val="E9713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270" name="Google Shape;270;p27"/>
            <p:cNvCxnSpPr/>
            <p:nvPr/>
          </p:nvCxnSpPr>
          <p:spPr>
            <a:xfrm>
              <a:off x="16248209" y="11606279"/>
              <a:ext cx="2220600" cy="0"/>
            </a:xfrm>
            <a:prstGeom prst="straightConnector1">
              <a:avLst/>
            </a:prstGeom>
            <a:noFill/>
            <a:ln cap="flat" cmpd="sng" w="25450">
              <a:solidFill>
                <a:srgbClr val="7F7F7F"/>
              </a:solidFill>
              <a:prstDash val="solid"/>
              <a:miter lim="800000"/>
              <a:headEnd len="sm" w="sm" type="none"/>
              <a:tailEnd len="med" w="med" type="triangle"/>
            </a:ln>
          </p:spPr>
        </p:cxnSp>
        <p:cxnSp>
          <p:nvCxnSpPr>
            <p:cNvPr id="271" name="Google Shape;271;p27"/>
            <p:cNvCxnSpPr/>
            <p:nvPr/>
          </p:nvCxnSpPr>
          <p:spPr>
            <a:xfrm>
              <a:off x="18876038" y="11582967"/>
              <a:ext cx="2226600" cy="0"/>
            </a:xfrm>
            <a:prstGeom prst="straightConnector1">
              <a:avLst/>
            </a:prstGeom>
            <a:noFill/>
            <a:ln cap="flat" cmpd="sng" w="25450">
              <a:solidFill>
                <a:srgbClr val="7F7F7F"/>
              </a:solidFill>
              <a:prstDash val="solid"/>
              <a:miter lim="800000"/>
              <a:headEnd len="sm" w="sm" type="none"/>
              <a:tailEnd len="med" w="med" type="triangle"/>
            </a:ln>
          </p:spPr>
        </p:cxnSp>
        <p:cxnSp>
          <p:nvCxnSpPr>
            <p:cNvPr id="272" name="Google Shape;272;p27"/>
            <p:cNvCxnSpPr/>
            <p:nvPr/>
          </p:nvCxnSpPr>
          <p:spPr>
            <a:xfrm rot="10800000">
              <a:off x="16239464" y="15170200"/>
              <a:ext cx="9880500" cy="0"/>
            </a:xfrm>
            <a:prstGeom prst="straightConnector1">
              <a:avLst/>
            </a:prstGeom>
            <a:noFill/>
            <a:ln cap="flat" cmpd="sng" w="25450">
              <a:solidFill>
                <a:srgbClr val="7F7F7F"/>
              </a:solidFill>
              <a:prstDash val="solid"/>
              <a:miter lim="800000"/>
              <a:headEnd len="sm" w="sm" type="none"/>
              <a:tailEnd len="med" w="med" type="triangle"/>
            </a:ln>
          </p:spPr>
        </p:cxnSp>
        <p:sp>
          <p:nvSpPr>
            <p:cNvPr id="273" name="Google Shape;273;p27"/>
            <p:cNvSpPr txBox="1"/>
            <p:nvPr/>
          </p:nvSpPr>
          <p:spPr>
            <a:xfrm>
              <a:off x="16320938" y="11697840"/>
              <a:ext cx="19080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Collecs and send samples</a:t>
              </a:r>
              <a:endParaRPr sz="1069">
                <a:solidFill>
                  <a:srgbClr val="000000"/>
                </a:solidFill>
                <a:latin typeface="Proxima Nova"/>
                <a:ea typeface="Proxima Nova"/>
                <a:cs typeface="Proxima Nova"/>
                <a:sym typeface="Proxima Nova"/>
              </a:endParaRPr>
            </a:p>
          </p:txBody>
        </p:sp>
        <p:sp>
          <p:nvSpPr>
            <p:cNvPr id="274" name="Google Shape;274;p27"/>
            <p:cNvSpPr txBox="1"/>
            <p:nvPr/>
          </p:nvSpPr>
          <p:spPr>
            <a:xfrm>
              <a:off x="23903091" y="15223203"/>
              <a:ext cx="2353800" cy="10980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i="0" lang="pt-BR" sz="1069">
                  <a:solidFill>
                    <a:srgbClr val="000000"/>
                  </a:solidFill>
                  <a:latin typeface="Proxima Nova"/>
                  <a:ea typeface="Proxima Nova"/>
                  <a:cs typeface="Proxima Nova"/>
                  <a:sym typeface="Proxima Nova"/>
                </a:rPr>
                <a:t>Notification of results interpretation complete</a:t>
              </a:r>
              <a:endParaRPr sz="1247">
                <a:latin typeface="Proxima Nova"/>
                <a:ea typeface="Proxima Nova"/>
                <a:cs typeface="Proxima Nova"/>
                <a:sym typeface="Proxima Nova"/>
              </a:endParaRPr>
            </a:p>
          </p:txBody>
        </p:sp>
        <p:sp>
          <p:nvSpPr>
            <p:cNvPr id="275" name="Google Shape;275;p27"/>
            <p:cNvSpPr txBox="1"/>
            <p:nvPr/>
          </p:nvSpPr>
          <p:spPr>
            <a:xfrm>
              <a:off x="18937140" y="11697840"/>
              <a:ext cx="19080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Analyses and store results</a:t>
              </a:r>
              <a:endParaRPr sz="1069">
                <a:solidFill>
                  <a:srgbClr val="000000"/>
                </a:solidFill>
                <a:latin typeface="Proxima Nova"/>
                <a:ea typeface="Proxima Nova"/>
                <a:cs typeface="Proxima Nova"/>
                <a:sym typeface="Proxima Nova"/>
              </a:endParaRPr>
            </a:p>
          </p:txBody>
        </p:sp>
        <p:sp>
          <p:nvSpPr>
            <p:cNvPr id="276" name="Google Shape;276;p27"/>
            <p:cNvSpPr txBox="1"/>
            <p:nvPr/>
          </p:nvSpPr>
          <p:spPr>
            <a:xfrm>
              <a:off x="21531932" y="11697840"/>
              <a:ext cx="19080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Test raw results</a:t>
              </a:r>
              <a:endParaRPr sz="1069">
                <a:solidFill>
                  <a:srgbClr val="000000"/>
                </a:solidFill>
                <a:latin typeface="Proxima Nova"/>
                <a:ea typeface="Proxima Nova"/>
                <a:cs typeface="Proxima Nova"/>
                <a:sym typeface="Proxima Nova"/>
              </a:endParaRPr>
            </a:p>
          </p:txBody>
        </p:sp>
        <p:cxnSp>
          <p:nvCxnSpPr>
            <p:cNvPr id="277" name="Google Shape;277;p27"/>
            <p:cNvCxnSpPr/>
            <p:nvPr/>
          </p:nvCxnSpPr>
          <p:spPr>
            <a:xfrm rot="10800000">
              <a:off x="24094959" y="13848647"/>
              <a:ext cx="2070300" cy="0"/>
            </a:xfrm>
            <a:prstGeom prst="straightConnector1">
              <a:avLst/>
            </a:prstGeom>
            <a:noFill/>
            <a:ln cap="flat" cmpd="sng" w="25450">
              <a:solidFill>
                <a:srgbClr val="7F7F7F"/>
              </a:solidFill>
              <a:prstDash val="solid"/>
              <a:miter lim="800000"/>
              <a:headEnd len="sm" w="sm" type="none"/>
              <a:tailEnd len="med" w="med" type="triangle"/>
            </a:ln>
          </p:spPr>
        </p:cxnSp>
        <p:sp>
          <p:nvSpPr>
            <p:cNvPr id="278" name="Google Shape;278;p27"/>
            <p:cNvSpPr txBox="1"/>
            <p:nvPr/>
          </p:nvSpPr>
          <p:spPr>
            <a:xfrm>
              <a:off x="22106638" y="12891743"/>
              <a:ext cx="46635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Request patient context</a:t>
              </a:r>
              <a:endParaRPr sz="1069">
                <a:solidFill>
                  <a:srgbClr val="000000"/>
                </a:solidFill>
                <a:latin typeface="Proxima Nova"/>
                <a:ea typeface="Proxima Nova"/>
                <a:cs typeface="Proxima Nova"/>
                <a:sym typeface="Proxima Nova"/>
              </a:endParaRPr>
            </a:p>
          </p:txBody>
        </p:sp>
        <p:sp>
          <p:nvSpPr>
            <p:cNvPr id="279" name="Google Shape;279;p27"/>
            <p:cNvSpPr txBox="1"/>
            <p:nvPr/>
          </p:nvSpPr>
          <p:spPr>
            <a:xfrm>
              <a:off x="24105503" y="13903847"/>
              <a:ext cx="19545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Request clinical references</a:t>
              </a:r>
              <a:endParaRPr sz="1069">
                <a:solidFill>
                  <a:srgbClr val="000000"/>
                </a:solidFill>
                <a:latin typeface="Proxima Nova"/>
                <a:ea typeface="Proxima Nova"/>
                <a:cs typeface="Proxima Nova"/>
                <a:sym typeface="Proxima Nova"/>
              </a:endParaRPr>
            </a:p>
          </p:txBody>
        </p:sp>
        <p:cxnSp>
          <p:nvCxnSpPr>
            <p:cNvPr id="280" name="Google Shape;280;p27"/>
            <p:cNvCxnSpPr/>
            <p:nvPr/>
          </p:nvCxnSpPr>
          <p:spPr>
            <a:xfrm>
              <a:off x="26377558"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281" name="Google Shape;281;p27"/>
            <p:cNvSpPr/>
            <p:nvPr/>
          </p:nvSpPr>
          <p:spPr>
            <a:xfrm>
              <a:off x="26175833" y="11457283"/>
              <a:ext cx="380700" cy="4614000"/>
            </a:xfrm>
            <a:prstGeom prst="roundRect">
              <a:avLst>
                <a:gd fmla="val 16667" name="adj"/>
              </a:avLst>
            </a:prstGeom>
            <a:solidFill>
              <a:srgbClr val="FF0000">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282" name="Google Shape;282;p27"/>
            <p:cNvSpPr txBox="1"/>
            <p:nvPr/>
          </p:nvSpPr>
          <p:spPr>
            <a:xfrm>
              <a:off x="22875855" y="9211798"/>
              <a:ext cx="2078700" cy="9150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Mayo Clinic Knowledge &amp; Research</a:t>
              </a:r>
              <a:endParaRPr sz="1247">
                <a:latin typeface="Proxima Nova"/>
                <a:ea typeface="Proxima Nova"/>
                <a:cs typeface="Proxima Nova"/>
                <a:sym typeface="Proxima Nova"/>
              </a:endParaRPr>
            </a:p>
          </p:txBody>
        </p:sp>
        <p:sp>
          <p:nvSpPr>
            <p:cNvPr id="283" name="Google Shape;283;p27"/>
            <p:cNvSpPr/>
            <p:nvPr/>
          </p:nvSpPr>
          <p:spPr>
            <a:xfrm>
              <a:off x="23714193" y="13684467"/>
              <a:ext cx="380700" cy="1041600"/>
            </a:xfrm>
            <a:prstGeom prst="roundRect">
              <a:avLst>
                <a:gd fmla="val 16667" name="adj"/>
              </a:avLst>
            </a:prstGeom>
            <a:solidFill>
              <a:srgbClr val="AEAEAE">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284" name="Google Shape;284;p27"/>
            <p:cNvSpPr/>
            <p:nvPr/>
          </p:nvSpPr>
          <p:spPr>
            <a:xfrm>
              <a:off x="21102742" y="12636556"/>
              <a:ext cx="380700" cy="855600"/>
            </a:xfrm>
            <a:prstGeom prst="roundRect">
              <a:avLst>
                <a:gd fmla="val 16667" name="adj"/>
              </a:avLst>
            </a:prstGeom>
            <a:solidFill>
              <a:srgbClr val="E9713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285" name="Google Shape;285;p27"/>
            <p:cNvCxnSpPr/>
            <p:nvPr/>
          </p:nvCxnSpPr>
          <p:spPr>
            <a:xfrm rot="10800000">
              <a:off x="12703818" y="11163267"/>
              <a:ext cx="1522800" cy="0"/>
            </a:xfrm>
            <a:prstGeom prst="straightConnector1">
              <a:avLst/>
            </a:prstGeom>
            <a:noFill/>
            <a:ln cap="flat" cmpd="sng" w="25450">
              <a:solidFill>
                <a:srgbClr val="7F7F7F"/>
              </a:solidFill>
              <a:prstDash val="solid"/>
              <a:miter lim="800000"/>
              <a:headEnd len="sm" w="sm" type="none"/>
              <a:tailEnd len="med" w="med" type="triangle"/>
            </a:ln>
          </p:spPr>
        </p:cxnSp>
        <p:cxnSp>
          <p:nvCxnSpPr>
            <p:cNvPr id="286" name="Google Shape;286;p27"/>
            <p:cNvCxnSpPr/>
            <p:nvPr/>
          </p:nvCxnSpPr>
          <p:spPr>
            <a:xfrm>
              <a:off x="21456434" y="11606279"/>
              <a:ext cx="4745400" cy="0"/>
            </a:xfrm>
            <a:prstGeom prst="straightConnector1">
              <a:avLst/>
            </a:prstGeom>
            <a:noFill/>
            <a:ln cap="flat" cmpd="sng" w="25450">
              <a:solidFill>
                <a:srgbClr val="7F7F7F"/>
              </a:solidFill>
              <a:prstDash val="solid"/>
              <a:miter lim="800000"/>
              <a:headEnd len="sm" w="sm" type="none"/>
              <a:tailEnd len="med" w="med" type="triangle"/>
            </a:ln>
          </p:spPr>
        </p:cxnSp>
        <p:sp>
          <p:nvSpPr>
            <p:cNvPr id="287" name="Google Shape;287;p27"/>
            <p:cNvSpPr txBox="1"/>
            <p:nvPr/>
          </p:nvSpPr>
          <p:spPr>
            <a:xfrm>
              <a:off x="21456434" y="13354498"/>
              <a:ext cx="25419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Send patient clinical context</a:t>
              </a:r>
              <a:endParaRPr sz="1069">
                <a:solidFill>
                  <a:srgbClr val="000000"/>
                </a:solidFill>
                <a:latin typeface="Proxima Nova"/>
                <a:ea typeface="Proxima Nova"/>
                <a:cs typeface="Proxima Nova"/>
                <a:sym typeface="Proxima Nova"/>
              </a:endParaRPr>
            </a:p>
          </p:txBody>
        </p:sp>
        <p:cxnSp>
          <p:nvCxnSpPr>
            <p:cNvPr id="288" name="Google Shape;288;p27"/>
            <p:cNvCxnSpPr/>
            <p:nvPr/>
          </p:nvCxnSpPr>
          <p:spPr>
            <a:xfrm>
              <a:off x="24058504" y="14514168"/>
              <a:ext cx="2128800" cy="0"/>
            </a:xfrm>
            <a:prstGeom prst="straightConnector1">
              <a:avLst/>
            </a:prstGeom>
            <a:noFill/>
            <a:ln cap="flat" cmpd="sng" w="25450">
              <a:solidFill>
                <a:srgbClr val="7F7F7F"/>
              </a:solidFill>
              <a:prstDash val="solid"/>
              <a:miter lim="800000"/>
              <a:headEnd len="sm" w="sm" type="none"/>
              <a:tailEnd len="med" w="med" type="triangle"/>
            </a:ln>
          </p:spPr>
        </p:cxnSp>
        <p:sp>
          <p:nvSpPr>
            <p:cNvPr id="289" name="Google Shape;289;p27"/>
            <p:cNvSpPr txBox="1"/>
            <p:nvPr/>
          </p:nvSpPr>
          <p:spPr>
            <a:xfrm>
              <a:off x="24058504" y="14525107"/>
              <a:ext cx="16320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Send clinical references</a:t>
              </a:r>
              <a:endParaRPr sz="1069">
                <a:solidFill>
                  <a:srgbClr val="000000"/>
                </a:solidFill>
                <a:latin typeface="Proxima Nova"/>
                <a:ea typeface="Proxima Nova"/>
                <a:cs typeface="Proxima Nova"/>
                <a:sym typeface="Proxima Nova"/>
              </a:endParaRPr>
            </a:p>
          </p:txBody>
        </p:sp>
        <p:sp>
          <p:nvSpPr>
            <p:cNvPr id="290" name="Google Shape;290;p27"/>
            <p:cNvSpPr/>
            <p:nvPr/>
          </p:nvSpPr>
          <p:spPr>
            <a:xfrm>
              <a:off x="15858667" y="15086608"/>
              <a:ext cx="380700" cy="1353900"/>
            </a:xfrm>
            <a:prstGeom prst="roundRect">
              <a:avLst>
                <a:gd fmla="val 16667" name="adj"/>
              </a:avLst>
            </a:prstGeom>
            <a:solidFill>
              <a:srgbClr val="0F9ED5">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291" name="Google Shape;291;p27"/>
            <p:cNvSpPr/>
            <p:nvPr/>
          </p:nvSpPr>
          <p:spPr>
            <a:xfrm>
              <a:off x="12318864" y="10242365"/>
              <a:ext cx="380700" cy="1749900"/>
            </a:xfrm>
            <a:prstGeom prst="roundRect">
              <a:avLst>
                <a:gd fmla="val 16667" name="adj"/>
              </a:avLst>
            </a:prstGeom>
            <a:solidFill>
              <a:srgbClr val="15608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292" name="Google Shape;292;p27"/>
            <p:cNvCxnSpPr/>
            <p:nvPr/>
          </p:nvCxnSpPr>
          <p:spPr>
            <a:xfrm>
              <a:off x="12504700"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293" name="Google Shape;293;p27"/>
            <p:cNvSpPr txBox="1"/>
            <p:nvPr/>
          </p:nvSpPr>
          <p:spPr>
            <a:xfrm>
              <a:off x="11465487" y="9211798"/>
              <a:ext cx="2078700" cy="3861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Patient</a:t>
              </a:r>
              <a:endParaRPr sz="1158">
                <a:solidFill>
                  <a:srgbClr val="000000"/>
                </a:solidFill>
                <a:latin typeface="Proxima Nova"/>
                <a:ea typeface="Proxima Nova"/>
                <a:cs typeface="Proxima Nova"/>
                <a:sym typeface="Proxima Nova"/>
              </a:endParaRPr>
            </a:p>
          </p:txBody>
        </p:sp>
        <p:sp>
          <p:nvSpPr>
            <p:cNvPr id="294" name="Google Shape;294;p27"/>
            <p:cNvSpPr/>
            <p:nvPr/>
          </p:nvSpPr>
          <p:spPr>
            <a:xfrm>
              <a:off x="12316454" y="15752918"/>
              <a:ext cx="380700" cy="581400"/>
            </a:xfrm>
            <a:prstGeom prst="roundRect">
              <a:avLst>
                <a:gd fmla="val 16667" name="adj"/>
              </a:avLst>
            </a:prstGeom>
            <a:solidFill>
              <a:srgbClr val="15608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295" name="Google Shape;295;p27"/>
            <p:cNvSpPr/>
            <p:nvPr/>
          </p:nvSpPr>
          <p:spPr>
            <a:xfrm>
              <a:off x="14226618" y="10284614"/>
              <a:ext cx="380700" cy="1055100"/>
            </a:xfrm>
            <a:prstGeom prst="roundRect">
              <a:avLst>
                <a:gd fmla="val 16667" name="adj"/>
              </a:avLst>
            </a:prstGeom>
            <a:solidFill>
              <a:srgbClr val="A02B93">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296" name="Google Shape;296;p27"/>
            <p:cNvCxnSpPr/>
            <p:nvPr/>
          </p:nvCxnSpPr>
          <p:spPr>
            <a:xfrm>
              <a:off x="14416986" y="10303043"/>
              <a:ext cx="0" cy="7233900"/>
            </a:xfrm>
            <a:prstGeom prst="straightConnector1">
              <a:avLst/>
            </a:prstGeom>
            <a:noFill/>
            <a:ln cap="flat" cmpd="sng" w="17000">
              <a:solidFill>
                <a:srgbClr val="7F7F7F"/>
              </a:solidFill>
              <a:prstDash val="dash"/>
              <a:miter lim="800000"/>
              <a:headEnd len="sm" w="sm" type="none"/>
              <a:tailEnd len="sm" w="sm" type="none"/>
            </a:ln>
          </p:spPr>
        </p:cxnSp>
        <p:sp>
          <p:nvSpPr>
            <p:cNvPr id="297" name="Google Shape;297;p27"/>
            <p:cNvSpPr txBox="1"/>
            <p:nvPr/>
          </p:nvSpPr>
          <p:spPr>
            <a:xfrm>
              <a:off x="13377773" y="9211798"/>
              <a:ext cx="2078700" cy="386100"/>
            </a:xfrm>
            <a:prstGeom prst="rect">
              <a:avLst/>
            </a:prstGeom>
            <a:noFill/>
            <a:ln>
              <a:noFill/>
            </a:ln>
          </p:spPr>
          <p:txBody>
            <a:bodyPr anchorCtr="0" anchor="t" bIns="40600" lIns="81500" spcFirstLastPara="1" rIns="81500" wrap="square" tIns="40600">
              <a:spAutoFit/>
            </a:bodyPr>
            <a:lstStyle/>
            <a:p>
              <a:pPr indent="0" lvl="0" marL="0" marR="0" rtl="0" algn="ctr">
                <a:spcBef>
                  <a:spcPts val="0"/>
                </a:spcBef>
                <a:spcAft>
                  <a:spcPts val="0"/>
                </a:spcAft>
                <a:buNone/>
              </a:pPr>
              <a:r>
                <a:rPr lang="pt-BR" sz="1158">
                  <a:solidFill>
                    <a:srgbClr val="000000"/>
                  </a:solidFill>
                  <a:latin typeface="Proxima Nova"/>
                  <a:ea typeface="Proxima Nova"/>
                  <a:cs typeface="Proxima Nova"/>
                  <a:sym typeface="Proxima Nova"/>
                </a:rPr>
                <a:t>Physician</a:t>
              </a:r>
              <a:endParaRPr sz="1158">
                <a:solidFill>
                  <a:srgbClr val="000000"/>
                </a:solidFill>
                <a:latin typeface="Proxima Nova"/>
                <a:ea typeface="Proxima Nova"/>
                <a:cs typeface="Proxima Nova"/>
                <a:sym typeface="Proxima Nova"/>
              </a:endParaRPr>
            </a:p>
          </p:txBody>
        </p:sp>
        <p:sp>
          <p:nvSpPr>
            <p:cNvPr id="298" name="Google Shape;298;p27"/>
            <p:cNvSpPr/>
            <p:nvPr/>
          </p:nvSpPr>
          <p:spPr>
            <a:xfrm>
              <a:off x="14226618" y="15077351"/>
              <a:ext cx="380700" cy="581400"/>
            </a:xfrm>
            <a:prstGeom prst="roundRect">
              <a:avLst>
                <a:gd fmla="val 16667" name="adj"/>
              </a:avLst>
            </a:prstGeom>
            <a:solidFill>
              <a:srgbClr val="A02B93">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299" name="Google Shape;299;p27"/>
            <p:cNvCxnSpPr/>
            <p:nvPr/>
          </p:nvCxnSpPr>
          <p:spPr>
            <a:xfrm>
              <a:off x="12641221" y="10446061"/>
              <a:ext cx="1585200" cy="0"/>
            </a:xfrm>
            <a:prstGeom prst="straightConnector1">
              <a:avLst/>
            </a:prstGeom>
            <a:noFill/>
            <a:ln cap="flat" cmpd="sng" w="25450">
              <a:solidFill>
                <a:srgbClr val="7F7F7F"/>
              </a:solidFill>
              <a:prstDash val="solid"/>
              <a:miter lim="800000"/>
              <a:headEnd len="sm" w="sm" type="none"/>
              <a:tailEnd len="med" w="med" type="triangle"/>
            </a:ln>
          </p:spPr>
        </p:cxnSp>
        <p:sp>
          <p:nvSpPr>
            <p:cNvPr id="300" name="Google Shape;300;p27"/>
            <p:cNvSpPr txBox="1"/>
            <p:nvPr/>
          </p:nvSpPr>
          <p:spPr>
            <a:xfrm>
              <a:off x="12684299" y="9971282"/>
              <a:ext cx="25419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Medical consultation</a:t>
              </a:r>
              <a:endParaRPr sz="1069">
                <a:solidFill>
                  <a:srgbClr val="000000"/>
                </a:solidFill>
                <a:latin typeface="Proxima Nova"/>
                <a:ea typeface="Proxima Nova"/>
                <a:cs typeface="Proxima Nova"/>
                <a:sym typeface="Proxima Nova"/>
              </a:endParaRPr>
            </a:p>
          </p:txBody>
        </p:sp>
        <p:sp>
          <p:nvSpPr>
            <p:cNvPr id="301" name="Google Shape;301;p27"/>
            <p:cNvSpPr txBox="1"/>
            <p:nvPr/>
          </p:nvSpPr>
          <p:spPr>
            <a:xfrm>
              <a:off x="12728501" y="11207089"/>
              <a:ext cx="24081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Exam request</a:t>
              </a:r>
              <a:endParaRPr sz="1069">
                <a:solidFill>
                  <a:srgbClr val="000000"/>
                </a:solidFill>
                <a:latin typeface="Proxima Nova"/>
                <a:ea typeface="Proxima Nova"/>
                <a:cs typeface="Proxima Nova"/>
                <a:sym typeface="Proxima Nova"/>
              </a:endParaRPr>
            </a:p>
          </p:txBody>
        </p:sp>
        <p:cxnSp>
          <p:nvCxnSpPr>
            <p:cNvPr id="302" name="Google Shape;302;p27"/>
            <p:cNvCxnSpPr/>
            <p:nvPr/>
          </p:nvCxnSpPr>
          <p:spPr>
            <a:xfrm rot="10800000">
              <a:off x="21456464" y="12817687"/>
              <a:ext cx="4663500" cy="0"/>
            </a:xfrm>
            <a:prstGeom prst="straightConnector1">
              <a:avLst/>
            </a:prstGeom>
            <a:noFill/>
            <a:ln cap="flat" cmpd="sng" w="25450">
              <a:solidFill>
                <a:srgbClr val="7F7F7F"/>
              </a:solidFill>
              <a:prstDash val="solid"/>
              <a:miter lim="800000"/>
              <a:headEnd len="sm" w="sm" type="none"/>
              <a:tailEnd len="med" w="med" type="triangle"/>
            </a:ln>
          </p:spPr>
        </p:cxnSp>
        <p:cxnSp>
          <p:nvCxnSpPr>
            <p:cNvPr id="303" name="Google Shape;303;p27"/>
            <p:cNvCxnSpPr/>
            <p:nvPr/>
          </p:nvCxnSpPr>
          <p:spPr>
            <a:xfrm>
              <a:off x="12715955" y="11606279"/>
              <a:ext cx="3151500" cy="0"/>
            </a:xfrm>
            <a:prstGeom prst="straightConnector1">
              <a:avLst/>
            </a:prstGeom>
            <a:noFill/>
            <a:ln cap="flat" cmpd="sng" w="25450">
              <a:solidFill>
                <a:srgbClr val="7F7F7F"/>
              </a:solidFill>
              <a:prstDash val="solid"/>
              <a:miter lim="800000"/>
              <a:headEnd len="sm" w="sm" type="none"/>
              <a:tailEnd len="med" w="med" type="triangle"/>
            </a:ln>
          </p:spPr>
        </p:cxnSp>
        <p:sp>
          <p:nvSpPr>
            <p:cNvPr id="304" name="Google Shape;304;p27"/>
            <p:cNvSpPr txBox="1"/>
            <p:nvPr/>
          </p:nvSpPr>
          <p:spPr>
            <a:xfrm>
              <a:off x="12676593" y="11637411"/>
              <a:ext cx="23538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Exam schedule</a:t>
              </a:r>
              <a:endParaRPr sz="1069">
                <a:solidFill>
                  <a:srgbClr val="000000"/>
                </a:solidFill>
                <a:latin typeface="Proxima Nova"/>
                <a:ea typeface="Proxima Nova"/>
                <a:cs typeface="Proxima Nova"/>
                <a:sym typeface="Proxima Nova"/>
              </a:endParaRPr>
            </a:p>
          </p:txBody>
        </p:sp>
        <p:cxnSp>
          <p:nvCxnSpPr>
            <p:cNvPr id="305" name="Google Shape;305;p27"/>
            <p:cNvCxnSpPr/>
            <p:nvPr/>
          </p:nvCxnSpPr>
          <p:spPr>
            <a:xfrm>
              <a:off x="21499378" y="13291150"/>
              <a:ext cx="4676400" cy="0"/>
            </a:xfrm>
            <a:prstGeom prst="straightConnector1">
              <a:avLst/>
            </a:prstGeom>
            <a:noFill/>
            <a:ln cap="flat" cmpd="sng" w="25450">
              <a:solidFill>
                <a:srgbClr val="7F7F7F"/>
              </a:solidFill>
              <a:prstDash val="solid"/>
              <a:miter lim="800000"/>
              <a:headEnd len="sm" w="sm" type="none"/>
              <a:tailEnd len="med" w="med" type="triangle"/>
            </a:ln>
          </p:spPr>
        </p:cxnSp>
        <p:sp>
          <p:nvSpPr>
            <p:cNvPr id="306" name="Google Shape;306;p27"/>
            <p:cNvSpPr txBox="1"/>
            <p:nvPr/>
          </p:nvSpPr>
          <p:spPr>
            <a:xfrm>
              <a:off x="14564440" y="15318800"/>
              <a:ext cx="15186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i="0" lang="pt-BR" sz="1069">
                  <a:solidFill>
                    <a:srgbClr val="000000"/>
                  </a:solidFill>
                  <a:latin typeface="Proxima Nova"/>
                  <a:ea typeface="Proxima Nova"/>
                  <a:cs typeface="Proxima Nova"/>
                  <a:sym typeface="Proxima Nova"/>
                </a:rPr>
                <a:t>Notification</a:t>
              </a:r>
              <a:endParaRPr sz="1247">
                <a:latin typeface="Proxima Nova"/>
                <a:ea typeface="Proxima Nova"/>
                <a:cs typeface="Proxima Nova"/>
                <a:sym typeface="Proxima Nova"/>
              </a:endParaRPr>
            </a:p>
          </p:txBody>
        </p:sp>
        <p:cxnSp>
          <p:nvCxnSpPr>
            <p:cNvPr id="307" name="Google Shape;307;p27"/>
            <p:cNvCxnSpPr/>
            <p:nvPr/>
          </p:nvCxnSpPr>
          <p:spPr>
            <a:xfrm rot="10800000">
              <a:off x="14591917" y="15223203"/>
              <a:ext cx="1263600" cy="0"/>
            </a:xfrm>
            <a:prstGeom prst="straightConnector1">
              <a:avLst/>
            </a:prstGeom>
            <a:noFill/>
            <a:ln cap="flat" cmpd="sng" w="25450">
              <a:solidFill>
                <a:srgbClr val="7F7F7F"/>
              </a:solidFill>
              <a:prstDash val="solid"/>
              <a:miter lim="800000"/>
              <a:headEnd len="sm" w="sm" type="none"/>
              <a:tailEnd len="med" w="med" type="triangle"/>
            </a:ln>
          </p:spPr>
        </p:cxnSp>
        <p:sp>
          <p:nvSpPr>
            <p:cNvPr id="308" name="Google Shape;308;p27"/>
            <p:cNvSpPr txBox="1"/>
            <p:nvPr/>
          </p:nvSpPr>
          <p:spPr>
            <a:xfrm>
              <a:off x="14530538" y="15926441"/>
              <a:ext cx="1518600" cy="3657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i="0" lang="pt-BR" sz="1069">
                  <a:solidFill>
                    <a:srgbClr val="000000"/>
                  </a:solidFill>
                  <a:latin typeface="Proxima Nova"/>
                  <a:ea typeface="Proxima Nova"/>
                  <a:cs typeface="Proxima Nova"/>
                  <a:sym typeface="Proxima Nova"/>
                </a:rPr>
                <a:t>Notification</a:t>
              </a:r>
              <a:endParaRPr sz="1247">
                <a:latin typeface="Proxima Nova"/>
                <a:ea typeface="Proxima Nova"/>
                <a:cs typeface="Proxima Nova"/>
                <a:sym typeface="Proxima Nova"/>
              </a:endParaRPr>
            </a:p>
          </p:txBody>
        </p:sp>
        <p:cxnSp>
          <p:nvCxnSpPr>
            <p:cNvPr id="309" name="Google Shape;309;p27"/>
            <p:cNvCxnSpPr/>
            <p:nvPr/>
          </p:nvCxnSpPr>
          <p:spPr>
            <a:xfrm rot="10800000">
              <a:off x="12697262" y="15868426"/>
              <a:ext cx="3141000" cy="0"/>
            </a:xfrm>
            <a:prstGeom prst="straightConnector1">
              <a:avLst/>
            </a:prstGeom>
            <a:noFill/>
            <a:ln cap="flat" cmpd="sng" w="25450">
              <a:solidFill>
                <a:srgbClr val="7F7F7F"/>
              </a:solidFill>
              <a:prstDash val="solid"/>
              <a:miter lim="800000"/>
              <a:headEnd len="sm" w="sm" type="none"/>
              <a:tailEnd len="med" w="med" type="triangle"/>
            </a:ln>
          </p:spPr>
        </p:cxnSp>
        <p:sp>
          <p:nvSpPr>
            <p:cNvPr id="310" name="Google Shape;310;p27"/>
            <p:cNvSpPr/>
            <p:nvPr/>
          </p:nvSpPr>
          <p:spPr>
            <a:xfrm>
              <a:off x="26159497" y="16384833"/>
              <a:ext cx="380700" cy="1121100"/>
            </a:xfrm>
            <a:prstGeom prst="roundRect">
              <a:avLst>
                <a:gd fmla="val 16667" name="adj"/>
              </a:avLst>
            </a:prstGeom>
            <a:solidFill>
              <a:srgbClr val="FF0000">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311" name="Google Shape;311;p27"/>
            <p:cNvCxnSpPr/>
            <p:nvPr/>
          </p:nvCxnSpPr>
          <p:spPr>
            <a:xfrm>
              <a:off x="14653655" y="16577065"/>
              <a:ext cx="11485500" cy="2100"/>
            </a:xfrm>
            <a:prstGeom prst="straightConnector1">
              <a:avLst/>
            </a:prstGeom>
            <a:noFill/>
            <a:ln cap="flat" cmpd="sng" w="25450">
              <a:solidFill>
                <a:srgbClr val="7F7F7F"/>
              </a:solidFill>
              <a:prstDash val="solid"/>
              <a:miter lim="800000"/>
              <a:headEnd len="sm" w="sm" type="none"/>
              <a:tailEnd len="med" w="med" type="triangle"/>
            </a:ln>
          </p:spPr>
        </p:cxnSp>
        <p:sp>
          <p:nvSpPr>
            <p:cNvPr id="312" name="Google Shape;312;p27"/>
            <p:cNvSpPr/>
            <p:nvPr/>
          </p:nvSpPr>
          <p:spPr>
            <a:xfrm>
              <a:off x="14211281" y="16503383"/>
              <a:ext cx="380700" cy="1121100"/>
            </a:xfrm>
            <a:prstGeom prst="roundRect">
              <a:avLst>
                <a:gd fmla="val 16667" name="adj"/>
              </a:avLst>
            </a:prstGeom>
            <a:solidFill>
              <a:srgbClr val="A02B93">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sp>
          <p:nvSpPr>
            <p:cNvPr id="313" name="Google Shape;313;p27"/>
            <p:cNvSpPr txBox="1"/>
            <p:nvPr/>
          </p:nvSpPr>
          <p:spPr>
            <a:xfrm>
              <a:off x="14495619" y="16629190"/>
              <a:ext cx="1908000" cy="6099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i="0" lang="pt-BR" sz="1069">
                  <a:solidFill>
                    <a:srgbClr val="000000"/>
                  </a:solidFill>
                  <a:latin typeface="Proxima Nova"/>
                  <a:ea typeface="Proxima Nova"/>
                  <a:cs typeface="Proxima Nova"/>
                  <a:sym typeface="Proxima Nova"/>
                </a:rPr>
                <a:t>Access test interpretation</a:t>
              </a:r>
              <a:endParaRPr i="0" sz="1069">
                <a:solidFill>
                  <a:srgbClr val="000000"/>
                </a:solidFill>
                <a:latin typeface="Proxima Nova"/>
                <a:ea typeface="Proxima Nova"/>
                <a:cs typeface="Proxima Nova"/>
                <a:sym typeface="Proxima Nova"/>
              </a:endParaRPr>
            </a:p>
          </p:txBody>
        </p:sp>
        <p:sp>
          <p:nvSpPr>
            <p:cNvPr id="314" name="Google Shape;314;p27"/>
            <p:cNvSpPr/>
            <p:nvPr/>
          </p:nvSpPr>
          <p:spPr>
            <a:xfrm>
              <a:off x="12316458" y="16847915"/>
              <a:ext cx="380700" cy="776400"/>
            </a:xfrm>
            <a:prstGeom prst="roundRect">
              <a:avLst>
                <a:gd fmla="val 16667" name="adj"/>
              </a:avLst>
            </a:prstGeom>
            <a:solidFill>
              <a:srgbClr val="156082">
                <a:alpha val="49800"/>
              </a:srgbClr>
            </a:solidFill>
            <a:ln>
              <a:noFill/>
            </a:ln>
          </p:spPr>
          <p:txBody>
            <a:bodyPr anchorCtr="0" anchor="ctr" bIns="40600" lIns="81500" spcFirstLastPara="1" rIns="81500" wrap="square" tIns="40600">
              <a:noAutofit/>
            </a:bodyPr>
            <a:lstStyle/>
            <a:p>
              <a:pPr indent="0" lvl="0" marL="0" marR="0" rtl="0" algn="ctr">
                <a:spcBef>
                  <a:spcPts val="0"/>
                </a:spcBef>
                <a:spcAft>
                  <a:spcPts val="0"/>
                </a:spcAft>
                <a:buNone/>
              </a:pPr>
              <a:r>
                <a:t/>
              </a:r>
              <a:endParaRPr sz="1069">
                <a:solidFill>
                  <a:srgbClr val="FFFFFF"/>
                </a:solidFill>
                <a:latin typeface="Arial"/>
                <a:ea typeface="Arial"/>
                <a:cs typeface="Arial"/>
                <a:sym typeface="Arial"/>
              </a:endParaRPr>
            </a:p>
          </p:txBody>
        </p:sp>
        <p:cxnSp>
          <p:nvCxnSpPr>
            <p:cNvPr id="315" name="Google Shape;315;p27"/>
            <p:cNvCxnSpPr/>
            <p:nvPr/>
          </p:nvCxnSpPr>
          <p:spPr>
            <a:xfrm flipH="1">
              <a:off x="12717197" y="17340784"/>
              <a:ext cx="1480500" cy="6000"/>
            </a:xfrm>
            <a:prstGeom prst="straightConnector1">
              <a:avLst/>
            </a:prstGeom>
            <a:noFill/>
            <a:ln cap="flat" cmpd="sng" w="25450">
              <a:solidFill>
                <a:srgbClr val="7F7F7F"/>
              </a:solidFill>
              <a:prstDash val="solid"/>
              <a:miter lim="800000"/>
              <a:headEnd len="sm" w="sm" type="none"/>
              <a:tailEnd len="med" w="med" type="triangle"/>
            </a:ln>
          </p:spPr>
        </p:cxnSp>
        <p:sp>
          <p:nvSpPr>
            <p:cNvPr id="316" name="Google Shape;316;p27"/>
            <p:cNvSpPr txBox="1"/>
            <p:nvPr/>
          </p:nvSpPr>
          <p:spPr>
            <a:xfrm>
              <a:off x="12621112" y="16410222"/>
              <a:ext cx="1810500" cy="853800"/>
            </a:xfrm>
            <a:prstGeom prst="rect">
              <a:avLst/>
            </a:prstGeom>
            <a:noFill/>
            <a:ln>
              <a:noFill/>
            </a:ln>
          </p:spPr>
          <p:txBody>
            <a:bodyPr anchorCtr="0" anchor="t" bIns="40600" lIns="81500" spcFirstLastPara="1" rIns="81500" wrap="square" tIns="40600">
              <a:spAutoFit/>
            </a:bodyPr>
            <a:lstStyle/>
            <a:p>
              <a:pPr indent="0" lvl="0" marL="0" marR="0" rtl="0" algn="l">
                <a:spcBef>
                  <a:spcPts val="0"/>
                </a:spcBef>
                <a:spcAft>
                  <a:spcPts val="0"/>
                </a:spcAft>
                <a:buNone/>
              </a:pPr>
              <a:r>
                <a:rPr lang="pt-BR" sz="1069">
                  <a:solidFill>
                    <a:srgbClr val="000000"/>
                  </a:solidFill>
                  <a:latin typeface="Proxima Nova"/>
                  <a:ea typeface="Proxima Nova"/>
                  <a:cs typeface="Proxima Nova"/>
                  <a:sym typeface="Proxima Nova"/>
                </a:rPr>
                <a:t>Deliver personalized interpretation</a:t>
              </a:r>
              <a:endParaRPr i="0" sz="1069">
                <a:solidFill>
                  <a:srgbClr val="000000"/>
                </a:solidFill>
                <a:latin typeface="Proxima Nova"/>
                <a:ea typeface="Proxima Nova"/>
                <a:cs typeface="Proxima Nova"/>
                <a:sym typeface="Proxima Nova"/>
              </a:endParaRPr>
            </a:p>
          </p:txBody>
        </p:sp>
      </p:grpSp>
      <p:sp>
        <p:nvSpPr>
          <p:cNvPr id="317" name="Google Shape;317;p27"/>
          <p:cNvSpPr txBox="1"/>
          <p:nvPr/>
        </p:nvSpPr>
        <p:spPr>
          <a:xfrm>
            <a:off x="457560" y="8032935"/>
            <a:ext cx="82983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0B5394"/>
                </a:solidFill>
                <a:latin typeface="Proxima Nova"/>
                <a:ea typeface="Proxima Nova"/>
                <a:cs typeface="Proxima Nova"/>
                <a:sym typeface="Proxima Nova"/>
              </a:rPr>
              <a:t>Lab result interpretation workflow</a:t>
            </a:r>
            <a:endParaRPr sz="3640">
              <a:solidFill>
                <a:srgbClr val="0B5394"/>
              </a:solidFill>
              <a:latin typeface="Proxima Nova"/>
              <a:ea typeface="Proxima Nova"/>
              <a:cs typeface="Proxima Nova"/>
              <a:sym typeface="Proxima Nova"/>
            </a:endParaRPr>
          </a:p>
        </p:txBody>
      </p:sp>
      <p:sp>
        <p:nvSpPr>
          <p:cNvPr id="318" name="Google Shape;318;p27"/>
          <p:cNvSpPr txBox="1"/>
          <p:nvPr/>
        </p:nvSpPr>
        <p:spPr>
          <a:xfrm>
            <a:off x="30810" y="2399280"/>
            <a:ext cx="9728400" cy="1465800"/>
          </a:xfrm>
          <a:prstGeom prst="rect">
            <a:avLst/>
          </a:prstGeom>
          <a:solidFill>
            <a:srgbClr val="F3F3F3"/>
          </a:solidFill>
          <a:ln>
            <a:noFill/>
          </a:ln>
        </p:spPr>
        <p:txBody>
          <a:bodyPr anchorCtr="0" anchor="t" bIns="193500" lIns="193500" spcFirstLastPara="1" rIns="193500" wrap="square" tIns="193500">
            <a:noAutofit/>
          </a:bodyPr>
          <a:lstStyle/>
          <a:p>
            <a:pPr indent="0" lvl="0" marL="0" marR="0" rtl="0" algn="ctr">
              <a:lnSpc>
                <a:spcPct val="100000"/>
              </a:lnSpc>
              <a:spcBef>
                <a:spcPts val="0"/>
              </a:spcBef>
              <a:spcAft>
                <a:spcPts val="0"/>
              </a:spcAft>
              <a:buNone/>
            </a:pPr>
            <a:r>
              <a:rPr lang="pt-BR" sz="3640">
                <a:solidFill>
                  <a:srgbClr val="9E9E9E"/>
                </a:solidFill>
                <a:latin typeface="Proxima Nova"/>
                <a:ea typeface="Proxima Nova"/>
                <a:cs typeface="Proxima Nova"/>
                <a:sym typeface="Proxima Nova"/>
              </a:rPr>
              <a:t>An agentic AI clinical librarian for laboratory results</a:t>
            </a:r>
            <a:r>
              <a:rPr b="0" i="0" lang="pt-BR" sz="4080" u="none" cap="none" strike="noStrike">
                <a:solidFill>
                  <a:srgbClr val="20124D"/>
                </a:solidFill>
                <a:latin typeface="Arial"/>
                <a:ea typeface="Arial"/>
                <a:cs typeface="Arial"/>
                <a:sym typeface="Arial"/>
              </a:rPr>
              <a:t> </a:t>
            </a:r>
            <a:r>
              <a:rPr lang="pt-BR" sz="3640">
                <a:solidFill>
                  <a:srgbClr val="9E9E9E"/>
                </a:solidFill>
                <a:latin typeface="Proxima Nova"/>
                <a:ea typeface="Proxima Nova"/>
                <a:cs typeface="Proxima Nova"/>
                <a:sym typeface="Proxima Nova"/>
              </a:rPr>
              <a:t>interpretation</a:t>
            </a:r>
            <a:r>
              <a:rPr b="0" i="0" lang="pt-BR" sz="4080" u="none" cap="none" strike="noStrike">
                <a:solidFill>
                  <a:srgbClr val="20124D"/>
                </a:solidFill>
                <a:latin typeface="Arial"/>
                <a:ea typeface="Arial"/>
                <a:cs typeface="Arial"/>
                <a:sym typeface="Arial"/>
              </a:rPr>
              <a:t>.</a:t>
            </a:r>
            <a:endParaRPr b="0" i="0" sz="4080" u="none" cap="none" strike="noStrike">
              <a:solidFill>
                <a:srgbClr val="20124D"/>
              </a:solidFill>
              <a:latin typeface="Arial"/>
              <a:ea typeface="Arial"/>
              <a:cs typeface="Arial"/>
              <a:sym typeface="Arial"/>
            </a:endParaRPr>
          </a:p>
        </p:txBody>
      </p:sp>
      <p:sp>
        <p:nvSpPr>
          <p:cNvPr id="319" name="Google Shape;319;p27"/>
          <p:cNvSpPr txBox="1"/>
          <p:nvPr/>
        </p:nvSpPr>
        <p:spPr>
          <a:xfrm>
            <a:off x="2" y="5126566"/>
            <a:ext cx="2787000" cy="556200"/>
          </a:xfrm>
          <a:prstGeom prst="rect">
            <a:avLst/>
          </a:prstGeom>
          <a:noFill/>
          <a:ln>
            <a:noFill/>
          </a:ln>
        </p:spPr>
        <p:txBody>
          <a:bodyPr anchorCtr="0" anchor="t" bIns="147350" lIns="147350" spcFirstLastPara="1" rIns="147350" wrap="square" tIns="147350">
            <a:spAutoFit/>
          </a:bodyPr>
          <a:lstStyle/>
          <a:p>
            <a:pPr indent="0" lvl="0" marL="0" marR="0" rtl="0" algn="r">
              <a:lnSpc>
                <a:spcPct val="115000"/>
              </a:lnSpc>
              <a:spcBef>
                <a:spcPts val="9840"/>
              </a:spcBef>
              <a:spcAft>
                <a:spcPts val="9840"/>
              </a:spcAft>
              <a:buNone/>
            </a:pPr>
            <a:r>
              <a:rPr b="0" i="0" lang="pt-BR" sz="1680" u="none" cap="none" strike="noStrike">
                <a:solidFill>
                  <a:schemeClr val="dk2"/>
                </a:solidFill>
                <a:latin typeface="Proxima Nova"/>
                <a:ea typeface="Proxima Nova"/>
                <a:cs typeface="Proxima Nova"/>
                <a:sym typeface="Proxima Nova"/>
              </a:rPr>
              <a:t>Standard lab results</a:t>
            </a:r>
            <a:endParaRPr b="0" i="0" sz="1680" u="none" cap="none" strike="noStrike">
              <a:solidFill>
                <a:schemeClr val="dk2"/>
              </a:solidFill>
              <a:latin typeface="Proxima Nova"/>
              <a:ea typeface="Proxima Nova"/>
              <a:cs typeface="Proxima Nova"/>
              <a:sym typeface="Proxima Nova"/>
            </a:endParaRPr>
          </a:p>
        </p:txBody>
      </p:sp>
      <p:sp>
        <p:nvSpPr>
          <p:cNvPr id="320" name="Google Shape;320;p27"/>
          <p:cNvSpPr txBox="1"/>
          <p:nvPr/>
        </p:nvSpPr>
        <p:spPr>
          <a:xfrm>
            <a:off x="19086" y="6433315"/>
            <a:ext cx="2787000" cy="853500"/>
          </a:xfrm>
          <a:prstGeom prst="rect">
            <a:avLst/>
          </a:prstGeom>
          <a:noFill/>
          <a:ln>
            <a:noFill/>
          </a:ln>
        </p:spPr>
        <p:txBody>
          <a:bodyPr anchorCtr="0" anchor="t" bIns="147350" lIns="147350" spcFirstLastPara="1" rIns="147350" wrap="square" tIns="147350">
            <a:spAutoFit/>
          </a:bodyPr>
          <a:lstStyle/>
          <a:p>
            <a:pPr indent="0" lvl="0" marL="0" marR="0" rtl="0" algn="r">
              <a:lnSpc>
                <a:spcPct val="115000"/>
              </a:lnSpc>
              <a:spcBef>
                <a:spcPts val="9840"/>
              </a:spcBef>
              <a:spcAft>
                <a:spcPts val="9840"/>
              </a:spcAft>
              <a:buNone/>
            </a:pPr>
            <a:r>
              <a:rPr b="0" i="0" lang="pt-BR" sz="1680" u="none" cap="none" strike="noStrike">
                <a:solidFill>
                  <a:schemeClr val="dk2"/>
                </a:solidFill>
                <a:latin typeface="Proxima Nova"/>
                <a:ea typeface="Proxima Nova"/>
                <a:cs typeface="Proxima Nova"/>
                <a:sym typeface="Proxima Nova"/>
              </a:rPr>
              <a:t>Mayo Model of Care interpretation</a:t>
            </a:r>
            <a:endParaRPr b="0" i="0" sz="1680" u="none" cap="none" strike="noStrike">
              <a:solidFill>
                <a:schemeClr val="dk2"/>
              </a:solidFill>
              <a:latin typeface="Proxima Nova"/>
              <a:ea typeface="Proxima Nova"/>
              <a:cs typeface="Proxima Nova"/>
              <a:sym typeface="Proxima Nova"/>
            </a:endParaRPr>
          </a:p>
        </p:txBody>
      </p:sp>
      <p:sp>
        <p:nvSpPr>
          <p:cNvPr id="321" name="Google Shape;321;p27"/>
          <p:cNvSpPr/>
          <p:nvPr/>
        </p:nvSpPr>
        <p:spPr>
          <a:xfrm>
            <a:off x="2844593" y="4956026"/>
            <a:ext cx="5217900" cy="2474400"/>
          </a:xfrm>
          <a:prstGeom prst="roundRect">
            <a:avLst>
              <a:gd fmla="val 6483" name="adj"/>
            </a:avLst>
          </a:prstGeom>
          <a:noFill/>
          <a:ln cap="flat" cmpd="sng" w="17400">
            <a:solidFill>
              <a:schemeClr val="lt2"/>
            </a:solidFill>
            <a:prstDash val="solid"/>
            <a:round/>
            <a:headEnd len="sm" w="sm" type="none"/>
            <a:tailEnd len="sm" w="sm" type="none"/>
          </a:ln>
        </p:spPr>
        <p:txBody>
          <a:bodyPr anchorCtr="0" anchor="ctr" bIns="748400" lIns="748400" spcFirstLastPara="1" rIns="748400" wrap="square" tIns="748400">
            <a:noAutofit/>
          </a:bodyPr>
          <a:lstStyle/>
          <a:p>
            <a:pPr indent="0" lvl="0" marL="0" marR="0" rtl="0" algn="ctr">
              <a:spcBef>
                <a:spcPts val="0"/>
              </a:spcBef>
              <a:spcAft>
                <a:spcPts val="0"/>
              </a:spcAft>
              <a:buNone/>
            </a:pPr>
            <a:r>
              <a:t/>
            </a:r>
            <a:endParaRPr b="0" i="0" sz="1440" u="none" cap="none" strike="noStrike">
              <a:solidFill>
                <a:schemeClr val="dk1"/>
              </a:solidFill>
              <a:latin typeface="Proxima Nova"/>
              <a:ea typeface="Proxima Nova"/>
              <a:cs typeface="Proxima Nova"/>
              <a:sym typeface="Proxima Nova"/>
            </a:endParaRPr>
          </a:p>
        </p:txBody>
      </p:sp>
      <p:sp>
        <p:nvSpPr>
          <p:cNvPr id="322" name="Google Shape;322;p27"/>
          <p:cNvSpPr txBox="1"/>
          <p:nvPr/>
        </p:nvSpPr>
        <p:spPr>
          <a:xfrm>
            <a:off x="1320840" y="15237180"/>
            <a:ext cx="69375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0B5394"/>
                </a:solidFill>
                <a:latin typeface="Proxima Nova"/>
                <a:ea typeface="Proxima Nova"/>
                <a:cs typeface="Proxima Nova"/>
                <a:sym typeface="Proxima Nova"/>
              </a:rPr>
              <a:t>Clinical librarian architecture</a:t>
            </a:r>
            <a:endParaRPr sz="3640">
              <a:solidFill>
                <a:srgbClr val="0B5394"/>
              </a:solidFill>
              <a:latin typeface="Proxima Nova"/>
              <a:ea typeface="Proxima Nova"/>
              <a:cs typeface="Proxima Nova"/>
              <a:sym typeface="Proxima Nova"/>
            </a:endParaRPr>
          </a:p>
        </p:txBody>
      </p:sp>
      <p:grpSp>
        <p:nvGrpSpPr>
          <p:cNvPr id="323" name="Google Shape;323;p27"/>
          <p:cNvGrpSpPr/>
          <p:nvPr/>
        </p:nvGrpSpPr>
        <p:grpSpPr>
          <a:xfrm>
            <a:off x="267244" y="16303798"/>
            <a:ext cx="9255028" cy="5212682"/>
            <a:chOff x="291000" y="6771341"/>
            <a:chExt cx="8309417" cy="4680088"/>
          </a:xfrm>
        </p:grpSpPr>
        <p:sp>
          <p:nvSpPr>
            <p:cNvPr id="324" name="Google Shape;324;p27"/>
            <p:cNvSpPr/>
            <p:nvPr/>
          </p:nvSpPr>
          <p:spPr>
            <a:xfrm>
              <a:off x="291000" y="7138750"/>
              <a:ext cx="800400" cy="4176000"/>
            </a:xfrm>
            <a:prstGeom prst="downArrow">
              <a:avLst>
                <a:gd fmla="val 50000" name="adj1"/>
                <a:gd fmla="val 50000" name="adj2"/>
              </a:avLst>
            </a:prstGeom>
            <a:solidFill>
              <a:srgbClr val="E85453"/>
            </a:solidFill>
            <a:ln>
              <a:noFill/>
            </a:ln>
          </p:spPr>
          <p:txBody>
            <a:bodyPr anchorCtr="0" anchor="ctr" bIns="73700" lIns="73700" spcFirstLastPara="1" rIns="73700" wrap="square" tIns="73700">
              <a:noAutofit/>
            </a:bodyPr>
            <a:lstStyle/>
            <a:p>
              <a:pPr indent="0" lvl="0" marL="0" rtl="0" algn="ctr">
                <a:spcBef>
                  <a:spcPts val="0"/>
                </a:spcBef>
                <a:spcAft>
                  <a:spcPts val="0"/>
                </a:spcAft>
                <a:buNone/>
              </a:pPr>
              <a:r>
                <a:t/>
              </a:r>
              <a:endParaRPr sz="1894"/>
            </a:p>
          </p:txBody>
        </p:sp>
        <p:grpSp>
          <p:nvGrpSpPr>
            <p:cNvPr id="325" name="Google Shape;325;p27"/>
            <p:cNvGrpSpPr/>
            <p:nvPr/>
          </p:nvGrpSpPr>
          <p:grpSpPr>
            <a:xfrm>
              <a:off x="701144" y="6771341"/>
              <a:ext cx="4747129" cy="656991"/>
              <a:chOff x="1651406" y="-24242"/>
              <a:chExt cx="6764219" cy="747600"/>
            </a:xfrm>
          </p:grpSpPr>
          <p:grpSp>
            <p:nvGrpSpPr>
              <p:cNvPr id="326" name="Google Shape;326;p27"/>
              <p:cNvGrpSpPr/>
              <p:nvPr/>
            </p:nvGrpSpPr>
            <p:grpSpPr>
              <a:xfrm>
                <a:off x="1651406" y="3"/>
                <a:ext cx="4423813" cy="639000"/>
                <a:chOff x="1651406" y="3"/>
                <a:chExt cx="4423813" cy="639000"/>
              </a:xfrm>
            </p:grpSpPr>
            <p:sp>
              <p:nvSpPr>
                <p:cNvPr id="327" name="Google Shape;327;p27"/>
                <p:cNvSpPr/>
                <p:nvPr/>
              </p:nvSpPr>
              <p:spPr>
                <a:xfrm>
                  <a:off x="1651406" y="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Identity</a:t>
                  </a:r>
                  <a:endParaRPr sz="1894">
                    <a:solidFill>
                      <a:srgbClr val="073763"/>
                    </a:solidFill>
                    <a:latin typeface="Proxima Nova"/>
                    <a:ea typeface="Proxima Nova"/>
                    <a:cs typeface="Proxima Nova"/>
                    <a:sym typeface="Proxima Nova"/>
                  </a:endParaRPr>
                </a:p>
              </p:txBody>
            </p:sp>
            <p:sp>
              <p:nvSpPr>
                <p:cNvPr id="328" name="Google Shape;328;p27"/>
                <p:cNvSpPr/>
                <p:nvPr/>
              </p:nvSpPr>
              <p:spPr>
                <a:xfrm>
                  <a:off x="3932019" y="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Private Health Information</a:t>
                  </a:r>
                  <a:endParaRPr sz="1894">
                    <a:solidFill>
                      <a:srgbClr val="073763"/>
                    </a:solidFill>
                    <a:latin typeface="Proxima Nova"/>
                    <a:ea typeface="Proxima Nova"/>
                    <a:cs typeface="Proxima Nova"/>
                    <a:sym typeface="Proxima Nova"/>
                  </a:endParaRPr>
                </a:p>
              </p:txBody>
            </p:sp>
          </p:grpSp>
          <p:sp>
            <p:nvSpPr>
              <p:cNvPr id="329" name="Google Shape;329;p27"/>
              <p:cNvSpPr txBox="1"/>
              <p:nvPr/>
            </p:nvSpPr>
            <p:spPr>
              <a:xfrm>
                <a:off x="6272425" y="-24242"/>
                <a:ext cx="2143200" cy="747600"/>
              </a:xfrm>
              <a:prstGeom prst="rect">
                <a:avLst/>
              </a:prstGeom>
              <a:noFill/>
              <a:ln>
                <a:noFill/>
              </a:ln>
            </p:spPr>
            <p:txBody>
              <a:bodyPr anchorCtr="0" anchor="t" bIns="73700" lIns="73700" spcFirstLastPara="1" rIns="73700" wrap="square" tIns="73700">
                <a:spAutoFit/>
              </a:bodyPr>
              <a:lstStyle/>
              <a:p>
                <a:pPr indent="0" lvl="0" marL="0" rtl="0" algn="l">
                  <a:spcBef>
                    <a:spcPts val="0"/>
                  </a:spcBef>
                  <a:spcAft>
                    <a:spcPts val="0"/>
                  </a:spcAft>
                  <a:buNone/>
                </a:pPr>
                <a:r>
                  <a:rPr lang="pt-BR" sz="1894">
                    <a:solidFill>
                      <a:srgbClr val="E85453"/>
                    </a:solidFill>
                    <a:latin typeface="Proxima Nova"/>
                    <a:ea typeface="Proxima Nova"/>
                    <a:cs typeface="Proxima Nova"/>
                    <a:sym typeface="Proxima Nova"/>
                  </a:rPr>
                  <a:t>Trust Boundary</a:t>
                </a:r>
                <a:endParaRPr sz="1894">
                  <a:solidFill>
                    <a:srgbClr val="E85453"/>
                  </a:solidFill>
                  <a:latin typeface="Proxima Nova"/>
                  <a:ea typeface="Proxima Nova"/>
                  <a:cs typeface="Proxima Nova"/>
                  <a:sym typeface="Proxima Nova"/>
                </a:endParaRPr>
              </a:p>
            </p:txBody>
          </p:sp>
        </p:grpSp>
        <p:grpSp>
          <p:nvGrpSpPr>
            <p:cNvPr id="330" name="Google Shape;330;p27"/>
            <p:cNvGrpSpPr/>
            <p:nvPr/>
          </p:nvGrpSpPr>
          <p:grpSpPr>
            <a:xfrm>
              <a:off x="701144" y="7638843"/>
              <a:ext cx="7899273" cy="561553"/>
              <a:chOff x="1651406" y="962903"/>
              <a:chExt cx="11255732" cy="639000"/>
            </a:xfrm>
          </p:grpSpPr>
          <p:grpSp>
            <p:nvGrpSpPr>
              <p:cNvPr id="331" name="Google Shape;331;p27"/>
              <p:cNvGrpSpPr/>
              <p:nvPr/>
            </p:nvGrpSpPr>
            <p:grpSpPr>
              <a:xfrm>
                <a:off x="1651406" y="962903"/>
                <a:ext cx="8896256" cy="639000"/>
                <a:chOff x="1651406" y="962903"/>
                <a:chExt cx="8896256" cy="639000"/>
              </a:xfrm>
            </p:grpSpPr>
            <p:sp>
              <p:nvSpPr>
                <p:cNvPr id="332" name="Google Shape;332;p27"/>
                <p:cNvSpPr/>
                <p:nvPr/>
              </p:nvSpPr>
              <p:spPr>
                <a:xfrm>
                  <a:off x="1651406" y="9629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Result</a:t>
                  </a:r>
                  <a:endParaRPr sz="1894">
                    <a:solidFill>
                      <a:srgbClr val="073763"/>
                    </a:solidFill>
                    <a:latin typeface="Proxima Nova"/>
                    <a:ea typeface="Proxima Nova"/>
                    <a:cs typeface="Proxima Nova"/>
                    <a:sym typeface="Proxima Nova"/>
                  </a:endParaRPr>
                </a:p>
              </p:txBody>
            </p:sp>
            <p:sp>
              <p:nvSpPr>
                <p:cNvPr id="333" name="Google Shape;333;p27"/>
                <p:cNvSpPr/>
                <p:nvPr/>
              </p:nvSpPr>
              <p:spPr>
                <a:xfrm>
                  <a:off x="3932019" y="9629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Patient Context</a:t>
                  </a:r>
                  <a:endParaRPr sz="1894">
                    <a:solidFill>
                      <a:srgbClr val="073763"/>
                    </a:solidFill>
                    <a:latin typeface="Proxima Nova"/>
                    <a:ea typeface="Proxima Nova"/>
                    <a:cs typeface="Proxima Nova"/>
                    <a:sym typeface="Proxima Nova"/>
                  </a:endParaRPr>
                </a:p>
              </p:txBody>
            </p:sp>
            <p:sp>
              <p:nvSpPr>
                <p:cNvPr id="334" name="Google Shape;334;p27"/>
                <p:cNvSpPr/>
                <p:nvPr/>
              </p:nvSpPr>
              <p:spPr>
                <a:xfrm>
                  <a:off x="6171000" y="9629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Prior History</a:t>
                  </a:r>
                  <a:endParaRPr sz="1894">
                    <a:solidFill>
                      <a:srgbClr val="073763"/>
                    </a:solidFill>
                    <a:latin typeface="Proxima Nova"/>
                    <a:ea typeface="Proxima Nova"/>
                    <a:cs typeface="Proxima Nova"/>
                    <a:sym typeface="Proxima Nova"/>
                  </a:endParaRPr>
                </a:p>
              </p:txBody>
            </p:sp>
            <p:sp>
              <p:nvSpPr>
                <p:cNvPr id="335" name="Google Shape;335;p27"/>
                <p:cNvSpPr/>
                <p:nvPr/>
              </p:nvSpPr>
              <p:spPr>
                <a:xfrm>
                  <a:off x="8404463" y="9629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Abnormal Patterns</a:t>
                  </a:r>
                  <a:endParaRPr sz="1894">
                    <a:solidFill>
                      <a:srgbClr val="073763"/>
                    </a:solidFill>
                    <a:latin typeface="Proxima Nova"/>
                    <a:ea typeface="Proxima Nova"/>
                    <a:cs typeface="Proxima Nova"/>
                    <a:sym typeface="Proxima Nova"/>
                  </a:endParaRPr>
                </a:p>
              </p:txBody>
            </p:sp>
          </p:grpSp>
          <p:sp>
            <p:nvSpPr>
              <p:cNvPr id="336" name="Google Shape;336;p27"/>
              <p:cNvSpPr txBox="1"/>
              <p:nvPr/>
            </p:nvSpPr>
            <p:spPr>
              <a:xfrm>
                <a:off x="10763938" y="1051348"/>
                <a:ext cx="2143200" cy="450000"/>
              </a:xfrm>
              <a:prstGeom prst="rect">
                <a:avLst/>
              </a:prstGeom>
              <a:noFill/>
              <a:ln>
                <a:noFill/>
              </a:ln>
            </p:spPr>
            <p:txBody>
              <a:bodyPr anchorCtr="0" anchor="t" bIns="73700" lIns="73700" spcFirstLastPara="1" rIns="73700" wrap="square" tIns="73700">
                <a:spAutoFit/>
              </a:bodyPr>
              <a:lstStyle/>
              <a:p>
                <a:pPr indent="0" lvl="0" marL="0" rtl="0" algn="l">
                  <a:spcBef>
                    <a:spcPts val="0"/>
                  </a:spcBef>
                  <a:spcAft>
                    <a:spcPts val="0"/>
                  </a:spcAft>
                  <a:buNone/>
                </a:pPr>
                <a:r>
                  <a:rPr lang="pt-BR" sz="1894">
                    <a:solidFill>
                      <a:srgbClr val="E85453"/>
                    </a:solidFill>
                    <a:latin typeface="Proxima Nova"/>
                    <a:ea typeface="Proxima Nova"/>
                    <a:cs typeface="Proxima Nova"/>
                    <a:sym typeface="Proxima Nova"/>
                  </a:rPr>
                  <a:t>Case Framing</a:t>
                </a:r>
                <a:endParaRPr sz="1894">
                  <a:solidFill>
                    <a:srgbClr val="E85453"/>
                  </a:solidFill>
                  <a:latin typeface="Proxima Nova"/>
                  <a:ea typeface="Proxima Nova"/>
                  <a:cs typeface="Proxima Nova"/>
                  <a:sym typeface="Proxima Nova"/>
                </a:endParaRPr>
              </a:p>
            </p:txBody>
          </p:sp>
        </p:grpSp>
        <p:grpSp>
          <p:nvGrpSpPr>
            <p:cNvPr id="337" name="Google Shape;337;p27"/>
            <p:cNvGrpSpPr/>
            <p:nvPr/>
          </p:nvGrpSpPr>
          <p:grpSpPr>
            <a:xfrm>
              <a:off x="701144" y="8446459"/>
              <a:ext cx="6329900" cy="656991"/>
              <a:chOff x="1651406" y="1881901"/>
              <a:chExt cx="9019521" cy="747600"/>
            </a:xfrm>
          </p:grpSpPr>
          <p:grpSp>
            <p:nvGrpSpPr>
              <p:cNvPr id="338" name="Google Shape;338;p27"/>
              <p:cNvGrpSpPr/>
              <p:nvPr/>
            </p:nvGrpSpPr>
            <p:grpSpPr>
              <a:xfrm>
                <a:off x="1651406" y="1917578"/>
                <a:ext cx="6662794" cy="639000"/>
                <a:chOff x="1651406" y="1917578"/>
                <a:chExt cx="6662794" cy="639000"/>
              </a:xfrm>
            </p:grpSpPr>
            <p:sp>
              <p:nvSpPr>
                <p:cNvPr id="339" name="Google Shape;339;p27"/>
                <p:cNvSpPr/>
                <p:nvPr/>
              </p:nvSpPr>
              <p:spPr>
                <a:xfrm>
                  <a:off x="1651406" y="1917578"/>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Mayo Clinical Knowledge</a:t>
                  </a:r>
                  <a:endParaRPr sz="1894">
                    <a:solidFill>
                      <a:srgbClr val="073763"/>
                    </a:solidFill>
                    <a:latin typeface="Proxima Nova"/>
                    <a:ea typeface="Proxima Nova"/>
                    <a:cs typeface="Proxima Nova"/>
                    <a:sym typeface="Proxima Nova"/>
                  </a:endParaRPr>
                </a:p>
              </p:txBody>
            </p:sp>
            <p:sp>
              <p:nvSpPr>
                <p:cNvPr id="340" name="Google Shape;340;p27"/>
                <p:cNvSpPr/>
                <p:nvPr/>
              </p:nvSpPr>
              <p:spPr>
                <a:xfrm>
                  <a:off x="3932019" y="1917578"/>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Research Evidence</a:t>
                  </a:r>
                  <a:endParaRPr sz="1894">
                    <a:solidFill>
                      <a:srgbClr val="073763"/>
                    </a:solidFill>
                    <a:latin typeface="Proxima Nova"/>
                    <a:ea typeface="Proxima Nova"/>
                    <a:cs typeface="Proxima Nova"/>
                    <a:sym typeface="Proxima Nova"/>
                  </a:endParaRPr>
                </a:p>
              </p:txBody>
            </p:sp>
            <p:sp>
              <p:nvSpPr>
                <p:cNvPr id="341" name="Google Shape;341;p27"/>
                <p:cNvSpPr/>
                <p:nvPr/>
              </p:nvSpPr>
              <p:spPr>
                <a:xfrm>
                  <a:off x="6171000" y="1917578"/>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Guidelines</a:t>
                  </a:r>
                  <a:endParaRPr sz="1894">
                    <a:solidFill>
                      <a:srgbClr val="073763"/>
                    </a:solidFill>
                    <a:latin typeface="Proxima Nova"/>
                    <a:ea typeface="Proxima Nova"/>
                    <a:cs typeface="Proxima Nova"/>
                    <a:sym typeface="Proxima Nova"/>
                  </a:endParaRPr>
                </a:p>
              </p:txBody>
            </p:sp>
          </p:grpSp>
          <p:sp>
            <p:nvSpPr>
              <p:cNvPr id="342" name="Google Shape;342;p27"/>
              <p:cNvSpPr txBox="1"/>
              <p:nvPr/>
            </p:nvSpPr>
            <p:spPr>
              <a:xfrm>
                <a:off x="8527727" y="1881901"/>
                <a:ext cx="2143200" cy="747600"/>
              </a:xfrm>
              <a:prstGeom prst="rect">
                <a:avLst/>
              </a:prstGeom>
              <a:noFill/>
              <a:ln>
                <a:noFill/>
              </a:ln>
            </p:spPr>
            <p:txBody>
              <a:bodyPr anchorCtr="0" anchor="t" bIns="73700" lIns="73700" spcFirstLastPara="1" rIns="73700" wrap="square" tIns="73700">
                <a:spAutoFit/>
              </a:bodyPr>
              <a:lstStyle/>
              <a:p>
                <a:pPr indent="0" lvl="0" marL="0" rtl="0" algn="l">
                  <a:spcBef>
                    <a:spcPts val="0"/>
                  </a:spcBef>
                  <a:spcAft>
                    <a:spcPts val="0"/>
                  </a:spcAft>
                  <a:buNone/>
                </a:pPr>
                <a:r>
                  <a:rPr lang="pt-BR" sz="1894">
                    <a:solidFill>
                      <a:srgbClr val="E85453"/>
                    </a:solidFill>
                    <a:latin typeface="Proxima Nova"/>
                    <a:ea typeface="Proxima Nova"/>
                    <a:cs typeface="Proxima Nova"/>
                    <a:sym typeface="Proxima Nova"/>
                  </a:rPr>
                  <a:t>Evidence Base</a:t>
                </a:r>
                <a:endParaRPr sz="1894">
                  <a:solidFill>
                    <a:srgbClr val="E85453"/>
                  </a:solidFill>
                  <a:latin typeface="Proxima Nova"/>
                  <a:ea typeface="Proxima Nova"/>
                  <a:cs typeface="Proxima Nova"/>
                  <a:sym typeface="Proxima Nova"/>
                </a:endParaRPr>
              </a:p>
            </p:txBody>
          </p:sp>
        </p:grpSp>
        <p:grpSp>
          <p:nvGrpSpPr>
            <p:cNvPr id="343" name="Google Shape;343;p27"/>
            <p:cNvGrpSpPr/>
            <p:nvPr/>
          </p:nvGrpSpPr>
          <p:grpSpPr>
            <a:xfrm>
              <a:off x="701144" y="9266159"/>
              <a:ext cx="6701466" cy="656991"/>
              <a:chOff x="1651406" y="2814650"/>
              <a:chExt cx="9548969" cy="747600"/>
            </a:xfrm>
          </p:grpSpPr>
          <p:grpSp>
            <p:nvGrpSpPr>
              <p:cNvPr id="344" name="Google Shape;344;p27"/>
              <p:cNvGrpSpPr/>
              <p:nvPr/>
            </p:nvGrpSpPr>
            <p:grpSpPr>
              <a:xfrm>
                <a:off x="1651406" y="2832503"/>
                <a:ext cx="6662794" cy="639000"/>
                <a:chOff x="1651406" y="2832503"/>
                <a:chExt cx="6662794" cy="639000"/>
              </a:xfrm>
            </p:grpSpPr>
            <p:sp>
              <p:nvSpPr>
                <p:cNvPr id="345" name="Google Shape;345;p27"/>
                <p:cNvSpPr/>
                <p:nvPr/>
              </p:nvSpPr>
              <p:spPr>
                <a:xfrm>
                  <a:off x="1651406" y="28325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Specialist Roles</a:t>
                  </a:r>
                  <a:endParaRPr sz="1894">
                    <a:solidFill>
                      <a:srgbClr val="073763"/>
                    </a:solidFill>
                    <a:latin typeface="Proxima Nova"/>
                    <a:ea typeface="Proxima Nova"/>
                    <a:cs typeface="Proxima Nova"/>
                    <a:sym typeface="Proxima Nova"/>
                  </a:endParaRPr>
                </a:p>
              </p:txBody>
            </p:sp>
            <p:sp>
              <p:nvSpPr>
                <p:cNvPr id="346" name="Google Shape;346;p27"/>
                <p:cNvSpPr/>
                <p:nvPr/>
              </p:nvSpPr>
              <p:spPr>
                <a:xfrm>
                  <a:off x="3932019" y="28325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Synthesis</a:t>
                  </a:r>
                  <a:endParaRPr sz="1894">
                    <a:solidFill>
                      <a:srgbClr val="073763"/>
                    </a:solidFill>
                    <a:latin typeface="Proxima Nova"/>
                    <a:ea typeface="Proxima Nova"/>
                    <a:cs typeface="Proxima Nova"/>
                    <a:sym typeface="Proxima Nova"/>
                  </a:endParaRPr>
                </a:p>
              </p:txBody>
            </p:sp>
            <p:sp>
              <p:nvSpPr>
                <p:cNvPr id="347" name="Google Shape;347;p27"/>
                <p:cNvSpPr/>
                <p:nvPr/>
              </p:nvSpPr>
              <p:spPr>
                <a:xfrm>
                  <a:off x="6171000" y="28325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Prior Reconciliation</a:t>
                  </a:r>
                  <a:endParaRPr sz="1894">
                    <a:solidFill>
                      <a:srgbClr val="073763"/>
                    </a:solidFill>
                    <a:latin typeface="Proxima Nova"/>
                    <a:ea typeface="Proxima Nova"/>
                    <a:cs typeface="Proxima Nova"/>
                    <a:sym typeface="Proxima Nova"/>
                  </a:endParaRPr>
                </a:p>
              </p:txBody>
            </p:sp>
          </p:grpSp>
          <p:sp>
            <p:nvSpPr>
              <p:cNvPr id="348" name="Google Shape;348;p27"/>
              <p:cNvSpPr txBox="1"/>
              <p:nvPr/>
            </p:nvSpPr>
            <p:spPr>
              <a:xfrm>
                <a:off x="8560375" y="2814650"/>
                <a:ext cx="2640000" cy="747600"/>
              </a:xfrm>
              <a:prstGeom prst="rect">
                <a:avLst/>
              </a:prstGeom>
              <a:noFill/>
              <a:ln>
                <a:noFill/>
              </a:ln>
            </p:spPr>
            <p:txBody>
              <a:bodyPr anchorCtr="0" anchor="t" bIns="73700" lIns="73700" spcFirstLastPara="1" rIns="73700" wrap="square" tIns="73700">
                <a:spAutoFit/>
              </a:bodyPr>
              <a:lstStyle/>
              <a:p>
                <a:pPr indent="0" lvl="0" marL="0" rtl="0" algn="l">
                  <a:spcBef>
                    <a:spcPts val="0"/>
                  </a:spcBef>
                  <a:spcAft>
                    <a:spcPts val="0"/>
                  </a:spcAft>
                  <a:buNone/>
                </a:pPr>
                <a:r>
                  <a:rPr lang="pt-BR" sz="1894">
                    <a:solidFill>
                      <a:srgbClr val="E85453"/>
                    </a:solidFill>
                    <a:latin typeface="Proxima Nova"/>
                    <a:ea typeface="Proxima Nova"/>
                    <a:cs typeface="Proxima Nova"/>
                    <a:sym typeface="Proxima Nova"/>
                  </a:rPr>
                  <a:t>Interpretation Core</a:t>
                </a:r>
                <a:endParaRPr sz="1894">
                  <a:solidFill>
                    <a:srgbClr val="E85453"/>
                  </a:solidFill>
                  <a:latin typeface="Proxima Nova"/>
                  <a:ea typeface="Proxima Nova"/>
                  <a:cs typeface="Proxima Nova"/>
                  <a:sym typeface="Proxima Nova"/>
                </a:endParaRPr>
              </a:p>
            </p:txBody>
          </p:sp>
        </p:grpSp>
        <p:grpSp>
          <p:nvGrpSpPr>
            <p:cNvPr id="349" name="Google Shape;349;p27"/>
            <p:cNvGrpSpPr/>
            <p:nvPr/>
          </p:nvGrpSpPr>
          <p:grpSpPr>
            <a:xfrm>
              <a:off x="701144" y="10085862"/>
              <a:ext cx="7899273" cy="666641"/>
              <a:chOff x="1651406" y="3747403"/>
              <a:chExt cx="11255732" cy="758581"/>
            </a:xfrm>
          </p:grpSpPr>
          <p:grpSp>
            <p:nvGrpSpPr>
              <p:cNvPr id="350" name="Google Shape;350;p27"/>
              <p:cNvGrpSpPr/>
              <p:nvPr/>
            </p:nvGrpSpPr>
            <p:grpSpPr>
              <a:xfrm>
                <a:off x="1651406" y="3747403"/>
                <a:ext cx="8896256" cy="639000"/>
                <a:chOff x="1651406" y="3747403"/>
                <a:chExt cx="8896256" cy="639000"/>
              </a:xfrm>
            </p:grpSpPr>
            <p:sp>
              <p:nvSpPr>
                <p:cNvPr id="351" name="Google Shape;351;p27"/>
                <p:cNvSpPr/>
                <p:nvPr/>
              </p:nvSpPr>
              <p:spPr>
                <a:xfrm>
                  <a:off x="1651406" y="37474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Traceability</a:t>
                  </a:r>
                  <a:endParaRPr sz="1894">
                    <a:solidFill>
                      <a:srgbClr val="073763"/>
                    </a:solidFill>
                    <a:latin typeface="Proxima Nova"/>
                    <a:ea typeface="Proxima Nova"/>
                    <a:cs typeface="Proxima Nova"/>
                    <a:sym typeface="Proxima Nova"/>
                  </a:endParaRPr>
                </a:p>
              </p:txBody>
            </p:sp>
            <p:sp>
              <p:nvSpPr>
                <p:cNvPr id="352" name="Google Shape;352;p27"/>
                <p:cNvSpPr/>
                <p:nvPr/>
              </p:nvSpPr>
              <p:spPr>
                <a:xfrm>
                  <a:off x="3932019" y="37474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Safety Gates</a:t>
                  </a:r>
                  <a:endParaRPr sz="1894">
                    <a:solidFill>
                      <a:srgbClr val="073763"/>
                    </a:solidFill>
                    <a:latin typeface="Proxima Nova"/>
                    <a:ea typeface="Proxima Nova"/>
                    <a:cs typeface="Proxima Nova"/>
                    <a:sym typeface="Proxima Nova"/>
                  </a:endParaRPr>
                </a:p>
              </p:txBody>
            </p:sp>
            <p:sp>
              <p:nvSpPr>
                <p:cNvPr id="353" name="Google Shape;353;p27"/>
                <p:cNvSpPr/>
                <p:nvPr/>
              </p:nvSpPr>
              <p:spPr>
                <a:xfrm>
                  <a:off x="6171000" y="37474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Approval Rules</a:t>
                  </a:r>
                  <a:endParaRPr sz="1894">
                    <a:solidFill>
                      <a:srgbClr val="073763"/>
                    </a:solidFill>
                    <a:latin typeface="Proxima Nova"/>
                    <a:ea typeface="Proxima Nova"/>
                    <a:cs typeface="Proxima Nova"/>
                    <a:sym typeface="Proxima Nova"/>
                  </a:endParaRPr>
                </a:p>
              </p:txBody>
            </p:sp>
            <p:sp>
              <p:nvSpPr>
                <p:cNvPr id="354" name="Google Shape;354;p27"/>
                <p:cNvSpPr/>
                <p:nvPr/>
              </p:nvSpPr>
              <p:spPr>
                <a:xfrm>
                  <a:off x="8404463" y="37474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Escalation</a:t>
                  </a:r>
                  <a:endParaRPr sz="1894">
                    <a:solidFill>
                      <a:srgbClr val="073763"/>
                    </a:solidFill>
                    <a:latin typeface="Proxima Nova"/>
                    <a:ea typeface="Proxima Nova"/>
                    <a:cs typeface="Proxima Nova"/>
                    <a:sym typeface="Proxima Nova"/>
                  </a:endParaRPr>
                </a:p>
              </p:txBody>
            </p:sp>
          </p:grpSp>
          <p:sp>
            <p:nvSpPr>
              <p:cNvPr id="355" name="Google Shape;355;p27"/>
              <p:cNvSpPr txBox="1"/>
              <p:nvPr/>
            </p:nvSpPr>
            <p:spPr>
              <a:xfrm>
                <a:off x="10763938" y="3758384"/>
                <a:ext cx="2143200" cy="747600"/>
              </a:xfrm>
              <a:prstGeom prst="rect">
                <a:avLst/>
              </a:prstGeom>
              <a:noFill/>
              <a:ln>
                <a:noFill/>
              </a:ln>
            </p:spPr>
            <p:txBody>
              <a:bodyPr anchorCtr="0" anchor="t" bIns="73700" lIns="73700" spcFirstLastPara="1" rIns="73700" wrap="square" tIns="73700">
                <a:spAutoFit/>
              </a:bodyPr>
              <a:lstStyle/>
              <a:p>
                <a:pPr indent="0" lvl="0" marL="0" rtl="0" algn="l">
                  <a:spcBef>
                    <a:spcPts val="0"/>
                  </a:spcBef>
                  <a:spcAft>
                    <a:spcPts val="0"/>
                  </a:spcAft>
                  <a:buNone/>
                </a:pPr>
                <a:r>
                  <a:rPr lang="pt-BR" sz="1894">
                    <a:solidFill>
                      <a:srgbClr val="E85453"/>
                    </a:solidFill>
                    <a:latin typeface="Proxima Nova"/>
                    <a:ea typeface="Proxima Nova"/>
                    <a:cs typeface="Proxima Nova"/>
                    <a:sym typeface="Proxima Nova"/>
                  </a:rPr>
                  <a:t>Clinical Review</a:t>
                </a:r>
                <a:endParaRPr sz="1894">
                  <a:solidFill>
                    <a:srgbClr val="E85453"/>
                  </a:solidFill>
                  <a:latin typeface="Proxima Nova"/>
                  <a:ea typeface="Proxima Nova"/>
                  <a:cs typeface="Proxima Nova"/>
                  <a:sym typeface="Proxima Nova"/>
                </a:endParaRPr>
              </a:p>
            </p:txBody>
          </p:sp>
        </p:grpSp>
        <p:grpSp>
          <p:nvGrpSpPr>
            <p:cNvPr id="356" name="Google Shape;356;p27"/>
            <p:cNvGrpSpPr/>
            <p:nvPr/>
          </p:nvGrpSpPr>
          <p:grpSpPr>
            <a:xfrm>
              <a:off x="701144" y="10889876"/>
              <a:ext cx="5291585" cy="561553"/>
              <a:chOff x="1651406" y="4662303"/>
              <a:chExt cx="7540019" cy="639000"/>
            </a:xfrm>
          </p:grpSpPr>
          <p:grpSp>
            <p:nvGrpSpPr>
              <p:cNvPr id="357" name="Google Shape;357;p27"/>
              <p:cNvGrpSpPr/>
              <p:nvPr/>
            </p:nvGrpSpPr>
            <p:grpSpPr>
              <a:xfrm>
                <a:off x="1651406" y="4662303"/>
                <a:ext cx="4423813" cy="639000"/>
                <a:chOff x="1651406" y="4662303"/>
                <a:chExt cx="4423813" cy="639000"/>
              </a:xfrm>
            </p:grpSpPr>
            <p:sp>
              <p:nvSpPr>
                <p:cNvPr id="358" name="Google Shape;358;p27"/>
                <p:cNvSpPr/>
                <p:nvPr/>
              </p:nvSpPr>
              <p:spPr>
                <a:xfrm>
                  <a:off x="1651406" y="46623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Workflow Delivery</a:t>
                  </a:r>
                  <a:endParaRPr sz="1894">
                    <a:solidFill>
                      <a:srgbClr val="073763"/>
                    </a:solidFill>
                    <a:latin typeface="Proxima Nova"/>
                    <a:ea typeface="Proxima Nova"/>
                    <a:cs typeface="Proxima Nova"/>
                    <a:sym typeface="Proxima Nova"/>
                  </a:endParaRPr>
                </a:p>
              </p:txBody>
            </p:sp>
            <p:sp>
              <p:nvSpPr>
                <p:cNvPr id="359" name="Google Shape;359;p27"/>
                <p:cNvSpPr/>
                <p:nvPr/>
              </p:nvSpPr>
              <p:spPr>
                <a:xfrm>
                  <a:off x="3932019" y="4662303"/>
                  <a:ext cx="2143200" cy="639000"/>
                </a:xfrm>
                <a:prstGeom prst="rect">
                  <a:avLst/>
                </a:prstGeom>
                <a:solidFill>
                  <a:schemeClr val="lt2"/>
                </a:solidFill>
                <a:ln>
                  <a:noFill/>
                </a:ln>
              </p:spPr>
              <p:txBody>
                <a:bodyPr anchorCtr="0" anchor="ctr" bIns="36875" lIns="73700" spcFirstLastPara="1" rIns="73700" wrap="square" tIns="36875">
                  <a:noAutofit/>
                </a:bodyPr>
                <a:lstStyle/>
                <a:p>
                  <a:pPr indent="0" lvl="0" marL="0" marR="0" rtl="0" algn="ctr">
                    <a:spcBef>
                      <a:spcPts val="0"/>
                    </a:spcBef>
                    <a:spcAft>
                      <a:spcPts val="0"/>
                    </a:spcAft>
                    <a:buNone/>
                  </a:pPr>
                  <a:r>
                    <a:rPr lang="pt-BR" sz="1894">
                      <a:solidFill>
                        <a:srgbClr val="073763"/>
                      </a:solidFill>
                      <a:latin typeface="Proxima Nova"/>
                      <a:ea typeface="Proxima Nova"/>
                      <a:cs typeface="Proxima Nova"/>
                      <a:sym typeface="Proxima Nova"/>
                    </a:rPr>
                    <a:t>Feedback</a:t>
                  </a:r>
                  <a:endParaRPr sz="1894">
                    <a:solidFill>
                      <a:srgbClr val="073763"/>
                    </a:solidFill>
                    <a:latin typeface="Proxima Nova"/>
                    <a:ea typeface="Proxima Nova"/>
                    <a:cs typeface="Proxima Nova"/>
                    <a:sym typeface="Proxima Nova"/>
                  </a:endParaRPr>
                </a:p>
              </p:txBody>
            </p:sp>
          </p:grpSp>
          <p:sp>
            <p:nvSpPr>
              <p:cNvPr id="360" name="Google Shape;360;p27"/>
              <p:cNvSpPr txBox="1"/>
              <p:nvPr/>
            </p:nvSpPr>
            <p:spPr>
              <a:xfrm>
                <a:off x="6272425" y="4765370"/>
                <a:ext cx="2919000" cy="450000"/>
              </a:xfrm>
              <a:prstGeom prst="rect">
                <a:avLst/>
              </a:prstGeom>
              <a:noFill/>
              <a:ln>
                <a:noFill/>
              </a:ln>
            </p:spPr>
            <p:txBody>
              <a:bodyPr anchorCtr="0" anchor="t" bIns="73700" lIns="73700" spcFirstLastPara="1" rIns="73700" wrap="square" tIns="73700">
                <a:spAutoFit/>
              </a:bodyPr>
              <a:lstStyle/>
              <a:p>
                <a:pPr indent="0" lvl="0" marL="0" rtl="0" algn="l">
                  <a:spcBef>
                    <a:spcPts val="0"/>
                  </a:spcBef>
                  <a:spcAft>
                    <a:spcPts val="0"/>
                  </a:spcAft>
                  <a:buNone/>
                </a:pPr>
                <a:r>
                  <a:rPr lang="pt-BR" sz="1894">
                    <a:solidFill>
                      <a:srgbClr val="E85453"/>
                    </a:solidFill>
                    <a:latin typeface="Proxima Nova"/>
                    <a:ea typeface="Proxima Nova"/>
                    <a:cs typeface="Proxima Nova"/>
                    <a:sym typeface="Proxima Nova"/>
                  </a:rPr>
                  <a:t>Physician Delivery</a:t>
                </a:r>
                <a:endParaRPr sz="1894">
                  <a:solidFill>
                    <a:srgbClr val="E85453"/>
                  </a:solidFill>
                  <a:latin typeface="Proxima Nova"/>
                  <a:ea typeface="Proxima Nova"/>
                  <a:cs typeface="Proxima Nova"/>
                  <a:sym typeface="Proxima Nova"/>
                </a:endParaRPr>
              </a:p>
            </p:txBody>
          </p:sp>
        </p:grpSp>
      </p:grpSp>
      <p:sp>
        <p:nvSpPr>
          <p:cNvPr id="361" name="Google Shape;361;p27"/>
          <p:cNvSpPr/>
          <p:nvPr/>
        </p:nvSpPr>
        <p:spPr>
          <a:xfrm>
            <a:off x="2937421" y="5126566"/>
            <a:ext cx="1598100" cy="613500"/>
          </a:xfrm>
          <a:prstGeom prst="rect">
            <a:avLst/>
          </a:prstGeom>
          <a:solidFill>
            <a:srgbClr val="F26968"/>
          </a:solidFill>
          <a:ln>
            <a:noFill/>
          </a:ln>
        </p:spPr>
        <p:txBody>
          <a:bodyPr anchorCtr="0" anchor="ctr" bIns="147350" lIns="147350" spcFirstLastPara="1" rIns="147350" wrap="square" tIns="147350">
            <a:noAutofit/>
          </a:bodyPr>
          <a:lstStyle/>
          <a:p>
            <a:pPr indent="0" lvl="0" marL="0" marR="0" rtl="0" algn="ctr">
              <a:spcBef>
                <a:spcPts val="0"/>
              </a:spcBef>
              <a:spcAft>
                <a:spcPts val="0"/>
              </a:spcAft>
              <a:buNone/>
            </a:pPr>
            <a:r>
              <a:rPr b="0" i="0" lang="pt-BR" sz="1440" u="none" cap="none" strike="noStrike">
                <a:solidFill>
                  <a:schemeClr val="lt1"/>
                </a:solidFill>
                <a:latin typeface="Proxima Nova"/>
                <a:ea typeface="Proxima Nova"/>
                <a:cs typeface="Proxima Nova"/>
                <a:sym typeface="Proxima Nova"/>
              </a:rPr>
              <a:t>General ranges</a:t>
            </a:r>
            <a:endParaRPr b="0" i="0" sz="1440" u="none" cap="none" strike="noStrike">
              <a:solidFill>
                <a:schemeClr val="lt1"/>
              </a:solidFill>
              <a:latin typeface="Proxima Nova"/>
              <a:ea typeface="Proxima Nova"/>
              <a:cs typeface="Proxima Nova"/>
              <a:sym typeface="Proxima Nova"/>
            </a:endParaRPr>
          </a:p>
        </p:txBody>
      </p:sp>
      <p:sp>
        <p:nvSpPr>
          <p:cNvPr id="362" name="Google Shape;362;p27"/>
          <p:cNvSpPr/>
          <p:nvPr/>
        </p:nvSpPr>
        <p:spPr>
          <a:xfrm>
            <a:off x="4650072" y="5126566"/>
            <a:ext cx="1598100" cy="613500"/>
          </a:xfrm>
          <a:prstGeom prst="rect">
            <a:avLst/>
          </a:prstGeom>
          <a:solidFill>
            <a:srgbClr val="F26968"/>
          </a:solidFill>
          <a:ln>
            <a:noFill/>
          </a:ln>
        </p:spPr>
        <p:txBody>
          <a:bodyPr anchorCtr="0" anchor="ctr" bIns="147350" lIns="147350" spcFirstLastPara="1" rIns="147350" wrap="square" tIns="147350">
            <a:noAutofit/>
          </a:bodyPr>
          <a:lstStyle/>
          <a:p>
            <a:pPr indent="0" lvl="0" marL="0" marR="0" rtl="0" algn="ctr">
              <a:spcBef>
                <a:spcPts val="0"/>
              </a:spcBef>
              <a:spcAft>
                <a:spcPts val="0"/>
              </a:spcAft>
              <a:buNone/>
            </a:pPr>
            <a:r>
              <a:rPr b="0" i="0" lang="pt-BR" sz="1440" u="none" cap="none" strike="noStrike">
                <a:solidFill>
                  <a:schemeClr val="lt1"/>
                </a:solidFill>
                <a:latin typeface="Proxima Nova"/>
                <a:ea typeface="Proxima Nova"/>
                <a:cs typeface="Proxima Nova"/>
                <a:sym typeface="Proxima Nova"/>
              </a:rPr>
              <a:t>Generic flags</a:t>
            </a:r>
            <a:endParaRPr b="0" i="0" sz="1440" u="none" cap="none" strike="noStrike">
              <a:solidFill>
                <a:schemeClr val="lt1"/>
              </a:solidFill>
              <a:latin typeface="Proxima Nova"/>
              <a:ea typeface="Proxima Nova"/>
              <a:cs typeface="Proxima Nova"/>
              <a:sym typeface="Proxima Nova"/>
            </a:endParaRPr>
          </a:p>
        </p:txBody>
      </p:sp>
      <p:sp>
        <p:nvSpPr>
          <p:cNvPr id="363" name="Google Shape;363;p27"/>
          <p:cNvSpPr/>
          <p:nvPr/>
        </p:nvSpPr>
        <p:spPr>
          <a:xfrm>
            <a:off x="6362725" y="5126566"/>
            <a:ext cx="1598100" cy="613500"/>
          </a:xfrm>
          <a:prstGeom prst="rect">
            <a:avLst/>
          </a:prstGeom>
          <a:solidFill>
            <a:srgbClr val="F26968"/>
          </a:solidFill>
          <a:ln>
            <a:noFill/>
          </a:ln>
        </p:spPr>
        <p:txBody>
          <a:bodyPr anchorCtr="0" anchor="ctr" bIns="147350" lIns="147350" spcFirstLastPara="1" rIns="147350" wrap="square" tIns="147350">
            <a:noAutofit/>
          </a:bodyPr>
          <a:lstStyle/>
          <a:p>
            <a:pPr indent="0" lvl="0" marL="0" marR="0" rtl="0" algn="ctr">
              <a:spcBef>
                <a:spcPts val="0"/>
              </a:spcBef>
              <a:spcAft>
                <a:spcPts val="0"/>
              </a:spcAft>
              <a:buNone/>
            </a:pPr>
            <a:r>
              <a:rPr b="0" i="0" lang="pt-BR" sz="1440" u="none" cap="none" strike="noStrike">
                <a:solidFill>
                  <a:schemeClr val="lt1"/>
                </a:solidFill>
                <a:latin typeface="Proxima Nova"/>
                <a:ea typeface="Proxima Nova"/>
                <a:cs typeface="Proxima Nova"/>
                <a:sym typeface="Proxima Nova"/>
              </a:rPr>
              <a:t>Limited context</a:t>
            </a:r>
            <a:endParaRPr b="0" i="0" sz="1440" u="none" cap="none" strike="noStrike">
              <a:solidFill>
                <a:schemeClr val="lt1"/>
              </a:solidFill>
              <a:latin typeface="Proxima Nova"/>
              <a:ea typeface="Proxima Nova"/>
              <a:cs typeface="Proxima Nova"/>
              <a:sym typeface="Proxima Nova"/>
            </a:endParaRPr>
          </a:p>
        </p:txBody>
      </p:sp>
      <p:sp>
        <p:nvSpPr>
          <p:cNvPr id="364" name="Google Shape;364;p27"/>
          <p:cNvSpPr/>
          <p:nvPr/>
        </p:nvSpPr>
        <p:spPr>
          <a:xfrm>
            <a:off x="2951386" y="5981114"/>
            <a:ext cx="1598100" cy="613500"/>
          </a:xfrm>
          <a:prstGeom prst="rect">
            <a:avLst/>
          </a:prstGeom>
          <a:solidFill>
            <a:srgbClr val="F3F3F3"/>
          </a:solidFill>
          <a:ln>
            <a:noFill/>
          </a:ln>
        </p:spPr>
        <p:txBody>
          <a:bodyPr anchorCtr="0" anchor="ctr" bIns="147350" lIns="147350" spcFirstLastPara="1" rIns="147350" wrap="square" tIns="147350">
            <a:noAutofit/>
          </a:bodyPr>
          <a:lstStyle/>
          <a:p>
            <a:pPr indent="0" lvl="0" marL="0" marR="0" rtl="0" algn="ctr">
              <a:spcBef>
                <a:spcPts val="0"/>
              </a:spcBef>
              <a:spcAft>
                <a:spcPts val="0"/>
              </a:spcAft>
              <a:buNone/>
            </a:pPr>
            <a:r>
              <a:rPr b="0" i="0" lang="pt-BR" sz="1440" u="none" cap="none" strike="noStrike">
                <a:solidFill>
                  <a:srgbClr val="292940"/>
                </a:solidFill>
                <a:latin typeface="Proxima Nova"/>
                <a:ea typeface="Proxima Nova"/>
                <a:cs typeface="Proxima Nova"/>
                <a:sym typeface="Proxima Nova"/>
              </a:rPr>
              <a:t>Patient context</a:t>
            </a:r>
            <a:endParaRPr b="0" i="0" sz="1440" u="none" cap="none" strike="noStrike">
              <a:solidFill>
                <a:srgbClr val="292940"/>
              </a:solidFill>
              <a:latin typeface="Proxima Nova"/>
              <a:ea typeface="Proxima Nova"/>
              <a:cs typeface="Proxima Nova"/>
              <a:sym typeface="Proxima Nova"/>
            </a:endParaRPr>
          </a:p>
        </p:txBody>
      </p:sp>
      <p:sp>
        <p:nvSpPr>
          <p:cNvPr id="365" name="Google Shape;365;p27"/>
          <p:cNvSpPr/>
          <p:nvPr/>
        </p:nvSpPr>
        <p:spPr>
          <a:xfrm>
            <a:off x="4664039" y="5981114"/>
            <a:ext cx="1598100" cy="613500"/>
          </a:xfrm>
          <a:prstGeom prst="rect">
            <a:avLst/>
          </a:prstGeom>
          <a:solidFill>
            <a:srgbClr val="F3F3F3"/>
          </a:solidFill>
          <a:ln>
            <a:noFill/>
          </a:ln>
        </p:spPr>
        <p:txBody>
          <a:bodyPr anchorCtr="0" anchor="ctr" bIns="147350" lIns="147350" spcFirstLastPara="1" rIns="147350" wrap="square" tIns="147350">
            <a:noAutofit/>
          </a:bodyPr>
          <a:lstStyle/>
          <a:p>
            <a:pPr indent="0" lvl="0" marL="0" marR="0" rtl="0" algn="ctr">
              <a:spcBef>
                <a:spcPts val="0"/>
              </a:spcBef>
              <a:spcAft>
                <a:spcPts val="0"/>
              </a:spcAft>
              <a:buNone/>
            </a:pPr>
            <a:r>
              <a:rPr b="0" i="0" lang="pt-BR" sz="1440" u="none" cap="none" strike="noStrike">
                <a:solidFill>
                  <a:srgbClr val="292940"/>
                </a:solidFill>
                <a:latin typeface="Proxima Nova"/>
                <a:ea typeface="Proxima Nova"/>
                <a:cs typeface="Proxima Nova"/>
                <a:sym typeface="Proxima Nova"/>
              </a:rPr>
              <a:t>Evidence grounded</a:t>
            </a:r>
            <a:endParaRPr b="0" i="0" sz="1440" u="none" cap="none" strike="noStrike">
              <a:solidFill>
                <a:srgbClr val="292940"/>
              </a:solidFill>
              <a:latin typeface="Proxima Nova"/>
              <a:ea typeface="Proxima Nova"/>
              <a:cs typeface="Proxima Nova"/>
              <a:sym typeface="Proxima Nova"/>
            </a:endParaRPr>
          </a:p>
        </p:txBody>
      </p:sp>
      <p:sp>
        <p:nvSpPr>
          <p:cNvPr id="366" name="Google Shape;366;p27"/>
          <p:cNvSpPr/>
          <p:nvPr/>
        </p:nvSpPr>
        <p:spPr>
          <a:xfrm>
            <a:off x="4664039" y="6695907"/>
            <a:ext cx="1598100" cy="613500"/>
          </a:xfrm>
          <a:prstGeom prst="rect">
            <a:avLst/>
          </a:prstGeom>
          <a:solidFill>
            <a:srgbClr val="F3F3F3"/>
          </a:solidFill>
          <a:ln>
            <a:noFill/>
          </a:ln>
        </p:spPr>
        <p:txBody>
          <a:bodyPr anchorCtr="0" anchor="ctr" bIns="147350" lIns="147350" spcFirstLastPara="1" rIns="147350" wrap="square" tIns="147350">
            <a:noAutofit/>
          </a:bodyPr>
          <a:lstStyle/>
          <a:p>
            <a:pPr indent="0" lvl="0" marL="0" marR="0" rtl="0" algn="ctr">
              <a:spcBef>
                <a:spcPts val="0"/>
              </a:spcBef>
              <a:spcAft>
                <a:spcPts val="0"/>
              </a:spcAft>
              <a:buNone/>
            </a:pPr>
            <a:r>
              <a:rPr b="0" i="0" lang="pt-BR" sz="1440" u="none" cap="none" strike="noStrike">
                <a:solidFill>
                  <a:srgbClr val="292940"/>
                </a:solidFill>
                <a:latin typeface="Proxima Nova"/>
                <a:ea typeface="Proxima Nova"/>
                <a:cs typeface="Proxima Nova"/>
                <a:sym typeface="Proxima Nova"/>
              </a:rPr>
              <a:t>Traceable</a:t>
            </a:r>
            <a:endParaRPr b="0" i="0" sz="1440" u="none" cap="none" strike="noStrike">
              <a:solidFill>
                <a:srgbClr val="292940"/>
              </a:solidFill>
              <a:latin typeface="Proxima Nova"/>
              <a:ea typeface="Proxima Nova"/>
              <a:cs typeface="Proxima Nova"/>
              <a:sym typeface="Proxima Nova"/>
            </a:endParaRPr>
          </a:p>
        </p:txBody>
      </p:sp>
      <p:sp>
        <p:nvSpPr>
          <p:cNvPr id="367" name="Google Shape;367;p27"/>
          <p:cNvSpPr/>
          <p:nvPr/>
        </p:nvSpPr>
        <p:spPr>
          <a:xfrm>
            <a:off x="2951386" y="6695907"/>
            <a:ext cx="1598100" cy="613500"/>
          </a:xfrm>
          <a:prstGeom prst="rect">
            <a:avLst/>
          </a:prstGeom>
          <a:solidFill>
            <a:srgbClr val="F3F3F3"/>
          </a:solidFill>
          <a:ln>
            <a:noFill/>
          </a:ln>
        </p:spPr>
        <p:txBody>
          <a:bodyPr anchorCtr="0" anchor="ctr" bIns="147350" lIns="147350" spcFirstLastPara="1" rIns="147350" wrap="square" tIns="147350">
            <a:noAutofit/>
          </a:bodyPr>
          <a:lstStyle/>
          <a:p>
            <a:pPr indent="0" lvl="0" marL="0" marR="0" rtl="0" algn="ctr">
              <a:spcBef>
                <a:spcPts val="0"/>
              </a:spcBef>
              <a:spcAft>
                <a:spcPts val="0"/>
              </a:spcAft>
              <a:buNone/>
            </a:pPr>
            <a:r>
              <a:rPr b="0" i="0" lang="pt-BR" sz="1440" u="none" cap="none" strike="noStrike">
                <a:solidFill>
                  <a:srgbClr val="292940"/>
                </a:solidFill>
                <a:latin typeface="Proxima Nova"/>
                <a:ea typeface="Proxima Nova"/>
                <a:cs typeface="Proxima Nova"/>
                <a:sym typeface="Proxima Nova"/>
              </a:rPr>
              <a:t>Clinically reviewed</a:t>
            </a:r>
            <a:endParaRPr b="0" i="0" sz="1440" u="none" cap="none" strike="noStrike">
              <a:solidFill>
                <a:srgbClr val="292940"/>
              </a:solidFill>
              <a:latin typeface="Proxima Nova"/>
              <a:ea typeface="Proxima Nova"/>
              <a:cs typeface="Proxima Nova"/>
              <a:sym typeface="Proxima Nova"/>
            </a:endParaRPr>
          </a:p>
        </p:txBody>
      </p:sp>
      <p:sp>
        <p:nvSpPr>
          <p:cNvPr id="368" name="Google Shape;368;p27"/>
          <p:cNvSpPr/>
          <p:nvPr/>
        </p:nvSpPr>
        <p:spPr>
          <a:xfrm>
            <a:off x="6376692" y="5981114"/>
            <a:ext cx="1598100" cy="613500"/>
          </a:xfrm>
          <a:prstGeom prst="rect">
            <a:avLst/>
          </a:prstGeom>
          <a:solidFill>
            <a:srgbClr val="F3F3F3"/>
          </a:solidFill>
          <a:ln>
            <a:noFill/>
          </a:ln>
        </p:spPr>
        <p:txBody>
          <a:bodyPr anchorCtr="0" anchor="ctr" bIns="147350" lIns="147350" spcFirstLastPara="1" rIns="147350" wrap="square" tIns="147350">
            <a:noAutofit/>
          </a:bodyPr>
          <a:lstStyle/>
          <a:p>
            <a:pPr indent="0" lvl="0" marL="0" marR="0" rtl="0" algn="ctr">
              <a:spcBef>
                <a:spcPts val="0"/>
              </a:spcBef>
              <a:spcAft>
                <a:spcPts val="0"/>
              </a:spcAft>
              <a:buNone/>
            </a:pPr>
            <a:r>
              <a:rPr b="0" i="0" lang="pt-BR" sz="1440" u="none" cap="none" strike="noStrike">
                <a:solidFill>
                  <a:srgbClr val="292940"/>
                </a:solidFill>
                <a:latin typeface="Proxima Nova"/>
                <a:ea typeface="Proxima Nova"/>
                <a:cs typeface="Proxima Nova"/>
                <a:sym typeface="Proxima Nova"/>
              </a:rPr>
              <a:t>Specialist informed</a:t>
            </a:r>
            <a:endParaRPr b="0" i="0" sz="1440" u="none" cap="none" strike="noStrike">
              <a:solidFill>
                <a:srgbClr val="292940"/>
              </a:solidFill>
              <a:latin typeface="Proxima Nova"/>
              <a:ea typeface="Proxima Nova"/>
              <a:cs typeface="Proxima Nova"/>
              <a:sym typeface="Proxima Nova"/>
            </a:endParaRPr>
          </a:p>
        </p:txBody>
      </p:sp>
      <p:sp>
        <p:nvSpPr>
          <p:cNvPr id="369" name="Google Shape;369;p27"/>
          <p:cNvSpPr txBox="1"/>
          <p:nvPr/>
        </p:nvSpPr>
        <p:spPr>
          <a:xfrm>
            <a:off x="6326872" y="6738253"/>
            <a:ext cx="1697400" cy="741000"/>
          </a:xfrm>
          <a:prstGeom prst="rect">
            <a:avLst/>
          </a:prstGeom>
          <a:noFill/>
          <a:ln>
            <a:noFill/>
          </a:ln>
        </p:spPr>
        <p:txBody>
          <a:bodyPr anchorCtr="0" anchor="t" bIns="147350" lIns="147350" spcFirstLastPara="1" rIns="147350" wrap="square" tIns="147350">
            <a:spAutoFit/>
          </a:bodyPr>
          <a:lstStyle/>
          <a:p>
            <a:pPr indent="0" lvl="0" marL="0" marR="0" rtl="0" algn="ctr">
              <a:spcBef>
                <a:spcPts val="0"/>
              </a:spcBef>
              <a:spcAft>
                <a:spcPts val="0"/>
              </a:spcAft>
              <a:buNone/>
            </a:pPr>
            <a:r>
              <a:rPr b="1" i="0" lang="pt-BR" sz="1440" u="none" cap="none" strike="noStrike">
                <a:solidFill>
                  <a:srgbClr val="999999"/>
                </a:solidFill>
                <a:latin typeface="Proxima Nova"/>
                <a:ea typeface="Proxima Nova"/>
                <a:cs typeface="Proxima Nova"/>
                <a:sym typeface="Proxima Nova"/>
              </a:rPr>
              <a:t>Interpretation Layer</a:t>
            </a:r>
            <a:endParaRPr b="1" i="0" sz="1440" u="none" cap="none" strike="noStrike">
              <a:solidFill>
                <a:srgbClr val="999999"/>
              </a:solidFill>
              <a:latin typeface="Proxima Nova"/>
              <a:ea typeface="Proxima Nova"/>
              <a:cs typeface="Proxima Nova"/>
              <a:sym typeface="Proxima Nova"/>
            </a:endParaRPr>
          </a:p>
        </p:txBody>
      </p:sp>
      <p:graphicFrame>
        <p:nvGraphicFramePr>
          <p:cNvPr id="370" name="Google Shape;370;p27"/>
          <p:cNvGraphicFramePr/>
          <p:nvPr/>
        </p:nvGraphicFramePr>
        <p:xfrm>
          <a:off x="17251316" y="1639257"/>
          <a:ext cx="3000000" cy="3000000"/>
        </p:xfrm>
        <a:graphic>
          <a:graphicData uri="http://schemas.openxmlformats.org/drawingml/2006/table">
            <a:tbl>
              <a:tblPr>
                <a:noFill/>
                <a:tableStyleId>{23E452CD-4AC9-494A-AED8-5A9A6700DAF9}</a:tableStyleId>
              </a:tblPr>
              <a:tblGrid>
                <a:gridCol w="444600"/>
                <a:gridCol w="1396100"/>
                <a:gridCol w="634600"/>
                <a:gridCol w="812250"/>
                <a:gridCol w="541600"/>
                <a:gridCol w="689525"/>
                <a:gridCol w="698075"/>
                <a:gridCol w="659975"/>
              </a:tblGrid>
              <a:tr h="648050">
                <a:tc>
                  <a:txBody>
                    <a:bodyPr/>
                    <a:lstStyle/>
                    <a:p>
                      <a:pPr indent="0" lvl="0" marL="0" marR="0" rtl="0" algn="ctr">
                        <a:spcBef>
                          <a:spcPts val="0"/>
                        </a:spcBef>
                        <a:spcAft>
                          <a:spcPts val="0"/>
                        </a:spcAft>
                        <a:buClr>
                          <a:schemeClr val="lt1"/>
                        </a:buClr>
                        <a:buSzPts val="960"/>
                        <a:buFont typeface="Arial"/>
                        <a:buNone/>
                      </a:pPr>
                      <a:r>
                        <a:rPr b="1" lang="pt-BR" sz="960" u="none" cap="none" strike="noStrike">
                          <a:solidFill>
                            <a:schemeClr val="lt1"/>
                          </a:solidFill>
                        </a:rPr>
                        <a:t>ID</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000000">
                          <a:alpha val="0"/>
                        </a:srgbClr>
                      </a:solidFill>
                      <a:prstDash val="solid"/>
                      <a:round/>
                      <a:headEnd len="sm" w="sm" type="none"/>
                      <a:tailEnd len="sm" w="sm" type="none"/>
                    </a:lnT>
                    <a:lnB cap="flat" cmpd="sng" w="11425">
                      <a:solidFill>
                        <a:srgbClr val="E0E0E0"/>
                      </a:solidFill>
                      <a:prstDash val="solid"/>
                      <a:round/>
                      <a:headEnd len="sm" w="sm" type="none"/>
                      <a:tailEnd len="sm" w="sm" type="none"/>
                    </a:lnB>
                    <a:solidFill>
                      <a:srgbClr val="073763"/>
                    </a:solidFill>
                  </a:tcPr>
                </a:tc>
                <a:tc>
                  <a:txBody>
                    <a:bodyPr/>
                    <a:lstStyle/>
                    <a:p>
                      <a:pPr indent="0" lvl="0" marL="0" marR="0" rtl="0" algn="ctr">
                        <a:spcBef>
                          <a:spcPts val="0"/>
                        </a:spcBef>
                        <a:spcAft>
                          <a:spcPts val="0"/>
                        </a:spcAft>
                        <a:buClr>
                          <a:schemeClr val="lt1"/>
                        </a:buClr>
                        <a:buSzPts val="960"/>
                        <a:buFont typeface="Arial"/>
                        <a:buNone/>
                      </a:pPr>
                      <a:r>
                        <a:rPr b="1" lang="pt-BR" sz="960" u="none" cap="none" strike="noStrike">
                          <a:solidFill>
                            <a:schemeClr val="lt1"/>
                          </a:solidFill>
                        </a:rPr>
                        <a:t>Name</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000000">
                          <a:alpha val="0"/>
                        </a:srgbClr>
                      </a:solidFill>
                      <a:prstDash val="solid"/>
                      <a:round/>
                      <a:headEnd len="sm" w="sm" type="none"/>
                      <a:tailEnd len="sm" w="sm" type="none"/>
                    </a:lnT>
                    <a:lnB cap="flat" cmpd="sng" w="11425">
                      <a:solidFill>
                        <a:srgbClr val="E0E0E0"/>
                      </a:solidFill>
                      <a:prstDash val="solid"/>
                      <a:round/>
                      <a:headEnd len="sm" w="sm" type="none"/>
                      <a:tailEnd len="sm" w="sm" type="none"/>
                    </a:lnB>
                    <a:solidFill>
                      <a:srgbClr val="073763"/>
                    </a:solidFill>
                  </a:tcPr>
                </a:tc>
                <a:tc>
                  <a:txBody>
                    <a:bodyPr/>
                    <a:lstStyle/>
                    <a:p>
                      <a:pPr indent="0" lvl="0" marL="0" marR="0" rtl="0" algn="ctr">
                        <a:spcBef>
                          <a:spcPts val="0"/>
                        </a:spcBef>
                        <a:spcAft>
                          <a:spcPts val="0"/>
                        </a:spcAft>
                        <a:buClr>
                          <a:schemeClr val="lt1"/>
                        </a:buClr>
                        <a:buSzPts val="960"/>
                        <a:buFont typeface="Arial"/>
                        <a:buNone/>
                      </a:pPr>
                      <a:r>
                        <a:rPr b="1" lang="pt-BR" sz="960" u="none" cap="none" strike="noStrike">
                          <a:solidFill>
                            <a:schemeClr val="lt1"/>
                          </a:solidFill>
                        </a:rPr>
                        <a:t>Model Origin</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000000">
                          <a:alpha val="0"/>
                        </a:srgbClr>
                      </a:solidFill>
                      <a:prstDash val="solid"/>
                      <a:round/>
                      <a:headEnd len="sm" w="sm" type="none"/>
                      <a:tailEnd len="sm" w="sm" type="none"/>
                    </a:lnT>
                    <a:lnB cap="flat" cmpd="sng" w="11425">
                      <a:solidFill>
                        <a:srgbClr val="E0E0E0"/>
                      </a:solidFill>
                      <a:prstDash val="solid"/>
                      <a:round/>
                      <a:headEnd len="sm" w="sm" type="none"/>
                      <a:tailEnd len="sm" w="sm" type="none"/>
                    </a:lnB>
                    <a:solidFill>
                      <a:srgbClr val="073763"/>
                    </a:solidFill>
                  </a:tcPr>
                </a:tc>
                <a:tc>
                  <a:txBody>
                    <a:bodyPr/>
                    <a:lstStyle/>
                    <a:p>
                      <a:pPr indent="0" lvl="0" marL="0" marR="0" rtl="0" algn="ctr">
                        <a:spcBef>
                          <a:spcPts val="0"/>
                        </a:spcBef>
                        <a:spcAft>
                          <a:spcPts val="0"/>
                        </a:spcAft>
                        <a:buClr>
                          <a:schemeClr val="lt1"/>
                        </a:buClr>
                        <a:buSzPts val="960"/>
                        <a:buFont typeface="Arial"/>
                        <a:buNone/>
                      </a:pPr>
                      <a:r>
                        <a:rPr b="1" lang="pt-BR" sz="960" u="none" cap="none" strike="noStrike">
                          <a:solidFill>
                            <a:schemeClr val="lt1"/>
                          </a:solidFill>
                        </a:rPr>
                        <a:t>Research Paradigm</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000000">
                          <a:alpha val="0"/>
                        </a:srgbClr>
                      </a:solidFill>
                      <a:prstDash val="solid"/>
                      <a:round/>
                      <a:headEnd len="sm" w="sm" type="none"/>
                      <a:tailEnd len="sm" w="sm" type="none"/>
                    </a:lnT>
                    <a:lnB cap="flat" cmpd="sng" w="11425">
                      <a:solidFill>
                        <a:srgbClr val="E0E0E0"/>
                      </a:solidFill>
                      <a:prstDash val="solid"/>
                      <a:round/>
                      <a:headEnd len="sm" w="sm" type="none"/>
                      <a:tailEnd len="sm" w="sm" type="none"/>
                    </a:lnB>
                    <a:solidFill>
                      <a:srgbClr val="073763"/>
                    </a:solidFill>
                  </a:tcPr>
                </a:tc>
                <a:tc>
                  <a:txBody>
                    <a:bodyPr/>
                    <a:lstStyle/>
                    <a:p>
                      <a:pPr indent="0" lvl="0" marL="0" marR="0" rtl="0" algn="ctr">
                        <a:spcBef>
                          <a:spcPts val="0"/>
                        </a:spcBef>
                        <a:spcAft>
                          <a:spcPts val="0"/>
                        </a:spcAft>
                        <a:buClr>
                          <a:schemeClr val="lt1"/>
                        </a:buClr>
                        <a:buSzPts val="960"/>
                        <a:buFont typeface="Arial"/>
                        <a:buNone/>
                      </a:pPr>
                      <a:r>
                        <a:rPr b="1" lang="pt-BR" sz="960" u="none" cap="none" strike="noStrike">
                          <a:solidFill>
                            <a:schemeClr val="lt1"/>
                          </a:solidFill>
                        </a:rPr>
                        <a:t># AI Roles</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000000">
                          <a:alpha val="0"/>
                        </a:srgbClr>
                      </a:solidFill>
                      <a:prstDash val="solid"/>
                      <a:round/>
                      <a:headEnd len="sm" w="sm" type="none"/>
                      <a:tailEnd len="sm" w="sm" type="none"/>
                    </a:lnT>
                    <a:lnB cap="flat" cmpd="sng" w="11425">
                      <a:solidFill>
                        <a:srgbClr val="E0E0E0"/>
                      </a:solidFill>
                      <a:prstDash val="solid"/>
                      <a:round/>
                      <a:headEnd len="sm" w="sm" type="none"/>
                      <a:tailEnd len="sm" w="sm" type="none"/>
                    </a:lnB>
                    <a:solidFill>
                      <a:srgbClr val="073763"/>
                    </a:solidFill>
                  </a:tcPr>
                </a:tc>
                <a:tc>
                  <a:txBody>
                    <a:bodyPr/>
                    <a:lstStyle/>
                    <a:p>
                      <a:pPr indent="0" lvl="0" marL="0" marR="0" rtl="0" algn="ctr">
                        <a:spcBef>
                          <a:spcPts val="0"/>
                        </a:spcBef>
                        <a:spcAft>
                          <a:spcPts val="0"/>
                        </a:spcAft>
                        <a:buClr>
                          <a:schemeClr val="lt1"/>
                        </a:buClr>
                        <a:buSzPts val="960"/>
                        <a:buFont typeface="Arial"/>
                        <a:buNone/>
                      </a:pPr>
                      <a:r>
                        <a:rPr b="1" lang="pt-BR" sz="960" u="none" cap="none" strike="noStrike">
                          <a:solidFill>
                            <a:schemeClr val="lt1"/>
                          </a:solidFill>
                        </a:rPr>
                        <a:t>Data</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000000">
                          <a:alpha val="0"/>
                        </a:srgbClr>
                      </a:solidFill>
                      <a:prstDash val="solid"/>
                      <a:round/>
                      <a:headEnd len="sm" w="sm" type="none"/>
                      <a:tailEnd len="sm" w="sm" type="none"/>
                    </a:lnT>
                    <a:lnB cap="flat" cmpd="sng" w="11425">
                      <a:solidFill>
                        <a:srgbClr val="E0E0E0"/>
                      </a:solidFill>
                      <a:prstDash val="solid"/>
                      <a:round/>
                      <a:headEnd len="sm" w="sm" type="none"/>
                      <a:tailEnd len="sm" w="sm" type="none"/>
                    </a:lnB>
                    <a:solidFill>
                      <a:srgbClr val="073763"/>
                    </a:solidFill>
                  </a:tcPr>
                </a:tc>
                <a:tc>
                  <a:txBody>
                    <a:bodyPr/>
                    <a:lstStyle/>
                    <a:p>
                      <a:pPr indent="0" lvl="0" marL="0" marR="0" rtl="0" algn="ctr">
                        <a:spcBef>
                          <a:spcPts val="0"/>
                        </a:spcBef>
                        <a:spcAft>
                          <a:spcPts val="0"/>
                        </a:spcAft>
                        <a:buClr>
                          <a:schemeClr val="lt1"/>
                        </a:buClr>
                        <a:buSzPts val="960"/>
                        <a:buFont typeface="Arial"/>
                        <a:buNone/>
                      </a:pPr>
                      <a:r>
                        <a:rPr b="1" lang="pt-BR" sz="960" u="none" cap="none" strike="noStrike">
                          <a:solidFill>
                            <a:schemeClr val="lt1"/>
                          </a:solidFill>
                        </a:rPr>
                        <a:t>Release</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000000">
                          <a:alpha val="0"/>
                        </a:srgbClr>
                      </a:solidFill>
                      <a:prstDash val="solid"/>
                      <a:round/>
                      <a:headEnd len="sm" w="sm" type="none"/>
                      <a:tailEnd len="sm" w="sm" type="none"/>
                    </a:lnT>
                    <a:lnB cap="flat" cmpd="sng" w="11425">
                      <a:solidFill>
                        <a:srgbClr val="E0E0E0"/>
                      </a:solidFill>
                      <a:prstDash val="solid"/>
                      <a:round/>
                      <a:headEnd len="sm" w="sm" type="none"/>
                      <a:tailEnd len="sm" w="sm" type="none"/>
                    </a:lnB>
                    <a:solidFill>
                      <a:srgbClr val="073763"/>
                    </a:solidFill>
                  </a:tcPr>
                </a:tc>
                <a:tc>
                  <a:txBody>
                    <a:bodyPr/>
                    <a:lstStyle/>
                    <a:p>
                      <a:pPr indent="0" lvl="0" marL="0" marR="0" rtl="0" algn="ctr">
                        <a:spcBef>
                          <a:spcPts val="0"/>
                        </a:spcBef>
                        <a:spcAft>
                          <a:spcPts val="0"/>
                        </a:spcAft>
                        <a:buClr>
                          <a:schemeClr val="lt1"/>
                        </a:buClr>
                        <a:buSzPts val="960"/>
                        <a:buFont typeface="Arial"/>
                        <a:buNone/>
                      </a:pPr>
                      <a:r>
                        <a:rPr b="1" lang="pt-BR" sz="960" u="none" cap="none" strike="noStrike">
                          <a:solidFill>
                            <a:schemeClr val="lt1"/>
                          </a:solidFill>
                        </a:rPr>
                        <a:t>Model Spec</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000000">
                          <a:alpha val="0"/>
                        </a:srgbClr>
                      </a:solidFill>
                      <a:prstDash val="solid"/>
                      <a:round/>
                      <a:headEnd len="sm" w="sm" type="none"/>
                      <a:tailEnd len="sm" w="sm" type="none"/>
                    </a:lnT>
                    <a:lnB cap="flat" cmpd="sng" w="11425">
                      <a:solidFill>
                        <a:srgbClr val="E0E0E0"/>
                      </a:solidFill>
                      <a:prstDash val="solid"/>
                      <a:round/>
                      <a:headEnd len="sm" w="sm" type="none"/>
                      <a:tailEnd len="sm" w="sm" type="none"/>
                    </a:lnB>
                    <a:solidFill>
                      <a:srgbClr val="073763"/>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C1</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Maximalist</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RAG+FT</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L </a:t>
                      </a:r>
                      <a:r>
                        <a:rPr lang="pt-BR" sz="600" u="none" cap="none" strike="noStrike"/>
                        <a:t>(5–10)</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MIE</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TR</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MM‑P</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C2</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Simplicity</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PreTrain</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1</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RB</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TXT‑F</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C3</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Max Internal</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RAG+FT</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L</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HITL</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MM‑P</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C4</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Untrusting</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188038"/>
                        </a:buClr>
                        <a:buSzPts val="960"/>
                        <a:buFont typeface="Arial"/>
                        <a:buNone/>
                      </a:pPr>
                      <a:r>
                        <a:rPr b="1" lang="pt-BR" sz="960" u="none" cap="none" strike="noStrike">
                          <a:solidFill>
                            <a:srgbClr val="188038"/>
                          </a:solidFill>
                        </a:rPr>
                        <a:t>Own</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PreTrain</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S </a:t>
                      </a:r>
                      <a:r>
                        <a:rPr lang="pt-BR" sz="600" u="none" cap="none" strike="noStrike"/>
                        <a:t>(2–5)</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TR</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MM‑P</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C5</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ChatGPT‑Eq</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D93025"/>
                        </a:buClr>
                        <a:buSzPts val="960"/>
                        <a:buFont typeface="Arial"/>
                        <a:buNone/>
                      </a:pPr>
                      <a:r>
                        <a:rPr b="1" lang="pt-BR" sz="960" u="none" cap="none" strike="noStrike">
                          <a:solidFill>
                            <a:srgbClr val="D93025"/>
                          </a:solidFill>
                        </a:rPr>
                        <a:t>OCS</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PreTrain</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1</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OI</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RB</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TXT‑F</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C6</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Customizable</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188038"/>
                        </a:buClr>
                        <a:buSzPts val="960"/>
                        <a:buFont typeface="Arial"/>
                        <a:buNone/>
                      </a:pPr>
                      <a:r>
                        <a:rPr b="1" lang="pt-BR" sz="960" u="none" cap="none" strike="noStrike">
                          <a:solidFill>
                            <a:srgbClr val="188038"/>
                          </a:solidFill>
                        </a:rPr>
                        <a:t>Own</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RAG+FT</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L</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MIE</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TR</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Mix</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C7</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Single Expert</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D93025"/>
                        </a:buClr>
                        <a:buSzPts val="960"/>
                        <a:buFont typeface="Arial"/>
                        <a:buNone/>
                      </a:pPr>
                      <a:r>
                        <a:rPr b="1" lang="pt-BR" sz="960" u="none" cap="none" strike="noStrike">
                          <a:solidFill>
                            <a:srgbClr val="D93025"/>
                          </a:solidFill>
                        </a:rPr>
                        <a:t>OCS</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RAG+FT</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1</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HITL</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MM‑P</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C8</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Low‑Cost</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D93025"/>
                        </a:buClr>
                        <a:buSzPts val="960"/>
                        <a:buFont typeface="Arial"/>
                        <a:buNone/>
                      </a:pPr>
                      <a:r>
                        <a:rPr b="1" lang="pt-BR" sz="960" u="none" cap="none" strike="noStrike">
                          <a:solidFill>
                            <a:srgbClr val="D93025"/>
                          </a:solidFill>
                        </a:rPr>
                        <a:t>OCS</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RAG+FT</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1</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RB</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Mix</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394475">
                <a:tc>
                  <a:txBody>
                    <a:bodyPr/>
                    <a:lstStyle/>
                    <a:p>
                      <a:pPr indent="0" lvl="0" marL="0" marR="0" rtl="0" algn="ctr">
                        <a:spcBef>
                          <a:spcPts val="0"/>
                        </a:spcBef>
                        <a:spcAft>
                          <a:spcPts val="0"/>
                        </a:spcAft>
                        <a:buClr>
                          <a:schemeClr val="dk1"/>
                        </a:buClr>
                        <a:buSzPts val="960"/>
                        <a:buFont typeface="Arial"/>
                        <a:buNone/>
                      </a:pPr>
                      <a:r>
                        <a:rPr lang="pt-BR" sz="960" u="none" cap="none" strike="noStrike"/>
                        <a:t>C9</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Embedded Know.</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188038"/>
                        </a:buClr>
                        <a:buSzPts val="960"/>
                        <a:buFont typeface="Arial"/>
                        <a:buNone/>
                      </a:pPr>
                      <a:r>
                        <a:rPr b="1" lang="pt-BR" sz="960" u="none" cap="none" strike="noStrike">
                          <a:solidFill>
                            <a:srgbClr val="188038"/>
                          </a:solidFill>
                        </a:rPr>
                        <a:t>Own</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PreTrain</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1</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MIE</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TR</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MM‑P</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r h="534250">
                <a:tc>
                  <a:txBody>
                    <a:bodyPr/>
                    <a:lstStyle/>
                    <a:p>
                      <a:pPr indent="0" lvl="0" marL="0" marR="0" rtl="0" algn="ctr">
                        <a:spcBef>
                          <a:spcPts val="0"/>
                        </a:spcBef>
                        <a:spcAft>
                          <a:spcPts val="0"/>
                        </a:spcAft>
                        <a:buClr>
                          <a:schemeClr val="dk1"/>
                        </a:buClr>
                        <a:buSzPts val="960"/>
                        <a:buFont typeface="Arial"/>
                        <a:buNone/>
                      </a:pPr>
                      <a:r>
                        <a:rPr lang="pt-BR" sz="960" u="none" cap="none" strike="noStrike"/>
                        <a:t>C10</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Compliance Safe</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rgbClr val="188038"/>
                        </a:buClr>
                        <a:buSzPts val="960"/>
                        <a:buFont typeface="Arial"/>
                        <a:buNone/>
                      </a:pPr>
                      <a:r>
                        <a:rPr b="1" lang="pt-BR" sz="960" u="none" cap="none" strike="noStrike">
                          <a:solidFill>
                            <a:srgbClr val="188038"/>
                          </a:solidFill>
                        </a:rPr>
                        <a:t>Own</a:t>
                      </a:r>
                      <a:endParaRPr sz="960" u="none" cap="none" strike="noStrike"/>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RAG</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L</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MI</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HITL</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Clr>
                          <a:schemeClr val="dk1"/>
                        </a:buClr>
                        <a:buSzPts val="960"/>
                        <a:buFont typeface="Arial"/>
                        <a:buNone/>
                      </a:pPr>
                      <a:r>
                        <a:rPr lang="pt-BR" sz="960" u="none" cap="none" strike="noStrike"/>
                        <a:t>MM‑P</a:t>
                      </a:r>
                      <a:endParaRPr sz="4440"/>
                    </a:p>
                  </a:txBody>
                  <a:tcPr marT="91450" marB="91450" marR="96450" marL="96450" anchor="ctr">
                    <a:lnL cap="flat" cmpd="sng" w="11425">
                      <a:solidFill>
                        <a:srgbClr val="000000">
                          <a:alpha val="0"/>
                        </a:srgbClr>
                      </a:solidFill>
                      <a:prstDash val="solid"/>
                      <a:round/>
                      <a:headEnd len="sm" w="sm" type="none"/>
                      <a:tailEnd len="sm" w="sm" type="none"/>
                    </a:lnL>
                    <a:lnR cap="flat" cmpd="sng" w="11425">
                      <a:solidFill>
                        <a:srgbClr val="000000">
                          <a:alpha val="0"/>
                        </a:srgbClr>
                      </a:solidFill>
                      <a:prstDash val="solid"/>
                      <a:round/>
                      <a:headEnd len="sm" w="sm" type="none"/>
                      <a:tailEnd len="sm" w="sm" type="none"/>
                    </a:lnR>
                    <a:lnT cap="flat" cmpd="sng" w="11425">
                      <a:solidFill>
                        <a:srgbClr val="E0E0E0"/>
                      </a:solidFill>
                      <a:prstDash val="solid"/>
                      <a:round/>
                      <a:headEnd len="sm" w="sm" type="none"/>
                      <a:tailEnd len="sm" w="sm" type="none"/>
                    </a:lnT>
                    <a:lnB cap="flat" cmpd="sng" w="11425">
                      <a:solidFill>
                        <a:srgbClr val="E0E0E0"/>
                      </a:solidFill>
                      <a:prstDash val="solid"/>
                      <a:round/>
                      <a:headEnd len="sm" w="sm" type="none"/>
                      <a:tailEnd len="sm" w="sm" type="none"/>
                    </a:lnB>
                    <a:solidFill>
                      <a:schemeClr val="lt1"/>
                    </a:solidFill>
                  </a:tcPr>
                </a:tc>
              </a:tr>
            </a:tbl>
          </a:graphicData>
        </a:graphic>
      </p:graphicFrame>
      <p:sp>
        <p:nvSpPr>
          <p:cNvPr id="371" name="Google Shape;371;p27"/>
          <p:cNvSpPr txBox="1"/>
          <p:nvPr/>
        </p:nvSpPr>
        <p:spPr>
          <a:xfrm>
            <a:off x="23417145" y="21096295"/>
            <a:ext cx="9555600" cy="713400"/>
          </a:xfrm>
          <a:prstGeom prst="rect">
            <a:avLst/>
          </a:prstGeom>
          <a:noFill/>
          <a:ln>
            <a:noFill/>
          </a:ln>
        </p:spPr>
        <p:txBody>
          <a:bodyPr anchorCtr="0" anchor="t" bIns="216000" lIns="216000" spcFirstLastPara="1" rIns="216000" wrap="square" tIns="216000">
            <a:spAutoFit/>
          </a:bodyPr>
          <a:lstStyle/>
          <a:p>
            <a:pPr indent="0" lvl="0" marL="0" rtl="0" algn="ctr">
              <a:lnSpc>
                <a:spcPct val="115000"/>
              </a:lnSpc>
              <a:spcBef>
                <a:spcPts val="14400"/>
              </a:spcBef>
              <a:spcAft>
                <a:spcPts val="14400"/>
              </a:spcAft>
              <a:buNone/>
            </a:pPr>
            <a:r>
              <a:rPr lang="pt-BR" sz="1800">
                <a:solidFill>
                  <a:srgbClr val="E85453"/>
                </a:solidFill>
                <a:latin typeface="Proxima Nova"/>
                <a:ea typeface="Proxima Nova"/>
                <a:cs typeface="Proxima Nova"/>
                <a:sym typeface="Proxima Nova"/>
              </a:rPr>
              <a:t>Team 14A: Camden Ramsay, David Ricardo, Michel Fernandes and Nora Alshareef</a:t>
            </a:r>
            <a:endParaRPr sz="1800">
              <a:solidFill>
                <a:srgbClr val="E85453"/>
              </a:solidFill>
              <a:latin typeface="Proxima Nova"/>
              <a:ea typeface="Proxima Nova"/>
              <a:cs typeface="Proxima Nova"/>
              <a:sym typeface="Proxima Nova"/>
            </a:endParaRPr>
          </a:p>
        </p:txBody>
      </p:sp>
      <p:sp>
        <p:nvSpPr>
          <p:cNvPr id="372" name="Google Shape;372;p27"/>
          <p:cNvSpPr txBox="1"/>
          <p:nvPr/>
        </p:nvSpPr>
        <p:spPr>
          <a:xfrm>
            <a:off x="23128020" y="1332180"/>
            <a:ext cx="9844500" cy="996600"/>
          </a:xfrm>
          <a:prstGeom prst="rect">
            <a:avLst/>
          </a:prstGeom>
          <a:solidFill>
            <a:srgbClr val="F3F3F3"/>
          </a:solid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9E9E9E"/>
                </a:solidFill>
                <a:latin typeface="Proxima Nova"/>
                <a:ea typeface="Proxima Nova"/>
                <a:cs typeface="Proxima Nova"/>
                <a:sym typeface="Proxima Nova"/>
              </a:rPr>
              <a:t>Final recommendations</a:t>
            </a:r>
            <a:endParaRPr sz="3640">
              <a:solidFill>
                <a:srgbClr val="9E9E9E"/>
              </a:solidFill>
              <a:latin typeface="Proxima Nova"/>
              <a:ea typeface="Proxima Nova"/>
              <a:cs typeface="Proxima Nova"/>
              <a:sym typeface="Proxima Nova"/>
            </a:endParaRPr>
          </a:p>
        </p:txBody>
      </p:sp>
      <p:graphicFrame>
        <p:nvGraphicFramePr>
          <p:cNvPr id="373" name="Google Shape;373;p27"/>
          <p:cNvGraphicFramePr/>
          <p:nvPr/>
        </p:nvGraphicFramePr>
        <p:xfrm>
          <a:off x="23820480" y="3222783"/>
          <a:ext cx="3000000" cy="3000000"/>
        </p:xfrm>
        <a:graphic>
          <a:graphicData uri="http://schemas.openxmlformats.org/drawingml/2006/table">
            <a:tbl>
              <a:tblPr>
                <a:noFill/>
                <a:tableStyleId>{23E452CD-4AC9-494A-AED8-5A9A6700DAF9}</a:tableStyleId>
              </a:tblPr>
              <a:tblGrid>
                <a:gridCol w="2294250"/>
                <a:gridCol w="6454550"/>
              </a:tblGrid>
              <a:tr h="397925">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Design Decision</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073763"/>
                    </a:solidFill>
                  </a:tcPr>
                </a:tc>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Preferred Choice</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073763"/>
                    </a:solidFill>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Selected Concept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C1 — </a:t>
                      </a:r>
                      <a:r>
                        <a:rPr lang="pt-BR" sz="2040">
                          <a:latin typeface="Proxima Nova"/>
                          <a:ea typeface="Proxima Nova"/>
                          <a:cs typeface="Proxima Nova"/>
                          <a:sym typeface="Proxima Nova"/>
                        </a:rPr>
                        <a:t>Maximalist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Family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Gemini family only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Research Paradigm</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RAG + fine-tuning</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AI Role Structure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Large specialized group, approximately 5–10 roles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Clinical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Multiple internal and external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Release Control</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Tiered release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88272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Specification</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Multimodal, powerful, higher-cost model, such as Gemini 3 Pro</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bl>
          </a:graphicData>
        </a:graphic>
      </p:graphicFrame>
      <p:sp>
        <p:nvSpPr>
          <p:cNvPr id="374" name="Google Shape;374;p27"/>
          <p:cNvSpPr txBox="1"/>
          <p:nvPr/>
        </p:nvSpPr>
        <p:spPr>
          <a:xfrm>
            <a:off x="23520300" y="13345548"/>
            <a:ext cx="95556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0B5394"/>
                </a:solidFill>
                <a:latin typeface="Proxima Nova"/>
                <a:ea typeface="Proxima Nova"/>
                <a:cs typeface="Proxima Nova"/>
                <a:sym typeface="Proxima Nova"/>
              </a:rPr>
              <a:t>Risk exposure mitigation strategy</a:t>
            </a:r>
            <a:endParaRPr sz="3640">
              <a:solidFill>
                <a:srgbClr val="0B5394"/>
              </a:solidFill>
              <a:latin typeface="Proxima Nova"/>
              <a:ea typeface="Proxima Nova"/>
              <a:cs typeface="Proxima Nova"/>
              <a:sym typeface="Proxima Nova"/>
            </a:endParaRPr>
          </a:p>
        </p:txBody>
      </p:sp>
      <p:graphicFrame>
        <p:nvGraphicFramePr>
          <p:cNvPr id="375" name="Google Shape;375;p27"/>
          <p:cNvGraphicFramePr/>
          <p:nvPr/>
        </p:nvGraphicFramePr>
        <p:xfrm>
          <a:off x="23820480" y="16756520"/>
          <a:ext cx="3000000" cy="3000000"/>
        </p:xfrm>
        <a:graphic>
          <a:graphicData uri="http://schemas.openxmlformats.org/drawingml/2006/table">
            <a:tbl>
              <a:tblPr>
                <a:noFill/>
                <a:tableStyleId>{9A381E13-A8F7-4022-86C5-07623F0ABA3E}</a:tableStyleId>
              </a:tblPr>
              <a:tblGrid>
                <a:gridCol w="1941475"/>
                <a:gridCol w="6807325"/>
              </a:tblGrid>
              <a:tr h="357025">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Mitigation </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073763"/>
                    </a:solidFill>
                  </a:tcPr>
                </a:tc>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Commentary</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073763"/>
                    </a:solidFill>
                  </a:tcPr>
                </a:tc>
              </a:tr>
              <a:tr h="622675">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Data Integration</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proof-of-concept to expose EHR/lab integration blockers before they cascade. Reduces probability from 50%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Clinical Validation Readiness</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Physician review board before shadow mode to reduce hallucination and clinical accuracy risk. Reduces probability from 40% to 15%.</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Integration &amp; Interface Testing</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interface testing across the data pipeline, retrieval layer, agentic AI core, physician workflow, and validation workflow. Reduces probability from 40%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bl>
          </a:graphicData>
        </a:graphic>
      </p:graphicFrame>
      <p:sp>
        <p:nvSpPr>
          <p:cNvPr id="376" name="Google Shape;376;p27"/>
          <p:cNvSpPr txBox="1"/>
          <p:nvPr/>
        </p:nvSpPr>
        <p:spPr>
          <a:xfrm>
            <a:off x="23362920" y="2328673"/>
            <a:ext cx="95556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0B5394"/>
                </a:solidFill>
                <a:latin typeface="Proxima Nova"/>
                <a:ea typeface="Proxima Nova"/>
                <a:cs typeface="Proxima Nova"/>
                <a:sym typeface="Proxima Nova"/>
              </a:rPr>
              <a:t>Product concept</a:t>
            </a:r>
            <a:endParaRPr sz="3640">
              <a:solidFill>
                <a:srgbClr val="0B5394"/>
              </a:solidFill>
              <a:latin typeface="Proxima Nova"/>
              <a:ea typeface="Proxima Nova"/>
              <a:cs typeface="Proxima Nova"/>
              <a:sym typeface="Proxima Nova"/>
            </a:endParaRPr>
          </a:p>
        </p:txBody>
      </p:sp>
      <p:sp>
        <p:nvSpPr>
          <p:cNvPr id="377" name="Google Shape;377;p27"/>
          <p:cNvSpPr txBox="1"/>
          <p:nvPr/>
        </p:nvSpPr>
        <p:spPr>
          <a:xfrm>
            <a:off x="23923680" y="14492725"/>
            <a:ext cx="87486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selected mitigation reduces riskiness from 179 to 102, removing 43% of baseline risk. It increases cost to $6.45M and schedule to 49 weeks, exceeding the $6M target but staying within the 50-week limit. The tradeoff is justified because it targets integration failure, hallucination risk, and late rework before clinical validation.</a:t>
            </a:r>
            <a:endParaRPr sz="2040">
              <a:solidFill>
                <a:schemeClr val="dk2"/>
              </a:solidFill>
              <a:latin typeface="Proxima Nova"/>
              <a:ea typeface="Proxima Nova"/>
              <a:cs typeface="Proxima Nova"/>
              <a:sym typeface="Proxima Nova"/>
            </a:endParaRPr>
          </a:p>
        </p:txBody>
      </p:sp>
      <p:pic>
        <p:nvPicPr>
          <p:cNvPr id="378" name="Google Shape;378;p27"/>
          <p:cNvPicPr preferRelativeResize="0"/>
          <p:nvPr/>
        </p:nvPicPr>
        <p:blipFill>
          <a:blip r:embed="rId5">
            <a:alphaModFix/>
          </a:blip>
          <a:stretch>
            <a:fillRect/>
          </a:stretch>
        </p:blipFill>
        <p:spPr>
          <a:xfrm>
            <a:off x="23765196" y="8246151"/>
            <a:ext cx="3938069" cy="4760012"/>
          </a:xfrm>
          <a:prstGeom prst="rect">
            <a:avLst/>
          </a:prstGeom>
          <a:noFill/>
          <a:ln>
            <a:noFill/>
          </a:ln>
        </p:spPr>
      </p:pic>
      <p:pic>
        <p:nvPicPr>
          <p:cNvPr id="379" name="Google Shape;379;p27"/>
          <p:cNvPicPr preferRelativeResize="0"/>
          <p:nvPr/>
        </p:nvPicPr>
        <p:blipFill>
          <a:blip r:embed="rId6">
            <a:alphaModFix/>
          </a:blip>
          <a:stretch>
            <a:fillRect/>
          </a:stretch>
        </p:blipFill>
        <p:spPr>
          <a:xfrm>
            <a:off x="27886016" y="8246151"/>
            <a:ext cx="3260397" cy="3025638"/>
          </a:xfrm>
          <a:prstGeom prst="rect">
            <a:avLst/>
          </a:prstGeom>
          <a:noFill/>
          <a:ln>
            <a:noFill/>
          </a:ln>
        </p:spPr>
      </p:pic>
      <p:pic>
        <p:nvPicPr>
          <p:cNvPr id="380" name="Google Shape;380;p27"/>
          <p:cNvPicPr preferRelativeResize="0"/>
          <p:nvPr/>
        </p:nvPicPr>
        <p:blipFill>
          <a:blip r:embed="rId7">
            <a:alphaModFix/>
          </a:blip>
          <a:stretch>
            <a:fillRect/>
          </a:stretch>
        </p:blipFill>
        <p:spPr>
          <a:xfrm>
            <a:off x="28710663" y="9214038"/>
            <a:ext cx="3392421" cy="3129998"/>
          </a:xfrm>
          <a:prstGeom prst="rect">
            <a:avLst/>
          </a:prstGeom>
          <a:noFill/>
          <a:ln>
            <a:noFill/>
          </a:ln>
        </p:spPr>
      </p:pic>
      <p:pic>
        <p:nvPicPr>
          <p:cNvPr id="381" name="Google Shape;381;p27"/>
          <p:cNvPicPr preferRelativeResize="0"/>
          <p:nvPr/>
        </p:nvPicPr>
        <p:blipFill>
          <a:blip r:embed="rId8">
            <a:alphaModFix/>
          </a:blip>
          <a:stretch>
            <a:fillRect/>
          </a:stretch>
        </p:blipFill>
        <p:spPr>
          <a:xfrm>
            <a:off x="29577822" y="10662856"/>
            <a:ext cx="3282164" cy="2531969"/>
          </a:xfrm>
          <a:prstGeom prst="rect">
            <a:avLst/>
          </a:prstGeom>
          <a:noFill/>
          <a:ln>
            <a:noFill/>
          </a:ln>
        </p:spPr>
      </p:pic>
      <p:pic>
        <p:nvPicPr>
          <p:cNvPr id="382" name="Google Shape;382;p27"/>
          <p:cNvPicPr preferRelativeResize="0"/>
          <p:nvPr/>
        </p:nvPicPr>
        <p:blipFill>
          <a:blip r:embed="rId9">
            <a:alphaModFix/>
          </a:blip>
          <a:stretch>
            <a:fillRect/>
          </a:stretch>
        </p:blipFill>
        <p:spPr>
          <a:xfrm>
            <a:off x="11109554" y="7930927"/>
            <a:ext cx="10575104" cy="6877955"/>
          </a:xfrm>
          <a:prstGeom prst="rect">
            <a:avLst/>
          </a:prstGeom>
          <a:noFill/>
          <a:ln>
            <a:noFill/>
          </a:ln>
        </p:spPr>
      </p:pic>
      <p:pic>
        <p:nvPicPr>
          <p:cNvPr id="383" name="Google Shape;383;p27"/>
          <p:cNvPicPr preferRelativeResize="0"/>
          <p:nvPr/>
        </p:nvPicPr>
        <p:blipFill>
          <a:blip r:embed="rId10">
            <a:alphaModFix/>
          </a:blip>
          <a:stretch>
            <a:fillRect/>
          </a:stretch>
        </p:blipFill>
        <p:spPr>
          <a:xfrm>
            <a:off x="9728160" y="1660770"/>
            <a:ext cx="7523159" cy="4711020"/>
          </a:xfrm>
          <a:prstGeom prst="rect">
            <a:avLst/>
          </a:prstGeom>
          <a:noFill/>
          <a:ln>
            <a:noFill/>
          </a:ln>
        </p:spPr>
      </p:pic>
      <p:pic>
        <p:nvPicPr>
          <p:cNvPr id="384" name="Google Shape;384;p27"/>
          <p:cNvPicPr preferRelativeResize="0"/>
          <p:nvPr/>
        </p:nvPicPr>
        <p:blipFill>
          <a:blip r:embed="rId11">
            <a:alphaModFix/>
          </a:blip>
          <a:stretch>
            <a:fillRect/>
          </a:stretch>
        </p:blipFill>
        <p:spPr>
          <a:xfrm>
            <a:off x="31701378" y="0"/>
            <a:ext cx="1217021" cy="1332179"/>
          </a:xfrm>
          <a:prstGeom prst="rect">
            <a:avLst/>
          </a:prstGeom>
          <a:noFill/>
          <a:ln>
            <a:noFill/>
          </a:ln>
        </p:spPr>
      </p:pic>
      <p:pic>
        <p:nvPicPr>
          <p:cNvPr id="385" name="Google Shape;385;p27"/>
          <p:cNvPicPr preferRelativeResize="0"/>
          <p:nvPr/>
        </p:nvPicPr>
        <p:blipFill>
          <a:blip r:embed="rId12">
            <a:alphaModFix/>
          </a:blip>
          <a:stretch>
            <a:fillRect/>
          </a:stretch>
        </p:blipFill>
        <p:spPr>
          <a:xfrm>
            <a:off x="29879609" y="0"/>
            <a:ext cx="1598039" cy="825795"/>
          </a:xfrm>
          <a:prstGeom prst="rect">
            <a:avLst/>
          </a:prstGeom>
          <a:noFill/>
          <a:ln>
            <a:noFill/>
          </a:ln>
        </p:spPr>
      </p:pic>
      <p:pic>
        <p:nvPicPr>
          <p:cNvPr id="386" name="Google Shape;386;p27"/>
          <p:cNvPicPr preferRelativeResize="0"/>
          <p:nvPr/>
        </p:nvPicPr>
        <p:blipFill>
          <a:blip r:embed="rId13">
            <a:alphaModFix/>
          </a:blip>
          <a:stretch>
            <a:fillRect/>
          </a:stretch>
        </p:blipFill>
        <p:spPr>
          <a:xfrm>
            <a:off x="18959069" y="2399280"/>
            <a:ext cx="746528" cy="195347"/>
          </a:xfrm>
          <a:prstGeom prst="rect">
            <a:avLst/>
          </a:prstGeom>
          <a:noFill/>
          <a:ln>
            <a:noFill/>
          </a:ln>
        </p:spPr>
      </p:pic>
      <p:pic>
        <p:nvPicPr>
          <p:cNvPr id="387" name="Google Shape;387;p27"/>
          <p:cNvPicPr preferRelativeResize="0"/>
          <p:nvPr/>
        </p:nvPicPr>
        <p:blipFill>
          <a:blip r:embed="rId13">
            <a:alphaModFix/>
          </a:blip>
          <a:stretch>
            <a:fillRect/>
          </a:stretch>
        </p:blipFill>
        <p:spPr>
          <a:xfrm>
            <a:off x="18980090" y="2780708"/>
            <a:ext cx="746528" cy="195347"/>
          </a:xfrm>
          <a:prstGeom prst="rect">
            <a:avLst/>
          </a:prstGeom>
          <a:noFill/>
          <a:ln>
            <a:noFill/>
          </a:ln>
        </p:spPr>
      </p:pic>
      <p:pic>
        <p:nvPicPr>
          <p:cNvPr id="388" name="Google Shape;388;p27"/>
          <p:cNvPicPr preferRelativeResize="0"/>
          <p:nvPr/>
        </p:nvPicPr>
        <p:blipFill>
          <a:blip r:embed="rId13">
            <a:alphaModFix/>
          </a:blip>
          <a:stretch>
            <a:fillRect/>
          </a:stretch>
        </p:blipFill>
        <p:spPr>
          <a:xfrm>
            <a:off x="18980090" y="3167982"/>
            <a:ext cx="746528" cy="195347"/>
          </a:xfrm>
          <a:prstGeom prst="rect">
            <a:avLst/>
          </a:prstGeom>
          <a:noFill/>
          <a:ln>
            <a:noFill/>
          </a:ln>
        </p:spPr>
      </p:pic>
      <p:pic>
        <p:nvPicPr>
          <p:cNvPr id="389" name="Google Shape;389;p27"/>
          <p:cNvPicPr preferRelativeResize="0"/>
          <p:nvPr/>
        </p:nvPicPr>
        <p:blipFill>
          <a:blip r:embed="rId14">
            <a:alphaModFix/>
          </a:blip>
          <a:stretch>
            <a:fillRect/>
          </a:stretch>
        </p:blipFill>
        <p:spPr>
          <a:xfrm>
            <a:off x="9883410" y="16709349"/>
            <a:ext cx="6705981" cy="4927560"/>
          </a:xfrm>
          <a:prstGeom prst="rect">
            <a:avLst/>
          </a:prstGeom>
          <a:noFill/>
          <a:ln>
            <a:noFill/>
          </a:ln>
        </p:spPr>
      </p:pic>
      <p:pic>
        <p:nvPicPr>
          <p:cNvPr id="390" name="Google Shape;390;p27"/>
          <p:cNvPicPr preferRelativeResize="0"/>
          <p:nvPr/>
        </p:nvPicPr>
        <p:blipFill>
          <a:blip r:embed="rId15">
            <a:alphaModFix/>
          </a:blip>
          <a:stretch>
            <a:fillRect/>
          </a:stretch>
        </p:blipFill>
        <p:spPr>
          <a:xfrm>
            <a:off x="16589400" y="16709349"/>
            <a:ext cx="6466984" cy="49275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8"/>
          <p:cNvSpPr/>
          <p:nvPr/>
        </p:nvSpPr>
        <p:spPr>
          <a:xfrm>
            <a:off x="349200" y="8566500"/>
            <a:ext cx="960600" cy="5011200"/>
          </a:xfrm>
          <a:prstGeom prst="downArrow">
            <a:avLst>
              <a:gd fmla="val 50000" name="adj1"/>
              <a:gd fmla="val 50000" name="adj2"/>
            </a:avLst>
          </a:prstGeom>
          <a:solidFill>
            <a:srgbClr val="E85453"/>
          </a:solidFill>
          <a:ln>
            <a:noFill/>
          </a:ln>
        </p:spPr>
        <p:txBody>
          <a:bodyPr anchorCtr="0" anchor="ctr" bIns="79450" lIns="79450" spcFirstLastPara="1" rIns="79450" wrap="square" tIns="79450">
            <a:noAutofit/>
          </a:bodyPr>
          <a:lstStyle/>
          <a:p>
            <a:pPr indent="0" lvl="0" marL="0" rtl="0" algn="ctr">
              <a:spcBef>
                <a:spcPts val="0"/>
              </a:spcBef>
              <a:spcAft>
                <a:spcPts val="0"/>
              </a:spcAft>
              <a:buNone/>
            </a:pPr>
            <a:r>
              <a:t/>
            </a:r>
            <a:endParaRPr sz="2040"/>
          </a:p>
        </p:txBody>
      </p:sp>
      <p:pic>
        <p:nvPicPr>
          <p:cNvPr id="396" name="Google Shape;396;p28"/>
          <p:cNvPicPr preferRelativeResize="0"/>
          <p:nvPr/>
        </p:nvPicPr>
        <p:blipFill rotWithShape="1">
          <a:blip r:embed="rId3">
            <a:alphaModFix/>
          </a:blip>
          <a:srcRect b="0" l="4251" r="0" t="0"/>
          <a:stretch/>
        </p:blipFill>
        <p:spPr>
          <a:xfrm>
            <a:off x="3" y="-69841"/>
            <a:ext cx="4920901" cy="1278001"/>
          </a:xfrm>
          <a:prstGeom prst="rect">
            <a:avLst/>
          </a:prstGeom>
          <a:noFill/>
          <a:ln>
            <a:noFill/>
          </a:ln>
        </p:spPr>
      </p:pic>
      <p:sp>
        <p:nvSpPr>
          <p:cNvPr id="397" name="Google Shape;397;p28"/>
          <p:cNvSpPr txBox="1"/>
          <p:nvPr/>
        </p:nvSpPr>
        <p:spPr>
          <a:xfrm>
            <a:off x="5304150" y="0"/>
            <a:ext cx="25134000" cy="1278000"/>
          </a:xfrm>
          <a:prstGeom prst="rect">
            <a:avLst/>
          </a:prstGeom>
          <a:noFill/>
          <a:ln>
            <a:noFill/>
          </a:ln>
        </p:spPr>
        <p:txBody>
          <a:bodyPr anchorCtr="0" anchor="t" bIns="216000" lIns="216000" spcFirstLastPara="1" rIns="216000" wrap="square" tIns="216000">
            <a:noAutofit/>
          </a:bodyPr>
          <a:lstStyle/>
          <a:p>
            <a:pPr indent="0" lvl="0" marL="0" rtl="0" algn="ctr">
              <a:spcBef>
                <a:spcPts val="0"/>
              </a:spcBef>
              <a:spcAft>
                <a:spcPts val="0"/>
              </a:spcAft>
              <a:buNone/>
            </a:pPr>
            <a:r>
              <a:rPr lang="pt-BR" sz="5680">
                <a:solidFill>
                  <a:srgbClr val="67B4D4"/>
                </a:solidFill>
              </a:rPr>
              <a:t>An agentic AI clinical librarian for laboratory results interpretation.</a:t>
            </a:r>
            <a:endParaRPr sz="5680">
              <a:solidFill>
                <a:srgbClr val="67B4D4"/>
              </a:solidFill>
            </a:endParaRPr>
          </a:p>
        </p:txBody>
      </p:sp>
      <p:sp>
        <p:nvSpPr>
          <p:cNvPr id="398" name="Google Shape;398;p28"/>
          <p:cNvSpPr txBox="1"/>
          <p:nvPr/>
        </p:nvSpPr>
        <p:spPr>
          <a:xfrm>
            <a:off x="-424800" y="36736200"/>
            <a:ext cx="30106800" cy="16278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lang="pt-BR" sz="3600">
                <a:solidFill>
                  <a:schemeClr val="dk2"/>
                </a:solidFill>
                <a:latin typeface="Proxima Nova"/>
                <a:ea typeface="Proxima Nova"/>
                <a:cs typeface="Proxima Nova"/>
                <a:sym typeface="Proxima Nova"/>
              </a:rPr>
              <a:t>Sanguine is a physician-facing clinical interpretation layer designed to scale the Mayo Clinic Model of Care by augmenting laboratory results with grounded, traceable, and clinically reviewed AI-generated interpretation.</a:t>
            </a:r>
            <a:endParaRPr sz="3600">
              <a:solidFill>
                <a:schemeClr val="dk2"/>
              </a:solidFill>
              <a:latin typeface="Proxima Nova"/>
              <a:ea typeface="Proxima Nova"/>
              <a:cs typeface="Proxima Nova"/>
              <a:sym typeface="Proxima Nova"/>
            </a:endParaRPr>
          </a:p>
        </p:txBody>
      </p:sp>
      <p:sp>
        <p:nvSpPr>
          <p:cNvPr id="399" name="Google Shape;399;p28"/>
          <p:cNvSpPr txBox="1"/>
          <p:nvPr/>
        </p:nvSpPr>
        <p:spPr>
          <a:xfrm>
            <a:off x="-50644" y="1489853"/>
            <a:ext cx="121893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From generic lab results to physician-ready interpretation</a:t>
            </a:r>
            <a:endParaRPr sz="3640">
              <a:solidFill>
                <a:srgbClr val="67B4D4"/>
              </a:solidFill>
              <a:latin typeface="Proxima Nova"/>
              <a:ea typeface="Proxima Nova"/>
              <a:cs typeface="Proxima Nova"/>
              <a:sym typeface="Proxima Nova"/>
            </a:endParaRPr>
          </a:p>
        </p:txBody>
      </p:sp>
      <p:sp>
        <p:nvSpPr>
          <p:cNvPr id="400" name="Google Shape;400;p28"/>
          <p:cNvSpPr txBox="1"/>
          <p:nvPr/>
        </p:nvSpPr>
        <p:spPr>
          <a:xfrm>
            <a:off x="349200" y="7228364"/>
            <a:ext cx="69375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Clinical librarian architecture</a:t>
            </a:r>
            <a:endParaRPr sz="3640">
              <a:solidFill>
                <a:srgbClr val="67B4D4"/>
              </a:solidFill>
              <a:latin typeface="Proxima Nova"/>
              <a:ea typeface="Proxima Nova"/>
              <a:cs typeface="Proxima Nova"/>
              <a:sym typeface="Proxima Nova"/>
            </a:endParaRPr>
          </a:p>
        </p:txBody>
      </p:sp>
      <p:sp>
        <p:nvSpPr>
          <p:cNvPr id="401" name="Google Shape;401;p28"/>
          <p:cNvSpPr txBox="1"/>
          <p:nvPr/>
        </p:nvSpPr>
        <p:spPr>
          <a:xfrm>
            <a:off x="-1883100" y="244701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Preferred Architecture</a:t>
            </a:r>
            <a:endParaRPr sz="5680">
              <a:solidFill>
                <a:srgbClr val="67B4D4"/>
              </a:solidFill>
            </a:endParaRPr>
          </a:p>
        </p:txBody>
      </p:sp>
      <p:sp>
        <p:nvSpPr>
          <p:cNvPr id="402" name="Google Shape;402;p28"/>
          <p:cNvSpPr txBox="1"/>
          <p:nvPr/>
        </p:nvSpPr>
        <p:spPr>
          <a:xfrm>
            <a:off x="-1883100" y="259497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Architectural Complexity</a:t>
            </a:r>
            <a:endParaRPr sz="5680">
              <a:solidFill>
                <a:srgbClr val="67B4D4"/>
              </a:solidFill>
            </a:endParaRPr>
          </a:p>
        </p:txBody>
      </p:sp>
      <p:sp>
        <p:nvSpPr>
          <p:cNvPr id="403" name="Google Shape;403;p28"/>
          <p:cNvSpPr txBox="1"/>
          <p:nvPr/>
        </p:nvSpPr>
        <p:spPr>
          <a:xfrm>
            <a:off x="-2188500" y="276852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Value Metrics</a:t>
            </a:r>
            <a:endParaRPr sz="5680">
              <a:solidFill>
                <a:srgbClr val="67B4D4"/>
              </a:solidFill>
            </a:endParaRPr>
          </a:p>
        </p:txBody>
      </p:sp>
      <p:sp>
        <p:nvSpPr>
          <p:cNvPr id="404" name="Google Shape;404;p28"/>
          <p:cNvSpPr txBox="1"/>
          <p:nvPr/>
        </p:nvSpPr>
        <p:spPr>
          <a:xfrm>
            <a:off x="12121493" y="1489860"/>
            <a:ext cx="199965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Selecting the preferred concept</a:t>
            </a:r>
            <a:endParaRPr sz="3640">
              <a:solidFill>
                <a:srgbClr val="67B4D4"/>
              </a:solidFill>
              <a:latin typeface="Proxima Nova"/>
              <a:ea typeface="Proxima Nova"/>
              <a:cs typeface="Proxima Nova"/>
              <a:sym typeface="Proxima Nova"/>
            </a:endParaRPr>
          </a:p>
        </p:txBody>
      </p:sp>
      <p:sp>
        <p:nvSpPr>
          <p:cNvPr id="405" name="Google Shape;405;p28"/>
          <p:cNvSpPr txBox="1"/>
          <p:nvPr/>
        </p:nvSpPr>
        <p:spPr>
          <a:xfrm>
            <a:off x="-54300" y="31482600"/>
            <a:ext cx="160704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Development Strategy: Risk-Driven Delivery</a:t>
            </a:r>
            <a:endParaRPr sz="5680">
              <a:solidFill>
                <a:srgbClr val="67B4D4"/>
              </a:solidFill>
            </a:endParaRPr>
          </a:p>
        </p:txBody>
      </p:sp>
      <p:sp>
        <p:nvSpPr>
          <p:cNvPr id="406" name="Google Shape;406;p28"/>
          <p:cNvSpPr txBox="1"/>
          <p:nvPr/>
        </p:nvSpPr>
        <p:spPr>
          <a:xfrm>
            <a:off x="3603300" y="351402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Recommendation</a:t>
            </a:r>
            <a:endParaRPr sz="5680">
              <a:solidFill>
                <a:srgbClr val="67B4D4"/>
              </a:solidFill>
            </a:endParaRPr>
          </a:p>
        </p:txBody>
      </p:sp>
      <p:pic>
        <p:nvPicPr>
          <p:cNvPr id="407" name="Google Shape;407;p28"/>
          <p:cNvPicPr preferRelativeResize="0"/>
          <p:nvPr/>
        </p:nvPicPr>
        <p:blipFill>
          <a:blip r:embed="rId4">
            <a:alphaModFix/>
          </a:blip>
          <a:stretch>
            <a:fillRect/>
          </a:stretch>
        </p:blipFill>
        <p:spPr>
          <a:xfrm>
            <a:off x="30731401" y="209700"/>
            <a:ext cx="1977610" cy="2164787"/>
          </a:xfrm>
          <a:prstGeom prst="rect">
            <a:avLst/>
          </a:prstGeom>
          <a:noFill/>
          <a:ln>
            <a:noFill/>
          </a:ln>
        </p:spPr>
      </p:pic>
      <p:sp>
        <p:nvSpPr>
          <p:cNvPr id="408" name="Google Shape;408;p28"/>
          <p:cNvSpPr txBox="1"/>
          <p:nvPr/>
        </p:nvSpPr>
        <p:spPr>
          <a:xfrm>
            <a:off x="18801000" y="1016215"/>
            <a:ext cx="11930400" cy="805800"/>
          </a:xfrm>
          <a:prstGeom prst="rect">
            <a:avLst/>
          </a:prstGeom>
          <a:noFill/>
          <a:ln>
            <a:noFill/>
          </a:ln>
        </p:spPr>
        <p:txBody>
          <a:bodyPr anchorCtr="0" anchor="t" bIns="216000" lIns="216000" spcFirstLastPara="1" rIns="216000" wrap="square" tIns="216000">
            <a:spAutoFit/>
          </a:bodyPr>
          <a:lstStyle/>
          <a:p>
            <a:pPr indent="0" lvl="0" marL="0" rtl="0" algn="r">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Mentors: Angela Tomczik and Eric Rebentisch</a:t>
            </a:r>
            <a:endParaRPr sz="2400">
              <a:solidFill>
                <a:schemeClr val="dk2"/>
              </a:solidFill>
              <a:latin typeface="Proxima Nova"/>
              <a:ea typeface="Proxima Nova"/>
              <a:cs typeface="Proxima Nova"/>
              <a:sym typeface="Proxima Nova"/>
            </a:endParaRPr>
          </a:p>
        </p:txBody>
      </p:sp>
      <p:sp>
        <p:nvSpPr>
          <p:cNvPr id="409" name="Google Shape;409;p28"/>
          <p:cNvSpPr txBox="1"/>
          <p:nvPr/>
        </p:nvSpPr>
        <p:spPr>
          <a:xfrm>
            <a:off x="0" y="1016215"/>
            <a:ext cx="15901200" cy="8058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Team: Camden Ramsay, David Ricardo, Michel Fernandes and Nora Alshareef</a:t>
            </a:r>
            <a:endParaRPr sz="2400">
              <a:solidFill>
                <a:schemeClr val="dk2"/>
              </a:solidFill>
              <a:latin typeface="Proxima Nova"/>
              <a:ea typeface="Proxima Nova"/>
              <a:cs typeface="Proxima Nova"/>
              <a:sym typeface="Proxima Nova"/>
            </a:endParaRPr>
          </a:p>
        </p:txBody>
      </p:sp>
      <p:sp>
        <p:nvSpPr>
          <p:cNvPr id="410" name="Google Shape;410;p28"/>
          <p:cNvSpPr txBox="1"/>
          <p:nvPr/>
        </p:nvSpPr>
        <p:spPr>
          <a:xfrm>
            <a:off x="-1143983" y="2768029"/>
            <a:ext cx="4338000" cy="805800"/>
          </a:xfrm>
          <a:prstGeom prst="rect">
            <a:avLst/>
          </a:prstGeom>
          <a:noFill/>
          <a:ln>
            <a:noFill/>
          </a:ln>
        </p:spPr>
        <p:txBody>
          <a:bodyPr anchorCtr="0" anchor="t" bIns="216000" lIns="216000" spcFirstLastPara="1" rIns="216000" wrap="square" tIns="216000">
            <a:spAutoFit/>
          </a:bodyPr>
          <a:lstStyle/>
          <a:p>
            <a:pPr indent="0" lvl="0" marL="0" rtl="0" algn="r">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Standard lab results</a:t>
            </a:r>
            <a:endParaRPr sz="2400">
              <a:solidFill>
                <a:schemeClr val="dk2"/>
              </a:solidFill>
              <a:latin typeface="Proxima Nova"/>
              <a:ea typeface="Proxima Nova"/>
              <a:cs typeface="Proxima Nova"/>
              <a:sym typeface="Proxima Nova"/>
            </a:endParaRPr>
          </a:p>
        </p:txBody>
      </p:sp>
      <p:sp>
        <p:nvSpPr>
          <p:cNvPr id="411" name="Google Shape;411;p28"/>
          <p:cNvSpPr/>
          <p:nvPr/>
        </p:nvSpPr>
        <p:spPr>
          <a:xfrm>
            <a:off x="3427717" y="2682109"/>
            <a:ext cx="2487300" cy="805800"/>
          </a:xfrm>
          <a:prstGeom prst="rect">
            <a:avLst/>
          </a:prstGeom>
          <a:solidFill>
            <a:srgbClr val="F26968"/>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General ranges</a:t>
            </a:r>
            <a:endParaRPr sz="2040">
              <a:solidFill>
                <a:schemeClr val="lt1"/>
              </a:solidFill>
              <a:latin typeface="Proxima Nova"/>
              <a:ea typeface="Proxima Nova"/>
              <a:cs typeface="Proxima Nova"/>
              <a:sym typeface="Proxima Nova"/>
            </a:endParaRPr>
          </a:p>
        </p:txBody>
      </p:sp>
      <p:sp>
        <p:nvSpPr>
          <p:cNvPr id="412" name="Google Shape;412;p28"/>
          <p:cNvSpPr/>
          <p:nvPr/>
        </p:nvSpPr>
        <p:spPr>
          <a:xfrm>
            <a:off x="6093233" y="2682109"/>
            <a:ext cx="2487300" cy="805800"/>
          </a:xfrm>
          <a:prstGeom prst="rect">
            <a:avLst/>
          </a:prstGeom>
          <a:solidFill>
            <a:srgbClr val="F26968"/>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Generic flags</a:t>
            </a:r>
            <a:endParaRPr sz="2040">
              <a:solidFill>
                <a:schemeClr val="lt1"/>
              </a:solidFill>
              <a:latin typeface="Proxima Nova"/>
              <a:ea typeface="Proxima Nova"/>
              <a:cs typeface="Proxima Nova"/>
              <a:sym typeface="Proxima Nova"/>
            </a:endParaRPr>
          </a:p>
        </p:txBody>
      </p:sp>
      <p:sp>
        <p:nvSpPr>
          <p:cNvPr id="413" name="Google Shape;413;p28"/>
          <p:cNvSpPr/>
          <p:nvPr/>
        </p:nvSpPr>
        <p:spPr>
          <a:xfrm>
            <a:off x="8758748" y="2682109"/>
            <a:ext cx="2487300" cy="805800"/>
          </a:xfrm>
          <a:prstGeom prst="rect">
            <a:avLst/>
          </a:prstGeom>
          <a:solidFill>
            <a:srgbClr val="F26968"/>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Limited context</a:t>
            </a:r>
            <a:endParaRPr sz="2040">
              <a:solidFill>
                <a:schemeClr val="lt1"/>
              </a:solidFill>
              <a:latin typeface="Proxima Nova"/>
              <a:ea typeface="Proxima Nova"/>
              <a:cs typeface="Proxima Nova"/>
              <a:sym typeface="Proxima Nova"/>
            </a:endParaRPr>
          </a:p>
        </p:txBody>
      </p:sp>
      <p:sp>
        <p:nvSpPr>
          <p:cNvPr id="414" name="Google Shape;414;p28"/>
          <p:cNvSpPr txBox="1"/>
          <p:nvPr/>
        </p:nvSpPr>
        <p:spPr>
          <a:xfrm>
            <a:off x="-1143983" y="4051639"/>
            <a:ext cx="4338000" cy="1230600"/>
          </a:xfrm>
          <a:prstGeom prst="rect">
            <a:avLst/>
          </a:prstGeom>
          <a:noFill/>
          <a:ln>
            <a:noFill/>
          </a:ln>
        </p:spPr>
        <p:txBody>
          <a:bodyPr anchorCtr="0" anchor="t" bIns="216000" lIns="216000" spcFirstLastPara="1" rIns="216000" wrap="square" tIns="216000">
            <a:spAutoFit/>
          </a:bodyPr>
          <a:lstStyle/>
          <a:p>
            <a:pPr indent="0" lvl="0" marL="0" rtl="0" algn="r">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Mayo Model of Care interpretation</a:t>
            </a:r>
            <a:endParaRPr sz="2400">
              <a:solidFill>
                <a:schemeClr val="dk2"/>
              </a:solidFill>
              <a:latin typeface="Proxima Nova"/>
              <a:ea typeface="Proxima Nova"/>
              <a:cs typeface="Proxima Nova"/>
              <a:sym typeface="Proxima Nova"/>
            </a:endParaRPr>
          </a:p>
        </p:txBody>
      </p:sp>
      <p:sp>
        <p:nvSpPr>
          <p:cNvPr id="415" name="Google Shape;415;p28"/>
          <p:cNvSpPr/>
          <p:nvPr/>
        </p:nvSpPr>
        <p:spPr>
          <a:xfrm>
            <a:off x="3449454" y="3804285"/>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Patient context</a:t>
            </a:r>
            <a:endParaRPr sz="2040">
              <a:solidFill>
                <a:schemeClr val="lt1"/>
              </a:solidFill>
              <a:latin typeface="Proxima Nova"/>
              <a:ea typeface="Proxima Nova"/>
              <a:cs typeface="Proxima Nova"/>
              <a:sym typeface="Proxima Nova"/>
            </a:endParaRPr>
          </a:p>
        </p:txBody>
      </p:sp>
      <p:sp>
        <p:nvSpPr>
          <p:cNvPr id="416" name="Google Shape;416;p28"/>
          <p:cNvSpPr/>
          <p:nvPr/>
        </p:nvSpPr>
        <p:spPr>
          <a:xfrm>
            <a:off x="6114970" y="3804285"/>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Evidence grounded</a:t>
            </a:r>
            <a:endParaRPr sz="2040">
              <a:solidFill>
                <a:schemeClr val="lt1"/>
              </a:solidFill>
              <a:latin typeface="Proxima Nova"/>
              <a:ea typeface="Proxima Nova"/>
              <a:cs typeface="Proxima Nova"/>
              <a:sym typeface="Proxima Nova"/>
            </a:endParaRPr>
          </a:p>
        </p:txBody>
      </p:sp>
      <p:sp>
        <p:nvSpPr>
          <p:cNvPr id="417" name="Google Shape;417;p28"/>
          <p:cNvSpPr/>
          <p:nvPr/>
        </p:nvSpPr>
        <p:spPr>
          <a:xfrm>
            <a:off x="6114970" y="4742939"/>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Traceable</a:t>
            </a:r>
            <a:endParaRPr sz="2040">
              <a:solidFill>
                <a:schemeClr val="lt1"/>
              </a:solidFill>
              <a:latin typeface="Proxima Nova"/>
              <a:ea typeface="Proxima Nova"/>
              <a:cs typeface="Proxima Nova"/>
              <a:sym typeface="Proxima Nova"/>
            </a:endParaRPr>
          </a:p>
        </p:txBody>
      </p:sp>
      <p:sp>
        <p:nvSpPr>
          <p:cNvPr id="418" name="Google Shape;418;p28"/>
          <p:cNvSpPr/>
          <p:nvPr/>
        </p:nvSpPr>
        <p:spPr>
          <a:xfrm>
            <a:off x="3449454" y="4742939"/>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Clinically reviewed</a:t>
            </a:r>
            <a:endParaRPr sz="2040">
              <a:solidFill>
                <a:schemeClr val="lt1"/>
              </a:solidFill>
              <a:latin typeface="Proxima Nova"/>
              <a:ea typeface="Proxima Nova"/>
              <a:cs typeface="Proxima Nova"/>
              <a:sym typeface="Proxima Nova"/>
            </a:endParaRPr>
          </a:p>
        </p:txBody>
      </p:sp>
      <p:sp>
        <p:nvSpPr>
          <p:cNvPr id="419" name="Google Shape;419;p28"/>
          <p:cNvSpPr/>
          <p:nvPr/>
        </p:nvSpPr>
        <p:spPr>
          <a:xfrm>
            <a:off x="8780485" y="3804285"/>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Specialist informed</a:t>
            </a:r>
            <a:endParaRPr sz="2040">
              <a:solidFill>
                <a:schemeClr val="lt1"/>
              </a:solidFill>
              <a:latin typeface="Proxima Nova"/>
              <a:ea typeface="Proxima Nova"/>
              <a:cs typeface="Proxima Nova"/>
              <a:sym typeface="Proxima Nova"/>
            </a:endParaRPr>
          </a:p>
        </p:txBody>
      </p:sp>
      <p:sp>
        <p:nvSpPr>
          <p:cNvPr id="420" name="Google Shape;420;p28"/>
          <p:cNvSpPr txBox="1"/>
          <p:nvPr/>
        </p:nvSpPr>
        <p:spPr>
          <a:xfrm>
            <a:off x="125936" y="5935069"/>
            <a:ext cx="11218800" cy="14724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b="1" lang="pt-BR" sz="2040">
                <a:solidFill>
                  <a:schemeClr val="dk2"/>
                </a:solidFill>
                <a:latin typeface="Proxima Nova"/>
                <a:ea typeface="Proxima Nova"/>
                <a:cs typeface="Proxima Nova"/>
                <a:sym typeface="Proxima Nova"/>
              </a:rPr>
              <a:t>Sanguine is a physician-facing clinical interpretation layer for Mayo Clinic laboratory results. It aims to improve Mayo Clinic lab patient care outcomes at scale by augmenting physician-facing test results with relevant research using an agentic AI clinical librarian.</a:t>
            </a:r>
            <a:endParaRPr b="1" sz="2040">
              <a:solidFill>
                <a:schemeClr val="dk2"/>
              </a:solidFill>
              <a:latin typeface="Proxima Nova"/>
              <a:ea typeface="Proxima Nova"/>
              <a:cs typeface="Proxima Nova"/>
              <a:sym typeface="Proxima Nova"/>
            </a:endParaRPr>
          </a:p>
        </p:txBody>
      </p:sp>
      <p:sp>
        <p:nvSpPr>
          <p:cNvPr id="421" name="Google Shape;421;p28"/>
          <p:cNvSpPr/>
          <p:nvPr/>
        </p:nvSpPr>
        <p:spPr>
          <a:xfrm>
            <a:off x="3283244" y="2458159"/>
            <a:ext cx="8121000" cy="3249000"/>
          </a:xfrm>
          <a:prstGeom prst="roundRect">
            <a:avLst>
              <a:gd fmla="val 6483" name="adj"/>
            </a:avLst>
          </a:prstGeom>
          <a:noFill/>
          <a:ln cap="flat" cmpd="sng" w="22850">
            <a:solidFill>
              <a:srgbClr val="999999"/>
            </a:solidFill>
            <a:prstDash val="solid"/>
            <a:round/>
            <a:headEnd len="sm" w="sm" type="none"/>
            <a:tailEnd len="sm" w="sm" type="none"/>
          </a:ln>
        </p:spPr>
        <p:txBody>
          <a:bodyPr anchorCtr="0" anchor="ctr" bIns="1097100" lIns="1097100" spcFirstLastPara="1" rIns="1097100" wrap="square" tIns="1097100">
            <a:noAutofit/>
          </a:bodyPr>
          <a:lstStyle/>
          <a:p>
            <a:pPr indent="0" lvl="0" marL="0" rtl="0" algn="ctr">
              <a:spcBef>
                <a:spcPts val="0"/>
              </a:spcBef>
              <a:spcAft>
                <a:spcPts val="0"/>
              </a:spcAft>
              <a:buNone/>
            </a:pPr>
            <a:r>
              <a:t/>
            </a:r>
            <a:endParaRPr sz="2160">
              <a:latin typeface="Proxima Nova"/>
              <a:ea typeface="Proxima Nova"/>
              <a:cs typeface="Proxima Nova"/>
              <a:sym typeface="Proxima Nova"/>
            </a:endParaRPr>
          </a:p>
        </p:txBody>
      </p:sp>
      <p:sp>
        <p:nvSpPr>
          <p:cNvPr id="422" name="Google Shape;422;p28"/>
          <p:cNvSpPr txBox="1"/>
          <p:nvPr/>
        </p:nvSpPr>
        <p:spPr>
          <a:xfrm>
            <a:off x="8702947" y="4798549"/>
            <a:ext cx="2641800" cy="10644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b="1" lang="pt-BR" sz="2040">
                <a:solidFill>
                  <a:srgbClr val="999999"/>
                </a:solidFill>
                <a:latin typeface="Proxima Nova"/>
                <a:ea typeface="Proxima Nova"/>
                <a:cs typeface="Proxima Nova"/>
                <a:sym typeface="Proxima Nova"/>
              </a:rPr>
              <a:t>Interpretation Layer</a:t>
            </a:r>
            <a:endParaRPr b="1" sz="2040">
              <a:solidFill>
                <a:srgbClr val="999999"/>
              </a:solidFill>
              <a:latin typeface="Proxima Nova"/>
              <a:ea typeface="Proxima Nova"/>
              <a:cs typeface="Proxima Nova"/>
              <a:sym typeface="Proxima Nova"/>
            </a:endParaRPr>
          </a:p>
        </p:txBody>
      </p:sp>
      <p:grpSp>
        <p:nvGrpSpPr>
          <p:cNvPr id="423" name="Google Shape;423;p28"/>
          <p:cNvGrpSpPr/>
          <p:nvPr/>
        </p:nvGrpSpPr>
        <p:grpSpPr>
          <a:xfrm>
            <a:off x="10503111" y="8693470"/>
            <a:ext cx="8941201" cy="5476658"/>
            <a:chOff x="11465487" y="9211798"/>
            <a:chExt cx="16116079" cy="8412685"/>
          </a:xfrm>
        </p:grpSpPr>
        <p:sp>
          <p:nvSpPr>
            <p:cNvPr id="424" name="Google Shape;424;p28"/>
            <p:cNvSpPr/>
            <p:nvPr/>
          </p:nvSpPr>
          <p:spPr>
            <a:xfrm>
              <a:off x="15867473" y="11457283"/>
              <a:ext cx="380700" cy="1087800"/>
            </a:xfrm>
            <a:prstGeom prst="roundRect">
              <a:avLst>
                <a:gd fmla="val 16667" name="adj"/>
              </a:avLst>
            </a:prstGeom>
            <a:solidFill>
              <a:srgbClr val="0F9ED5">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425" name="Google Shape;425;p28"/>
            <p:cNvCxnSpPr/>
            <p:nvPr/>
          </p:nvCxnSpPr>
          <p:spPr>
            <a:xfrm>
              <a:off x="16070970"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426" name="Google Shape;426;p28"/>
            <p:cNvSpPr txBox="1"/>
            <p:nvPr/>
          </p:nvSpPr>
          <p:spPr>
            <a:xfrm>
              <a:off x="15031756" y="9211798"/>
              <a:ext cx="2078700" cy="6504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External Laboratory</a:t>
              </a:r>
              <a:endParaRPr sz="1118">
                <a:solidFill>
                  <a:srgbClr val="000000"/>
                </a:solidFill>
                <a:latin typeface="Proxima Nova"/>
                <a:ea typeface="Proxima Nova"/>
                <a:cs typeface="Proxima Nova"/>
                <a:sym typeface="Proxima Nova"/>
              </a:endParaRPr>
            </a:p>
          </p:txBody>
        </p:sp>
        <p:cxnSp>
          <p:nvCxnSpPr>
            <p:cNvPr id="427" name="Google Shape;427;p28"/>
            <p:cNvCxnSpPr/>
            <p:nvPr/>
          </p:nvCxnSpPr>
          <p:spPr>
            <a:xfrm>
              <a:off x="18685657"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428" name="Google Shape;428;p28"/>
            <p:cNvSpPr txBox="1"/>
            <p:nvPr/>
          </p:nvSpPr>
          <p:spPr>
            <a:xfrm>
              <a:off x="17646454" y="9211798"/>
              <a:ext cx="2078700" cy="11793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Mayo Clinic Labs</a:t>
              </a:r>
              <a:endParaRPr sz="1204">
                <a:latin typeface="Proxima Nova"/>
                <a:ea typeface="Proxima Nova"/>
                <a:cs typeface="Proxima Nova"/>
                <a:sym typeface="Proxima Nova"/>
              </a:endParaRPr>
            </a:p>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(Tests Execution)</a:t>
              </a:r>
              <a:endParaRPr sz="1118">
                <a:solidFill>
                  <a:srgbClr val="000000"/>
                </a:solidFill>
                <a:latin typeface="Proxima Nova"/>
                <a:ea typeface="Proxima Nova"/>
                <a:cs typeface="Proxima Nova"/>
                <a:sym typeface="Proxima Nova"/>
              </a:endParaRPr>
            </a:p>
          </p:txBody>
        </p:sp>
        <p:cxnSp>
          <p:nvCxnSpPr>
            <p:cNvPr id="429" name="Google Shape;429;p28"/>
            <p:cNvCxnSpPr/>
            <p:nvPr/>
          </p:nvCxnSpPr>
          <p:spPr>
            <a:xfrm>
              <a:off x="21300369"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430" name="Google Shape;430;p28"/>
            <p:cNvSpPr txBox="1"/>
            <p:nvPr/>
          </p:nvSpPr>
          <p:spPr>
            <a:xfrm>
              <a:off x="20261155"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Patient Record</a:t>
              </a:r>
              <a:endParaRPr sz="1204">
                <a:latin typeface="Proxima Nova"/>
                <a:ea typeface="Proxima Nova"/>
                <a:cs typeface="Proxima Nova"/>
                <a:sym typeface="Proxima Nova"/>
              </a:endParaRPr>
            </a:p>
          </p:txBody>
        </p:sp>
        <p:cxnSp>
          <p:nvCxnSpPr>
            <p:cNvPr id="431" name="Google Shape;431;p28"/>
            <p:cNvCxnSpPr/>
            <p:nvPr/>
          </p:nvCxnSpPr>
          <p:spPr>
            <a:xfrm>
              <a:off x="23915067"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432" name="Google Shape;432;p28"/>
            <p:cNvSpPr txBox="1"/>
            <p:nvPr/>
          </p:nvSpPr>
          <p:spPr>
            <a:xfrm>
              <a:off x="25173466" y="9211798"/>
              <a:ext cx="2408100" cy="6504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Sanguine Librarian Layer</a:t>
              </a:r>
              <a:endParaRPr sz="1118">
                <a:solidFill>
                  <a:srgbClr val="000000"/>
                </a:solidFill>
                <a:latin typeface="Proxima Nova"/>
                <a:ea typeface="Proxima Nova"/>
                <a:cs typeface="Proxima Nova"/>
                <a:sym typeface="Proxima Nova"/>
              </a:endParaRPr>
            </a:p>
          </p:txBody>
        </p:sp>
        <p:sp>
          <p:nvSpPr>
            <p:cNvPr id="433" name="Google Shape;433;p28"/>
            <p:cNvSpPr/>
            <p:nvPr/>
          </p:nvSpPr>
          <p:spPr>
            <a:xfrm>
              <a:off x="18495302" y="11457283"/>
              <a:ext cx="380700" cy="1060500"/>
            </a:xfrm>
            <a:prstGeom prst="roundRect">
              <a:avLst>
                <a:gd fmla="val 16667" name="adj"/>
              </a:avLst>
            </a:prstGeom>
            <a:solidFill>
              <a:srgbClr val="4EA72E">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434" name="Google Shape;434;p28"/>
            <p:cNvSpPr/>
            <p:nvPr/>
          </p:nvSpPr>
          <p:spPr>
            <a:xfrm>
              <a:off x="21089755" y="11457283"/>
              <a:ext cx="380700" cy="1041900"/>
            </a:xfrm>
            <a:prstGeom prst="roundRect">
              <a:avLst>
                <a:gd fmla="val 16667" name="adj"/>
              </a:avLst>
            </a:prstGeom>
            <a:solidFill>
              <a:srgbClr val="E9713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435" name="Google Shape;435;p28"/>
            <p:cNvCxnSpPr/>
            <p:nvPr/>
          </p:nvCxnSpPr>
          <p:spPr>
            <a:xfrm>
              <a:off x="16248209" y="11606279"/>
              <a:ext cx="22206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436" name="Google Shape;436;p28"/>
            <p:cNvCxnSpPr/>
            <p:nvPr/>
          </p:nvCxnSpPr>
          <p:spPr>
            <a:xfrm>
              <a:off x="18876038" y="11582967"/>
              <a:ext cx="22266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437" name="Google Shape;437;p28"/>
            <p:cNvCxnSpPr/>
            <p:nvPr/>
          </p:nvCxnSpPr>
          <p:spPr>
            <a:xfrm rot="10800000">
              <a:off x="16239464" y="15170200"/>
              <a:ext cx="9880500" cy="0"/>
            </a:xfrm>
            <a:prstGeom prst="straightConnector1">
              <a:avLst/>
            </a:prstGeom>
            <a:noFill/>
            <a:ln cap="flat" cmpd="sng" w="24575">
              <a:solidFill>
                <a:srgbClr val="7F7F7F"/>
              </a:solidFill>
              <a:prstDash val="solid"/>
              <a:miter lim="800000"/>
              <a:headEnd len="sm" w="sm" type="none"/>
              <a:tailEnd len="med" w="med" type="triangle"/>
            </a:ln>
          </p:spPr>
        </p:cxnSp>
        <p:sp>
          <p:nvSpPr>
            <p:cNvPr id="438" name="Google Shape;438;p28"/>
            <p:cNvSpPr txBox="1"/>
            <p:nvPr/>
          </p:nvSpPr>
          <p:spPr>
            <a:xfrm>
              <a:off x="16320938" y="1169784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Collecs and send samples</a:t>
              </a:r>
              <a:endParaRPr sz="1032">
                <a:solidFill>
                  <a:srgbClr val="000000"/>
                </a:solidFill>
                <a:latin typeface="Proxima Nova"/>
                <a:ea typeface="Proxima Nova"/>
                <a:cs typeface="Proxima Nova"/>
                <a:sym typeface="Proxima Nova"/>
              </a:endParaRPr>
            </a:p>
          </p:txBody>
        </p:sp>
        <p:sp>
          <p:nvSpPr>
            <p:cNvPr id="439" name="Google Shape;439;p28"/>
            <p:cNvSpPr txBox="1"/>
            <p:nvPr/>
          </p:nvSpPr>
          <p:spPr>
            <a:xfrm>
              <a:off x="23903091" y="15223203"/>
              <a:ext cx="2353800" cy="10980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 of results interpretation complete</a:t>
              </a:r>
              <a:endParaRPr sz="1204">
                <a:latin typeface="Proxima Nova"/>
                <a:ea typeface="Proxima Nova"/>
                <a:cs typeface="Proxima Nova"/>
                <a:sym typeface="Proxima Nova"/>
              </a:endParaRPr>
            </a:p>
          </p:txBody>
        </p:sp>
        <p:sp>
          <p:nvSpPr>
            <p:cNvPr id="440" name="Google Shape;440;p28"/>
            <p:cNvSpPr txBox="1"/>
            <p:nvPr/>
          </p:nvSpPr>
          <p:spPr>
            <a:xfrm>
              <a:off x="18937140" y="1169784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Analyses and store results</a:t>
              </a:r>
              <a:endParaRPr sz="1032">
                <a:solidFill>
                  <a:srgbClr val="000000"/>
                </a:solidFill>
                <a:latin typeface="Proxima Nova"/>
                <a:ea typeface="Proxima Nova"/>
                <a:cs typeface="Proxima Nova"/>
                <a:sym typeface="Proxima Nova"/>
              </a:endParaRPr>
            </a:p>
          </p:txBody>
        </p:sp>
        <p:sp>
          <p:nvSpPr>
            <p:cNvPr id="441" name="Google Shape;441;p28"/>
            <p:cNvSpPr txBox="1"/>
            <p:nvPr/>
          </p:nvSpPr>
          <p:spPr>
            <a:xfrm>
              <a:off x="21531932" y="11697840"/>
              <a:ext cx="19080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Test raw results</a:t>
              </a:r>
              <a:endParaRPr sz="1032">
                <a:solidFill>
                  <a:srgbClr val="000000"/>
                </a:solidFill>
                <a:latin typeface="Proxima Nova"/>
                <a:ea typeface="Proxima Nova"/>
                <a:cs typeface="Proxima Nova"/>
                <a:sym typeface="Proxima Nova"/>
              </a:endParaRPr>
            </a:p>
          </p:txBody>
        </p:sp>
        <p:cxnSp>
          <p:nvCxnSpPr>
            <p:cNvPr id="442" name="Google Shape;442;p28"/>
            <p:cNvCxnSpPr/>
            <p:nvPr/>
          </p:nvCxnSpPr>
          <p:spPr>
            <a:xfrm rot="10800000">
              <a:off x="24094959" y="13848647"/>
              <a:ext cx="2070300" cy="0"/>
            </a:xfrm>
            <a:prstGeom prst="straightConnector1">
              <a:avLst/>
            </a:prstGeom>
            <a:noFill/>
            <a:ln cap="flat" cmpd="sng" w="24575">
              <a:solidFill>
                <a:srgbClr val="7F7F7F"/>
              </a:solidFill>
              <a:prstDash val="solid"/>
              <a:miter lim="800000"/>
              <a:headEnd len="sm" w="sm" type="none"/>
              <a:tailEnd len="med" w="med" type="triangle"/>
            </a:ln>
          </p:spPr>
        </p:cxnSp>
        <p:sp>
          <p:nvSpPr>
            <p:cNvPr id="443" name="Google Shape;443;p28"/>
            <p:cNvSpPr txBox="1"/>
            <p:nvPr/>
          </p:nvSpPr>
          <p:spPr>
            <a:xfrm>
              <a:off x="22106638" y="12891743"/>
              <a:ext cx="46635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Request patient context</a:t>
              </a:r>
              <a:endParaRPr sz="1032">
                <a:solidFill>
                  <a:srgbClr val="000000"/>
                </a:solidFill>
                <a:latin typeface="Proxima Nova"/>
                <a:ea typeface="Proxima Nova"/>
                <a:cs typeface="Proxima Nova"/>
                <a:sym typeface="Proxima Nova"/>
              </a:endParaRPr>
            </a:p>
          </p:txBody>
        </p:sp>
        <p:sp>
          <p:nvSpPr>
            <p:cNvPr id="444" name="Google Shape;444;p28"/>
            <p:cNvSpPr txBox="1"/>
            <p:nvPr/>
          </p:nvSpPr>
          <p:spPr>
            <a:xfrm>
              <a:off x="24105503" y="13903847"/>
              <a:ext cx="19545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Request clinical references</a:t>
              </a:r>
              <a:endParaRPr sz="1032">
                <a:solidFill>
                  <a:srgbClr val="000000"/>
                </a:solidFill>
                <a:latin typeface="Proxima Nova"/>
                <a:ea typeface="Proxima Nova"/>
                <a:cs typeface="Proxima Nova"/>
                <a:sym typeface="Proxima Nova"/>
              </a:endParaRPr>
            </a:p>
          </p:txBody>
        </p:sp>
        <p:cxnSp>
          <p:nvCxnSpPr>
            <p:cNvPr id="445" name="Google Shape;445;p28"/>
            <p:cNvCxnSpPr/>
            <p:nvPr/>
          </p:nvCxnSpPr>
          <p:spPr>
            <a:xfrm>
              <a:off x="26377558"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446" name="Google Shape;446;p28"/>
            <p:cNvSpPr/>
            <p:nvPr/>
          </p:nvSpPr>
          <p:spPr>
            <a:xfrm>
              <a:off x="26175833" y="11457283"/>
              <a:ext cx="380700" cy="4614000"/>
            </a:xfrm>
            <a:prstGeom prst="roundRect">
              <a:avLst>
                <a:gd fmla="val 16667" name="adj"/>
              </a:avLst>
            </a:prstGeom>
            <a:solidFill>
              <a:srgbClr val="FF0000">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447" name="Google Shape;447;p28"/>
            <p:cNvSpPr txBox="1"/>
            <p:nvPr/>
          </p:nvSpPr>
          <p:spPr>
            <a:xfrm>
              <a:off x="22875855" y="9211798"/>
              <a:ext cx="2078700" cy="9150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Mayo Clinic Knowledge &amp; Research</a:t>
              </a:r>
              <a:endParaRPr sz="1204">
                <a:latin typeface="Proxima Nova"/>
                <a:ea typeface="Proxima Nova"/>
                <a:cs typeface="Proxima Nova"/>
                <a:sym typeface="Proxima Nova"/>
              </a:endParaRPr>
            </a:p>
          </p:txBody>
        </p:sp>
        <p:sp>
          <p:nvSpPr>
            <p:cNvPr id="448" name="Google Shape;448;p28"/>
            <p:cNvSpPr/>
            <p:nvPr/>
          </p:nvSpPr>
          <p:spPr>
            <a:xfrm>
              <a:off x="23714193" y="13684467"/>
              <a:ext cx="380700" cy="1041600"/>
            </a:xfrm>
            <a:prstGeom prst="roundRect">
              <a:avLst>
                <a:gd fmla="val 16667" name="adj"/>
              </a:avLst>
            </a:prstGeom>
            <a:solidFill>
              <a:srgbClr val="AEAEAE">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449" name="Google Shape;449;p28"/>
            <p:cNvSpPr/>
            <p:nvPr/>
          </p:nvSpPr>
          <p:spPr>
            <a:xfrm>
              <a:off x="21102742" y="12636556"/>
              <a:ext cx="380700" cy="855600"/>
            </a:xfrm>
            <a:prstGeom prst="roundRect">
              <a:avLst>
                <a:gd fmla="val 16667" name="adj"/>
              </a:avLst>
            </a:prstGeom>
            <a:solidFill>
              <a:srgbClr val="E9713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450" name="Google Shape;450;p28"/>
            <p:cNvCxnSpPr/>
            <p:nvPr/>
          </p:nvCxnSpPr>
          <p:spPr>
            <a:xfrm rot="10800000">
              <a:off x="12703818" y="11163267"/>
              <a:ext cx="15228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451" name="Google Shape;451;p28"/>
            <p:cNvCxnSpPr/>
            <p:nvPr/>
          </p:nvCxnSpPr>
          <p:spPr>
            <a:xfrm>
              <a:off x="21456434" y="11606279"/>
              <a:ext cx="4745400" cy="0"/>
            </a:xfrm>
            <a:prstGeom prst="straightConnector1">
              <a:avLst/>
            </a:prstGeom>
            <a:noFill/>
            <a:ln cap="flat" cmpd="sng" w="24575">
              <a:solidFill>
                <a:srgbClr val="7F7F7F"/>
              </a:solidFill>
              <a:prstDash val="solid"/>
              <a:miter lim="800000"/>
              <a:headEnd len="sm" w="sm" type="none"/>
              <a:tailEnd len="med" w="med" type="triangle"/>
            </a:ln>
          </p:spPr>
        </p:cxnSp>
        <p:sp>
          <p:nvSpPr>
            <p:cNvPr id="452" name="Google Shape;452;p28"/>
            <p:cNvSpPr txBox="1"/>
            <p:nvPr/>
          </p:nvSpPr>
          <p:spPr>
            <a:xfrm>
              <a:off x="21456434" y="13354498"/>
              <a:ext cx="25419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Send patient clinical context</a:t>
              </a:r>
              <a:endParaRPr sz="1032">
                <a:solidFill>
                  <a:srgbClr val="000000"/>
                </a:solidFill>
                <a:latin typeface="Proxima Nova"/>
                <a:ea typeface="Proxima Nova"/>
                <a:cs typeface="Proxima Nova"/>
                <a:sym typeface="Proxima Nova"/>
              </a:endParaRPr>
            </a:p>
          </p:txBody>
        </p:sp>
        <p:cxnSp>
          <p:nvCxnSpPr>
            <p:cNvPr id="453" name="Google Shape;453;p28"/>
            <p:cNvCxnSpPr/>
            <p:nvPr/>
          </p:nvCxnSpPr>
          <p:spPr>
            <a:xfrm>
              <a:off x="24058504" y="14514168"/>
              <a:ext cx="2128800" cy="0"/>
            </a:xfrm>
            <a:prstGeom prst="straightConnector1">
              <a:avLst/>
            </a:prstGeom>
            <a:noFill/>
            <a:ln cap="flat" cmpd="sng" w="24575">
              <a:solidFill>
                <a:srgbClr val="7F7F7F"/>
              </a:solidFill>
              <a:prstDash val="solid"/>
              <a:miter lim="800000"/>
              <a:headEnd len="sm" w="sm" type="none"/>
              <a:tailEnd len="med" w="med" type="triangle"/>
            </a:ln>
          </p:spPr>
        </p:cxnSp>
        <p:sp>
          <p:nvSpPr>
            <p:cNvPr id="454" name="Google Shape;454;p28"/>
            <p:cNvSpPr txBox="1"/>
            <p:nvPr/>
          </p:nvSpPr>
          <p:spPr>
            <a:xfrm>
              <a:off x="24058504" y="14525107"/>
              <a:ext cx="1632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Send clinical references</a:t>
              </a:r>
              <a:endParaRPr sz="1032">
                <a:solidFill>
                  <a:srgbClr val="000000"/>
                </a:solidFill>
                <a:latin typeface="Proxima Nova"/>
                <a:ea typeface="Proxima Nova"/>
                <a:cs typeface="Proxima Nova"/>
                <a:sym typeface="Proxima Nova"/>
              </a:endParaRPr>
            </a:p>
          </p:txBody>
        </p:sp>
        <p:sp>
          <p:nvSpPr>
            <p:cNvPr id="455" name="Google Shape;455;p28"/>
            <p:cNvSpPr/>
            <p:nvPr/>
          </p:nvSpPr>
          <p:spPr>
            <a:xfrm>
              <a:off x="15858667" y="15086608"/>
              <a:ext cx="380700" cy="1353900"/>
            </a:xfrm>
            <a:prstGeom prst="roundRect">
              <a:avLst>
                <a:gd fmla="val 16667" name="adj"/>
              </a:avLst>
            </a:prstGeom>
            <a:solidFill>
              <a:srgbClr val="0F9ED5">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456" name="Google Shape;456;p28"/>
            <p:cNvSpPr/>
            <p:nvPr/>
          </p:nvSpPr>
          <p:spPr>
            <a:xfrm>
              <a:off x="12318864" y="10242365"/>
              <a:ext cx="380700" cy="17499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457" name="Google Shape;457;p28"/>
            <p:cNvCxnSpPr/>
            <p:nvPr/>
          </p:nvCxnSpPr>
          <p:spPr>
            <a:xfrm>
              <a:off x="12504700"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458" name="Google Shape;458;p28"/>
            <p:cNvSpPr txBox="1"/>
            <p:nvPr/>
          </p:nvSpPr>
          <p:spPr>
            <a:xfrm>
              <a:off x="11465487"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Patient</a:t>
              </a:r>
              <a:endParaRPr sz="1118">
                <a:solidFill>
                  <a:srgbClr val="000000"/>
                </a:solidFill>
                <a:latin typeface="Proxima Nova"/>
                <a:ea typeface="Proxima Nova"/>
                <a:cs typeface="Proxima Nova"/>
                <a:sym typeface="Proxima Nova"/>
              </a:endParaRPr>
            </a:p>
          </p:txBody>
        </p:sp>
        <p:sp>
          <p:nvSpPr>
            <p:cNvPr id="459" name="Google Shape;459;p28"/>
            <p:cNvSpPr/>
            <p:nvPr/>
          </p:nvSpPr>
          <p:spPr>
            <a:xfrm>
              <a:off x="12316454" y="15752918"/>
              <a:ext cx="380700" cy="5814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460" name="Google Shape;460;p28"/>
            <p:cNvSpPr/>
            <p:nvPr/>
          </p:nvSpPr>
          <p:spPr>
            <a:xfrm>
              <a:off x="14226618" y="10284614"/>
              <a:ext cx="380700" cy="10551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461" name="Google Shape;461;p28"/>
            <p:cNvCxnSpPr/>
            <p:nvPr/>
          </p:nvCxnSpPr>
          <p:spPr>
            <a:xfrm>
              <a:off x="14416986"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462" name="Google Shape;462;p28"/>
            <p:cNvSpPr txBox="1"/>
            <p:nvPr/>
          </p:nvSpPr>
          <p:spPr>
            <a:xfrm>
              <a:off x="13377773"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Physician</a:t>
              </a:r>
              <a:endParaRPr sz="1118">
                <a:solidFill>
                  <a:srgbClr val="000000"/>
                </a:solidFill>
                <a:latin typeface="Proxima Nova"/>
                <a:ea typeface="Proxima Nova"/>
                <a:cs typeface="Proxima Nova"/>
                <a:sym typeface="Proxima Nova"/>
              </a:endParaRPr>
            </a:p>
          </p:txBody>
        </p:sp>
        <p:sp>
          <p:nvSpPr>
            <p:cNvPr id="463" name="Google Shape;463;p28"/>
            <p:cNvSpPr/>
            <p:nvPr/>
          </p:nvSpPr>
          <p:spPr>
            <a:xfrm>
              <a:off x="14226618" y="15077351"/>
              <a:ext cx="380700" cy="5814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464" name="Google Shape;464;p28"/>
            <p:cNvCxnSpPr/>
            <p:nvPr/>
          </p:nvCxnSpPr>
          <p:spPr>
            <a:xfrm>
              <a:off x="12641221" y="10446061"/>
              <a:ext cx="1585200" cy="0"/>
            </a:xfrm>
            <a:prstGeom prst="straightConnector1">
              <a:avLst/>
            </a:prstGeom>
            <a:noFill/>
            <a:ln cap="flat" cmpd="sng" w="24575">
              <a:solidFill>
                <a:srgbClr val="7F7F7F"/>
              </a:solidFill>
              <a:prstDash val="solid"/>
              <a:miter lim="800000"/>
              <a:headEnd len="sm" w="sm" type="none"/>
              <a:tailEnd len="med" w="med" type="triangle"/>
            </a:ln>
          </p:spPr>
        </p:cxnSp>
        <p:sp>
          <p:nvSpPr>
            <p:cNvPr id="465" name="Google Shape;465;p28"/>
            <p:cNvSpPr txBox="1"/>
            <p:nvPr/>
          </p:nvSpPr>
          <p:spPr>
            <a:xfrm>
              <a:off x="12684299" y="9971282"/>
              <a:ext cx="25419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Medical consultation</a:t>
              </a:r>
              <a:endParaRPr sz="1032">
                <a:solidFill>
                  <a:srgbClr val="000000"/>
                </a:solidFill>
                <a:latin typeface="Proxima Nova"/>
                <a:ea typeface="Proxima Nova"/>
                <a:cs typeface="Proxima Nova"/>
                <a:sym typeface="Proxima Nova"/>
              </a:endParaRPr>
            </a:p>
          </p:txBody>
        </p:sp>
        <p:sp>
          <p:nvSpPr>
            <p:cNvPr id="466" name="Google Shape;466;p28"/>
            <p:cNvSpPr txBox="1"/>
            <p:nvPr/>
          </p:nvSpPr>
          <p:spPr>
            <a:xfrm>
              <a:off x="12728501" y="11207089"/>
              <a:ext cx="24081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Exam request</a:t>
              </a:r>
              <a:endParaRPr sz="1032">
                <a:solidFill>
                  <a:srgbClr val="000000"/>
                </a:solidFill>
                <a:latin typeface="Proxima Nova"/>
                <a:ea typeface="Proxima Nova"/>
                <a:cs typeface="Proxima Nova"/>
                <a:sym typeface="Proxima Nova"/>
              </a:endParaRPr>
            </a:p>
          </p:txBody>
        </p:sp>
        <p:cxnSp>
          <p:nvCxnSpPr>
            <p:cNvPr id="467" name="Google Shape;467;p28"/>
            <p:cNvCxnSpPr/>
            <p:nvPr/>
          </p:nvCxnSpPr>
          <p:spPr>
            <a:xfrm rot="10800000">
              <a:off x="21456464" y="12817687"/>
              <a:ext cx="46635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468" name="Google Shape;468;p28"/>
            <p:cNvCxnSpPr/>
            <p:nvPr/>
          </p:nvCxnSpPr>
          <p:spPr>
            <a:xfrm>
              <a:off x="12715955" y="11606279"/>
              <a:ext cx="3151500" cy="0"/>
            </a:xfrm>
            <a:prstGeom prst="straightConnector1">
              <a:avLst/>
            </a:prstGeom>
            <a:noFill/>
            <a:ln cap="flat" cmpd="sng" w="24575">
              <a:solidFill>
                <a:srgbClr val="7F7F7F"/>
              </a:solidFill>
              <a:prstDash val="solid"/>
              <a:miter lim="800000"/>
              <a:headEnd len="sm" w="sm" type="none"/>
              <a:tailEnd len="med" w="med" type="triangle"/>
            </a:ln>
          </p:spPr>
        </p:cxnSp>
        <p:sp>
          <p:nvSpPr>
            <p:cNvPr id="469" name="Google Shape;469;p28"/>
            <p:cNvSpPr txBox="1"/>
            <p:nvPr/>
          </p:nvSpPr>
          <p:spPr>
            <a:xfrm>
              <a:off x="12676593" y="11637411"/>
              <a:ext cx="23538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Exam schedule</a:t>
              </a:r>
              <a:endParaRPr sz="1032">
                <a:solidFill>
                  <a:srgbClr val="000000"/>
                </a:solidFill>
                <a:latin typeface="Proxima Nova"/>
                <a:ea typeface="Proxima Nova"/>
                <a:cs typeface="Proxima Nova"/>
                <a:sym typeface="Proxima Nova"/>
              </a:endParaRPr>
            </a:p>
          </p:txBody>
        </p:sp>
        <p:cxnSp>
          <p:nvCxnSpPr>
            <p:cNvPr id="470" name="Google Shape;470;p28"/>
            <p:cNvCxnSpPr/>
            <p:nvPr/>
          </p:nvCxnSpPr>
          <p:spPr>
            <a:xfrm>
              <a:off x="21499378" y="13291150"/>
              <a:ext cx="4676400" cy="0"/>
            </a:xfrm>
            <a:prstGeom prst="straightConnector1">
              <a:avLst/>
            </a:prstGeom>
            <a:noFill/>
            <a:ln cap="flat" cmpd="sng" w="24575">
              <a:solidFill>
                <a:srgbClr val="7F7F7F"/>
              </a:solidFill>
              <a:prstDash val="solid"/>
              <a:miter lim="800000"/>
              <a:headEnd len="sm" w="sm" type="none"/>
              <a:tailEnd len="med" w="med" type="triangle"/>
            </a:ln>
          </p:spPr>
        </p:cxnSp>
        <p:sp>
          <p:nvSpPr>
            <p:cNvPr id="471" name="Google Shape;471;p28"/>
            <p:cNvSpPr txBox="1"/>
            <p:nvPr/>
          </p:nvSpPr>
          <p:spPr>
            <a:xfrm>
              <a:off x="14564440" y="15318800"/>
              <a:ext cx="15186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a:t>
              </a:r>
              <a:endParaRPr sz="1204">
                <a:latin typeface="Proxima Nova"/>
                <a:ea typeface="Proxima Nova"/>
                <a:cs typeface="Proxima Nova"/>
                <a:sym typeface="Proxima Nova"/>
              </a:endParaRPr>
            </a:p>
          </p:txBody>
        </p:sp>
        <p:cxnSp>
          <p:nvCxnSpPr>
            <p:cNvPr id="472" name="Google Shape;472;p28"/>
            <p:cNvCxnSpPr/>
            <p:nvPr/>
          </p:nvCxnSpPr>
          <p:spPr>
            <a:xfrm rot="10800000">
              <a:off x="14591917" y="15223203"/>
              <a:ext cx="1263600" cy="0"/>
            </a:xfrm>
            <a:prstGeom prst="straightConnector1">
              <a:avLst/>
            </a:prstGeom>
            <a:noFill/>
            <a:ln cap="flat" cmpd="sng" w="24575">
              <a:solidFill>
                <a:srgbClr val="7F7F7F"/>
              </a:solidFill>
              <a:prstDash val="solid"/>
              <a:miter lim="800000"/>
              <a:headEnd len="sm" w="sm" type="none"/>
              <a:tailEnd len="med" w="med" type="triangle"/>
            </a:ln>
          </p:spPr>
        </p:cxnSp>
        <p:sp>
          <p:nvSpPr>
            <p:cNvPr id="473" name="Google Shape;473;p28"/>
            <p:cNvSpPr txBox="1"/>
            <p:nvPr/>
          </p:nvSpPr>
          <p:spPr>
            <a:xfrm>
              <a:off x="14530538" y="15926441"/>
              <a:ext cx="15186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a:t>
              </a:r>
              <a:endParaRPr sz="1204">
                <a:latin typeface="Proxima Nova"/>
                <a:ea typeface="Proxima Nova"/>
                <a:cs typeface="Proxima Nova"/>
                <a:sym typeface="Proxima Nova"/>
              </a:endParaRPr>
            </a:p>
          </p:txBody>
        </p:sp>
        <p:cxnSp>
          <p:nvCxnSpPr>
            <p:cNvPr id="474" name="Google Shape;474;p28"/>
            <p:cNvCxnSpPr/>
            <p:nvPr/>
          </p:nvCxnSpPr>
          <p:spPr>
            <a:xfrm rot="10800000">
              <a:off x="12697262" y="15868426"/>
              <a:ext cx="3141000" cy="0"/>
            </a:xfrm>
            <a:prstGeom prst="straightConnector1">
              <a:avLst/>
            </a:prstGeom>
            <a:noFill/>
            <a:ln cap="flat" cmpd="sng" w="24575">
              <a:solidFill>
                <a:srgbClr val="7F7F7F"/>
              </a:solidFill>
              <a:prstDash val="solid"/>
              <a:miter lim="800000"/>
              <a:headEnd len="sm" w="sm" type="none"/>
              <a:tailEnd len="med" w="med" type="triangle"/>
            </a:ln>
          </p:spPr>
        </p:cxnSp>
        <p:sp>
          <p:nvSpPr>
            <p:cNvPr id="475" name="Google Shape;475;p28"/>
            <p:cNvSpPr/>
            <p:nvPr/>
          </p:nvSpPr>
          <p:spPr>
            <a:xfrm>
              <a:off x="26159497" y="16384833"/>
              <a:ext cx="380700" cy="1121100"/>
            </a:xfrm>
            <a:prstGeom prst="roundRect">
              <a:avLst>
                <a:gd fmla="val 16667" name="adj"/>
              </a:avLst>
            </a:prstGeom>
            <a:solidFill>
              <a:srgbClr val="FF0000">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476" name="Google Shape;476;p28"/>
            <p:cNvCxnSpPr/>
            <p:nvPr/>
          </p:nvCxnSpPr>
          <p:spPr>
            <a:xfrm>
              <a:off x="14653655" y="16577065"/>
              <a:ext cx="11485500" cy="2100"/>
            </a:xfrm>
            <a:prstGeom prst="straightConnector1">
              <a:avLst/>
            </a:prstGeom>
            <a:noFill/>
            <a:ln cap="flat" cmpd="sng" w="24575">
              <a:solidFill>
                <a:srgbClr val="7F7F7F"/>
              </a:solidFill>
              <a:prstDash val="solid"/>
              <a:miter lim="800000"/>
              <a:headEnd len="sm" w="sm" type="none"/>
              <a:tailEnd len="med" w="med" type="triangle"/>
            </a:ln>
          </p:spPr>
        </p:cxnSp>
        <p:sp>
          <p:nvSpPr>
            <p:cNvPr id="477" name="Google Shape;477;p28"/>
            <p:cNvSpPr/>
            <p:nvPr/>
          </p:nvSpPr>
          <p:spPr>
            <a:xfrm>
              <a:off x="14211281" y="16503383"/>
              <a:ext cx="380700" cy="11211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478" name="Google Shape;478;p28"/>
            <p:cNvSpPr txBox="1"/>
            <p:nvPr/>
          </p:nvSpPr>
          <p:spPr>
            <a:xfrm>
              <a:off x="14495619" y="1662919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Access test interpretation</a:t>
              </a:r>
              <a:endParaRPr i="0" sz="1032">
                <a:solidFill>
                  <a:srgbClr val="000000"/>
                </a:solidFill>
                <a:latin typeface="Proxima Nova"/>
                <a:ea typeface="Proxima Nova"/>
                <a:cs typeface="Proxima Nova"/>
                <a:sym typeface="Proxima Nova"/>
              </a:endParaRPr>
            </a:p>
          </p:txBody>
        </p:sp>
        <p:sp>
          <p:nvSpPr>
            <p:cNvPr id="479" name="Google Shape;479;p28"/>
            <p:cNvSpPr/>
            <p:nvPr/>
          </p:nvSpPr>
          <p:spPr>
            <a:xfrm>
              <a:off x="12316458" y="16847915"/>
              <a:ext cx="380700" cy="7764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480" name="Google Shape;480;p28"/>
            <p:cNvCxnSpPr/>
            <p:nvPr/>
          </p:nvCxnSpPr>
          <p:spPr>
            <a:xfrm flipH="1">
              <a:off x="12717197" y="17340784"/>
              <a:ext cx="1480500" cy="6000"/>
            </a:xfrm>
            <a:prstGeom prst="straightConnector1">
              <a:avLst/>
            </a:prstGeom>
            <a:noFill/>
            <a:ln cap="flat" cmpd="sng" w="24575">
              <a:solidFill>
                <a:srgbClr val="7F7F7F"/>
              </a:solidFill>
              <a:prstDash val="solid"/>
              <a:miter lim="800000"/>
              <a:headEnd len="sm" w="sm" type="none"/>
              <a:tailEnd len="med" w="med" type="triangle"/>
            </a:ln>
          </p:spPr>
        </p:cxnSp>
        <p:sp>
          <p:nvSpPr>
            <p:cNvPr id="481" name="Google Shape;481;p28"/>
            <p:cNvSpPr txBox="1"/>
            <p:nvPr/>
          </p:nvSpPr>
          <p:spPr>
            <a:xfrm>
              <a:off x="12621112" y="16410222"/>
              <a:ext cx="1810500" cy="8538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Deliver personalized interpretation</a:t>
              </a:r>
              <a:endParaRPr i="0" sz="1032">
                <a:solidFill>
                  <a:srgbClr val="000000"/>
                </a:solidFill>
                <a:latin typeface="Proxima Nova"/>
                <a:ea typeface="Proxima Nova"/>
                <a:cs typeface="Proxima Nova"/>
                <a:sym typeface="Proxima Nova"/>
              </a:endParaRPr>
            </a:p>
          </p:txBody>
        </p:sp>
      </p:grpSp>
      <p:grpSp>
        <p:nvGrpSpPr>
          <p:cNvPr id="482" name="Google Shape;482;p28"/>
          <p:cNvGrpSpPr/>
          <p:nvPr/>
        </p:nvGrpSpPr>
        <p:grpSpPr>
          <a:xfrm>
            <a:off x="841439" y="8125608"/>
            <a:ext cx="5696825" cy="788419"/>
            <a:chOff x="1651406" y="-24242"/>
            <a:chExt cx="6764219" cy="747600"/>
          </a:xfrm>
        </p:grpSpPr>
        <p:grpSp>
          <p:nvGrpSpPr>
            <p:cNvPr id="483" name="Google Shape;483;p28"/>
            <p:cNvGrpSpPr/>
            <p:nvPr/>
          </p:nvGrpSpPr>
          <p:grpSpPr>
            <a:xfrm>
              <a:off x="1651406" y="3"/>
              <a:ext cx="4423813" cy="639000"/>
              <a:chOff x="1651406" y="3"/>
              <a:chExt cx="4423813" cy="639000"/>
            </a:xfrm>
          </p:grpSpPr>
          <p:sp>
            <p:nvSpPr>
              <p:cNvPr id="484" name="Google Shape;484;p28"/>
              <p:cNvSpPr/>
              <p:nvPr/>
            </p:nvSpPr>
            <p:spPr>
              <a:xfrm>
                <a:off x="1651406" y="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Identity</a:t>
                </a:r>
                <a:endParaRPr sz="2040">
                  <a:solidFill>
                    <a:srgbClr val="FFFFFF"/>
                  </a:solidFill>
                  <a:latin typeface="Proxima Nova"/>
                  <a:ea typeface="Proxima Nova"/>
                  <a:cs typeface="Proxima Nova"/>
                  <a:sym typeface="Proxima Nova"/>
                </a:endParaRPr>
              </a:p>
            </p:txBody>
          </p:sp>
          <p:sp>
            <p:nvSpPr>
              <p:cNvPr id="485" name="Google Shape;485;p28"/>
              <p:cNvSpPr/>
              <p:nvPr/>
            </p:nvSpPr>
            <p:spPr>
              <a:xfrm>
                <a:off x="3932019" y="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Private Health Information</a:t>
                </a:r>
                <a:endParaRPr sz="2040">
                  <a:solidFill>
                    <a:srgbClr val="FFFFFF"/>
                  </a:solidFill>
                  <a:latin typeface="Proxima Nova"/>
                  <a:ea typeface="Proxima Nova"/>
                  <a:cs typeface="Proxima Nova"/>
                  <a:sym typeface="Proxima Nova"/>
                </a:endParaRPr>
              </a:p>
            </p:txBody>
          </p:sp>
        </p:grpSp>
        <p:sp>
          <p:nvSpPr>
            <p:cNvPr id="486" name="Google Shape;486;p28"/>
            <p:cNvSpPr txBox="1"/>
            <p:nvPr/>
          </p:nvSpPr>
          <p:spPr>
            <a:xfrm>
              <a:off x="6272425" y="-24242"/>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Trust Boundary</a:t>
              </a:r>
              <a:endParaRPr sz="2040">
                <a:solidFill>
                  <a:srgbClr val="E85453"/>
                </a:solidFill>
                <a:latin typeface="Proxima Nova"/>
                <a:ea typeface="Proxima Nova"/>
                <a:cs typeface="Proxima Nova"/>
                <a:sym typeface="Proxima Nova"/>
              </a:endParaRPr>
            </a:p>
          </p:txBody>
        </p:sp>
      </p:grpSp>
      <p:grpSp>
        <p:nvGrpSpPr>
          <p:cNvPr id="487" name="Google Shape;487;p28"/>
          <p:cNvGrpSpPr/>
          <p:nvPr/>
        </p:nvGrpSpPr>
        <p:grpSpPr>
          <a:xfrm>
            <a:off x="841439" y="9166651"/>
            <a:ext cx="9479577" cy="673889"/>
            <a:chOff x="1651406" y="962903"/>
            <a:chExt cx="11255732" cy="639000"/>
          </a:xfrm>
        </p:grpSpPr>
        <p:grpSp>
          <p:nvGrpSpPr>
            <p:cNvPr id="488" name="Google Shape;488;p28"/>
            <p:cNvGrpSpPr/>
            <p:nvPr/>
          </p:nvGrpSpPr>
          <p:grpSpPr>
            <a:xfrm>
              <a:off x="1651406" y="962903"/>
              <a:ext cx="8896256" cy="639000"/>
              <a:chOff x="1651406" y="962903"/>
              <a:chExt cx="8896256" cy="639000"/>
            </a:xfrm>
          </p:grpSpPr>
          <p:sp>
            <p:nvSpPr>
              <p:cNvPr id="489" name="Google Shape;489;p28"/>
              <p:cNvSpPr/>
              <p:nvPr/>
            </p:nvSpPr>
            <p:spPr>
              <a:xfrm>
                <a:off x="1651406"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Result</a:t>
                </a:r>
                <a:endParaRPr sz="2040">
                  <a:solidFill>
                    <a:srgbClr val="FFFFFF"/>
                  </a:solidFill>
                  <a:latin typeface="Proxima Nova"/>
                  <a:ea typeface="Proxima Nova"/>
                  <a:cs typeface="Proxima Nova"/>
                  <a:sym typeface="Proxima Nova"/>
                </a:endParaRPr>
              </a:p>
            </p:txBody>
          </p:sp>
          <p:sp>
            <p:nvSpPr>
              <p:cNvPr id="490" name="Google Shape;490;p28"/>
              <p:cNvSpPr/>
              <p:nvPr/>
            </p:nvSpPr>
            <p:spPr>
              <a:xfrm>
                <a:off x="3932019"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Patient Context</a:t>
                </a:r>
                <a:endParaRPr sz="2040">
                  <a:solidFill>
                    <a:srgbClr val="FFFFFF"/>
                  </a:solidFill>
                  <a:latin typeface="Proxima Nova"/>
                  <a:ea typeface="Proxima Nova"/>
                  <a:cs typeface="Proxima Nova"/>
                  <a:sym typeface="Proxima Nova"/>
                </a:endParaRPr>
              </a:p>
            </p:txBody>
          </p:sp>
          <p:sp>
            <p:nvSpPr>
              <p:cNvPr id="491" name="Google Shape;491;p28"/>
              <p:cNvSpPr/>
              <p:nvPr/>
            </p:nvSpPr>
            <p:spPr>
              <a:xfrm>
                <a:off x="6171000"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Prior History</a:t>
                </a:r>
                <a:endParaRPr sz="2040">
                  <a:solidFill>
                    <a:srgbClr val="FFFFFF"/>
                  </a:solidFill>
                  <a:latin typeface="Proxima Nova"/>
                  <a:ea typeface="Proxima Nova"/>
                  <a:cs typeface="Proxima Nova"/>
                  <a:sym typeface="Proxima Nova"/>
                </a:endParaRPr>
              </a:p>
            </p:txBody>
          </p:sp>
          <p:sp>
            <p:nvSpPr>
              <p:cNvPr id="492" name="Google Shape;492;p28"/>
              <p:cNvSpPr/>
              <p:nvPr/>
            </p:nvSpPr>
            <p:spPr>
              <a:xfrm>
                <a:off x="8404463"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Abnormal Patterns</a:t>
                </a:r>
                <a:endParaRPr sz="2040">
                  <a:solidFill>
                    <a:srgbClr val="FFFFFF"/>
                  </a:solidFill>
                  <a:latin typeface="Proxima Nova"/>
                  <a:ea typeface="Proxima Nova"/>
                  <a:cs typeface="Proxima Nova"/>
                  <a:sym typeface="Proxima Nova"/>
                </a:endParaRPr>
              </a:p>
            </p:txBody>
          </p:sp>
        </p:grpSp>
        <p:sp>
          <p:nvSpPr>
            <p:cNvPr id="493" name="Google Shape;493;p28"/>
            <p:cNvSpPr txBox="1"/>
            <p:nvPr/>
          </p:nvSpPr>
          <p:spPr>
            <a:xfrm>
              <a:off x="10763938" y="1051348"/>
              <a:ext cx="2143200" cy="4500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Case Framing</a:t>
              </a:r>
              <a:endParaRPr sz="2040">
                <a:solidFill>
                  <a:srgbClr val="E85453"/>
                </a:solidFill>
                <a:latin typeface="Proxima Nova"/>
                <a:ea typeface="Proxima Nova"/>
                <a:cs typeface="Proxima Nova"/>
                <a:sym typeface="Proxima Nova"/>
              </a:endParaRPr>
            </a:p>
          </p:txBody>
        </p:sp>
      </p:grpSp>
      <p:grpSp>
        <p:nvGrpSpPr>
          <p:cNvPr id="494" name="Google Shape;494;p28"/>
          <p:cNvGrpSpPr/>
          <p:nvPr/>
        </p:nvGrpSpPr>
        <p:grpSpPr>
          <a:xfrm>
            <a:off x="841439" y="10135826"/>
            <a:ext cx="7596240" cy="788419"/>
            <a:chOff x="1651406" y="1881901"/>
            <a:chExt cx="9019521" cy="747600"/>
          </a:xfrm>
        </p:grpSpPr>
        <p:grpSp>
          <p:nvGrpSpPr>
            <p:cNvPr id="495" name="Google Shape;495;p28"/>
            <p:cNvGrpSpPr/>
            <p:nvPr/>
          </p:nvGrpSpPr>
          <p:grpSpPr>
            <a:xfrm>
              <a:off x="1651406" y="1917578"/>
              <a:ext cx="6662794" cy="639000"/>
              <a:chOff x="1651406" y="1917578"/>
              <a:chExt cx="6662794" cy="639000"/>
            </a:xfrm>
          </p:grpSpPr>
          <p:sp>
            <p:nvSpPr>
              <p:cNvPr id="496" name="Google Shape;496;p28"/>
              <p:cNvSpPr/>
              <p:nvPr/>
            </p:nvSpPr>
            <p:spPr>
              <a:xfrm>
                <a:off x="1651406"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Mayo Clinical Knowledge</a:t>
                </a:r>
                <a:endParaRPr sz="2040">
                  <a:solidFill>
                    <a:srgbClr val="FFFFFF"/>
                  </a:solidFill>
                  <a:latin typeface="Proxima Nova"/>
                  <a:ea typeface="Proxima Nova"/>
                  <a:cs typeface="Proxima Nova"/>
                  <a:sym typeface="Proxima Nova"/>
                </a:endParaRPr>
              </a:p>
            </p:txBody>
          </p:sp>
          <p:sp>
            <p:nvSpPr>
              <p:cNvPr id="497" name="Google Shape;497;p28"/>
              <p:cNvSpPr/>
              <p:nvPr/>
            </p:nvSpPr>
            <p:spPr>
              <a:xfrm>
                <a:off x="3932019"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Research Evidence</a:t>
                </a:r>
                <a:endParaRPr sz="2040">
                  <a:solidFill>
                    <a:srgbClr val="FFFFFF"/>
                  </a:solidFill>
                  <a:latin typeface="Proxima Nova"/>
                  <a:ea typeface="Proxima Nova"/>
                  <a:cs typeface="Proxima Nova"/>
                  <a:sym typeface="Proxima Nova"/>
                </a:endParaRPr>
              </a:p>
            </p:txBody>
          </p:sp>
          <p:sp>
            <p:nvSpPr>
              <p:cNvPr id="498" name="Google Shape;498;p28"/>
              <p:cNvSpPr/>
              <p:nvPr/>
            </p:nvSpPr>
            <p:spPr>
              <a:xfrm>
                <a:off x="6171000"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Guidelines</a:t>
                </a:r>
                <a:endParaRPr sz="2040">
                  <a:solidFill>
                    <a:srgbClr val="FFFFFF"/>
                  </a:solidFill>
                  <a:latin typeface="Proxima Nova"/>
                  <a:ea typeface="Proxima Nova"/>
                  <a:cs typeface="Proxima Nova"/>
                  <a:sym typeface="Proxima Nova"/>
                </a:endParaRPr>
              </a:p>
            </p:txBody>
          </p:sp>
        </p:grpSp>
        <p:sp>
          <p:nvSpPr>
            <p:cNvPr id="499" name="Google Shape;499;p28"/>
            <p:cNvSpPr txBox="1"/>
            <p:nvPr/>
          </p:nvSpPr>
          <p:spPr>
            <a:xfrm>
              <a:off x="8527727" y="1881901"/>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Evidence Base</a:t>
              </a:r>
              <a:endParaRPr sz="2040">
                <a:solidFill>
                  <a:srgbClr val="E85453"/>
                </a:solidFill>
                <a:latin typeface="Proxima Nova"/>
                <a:ea typeface="Proxima Nova"/>
                <a:cs typeface="Proxima Nova"/>
                <a:sym typeface="Proxima Nova"/>
              </a:endParaRPr>
            </a:p>
          </p:txBody>
        </p:sp>
      </p:grpSp>
      <p:grpSp>
        <p:nvGrpSpPr>
          <p:cNvPr id="500" name="Google Shape;500;p28"/>
          <p:cNvGrpSpPr/>
          <p:nvPr/>
        </p:nvGrpSpPr>
        <p:grpSpPr>
          <a:xfrm>
            <a:off x="841439" y="11119503"/>
            <a:ext cx="8042141" cy="788419"/>
            <a:chOff x="1651406" y="2814650"/>
            <a:chExt cx="9548969" cy="747600"/>
          </a:xfrm>
        </p:grpSpPr>
        <p:grpSp>
          <p:nvGrpSpPr>
            <p:cNvPr id="501" name="Google Shape;501;p28"/>
            <p:cNvGrpSpPr/>
            <p:nvPr/>
          </p:nvGrpSpPr>
          <p:grpSpPr>
            <a:xfrm>
              <a:off x="1651406" y="2832503"/>
              <a:ext cx="6662794" cy="639000"/>
              <a:chOff x="1651406" y="2832503"/>
              <a:chExt cx="6662794" cy="639000"/>
            </a:xfrm>
          </p:grpSpPr>
          <p:sp>
            <p:nvSpPr>
              <p:cNvPr id="502" name="Google Shape;502;p28"/>
              <p:cNvSpPr/>
              <p:nvPr/>
            </p:nvSpPr>
            <p:spPr>
              <a:xfrm>
                <a:off x="1651406"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Specialist Roles</a:t>
                </a:r>
                <a:endParaRPr sz="2040">
                  <a:solidFill>
                    <a:srgbClr val="FFFFFF"/>
                  </a:solidFill>
                  <a:latin typeface="Proxima Nova"/>
                  <a:ea typeface="Proxima Nova"/>
                  <a:cs typeface="Proxima Nova"/>
                  <a:sym typeface="Proxima Nova"/>
                </a:endParaRPr>
              </a:p>
            </p:txBody>
          </p:sp>
          <p:sp>
            <p:nvSpPr>
              <p:cNvPr id="503" name="Google Shape;503;p28"/>
              <p:cNvSpPr/>
              <p:nvPr/>
            </p:nvSpPr>
            <p:spPr>
              <a:xfrm>
                <a:off x="3932019"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Synthesis</a:t>
                </a:r>
                <a:endParaRPr sz="2040">
                  <a:solidFill>
                    <a:srgbClr val="FFFFFF"/>
                  </a:solidFill>
                  <a:latin typeface="Proxima Nova"/>
                  <a:ea typeface="Proxima Nova"/>
                  <a:cs typeface="Proxima Nova"/>
                  <a:sym typeface="Proxima Nova"/>
                </a:endParaRPr>
              </a:p>
            </p:txBody>
          </p:sp>
          <p:sp>
            <p:nvSpPr>
              <p:cNvPr id="504" name="Google Shape;504;p28"/>
              <p:cNvSpPr/>
              <p:nvPr/>
            </p:nvSpPr>
            <p:spPr>
              <a:xfrm>
                <a:off x="6171000"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Prior Reconciliation</a:t>
                </a:r>
                <a:endParaRPr sz="2040">
                  <a:solidFill>
                    <a:srgbClr val="FFFFFF"/>
                  </a:solidFill>
                  <a:latin typeface="Proxima Nova"/>
                  <a:ea typeface="Proxima Nova"/>
                  <a:cs typeface="Proxima Nova"/>
                  <a:sym typeface="Proxima Nova"/>
                </a:endParaRPr>
              </a:p>
            </p:txBody>
          </p:sp>
        </p:grpSp>
        <p:sp>
          <p:nvSpPr>
            <p:cNvPr id="505" name="Google Shape;505;p28"/>
            <p:cNvSpPr txBox="1"/>
            <p:nvPr/>
          </p:nvSpPr>
          <p:spPr>
            <a:xfrm>
              <a:off x="8560375" y="2814650"/>
              <a:ext cx="26400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Interpretation Core</a:t>
              </a:r>
              <a:endParaRPr sz="2040">
                <a:solidFill>
                  <a:srgbClr val="E85453"/>
                </a:solidFill>
                <a:latin typeface="Proxima Nova"/>
                <a:ea typeface="Proxima Nova"/>
                <a:cs typeface="Proxima Nova"/>
                <a:sym typeface="Proxima Nova"/>
              </a:endParaRPr>
            </a:p>
          </p:txBody>
        </p:sp>
      </p:grpSp>
      <p:grpSp>
        <p:nvGrpSpPr>
          <p:cNvPr id="506" name="Google Shape;506;p28"/>
          <p:cNvGrpSpPr/>
          <p:nvPr/>
        </p:nvGrpSpPr>
        <p:grpSpPr>
          <a:xfrm>
            <a:off x="841439" y="12103184"/>
            <a:ext cx="9479577" cy="800000"/>
            <a:chOff x="1651406" y="3747403"/>
            <a:chExt cx="11255732" cy="758581"/>
          </a:xfrm>
        </p:grpSpPr>
        <p:grpSp>
          <p:nvGrpSpPr>
            <p:cNvPr id="507" name="Google Shape;507;p28"/>
            <p:cNvGrpSpPr/>
            <p:nvPr/>
          </p:nvGrpSpPr>
          <p:grpSpPr>
            <a:xfrm>
              <a:off x="1651406" y="3747403"/>
              <a:ext cx="8896256" cy="639000"/>
              <a:chOff x="1651406" y="3747403"/>
              <a:chExt cx="8896256" cy="639000"/>
            </a:xfrm>
          </p:grpSpPr>
          <p:sp>
            <p:nvSpPr>
              <p:cNvPr id="508" name="Google Shape;508;p28"/>
              <p:cNvSpPr/>
              <p:nvPr/>
            </p:nvSpPr>
            <p:spPr>
              <a:xfrm>
                <a:off x="1651406"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Traceability</a:t>
                </a:r>
                <a:endParaRPr sz="2040">
                  <a:solidFill>
                    <a:srgbClr val="FFFFFF"/>
                  </a:solidFill>
                  <a:latin typeface="Proxima Nova"/>
                  <a:ea typeface="Proxima Nova"/>
                  <a:cs typeface="Proxima Nova"/>
                  <a:sym typeface="Proxima Nova"/>
                </a:endParaRPr>
              </a:p>
            </p:txBody>
          </p:sp>
          <p:sp>
            <p:nvSpPr>
              <p:cNvPr id="509" name="Google Shape;509;p28"/>
              <p:cNvSpPr/>
              <p:nvPr/>
            </p:nvSpPr>
            <p:spPr>
              <a:xfrm>
                <a:off x="3932019"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Safety Gates</a:t>
                </a:r>
                <a:endParaRPr sz="2040">
                  <a:solidFill>
                    <a:srgbClr val="FFFFFF"/>
                  </a:solidFill>
                  <a:latin typeface="Proxima Nova"/>
                  <a:ea typeface="Proxima Nova"/>
                  <a:cs typeface="Proxima Nova"/>
                  <a:sym typeface="Proxima Nova"/>
                </a:endParaRPr>
              </a:p>
            </p:txBody>
          </p:sp>
          <p:sp>
            <p:nvSpPr>
              <p:cNvPr id="510" name="Google Shape;510;p28"/>
              <p:cNvSpPr/>
              <p:nvPr/>
            </p:nvSpPr>
            <p:spPr>
              <a:xfrm>
                <a:off x="6171000"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Approval Rules</a:t>
                </a:r>
                <a:endParaRPr sz="2040">
                  <a:solidFill>
                    <a:srgbClr val="FFFFFF"/>
                  </a:solidFill>
                  <a:latin typeface="Proxima Nova"/>
                  <a:ea typeface="Proxima Nova"/>
                  <a:cs typeface="Proxima Nova"/>
                  <a:sym typeface="Proxima Nova"/>
                </a:endParaRPr>
              </a:p>
            </p:txBody>
          </p:sp>
          <p:sp>
            <p:nvSpPr>
              <p:cNvPr id="511" name="Google Shape;511;p28"/>
              <p:cNvSpPr/>
              <p:nvPr/>
            </p:nvSpPr>
            <p:spPr>
              <a:xfrm>
                <a:off x="8404463"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Escalation</a:t>
                </a:r>
                <a:endParaRPr sz="2040">
                  <a:solidFill>
                    <a:srgbClr val="FFFFFF"/>
                  </a:solidFill>
                  <a:latin typeface="Proxima Nova"/>
                  <a:ea typeface="Proxima Nova"/>
                  <a:cs typeface="Proxima Nova"/>
                  <a:sym typeface="Proxima Nova"/>
                </a:endParaRPr>
              </a:p>
            </p:txBody>
          </p:sp>
        </p:grpSp>
        <p:sp>
          <p:nvSpPr>
            <p:cNvPr id="512" name="Google Shape;512;p28"/>
            <p:cNvSpPr txBox="1"/>
            <p:nvPr/>
          </p:nvSpPr>
          <p:spPr>
            <a:xfrm>
              <a:off x="10763938" y="3758384"/>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Clinical Review</a:t>
              </a:r>
              <a:endParaRPr sz="2040">
                <a:solidFill>
                  <a:srgbClr val="E85453"/>
                </a:solidFill>
                <a:latin typeface="Proxima Nova"/>
                <a:ea typeface="Proxima Nova"/>
                <a:cs typeface="Proxima Nova"/>
                <a:sym typeface="Proxima Nova"/>
              </a:endParaRPr>
            </a:p>
          </p:txBody>
        </p:sp>
      </p:grpSp>
      <p:grpSp>
        <p:nvGrpSpPr>
          <p:cNvPr id="513" name="Google Shape;513;p28"/>
          <p:cNvGrpSpPr/>
          <p:nvPr/>
        </p:nvGrpSpPr>
        <p:grpSpPr>
          <a:xfrm>
            <a:off x="841439" y="13068038"/>
            <a:ext cx="6350204" cy="673889"/>
            <a:chOff x="1651406" y="4662303"/>
            <a:chExt cx="7540019" cy="639000"/>
          </a:xfrm>
        </p:grpSpPr>
        <p:grpSp>
          <p:nvGrpSpPr>
            <p:cNvPr id="514" name="Google Shape;514;p28"/>
            <p:cNvGrpSpPr/>
            <p:nvPr/>
          </p:nvGrpSpPr>
          <p:grpSpPr>
            <a:xfrm>
              <a:off x="1651406" y="4662303"/>
              <a:ext cx="4423813" cy="639000"/>
              <a:chOff x="1651406" y="4662303"/>
              <a:chExt cx="4423813" cy="639000"/>
            </a:xfrm>
          </p:grpSpPr>
          <p:sp>
            <p:nvSpPr>
              <p:cNvPr id="515" name="Google Shape;515;p28"/>
              <p:cNvSpPr/>
              <p:nvPr/>
            </p:nvSpPr>
            <p:spPr>
              <a:xfrm>
                <a:off x="1651406" y="46623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Workflow Delivery</a:t>
                </a:r>
                <a:endParaRPr sz="2040">
                  <a:solidFill>
                    <a:srgbClr val="FFFFFF"/>
                  </a:solidFill>
                  <a:latin typeface="Proxima Nova"/>
                  <a:ea typeface="Proxima Nova"/>
                  <a:cs typeface="Proxima Nova"/>
                  <a:sym typeface="Proxima Nova"/>
                </a:endParaRPr>
              </a:p>
            </p:txBody>
          </p:sp>
          <p:sp>
            <p:nvSpPr>
              <p:cNvPr id="516" name="Google Shape;516;p28"/>
              <p:cNvSpPr/>
              <p:nvPr/>
            </p:nvSpPr>
            <p:spPr>
              <a:xfrm>
                <a:off x="3932019" y="46623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Feedback</a:t>
                </a:r>
                <a:endParaRPr sz="2040">
                  <a:solidFill>
                    <a:srgbClr val="FFFFFF"/>
                  </a:solidFill>
                  <a:latin typeface="Proxima Nova"/>
                  <a:ea typeface="Proxima Nova"/>
                  <a:cs typeface="Proxima Nova"/>
                  <a:sym typeface="Proxima Nova"/>
                </a:endParaRPr>
              </a:p>
            </p:txBody>
          </p:sp>
        </p:grpSp>
        <p:sp>
          <p:nvSpPr>
            <p:cNvPr id="517" name="Google Shape;517;p28"/>
            <p:cNvSpPr txBox="1"/>
            <p:nvPr/>
          </p:nvSpPr>
          <p:spPr>
            <a:xfrm>
              <a:off x="6272425" y="4765370"/>
              <a:ext cx="2919000" cy="4500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Physician Delivery</a:t>
              </a:r>
              <a:endParaRPr sz="2040">
                <a:solidFill>
                  <a:srgbClr val="E85453"/>
                </a:solidFill>
                <a:latin typeface="Proxima Nova"/>
                <a:ea typeface="Proxima Nova"/>
                <a:cs typeface="Proxima Nova"/>
                <a:sym typeface="Proxima Nova"/>
              </a:endParaRPr>
            </a:p>
          </p:txBody>
        </p:sp>
      </p:grpSp>
      <p:sp>
        <p:nvSpPr>
          <p:cNvPr id="518" name="Google Shape;518;p28"/>
          <p:cNvSpPr txBox="1"/>
          <p:nvPr/>
        </p:nvSpPr>
        <p:spPr>
          <a:xfrm>
            <a:off x="349080" y="13924618"/>
            <a:ext cx="102669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architecture protects patient data, frames lab results with patient context from the EHR, retrieves Mayo and external clinical evidence, and uses specialized AI roles to synthesize a physician-facing interpretation. Before delivery, the output is checked for traceability, escalated for clinical review when needed, and then returned to the physician workflow with feedback captured for continuous improvement.</a:t>
            </a:r>
            <a:endParaRPr sz="2040">
              <a:solidFill>
                <a:schemeClr val="dk2"/>
              </a:solidFill>
              <a:latin typeface="Proxima Nova"/>
              <a:ea typeface="Proxima Nova"/>
              <a:cs typeface="Proxima Nova"/>
              <a:sym typeface="Proxima Nova"/>
            </a:endParaRPr>
          </a:p>
        </p:txBody>
      </p:sp>
      <p:sp>
        <p:nvSpPr>
          <p:cNvPr id="519" name="Google Shape;519;p28"/>
          <p:cNvSpPr txBox="1"/>
          <p:nvPr/>
        </p:nvSpPr>
        <p:spPr>
          <a:xfrm>
            <a:off x="10822080" y="14214623"/>
            <a:ext cx="89406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sequence diagram shows how the clinical librarian fits into the existing lab workflow. After a physician requests an exam, Mayo Clinic Labs runs the test and stores the result in the EHR. The clinical librarian then combines the result with patient context and Mayo research-backed clinical knowledge to generate a traceable interpretation for physician review and use.</a:t>
            </a:r>
            <a:endParaRPr sz="2040">
              <a:solidFill>
                <a:schemeClr val="dk2"/>
              </a:solidFill>
              <a:latin typeface="Proxima Nova"/>
              <a:ea typeface="Proxima Nova"/>
              <a:cs typeface="Proxima Nova"/>
              <a:sym typeface="Proxima Nova"/>
            </a:endParaRPr>
          </a:p>
        </p:txBody>
      </p:sp>
      <p:sp>
        <p:nvSpPr>
          <p:cNvPr id="520" name="Google Shape;520;p28"/>
          <p:cNvSpPr txBox="1"/>
          <p:nvPr/>
        </p:nvSpPr>
        <p:spPr>
          <a:xfrm>
            <a:off x="21349740" y="2606460"/>
            <a:ext cx="10972800" cy="1980000"/>
          </a:xfrm>
          <a:prstGeom prst="rect">
            <a:avLst/>
          </a:prstGeom>
          <a:noFill/>
          <a:ln>
            <a:noFill/>
          </a:ln>
        </p:spPr>
        <p:txBody>
          <a:bodyPr anchorCtr="0" anchor="t" bIns="109700" lIns="109700" spcFirstLastPara="1" rIns="109700" wrap="square" tIns="109700">
            <a:spAutoFit/>
          </a:bodyPr>
          <a:lstStyle/>
          <a:p>
            <a:pPr indent="0" lvl="0" marL="0" marR="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tradespace maps current alternatives against cost and clinical accuracy. Epic Systems sits in the low-cost, lower-accuracy region; Labcorp sits in the moderate-cost, moderate-accuracy region; and the current Mayo Clinic model sits in the high-accuracy, high-cost region. The selected Sanguine design aims to move closer to Mayo-level clinical quality while improving scalability through evidence grounding, specialized AI roles, traceability, and clinical review.</a:t>
            </a:r>
            <a:endParaRPr sz="2040">
              <a:solidFill>
                <a:schemeClr val="dk2"/>
              </a:solidFill>
              <a:latin typeface="Proxima Nova"/>
              <a:ea typeface="Proxima Nova"/>
              <a:cs typeface="Proxima Nova"/>
              <a:sym typeface="Proxima Nova"/>
            </a:endParaRPr>
          </a:p>
        </p:txBody>
      </p:sp>
      <p:graphicFrame>
        <p:nvGraphicFramePr>
          <p:cNvPr id="521" name="Google Shape;521;p28"/>
          <p:cNvGraphicFramePr/>
          <p:nvPr/>
        </p:nvGraphicFramePr>
        <p:xfrm>
          <a:off x="27318159" y="6016247"/>
          <a:ext cx="3000000" cy="3000000"/>
        </p:xfrm>
        <a:graphic>
          <a:graphicData uri="http://schemas.openxmlformats.org/drawingml/2006/table">
            <a:tbl>
              <a:tblPr>
                <a:noFill/>
                <a:tableStyleId>{E802A5B2-C3E8-4156-8B02-1924D521DFD5}</a:tableStyleId>
              </a:tblPr>
              <a:tblGrid>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tblGrid>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6</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9</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1</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8</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2</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6</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9</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1</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8</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2</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highlight>
                          <a:srgbClr val="202729"/>
                        </a:highlight>
                        <a:latin typeface="Proxima Nova"/>
                        <a:ea typeface="Proxima Nova"/>
                        <a:cs typeface="Proxima Nova"/>
                        <a:sym typeface="Proxima Nova"/>
                      </a:endParaRPr>
                    </a:p>
                  </a:txBody>
                  <a:tcPr marT="0" marB="0" marR="0" marL="0" anchor="ctr">
                    <a:solidFill>
                      <a:srgbClr val="83CAEB"/>
                    </a:solidFill>
                  </a:tcPr>
                </a:tc>
              </a:tr>
            </a:tbl>
          </a:graphicData>
        </a:graphic>
      </p:graphicFrame>
      <p:grpSp>
        <p:nvGrpSpPr>
          <p:cNvPr id="522" name="Google Shape;522;p28"/>
          <p:cNvGrpSpPr/>
          <p:nvPr/>
        </p:nvGrpSpPr>
        <p:grpSpPr>
          <a:xfrm>
            <a:off x="27344917" y="5481665"/>
            <a:ext cx="5246711" cy="553680"/>
            <a:chOff x="3409794" y="395472"/>
            <a:chExt cx="4372259" cy="461400"/>
          </a:xfrm>
        </p:grpSpPr>
        <p:sp>
          <p:nvSpPr>
            <p:cNvPr id="523" name="Google Shape;523;p28"/>
            <p:cNvSpPr txBox="1"/>
            <p:nvPr/>
          </p:nvSpPr>
          <p:spPr>
            <a:xfrm rot="-5400000">
              <a:off x="3340794"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a:t>
              </a:r>
              <a:endParaRPr sz="840">
                <a:latin typeface="Proxima Nova"/>
                <a:ea typeface="Proxima Nova"/>
                <a:cs typeface="Proxima Nova"/>
                <a:sym typeface="Proxima Nova"/>
              </a:endParaRPr>
            </a:p>
          </p:txBody>
        </p:sp>
        <p:sp>
          <p:nvSpPr>
            <p:cNvPr id="524" name="Google Shape;524;p28"/>
            <p:cNvSpPr txBox="1"/>
            <p:nvPr/>
          </p:nvSpPr>
          <p:spPr>
            <a:xfrm rot="-5400000">
              <a:off x="3541097"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a:t>
              </a:r>
              <a:endParaRPr sz="840">
                <a:latin typeface="Proxima Nova"/>
                <a:ea typeface="Proxima Nova"/>
                <a:cs typeface="Proxima Nova"/>
                <a:sym typeface="Proxima Nova"/>
              </a:endParaRPr>
            </a:p>
          </p:txBody>
        </p:sp>
        <p:sp>
          <p:nvSpPr>
            <p:cNvPr id="525" name="Google Shape;525;p28"/>
            <p:cNvSpPr txBox="1"/>
            <p:nvPr/>
          </p:nvSpPr>
          <p:spPr>
            <a:xfrm rot="-5400000">
              <a:off x="374139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3</a:t>
              </a:r>
              <a:endParaRPr sz="840">
                <a:latin typeface="Proxima Nova"/>
                <a:ea typeface="Proxima Nova"/>
                <a:cs typeface="Proxima Nova"/>
                <a:sym typeface="Proxima Nova"/>
              </a:endParaRPr>
            </a:p>
          </p:txBody>
        </p:sp>
        <p:sp>
          <p:nvSpPr>
            <p:cNvPr id="526" name="Google Shape;526;p28"/>
            <p:cNvSpPr txBox="1"/>
            <p:nvPr/>
          </p:nvSpPr>
          <p:spPr>
            <a:xfrm rot="-5400000">
              <a:off x="394170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4</a:t>
              </a:r>
              <a:endParaRPr sz="840">
                <a:latin typeface="Proxima Nova"/>
                <a:ea typeface="Proxima Nova"/>
                <a:cs typeface="Proxima Nova"/>
                <a:sym typeface="Proxima Nova"/>
              </a:endParaRPr>
            </a:p>
          </p:txBody>
        </p:sp>
        <p:sp>
          <p:nvSpPr>
            <p:cNvPr id="527" name="Google Shape;527;p28"/>
            <p:cNvSpPr txBox="1"/>
            <p:nvPr/>
          </p:nvSpPr>
          <p:spPr>
            <a:xfrm rot="-5400000">
              <a:off x="414200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5</a:t>
              </a:r>
              <a:endParaRPr sz="840">
                <a:latin typeface="Proxima Nova"/>
                <a:ea typeface="Proxima Nova"/>
                <a:cs typeface="Proxima Nova"/>
                <a:sym typeface="Proxima Nova"/>
              </a:endParaRPr>
            </a:p>
          </p:txBody>
        </p:sp>
        <p:sp>
          <p:nvSpPr>
            <p:cNvPr id="528" name="Google Shape;528;p28"/>
            <p:cNvSpPr txBox="1"/>
            <p:nvPr/>
          </p:nvSpPr>
          <p:spPr>
            <a:xfrm rot="-5400000">
              <a:off x="4342308"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6</a:t>
              </a:r>
              <a:endParaRPr sz="840">
                <a:latin typeface="Proxima Nova"/>
                <a:ea typeface="Proxima Nova"/>
                <a:cs typeface="Proxima Nova"/>
                <a:sym typeface="Proxima Nova"/>
              </a:endParaRPr>
            </a:p>
          </p:txBody>
        </p:sp>
        <p:sp>
          <p:nvSpPr>
            <p:cNvPr id="529" name="Google Shape;529;p28"/>
            <p:cNvSpPr txBox="1"/>
            <p:nvPr/>
          </p:nvSpPr>
          <p:spPr>
            <a:xfrm rot="-5400000">
              <a:off x="4542611"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7</a:t>
              </a:r>
              <a:endParaRPr sz="840">
                <a:latin typeface="Proxima Nova"/>
                <a:ea typeface="Proxima Nova"/>
                <a:cs typeface="Proxima Nova"/>
                <a:sym typeface="Proxima Nova"/>
              </a:endParaRPr>
            </a:p>
          </p:txBody>
        </p:sp>
        <p:sp>
          <p:nvSpPr>
            <p:cNvPr id="530" name="Google Shape;530;p28"/>
            <p:cNvSpPr txBox="1"/>
            <p:nvPr/>
          </p:nvSpPr>
          <p:spPr>
            <a:xfrm rot="-5400000">
              <a:off x="4737964" y="617022"/>
              <a:ext cx="3138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8</a:t>
              </a:r>
              <a:endParaRPr sz="840">
                <a:latin typeface="Proxima Nova"/>
                <a:ea typeface="Proxima Nova"/>
                <a:cs typeface="Proxima Nova"/>
                <a:sym typeface="Proxima Nova"/>
              </a:endParaRPr>
            </a:p>
          </p:txBody>
        </p:sp>
        <p:sp>
          <p:nvSpPr>
            <p:cNvPr id="531" name="Google Shape;531;p28"/>
            <p:cNvSpPr txBox="1"/>
            <p:nvPr/>
          </p:nvSpPr>
          <p:spPr>
            <a:xfrm rot="-5400000">
              <a:off x="4943216"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9</a:t>
              </a:r>
              <a:endParaRPr sz="840">
                <a:latin typeface="Proxima Nova"/>
                <a:ea typeface="Proxima Nova"/>
                <a:cs typeface="Proxima Nova"/>
                <a:sym typeface="Proxima Nova"/>
              </a:endParaRPr>
            </a:p>
          </p:txBody>
        </p:sp>
        <p:sp>
          <p:nvSpPr>
            <p:cNvPr id="532" name="Google Shape;532;p28"/>
            <p:cNvSpPr txBox="1"/>
            <p:nvPr/>
          </p:nvSpPr>
          <p:spPr>
            <a:xfrm rot="-5400000">
              <a:off x="514351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10</a:t>
              </a:r>
              <a:endParaRPr sz="840">
                <a:latin typeface="Proxima Nova"/>
                <a:ea typeface="Proxima Nova"/>
                <a:cs typeface="Proxima Nova"/>
                <a:sym typeface="Proxima Nova"/>
              </a:endParaRPr>
            </a:p>
          </p:txBody>
        </p:sp>
        <p:sp>
          <p:nvSpPr>
            <p:cNvPr id="533" name="Google Shape;533;p28"/>
            <p:cNvSpPr txBox="1"/>
            <p:nvPr/>
          </p:nvSpPr>
          <p:spPr>
            <a:xfrm rot="-5400000">
              <a:off x="7468403" y="543222"/>
              <a:ext cx="4614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latin typeface="Proxima Nova"/>
                  <a:ea typeface="Proxima Nova"/>
                  <a:cs typeface="Proxima Nova"/>
                  <a:sym typeface="Proxima Nova"/>
                </a:rPr>
                <a:t>Total</a:t>
              </a:r>
              <a:endParaRPr sz="840">
                <a:latin typeface="Proxima Nova"/>
                <a:ea typeface="Proxima Nova"/>
                <a:cs typeface="Proxima Nova"/>
                <a:sym typeface="Proxima Nova"/>
              </a:endParaRPr>
            </a:p>
          </p:txBody>
        </p:sp>
        <p:sp>
          <p:nvSpPr>
            <p:cNvPr id="534" name="Google Shape;534;p28"/>
            <p:cNvSpPr txBox="1"/>
            <p:nvPr/>
          </p:nvSpPr>
          <p:spPr>
            <a:xfrm rot="-5400000">
              <a:off x="5744428"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13</a:t>
              </a:r>
              <a:endParaRPr sz="840">
                <a:latin typeface="Proxima Nova"/>
                <a:ea typeface="Proxima Nova"/>
                <a:cs typeface="Proxima Nova"/>
                <a:sym typeface="Proxima Nova"/>
              </a:endParaRPr>
            </a:p>
          </p:txBody>
        </p:sp>
        <p:sp>
          <p:nvSpPr>
            <p:cNvPr id="535" name="Google Shape;535;p28"/>
            <p:cNvSpPr txBox="1"/>
            <p:nvPr/>
          </p:nvSpPr>
          <p:spPr>
            <a:xfrm rot="-5400000">
              <a:off x="554412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12</a:t>
              </a:r>
              <a:endParaRPr sz="840">
                <a:latin typeface="Proxima Nova"/>
                <a:ea typeface="Proxima Nova"/>
                <a:cs typeface="Proxima Nova"/>
                <a:sym typeface="Proxima Nova"/>
              </a:endParaRPr>
            </a:p>
          </p:txBody>
        </p:sp>
        <p:sp>
          <p:nvSpPr>
            <p:cNvPr id="536" name="Google Shape;536;p28"/>
            <p:cNvSpPr txBox="1"/>
            <p:nvPr/>
          </p:nvSpPr>
          <p:spPr>
            <a:xfrm rot="-5400000">
              <a:off x="6145033"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15</a:t>
              </a:r>
              <a:endParaRPr sz="840">
                <a:latin typeface="Proxima Nova"/>
                <a:ea typeface="Proxima Nova"/>
                <a:cs typeface="Proxima Nova"/>
                <a:sym typeface="Proxima Nova"/>
              </a:endParaRPr>
            </a:p>
          </p:txBody>
        </p:sp>
        <p:sp>
          <p:nvSpPr>
            <p:cNvPr id="537" name="Google Shape;537;p28"/>
            <p:cNvSpPr txBox="1"/>
            <p:nvPr/>
          </p:nvSpPr>
          <p:spPr>
            <a:xfrm rot="-5400000">
              <a:off x="5944731"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14</a:t>
              </a:r>
              <a:endParaRPr sz="840">
                <a:latin typeface="Proxima Nova"/>
                <a:ea typeface="Proxima Nova"/>
                <a:cs typeface="Proxima Nova"/>
                <a:sym typeface="Proxima Nova"/>
              </a:endParaRPr>
            </a:p>
          </p:txBody>
        </p:sp>
        <p:sp>
          <p:nvSpPr>
            <p:cNvPr id="538" name="Google Shape;538;p28"/>
            <p:cNvSpPr txBox="1"/>
            <p:nvPr/>
          </p:nvSpPr>
          <p:spPr>
            <a:xfrm rot="-5400000">
              <a:off x="654563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17</a:t>
              </a:r>
              <a:endParaRPr sz="840">
                <a:latin typeface="Proxima Nova"/>
                <a:ea typeface="Proxima Nova"/>
                <a:cs typeface="Proxima Nova"/>
                <a:sym typeface="Proxima Nova"/>
              </a:endParaRPr>
            </a:p>
          </p:txBody>
        </p:sp>
        <p:sp>
          <p:nvSpPr>
            <p:cNvPr id="539" name="Google Shape;539;p28"/>
            <p:cNvSpPr txBox="1"/>
            <p:nvPr/>
          </p:nvSpPr>
          <p:spPr>
            <a:xfrm rot="-5400000">
              <a:off x="6345336"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16</a:t>
              </a:r>
              <a:endParaRPr sz="840">
                <a:latin typeface="Proxima Nova"/>
                <a:ea typeface="Proxima Nova"/>
                <a:cs typeface="Proxima Nova"/>
                <a:sym typeface="Proxima Nova"/>
              </a:endParaRPr>
            </a:p>
          </p:txBody>
        </p:sp>
        <p:sp>
          <p:nvSpPr>
            <p:cNvPr id="540" name="Google Shape;540;p28"/>
            <p:cNvSpPr txBox="1"/>
            <p:nvPr/>
          </p:nvSpPr>
          <p:spPr>
            <a:xfrm rot="-5400000">
              <a:off x="534382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11</a:t>
              </a:r>
              <a:endParaRPr sz="840">
                <a:latin typeface="Proxima Nova"/>
                <a:ea typeface="Proxima Nova"/>
                <a:cs typeface="Proxima Nova"/>
                <a:sym typeface="Proxima Nova"/>
              </a:endParaRPr>
            </a:p>
          </p:txBody>
        </p:sp>
        <p:sp>
          <p:nvSpPr>
            <p:cNvPr id="541" name="Google Shape;541;p28"/>
            <p:cNvSpPr txBox="1"/>
            <p:nvPr/>
          </p:nvSpPr>
          <p:spPr>
            <a:xfrm rot="-5400000">
              <a:off x="674594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18</a:t>
              </a:r>
              <a:endParaRPr sz="840">
                <a:latin typeface="Proxima Nova"/>
                <a:ea typeface="Proxima Nova"/>
                <a:cs typeface="Proxima Nova"/>
                <a:sym typeface="Proxima Nova"/>
              </a:endParaRPr>
            </a:p>
          </p:txBody>
        </p:sp>
        <p:sp>
          <p:nvSpPr>
            <p:cNvPr id="542" name="Google Shape;542;p28"/>
            <p:cNvSpPr txBox="1"/>
            <p:nvPr/>
          </p:nvSpPr>
          <p:spPr>
            <a:xfrm rot="-5400000">
              <a:off x="694624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19</a:t>
              </a:r>
              <a:endParaRPr sz="840">
                <a:latin typeface="Proxima Nova"/>
                <a:ea typeface="Proxima Nova"/>
                <a:cs typeface="Proxima Nova"/>
                <a:sym typeface="Proxima Nova"/>
              </a:endParaRPr>
            </a:p>
          </p:txBody>
        </p:sp>
        <p:sp>
          <p:nvSpPr>
            <p:cNvPr id="543" name="Google Shape;543;p28"/>
            <p:cNvSpPr txBox="1"/>
            <p:nvPr/>
          </p:nvSpPr>
          <p:spPr>
            <a:xfrm rot="-5400000">
              <a:off x="7146547"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20</a:t>
              </a:r>
              <a:endParaRPr sz="840">
                <a:latin typeface="Proxima Nova"/>
                <a:ea typeface="Proxima Nova"/>
                <a:cs typeface="Proxima Nova"/>
                <a:sym typeface="Proxima Nova"/>
              </a:endParaRPr>
            </a:p>
          </p:txBody>
        </p:sp>
        <p:sp>
          <p:nvSpPr>
            <p:cNvPr id="544" name="Google Shape;544;p28"/>
            <p:cNvSpPr txBox="1"/>
            <p:nvPr/>
          </p:nvSpPr>
          <p:spPr>
            <a:xfrm rot="-5400000">
              <a:off x="7346850"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21</a:t>
              </a:r>
              <a:endParaRPr sz="840">
                <a:latin typeface="Proxima Nova"/>
                <a:ea typeface="Proxima Nova"/>
                <a:cs typeface="Proxima Nova"/>
                <a:sym typeface="Proxima Nova"/>
              </a:endParaRPr>
            </a:p>
          </p:txBody>
        </p:sp>
      </p:grpSp>
      <p:grpSp>
        <p:nvGrpSpPr>
          <p:cNvPr id="545" name="Google Shape;545;p28"/>
          <p:cNvGrpSpPr/>
          <p:nvPr/>
        </p:nvGrpSpPr>
        <p:grpSpPr>
          <a:xfrm>
            <a:off x="25279124" y="6016239"/>
            <a:ext cx="2039040" cy="4010760"/>
            <a:chOff x="1688300" y="840950"/>
            <a:chExt cx="1699200" cy="3342300"/>
          </a:xfrm>
        </p:grpSpPr>
        <p:sp>
          <p:nvSpPr>
            <p:cNvPr id="546" name="Google Shape;546;p28"/>
            <p:cNvSpPr txBox="1"/>
            <p:nvPr/>
          </p:nvSpPr>
          <p:spPr>
            <a:xfrm>
              <a:off x="1720899" y="840950"/>
              <a:ext cx="1666500" cy="154500"/>
            </a:xfrm>
            <a:prstGeom prst="rect">
              <a:avLst/>
            </a:prstGeom>
            <a:noFill/>
            <a:ln>
              <a:noFill/>
            </a:ln>
          </p:spPr>
          <p:txBody>
            <a:bodyPr anchorCtr="0" anchor="ctr" bIns="109700" lIns="109700" spcFirstLastPara="1" rIns="109700" wrap="square" tIns="109700">
              <a:noAutofit/>
            </a:bodyPr>
            <a:lstStyle/>
            <a:p>
              <a:pPr indent="0" lvl="0" marL="0" marR="0" rtl="0" algn="r">
                <a:lnSpc>
                  <a:spcPct val="100000"/>
                </a:lnSpc>
                <a:spcBef>
                  <a:spcPts val="0"/>
                </a:spcBef>
                <a:spcAft>
                  <a:spcPts val="0"/>
                </a:spcAft>
                <a:buNone/>
              </a:pPr>
              <a:r>
                <a:rPr lang="pt-BR" sz="840">
                  <a:latin typeface="Proxima Nova"/>
                  <a:ea typeface="Proxima Nova"/>
                  <a:cs typeface="Proxima Nova"/>
                  <a:sym typeface="Proxima Nova"/>
                </a:rPr>
                <a:t>1 Identity and access manager</a:t>
              </a:r>
              <a:endParaRPr sz="840">
                <a:latin typeface="Proxima Nova"/>
                <a:ea typeface="Proxima Nova"/>
                <a:cs typeface="Proxima Nova"/>
                <a:sym typeface="Proxima Nova"/>
              </a:endParaRPr>
            </a:p>
          </p:txBody>
        </p:sp>
        <p:sp>
          <p:nvSpPr>
            <p:cNvPr id="547" name="Google Shape;547;p28"/>
            <p:cNvSpPr txBox="1"/>
            <p:nvPr/>
          </p:nvSpPr>
          <p:spPr>
            <a:xfrm>
              <a:off x="1720899" y="992750"/>
              <a:ext cx="1666500" cy="154500"/>
            </a:xfrm>
            <a:prstGeom prst="rect">
              <a:avLst/>
            </a:prstGeom>
            <a:noFill/>
            <a:ln>
              <a:noFill/>
            </a:ln>
          </p:spPr>
          <p:txBody>
            <a:bodyPr anchorCtr="0" anchor="ctr" bIns="109700" lIns="109700" spcFirstLastPara="1" rIns="109700" wrap="square" tIns="109700">
              <a:noAutofit/>
            </a:bodyPr>
            <a:lstStyle/>
            <a:p>
              <a:pPr indent="0" lvl="0" marL="0" marR="0" rtl="0" algn="r">
                <a:lnSpc>
                  <a:spcPct val="100000"/>
                </a:lnSpc>
                <a:spcBef>
                  <a:spcPts val="0"/>
                </a:spcBef>
                <a:spcAft>
                  <a:spcPts val="0"/>
                </a:spcAft>
                <a:buNone/>
              </a:pPr>
              <a:r>
                <a:rPr lang="pt-BR" sz="840">
                  <a:latin typeface="Proxima Nova"/>
                  <a:ea typeface="Proxima Nova"/>
                  <a:cs typeface="Proxima Nova"/>
                  <a:sym typeface="Proxima Nova"/>
                </a:rPr>
                <a:t>2 Privacy and access control layer</a:t>
              </a:r>
              <a:endParaRPr sz="840">
                <a:latin typeface="Proxima Nova"/>
                <a:ea typeface="Proxima Nova"/>
                <a:cs typeface="Proxima Nova"/>
                <a:sym typeface="Proxima Nova"/>
              </a:endParaRPr>
            </a:p>
          </p:txBody>
        </p:sp>
        <p:sp>
          <p:nvSpPr>
            <p:cNvPr id="548" name="Google Shape;548;p28"/>
            <p:cNvSpPr txBox="1"/>
            <p:nvPr/>
          </p:nvSpPr>
          <p:spPr>
            <a:xfrm>
              <a:off x="1720899" y="1144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3 Lab results ingress</a:t>
              </a:r>
              <a:endParaRPr sz="840">
                <a:latin typeface="Proxima Nova"/>
                <a:ea typeface="Proxima Nova"/>
                <a:cs typeface="Proxima Nova"/>
                <a:sym typeface="Proxima Nova"/>
              </a:endParaRPr>
            </a:p>
          </p:txBody>
        </p:sp>
        <p:sp>
          <p:nvSpPr>
            <p:cNvPr id="549" name="Google Shape;549;p28"/>
            <p:cNvSpPr txBox="1"/>
            <p:nvPr/>
          </p:nvSpPr>
          <p:spPr>
            <a:xfrm>
              <a:off x="1688300" y="1296343"/>
              <a:ext cx="16992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4 Results normalization engine</a:t>
              </a:r>
              <a:endParaRPr sz="840">
                <a:latin typeface="Proxima Nova"/>
                <a:ea typeface="Proxima Nova"/>
                <a:cs typeface="Proxima Nova"/>
                <a:sym typeface="Proxima Nova"/>
              </a:endParaRPr>
            </a:p>
          </p:txBody>
        </p:sp>
        <p:sp>
          <p:nvSpPr>
            <p:cNvPr id="550" name="Google Shape;550;p28"/>
            <p:cNvSpPr txBox="1"/>
            <p:nvPr/>
          </p:nvSpPr>
          <p:spPr>
            <a:xfrm>
              <a:off x="1720899" y="1448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5 Patient context repository</a:t>
              </a:r>
              <a:endParaRPr sz="840">
                <a:latin typeface="Proxima Nova"/>
                <a:ea typeface="Proxima Nova"/>
                <a:cs typeface="Proxima Nova"/>
                <a:sym typeface="Proxima Nova"/>
              </a:endParaRPr>
            </a:p>
          </p:txBody>
        </p:sp>
        <p:sp>
          <p:nvSpPr>
            <p:cNvPr id="551" name="Google Shape;551;p28"/>
            <p:cNvSpPr txBox="1"/>
            <p:nvPr/>
          </p:nvSpPr>
          <p:spPr>
            <a:xfrm>
              <a:off x="1720899" y="1599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6 Case context builder</a:t>
              </a:r>
              <a:endParaRPr sz="840">
                <a:latin typeface="Proxima Nova"/>
                <a:ea typeface="Proxima Nova"/>
                <a:cs typeface="Proxima Nova"/>
                <a:sym typeface="Proxima Nova"/>
              </a:endParaRPr>
            </a:p>
          </p:txBody>
        </p:sp>
        <p:sp>
          <p:nvSpPr>
            <p:cNvPr id="552" name="Google Shape;552;p28"/>
            <p:cNvSpPr txBox="1"/>
            <p:nvPr/>
          </p:nvSpPr>
          <p:spPr>
            <a:xfrm>
              <a:off x="1720899" y="1751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7 Internal evidence access API</a:t>
              </a:r>
              <a:endParaRPr sz="840">
                <a:latin typeface="Proxima Nova"/>
                <a:ea typeface="Proxima Nova"/>
                <a:cs typeface="Proxima Nova"/>
                <a:sym typeface="Proxima Nova"/>
              </a:endParaRPr>
            </a:p>
          </p:txBody>
        </p:sp>
        <p:sp>
          <p:nvSpPr>
            <p:cNvPr id="553" name="Google Shape;553;p28"/>
            <p:cNvSpPr txBox="1"/>
            <p:nvPr/>
          </p:nvSpPr>
          <p:spPr>
            <a:xfrm>
              <a:off x="1720899" y="1903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8 External evidence access API</a:t>
              </a:r>
              <a:endParaRPr sz="840">
                <a:latin typeface="Proxima Nova"/>
                <a:ea typeface="Proxima Nova"/>
                <a:cs typeface="Proxima Nova"/>
                <a:sym typeface="Proxima Nova"/>
              </a:endParaRPr>
            </a:p>
          </p:txBody>
        </p:sp>
        <p:sp>
          <p:nvSpPr>
            <p:cNvPr id="554" name="Google Shape;554;p28"/>
            <p:cNvSpPr txBox="1"/>
            <p:nvPr/>
          </p:nvSpPr>
          <p:spPr>
            <a:xfrm>
              <a:off x="1720899" y="2055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9 Evidence consolidation service</a:t>
              </a:r>
              <a:endParaRPr sz="840">
                <a:latin typeface="Proxima Nova"/>
                <a:ea typeface="Proxima Nova"/>
                <a:cs typeface="Proxima Nova"/>
                <a:sym typeface="Proxima Nova"/>
              </a:endParaRPr>
            </a:p>
          </p:txBody>
        </p:sp>
        <p:sp>
          <p:nvSpPr>
            <p:cNvPr id="555" name="Google Shape;555;p28"/>
            <p:cNvSpPr txBox="1"/>
            <p:nvPr/>
          </p:nvSpPr>
          <p:spPr>
            <a:xfrm>
              <a:off x="1720899" y="2207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10 Evidence ranking module</a:t>
              </a:r>
              <a:endParaRPr sz="840">
                <a:latin typeface="Proxima Nova"/>
                <a:ea typeface="Proxima Nova"/>
                <a:cs typeface="Proxima Nova"/>
                <a:sym typeface="Proxima Nova"/>
              </a:endParaRPr>
            </a:p>
          </p:txBody>
        </p:sp>
        <p:sp>
          <p:nvSpPr>
            <p:cNvPr id="556" name="Google Shape;556;p28"/>
            <p:cNvSpPr txBox="1"/>
            <p:nvPr/>
          </p:nvSpPr>
          <p:spPr>
            <a:xfrm>
              <a:off x="1720899" y="4028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Total (# Related)</a:t>
              </a:r>
              <a:endParaRPr sz="840">
                <a:latin typeface="Proxima Nova"/>
                <a:ea typeface="Proxima Nova"/>
                <a:cs typeface="Proxima Nova"/>
                <a:sym typeface="Proxima Nova"/>
              </a:endParaRPr>
            </a:p>
          </p:txBody>
        </p:sp>
        <p:sp>
          <p:nvSpPr>
            <p:cNvPr id="557" name="Google Shape;557;p28"/>
            <p:cNvSpPr txBox="1"/>
            <p:nvPr/>
          </p:nvSpPr>
          <p:spPr>
            <a:xfrm>
              <a:off x="1720899" y="2358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11 AI role catalog</a:t>
              </a:r>
              <a:endParaRPr sz="840">
                <a:latin typeface="Proxima Nova"/>
                <a:ea typeface="Proxima Nova"/>
                <a:cs typeface="Proxima Nova"/>
                <a:sym typeface="Proxima Nova"/>
              </a:endParaRPr>
            </a:p>
          </p:txBody>
        </p:sp>
        <p:sp>
          <p:nvSpPr>
            <p:cNvPr id="558" name="Google Shape;558;p28"/>
            <p:cNvSpPr txBox="1"/>
            <p:nvPr/>
          </p:nvSpPr>
          <p:spPr>
            <a:xfrm>
              <a:off x="1720899" y="2510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12 AI role orchestrator</a:t>
              </a:r>
              <a:endParaRPr sz="840">
                <a:latin typeface="Proxima Nova"/>
                <a:ea typeface="Proxima Nova"/>
                <a:cs typeface="Proxima Nova"/>
                <a:sym typeface="Proxima Nova"/>
              </a:endParaRPr>
            </a:p>
          </p:txBody>
        </p:sp>
        <p:sp>
          <p:nvSpPr>
            <p:cNvPr id="559" name="Google Shape;559;p28"/>
            <p:cNvSpPr txBox="1"/>
            <p:nvPr/>
          </p:nvSpPr>
          <p:spPr>
            <a:xfrm>
              <a:off x="1720899" y="2662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13 Specialist interpreter</a:t>
              </a:r>
              <a:endParaRPr sz="840">
                <a:latin typeface="Proxima Nova"/>
                <a:ea typeface="Proxima Nova"/>
                <a:cs typeface="Proxima Nova"/>
                <a:sym typeface="Proxima Nova"/>
              </a:endParaRPr>
            </a:p>
          </p:txBody>
        </p:sp>
        <p:sp>
          <p:nvSpPr>
            <p:cNvPr id="560" name="Google Shape;560;p28"/>
            <p:cNvSpPr txBox="1"/>
            <p:nvPr/>
          </p:nvSpPr>
          <p:spPr>
            <a:xfrm>
              <a:off x="1720899" y="2814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14 Cross-role reconcilier</a:t>
              </a:r>
              <a:endParaRPr sz="840">
                <a:latin typeface="Proxima Nova"/>
                <a:ea typeface="Proxima Nova"/>
                <a:cs typeface="Proxima Nova"/>
                <a:sym typeface="Proxima Nova"/>
              </a:endParaRPr>
            </a:p>
          </p:txBody>
        </p:sp>
        <p:sp>
          <p:nvSpPr>
            <p:cNvPr id="561" name="Google Shape;561;p28"/>
            <p:cNvSpPr txBox="1"/>
            <p:nvPr/>
          </p:nvSpPr>
          <p:spPr>
            <a:xfrm>
              <a:off x="1720899" y="2966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15 Interpretation composer</a:t>
              </a:r>
              <a:endParaRPr sz="840">
                <a:latin typeface="Proxima Nova"/>
                <a:ea typeface="Proxima Nova"/>
                <a:cs typeface="Proxima Nova"/>
                <a:sym typeface="Proxima Nova"/>
              </a:endParaRPr>
            </a:p>
          </p:txBody>
        </p:sp>
        <p:sp>
          <p:nvSpPr>
            <p:cNvPr id="562" name="Google Shape;562;p28"/>
            <p:cNvSpPr txBox="1"/>
            <p:nvPr/>
          </p:nvSpPr>
          <p:spPr>
            <a:xfrm>
              <a:off x="1720899" y="3117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16 Review gateway</a:t>
              </a:r>
              <a:endParaRPr sz="840">
                <a:latin typeface="Proxima Nova"/>
                <a:ea typeface="Proxima Nova"/>
                <a:cs typeface="Proxima Nova"/>
                <a:sym typeface="Proxima Nova"/>
              </a:endParaRPr>
            </a:p>
          </p:txBody>
        </p:sp>
        <p:sp>
          <p:nvSpPr>
            <p:cNvPr id="563" name="Google Shape;563;p28"/>
            <p:cNvSpPr txBox="1"/>
            <p:nvPr/>
          </p:nvSpPr>
          <p:spPr>
            <a:xfrm>
              <a:off x="1720899" y="3269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17 Release controller</a:t>
              </a:r>
              <a:endParaRPr sz="840">
                <a:latin typeface="Proxima Nova"/>
                <a:ea typeface="Proxima Nova"/>
                <a:cs typeface="Proxima Nova"/>
                <a:sym typeface="Proxima Nova"/>
              </a:endParaRPr>
            </a:p>
          </p:txBody>
        </p:sp>
        <p:sp>
          <p:nvSpPr>
            <p:cNvPr id="564" name="Google Shape;564;p28"/>
            <p:cNvSpPr txBox="1"/>
            <p:nvPr/>
          </p:nvSpPr>
          <p:spPr>
            <a:xfrm>
              <a:off x="1720899" y="3876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21 Outcome feedback registry</a:t>
              </a:r>
              <a:endParaRPr sz="840">
                <a:latin typeface="Proxima Nova"/>
                <a:ea typeface="Proxima Nova"/>
                <a:cs typeface="Proxima Nova"/>
                <a:sym typeface="Proxima Nova"/>
              </a:endParaRPr>
            </a:p>
          </p:txBody>
        </p:sp>
        <p:sp>
          <p:nvSpPr>
            <p:cNvPr id="565" name="Google Shape;565;p28"/>
            <p:cNvSpPr txBox="1"/>
            <p:nvPr/>
          </p:nvSpPr>
          <p:spPr>
            <a:xfrm>
              <a:off x="1720899" y="3421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18 Evidence trace store</a:t>
              </a:r>
              <a:endParaRPr sz="840">
                <a:latin typeface="Proxima Nova"/>
                <a:ea typeface="Proxima Nova"/>
                <a:cs typeface="Proxima Nova"/>
                <a:sym typeface="Proxima Nova"/>
              </a:endParaRPr>
            </a:p>
          </p:txBody>
        </p:sp>
        <p:sp>
          <p:nvSpPr>
            <p:cNvPr id="566" name="Google Shape;566;p28"/>
            <p:cNvSpPr txBox="1"/>
            <p:nvPr/>
          </p:nvSpPr>
          <p:spPr>
            <a:xfrm>
              <a:off x="1720899" y="3573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19 Decision audit store</a:t>
              </a:r>
              <a:endParaRPr sz="840">
                <a:latin typeface="Proxima Nova"/>
                <a:ea typeface="Proxima Nova"/>
                <a:cs typeface="Proxima Nova"/>
                <a:sym typeface="Proxima Nova"/>
              </a:endParaRPr>
            </a:p>
          </p:txBody>
        </p:sp>
        <p:sp>
          <p:nvSpPr>
            <p:cNvPr id="567" name="Google Shape;567;p28"/>
            <p:cNvSpPr txBox="1"/>
            <p:nvPr/>
          </p:nvSpPr>
          <p:spPr>
            <a:xfrm>
              <a:off x="1720899" y="3725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20 Physician delivery channel</a:t>
              </a:r>
              <a:endParaRPr sz="840">
                <a:latin typeface="Proxima Nova"/>
                <a:ea typeface="Proxima Nova"/>
                <a:cs typeface="Proxima Nova"/>
                <a:sym typeface="Proxima Nova"/>
              </a:endParaRPr>
            </a:p>
          </p:txBody>
        </p:sp>
      </p:grpSp>
      <p:grpSp>
        <p:nvGrpSpPr>
          <p:cNvPr id="568" name="Google Shape;568;p28"/>
          <p:cNvGrpSpPr/>
          <p:nvPr/>
        </p:nvGrpSpPr>
        <p:grpSpPr>
          <a:xfrm>
            <a:off x="27284474" y="6010479"/>
            <a:ext cx="5230200" cy="4233480"/>
            <a:chOff x="3359425" y="836150"/>
            <a:chExt cx="4358500" cy="3527900"/>
          </a:xfrm>
        </p:grpSpPr>
        <p:sp>
          <p:nvSpPr>
            <p:cNvPr id="569" name="Google Shape;569;p28"/>
            <p:cNvSpPr/>
            <p:nvPr/>
          </p:nvSpPr>
          <p:spPr>
            <a:xfrm>
              <a:off x="3387400" y="836150"/>
              <a:ext cx="1000200" cy="7665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70" name="Google Shape;570;p28"/>
            <p:cNvSpPr/>
            <p:nvPr/>
          </p:nvSpPr>
          <p:spPr>
            <a:xfrm>
              <a:off x="4394775" y="1597550"/>
              <a:ext cx="795900" cy="6099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71" name="Google Shape;571;p28"/>
            <p:cNvSpPr/>
            <p:nvPr/>
          </p:nvSpPr>
          <p:spPr>
            <a:xfrm>
              <a:off x="5190725" y="2205325"/>
              <a:ext cx="1189200" cy="9102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72" name="Google Shape;572;p28"/>
            <p:cNvSpPr/>
            <p:nvPr/>
          </p:nvSpPr>
          <p:spPr>
            <a:xfrm>
              <a:off x="4999625" y="22071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73" name="Google Shape;573;p28"/>
            <p:cNvSpPr/>
            <p:nvPr/>
          </p:nvSpPr>
          <p:spPr>
            <a:xfrm>
              <a:off x="5800825" y="25134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74" name="Google Shape;574;p28"/>
            <p:cNvSpPr/>
            <p:nvPr/>
          </p:nvSpPr>
          <p:spPr>
            <a:xfrm>
              <a:off x="6201425" y="28143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grpSp>
          <p:nvGrpSpPr>
            <p:cNvPr id="575" name="Google Shape;575;p28"/>
            <p:cNvGrpSpPr/>
            <p:nvPr/>
          </p:nvGrpSpPr>
          <p:grpSpPr>
            <a:xfrm>
              <a:off x="3359425" y="4209550"/>
              <a:ext cx="3380800" cy="154500"/>
              <a:chOff x="3359425" y="4209550"/>
              <a:chExt cx="3380800" cy="154500"/>
            </a:xfrm>
          </p:grpSpPr>
          <p:sp>
            <p:nvSpPr>
              <p:cNvPr id="576" name="Google Shape;576;p28"/>
              <p:cNvSpPr/>
              <p:nvPr/>
            </p:nvSpPr>
            <p:spPr>
              <a:xfrm>
                <a:off x="3359425" y="42095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77" name="Google Shape;577;p28"/>
              <p:cNvSpPr/>
              <p:nvPr/>
            </p:nvSpPr>
            <p:spPr>
              <a:xfrm>
                <a:off x="5012225" y="4209550"/>
                <a:ext cx="191100" cy="1545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78" name="Google Shape;578;p28"/>
              <p:cNvSpPr txBox="1"/>
              <p:nvPr/>
            </p:nvSpPr>
            <p:spPr>
              <a:xfrm>
                <a:off x="3575700" y="4209550"/>
                <a:ext cx="1483200" cy="1545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latin typeface="Proxima Nova"/>
                    <a:ea typeface="Proxima Nova"/>
                    <a:cs typeface="Proxima Nova"/>
                    <a:sym typeface="Proxima Nova"/>
                  </a:rPr>
                  <a:t>Interfaces that needs monitoring</a:t>
                </a:r>
                <a:endParaRPr sz="840">
                  <a:latin typeface="Proxima Nova"/>
                  <a:ea typeface="Proxima Nova"/>
                  <a:cs typeface="Proxima Nova"/>
                  <a:sym typeface="Proxima Nova"/>
                </a:endParaRPr>
              </a:p>
            </p:txBody>
          </p:sp>
          <p:sp>
            <p:nvSpPr>
              <p:cNvPr id="579" name="Google Shape;579;p28"/>
              <p:cNvSpPr txBox="1"/>
              <p:nvPr/>
            </p:nvSpPr>
            <p:spPr>
              <a:xfrm>
                <a:off x="5257025" y="4209550"/>
                <a:ext cx="1483200" cy="1545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Dependencies cluster region</a:t>
                </a:r>
                <a:endParaRPr sz="840">
                  <a:solidFill>
                    <a:srgbClr val="000000"/>
                  </a:solidFill>
                  <a:latin typeface="Proxima Nova"/>
                  <a:ea typeface="Proxima Nova"/>
                  <a:cs typeface="Proxima Nova"/>
                  <a:sym typeface="Proxima Nova"/>
                </a:endParaRPr>
              </a:p>
            </p:txBody>
          </p:sp>
        </p:grpSp>
        <p:sp>
          <p:nvSpPr>
            <p:cNvPr id="580" name="Google Shape;580;p28"/>
            <p:cNvSpPr/>
            <p:nvPr/>
          </p:nvSpPr>
          <p:spPr>
            <a:xfrm>
              <a:off x="6387142" y="3118575"/>
              <a:ext cx="1216500" cy="9102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81" name="Google Shape;581;p28"/>
            <p:cNvSpPr/>
            <p:nvPr/>
          </p:nvSpPr>
          <p:spPr>
            <a:xfrm>
              <a:off x="6401725" y="29661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82" name="Google Shape;582;p28"/>
            <p:cNvSpPr/>
            <p:nvPr/>
          </p:nvSpPr>
          <p:spPr>
            <a:xfrm>
              <a:off x="6802350" y="32697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583" name="Google Shape;583;p28"/>
            <p:cNvSpPr txBox="1"/>
            <p:nvPr/>
          </p:nvSpPr>
          <p:spPr>
            <a:xfrm>
              <a:off x="4350694" y="1027113"/>
              <a:ext cx="7959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Input</a:t>
              </a:r>
              <a:endParaRPr b="1" sz="1680">
                <a:solidFill>
                  <a:srgbClr val="FF0000"/>
                </a:solidFill>
                <a:highlight>
                  <a:srgbClr val="FFFFFF"/>
                </a:highlight>
              </a:endParaRPr>
            </a:p>
          </p:txBody>
        </p:sp>
        <p:sp>
          <p:nvSpPr>
            <p:cNvPr id="584" name="Google Shape;584;p28"/>
            <p:cNvSpPr txBox="1"/>
            <p:nvPr/>
          </p:nvSpPr>
          <p:spPr>
            <a:xfrm>
              <a:off x="5058900" y="1233350"/>
              <a:ext cx="13380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Preparation</a:t>
              </a:r>
              <a:endParaRPr b="1" sz="1680">
                <a:solidFill>
                  <a:srgbClr val="FF0000"/>
                </a:solidFill>
                <a:highlight>
                  <a:srgbClr val="FFFFFF"/>
                </a:highlight>
              </a:endParaRPr>
            </a:p>
          </p:txBody>
        </p:sp>
        <p:sp>
          <p:nvSpPr>
            <p:cNvPr id="585" name="Google Shape;585;p28"/>
            <p:cNvSpPr txBox="1"/>
            <p:nvPr/>
          </p:nvSpPr>
          <p:spPr>
            <a:xfrm>
              <a:off x="6379925" y="2310638"/>
              <a:ext cx="13380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Interpretation</a:t>
              </a:r>
              <a:endParaRPr b="1" sz="1680">
                <a:solidFill>
                  <a:srgbClr val="FF0000"/>
                </a:solidFill>
                <a:highlight>
                  <a:srgbClr val="FFFFFF"/>
                </a:highlight>
              </a:endParaRPr>
            </a:p>
          </p:txBody>
        </p:sp>
        <p:sp>
          <p:nvSpPr>
            <p:cNvPr id="586" name="Google Shape;586;p28"/>
            <p:cNvSpPr txBox="1"/>
            <p:nvPr/>
          </p:nvSpPr>
          <p:spPr>
            <a:xfrm>
              <a:off x="4918500" y="3687288"/>
              <a:ext cx="1338000" cy="400200"/>
            </a:xfrm>
            <a:prstGeom prst="rect">
              <a:avLst/>
            </a:prstGeom>
            <a:noFill/>
            <a:ln>
              <a:noFill/>
            </a:ln>
          </p:spPr>
          <p:txBody>
            <a:bodyPr anchorCtr="0" anchor="t" bIns="109700" lIns="109700" spcFirstLastPara="1" rIns="109700" wrap="square" tIns="109700">
              <a:spAutoFit/>
            </a:bodyPr>
            <a:lstStyle/>
            <a:p>
              <a:pPr indent="0" lvl="0" marL="0" rtl="0" algn="r">
                <a:spcBef>
                  <a:spcPts val="0"/>
                </a:spcBef>
                <a:spcAft>
                  <a:spcPts val="0"/>
                </a:spcAft>
                <a:buNone/>
              </a:pPr>
              <a:r>
                <a:rPr b="1" lang="pt-BR" sz="1680">
                  <a:solidFill>
                    <a:srgbClr val="FF0000"/>
                  </a:solidFill>
                  <a:highlight>
                    <a:srgbClr val="FFFFFF"/>
                  </a:highlight>
                </a:rPr>
                <a:t>Delivery</a:t>
              </a:r>
              <a:endParaRPr b="1" sz="1680">
                <a:solidFill>
                  <a:srgbClr val="FF0000"/>
                </a:solidFill>
                <a:highlight>
                  <a:srgbClr val="FFFFFF"/>
                </a:highlight>
              </a:endParaRPr>
            </a:p>
          </p:txBody>
        </p:sp>
      </p:grpSp>
      <p:sp>
        <p:nvSpPr>
          <p:cNvPr id="587" name="Google Shape;587;p28"/>
          <p:cNvSpPr txBox="1"/>
          <p:nvPr/>
        </p:nvSpPr>
        <p:spPr>
          <a:xfrm>
            <a:off x="21225060" y="5930055"/>
            <a:ext cx="4338000" cy="41466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DSM reveals that Sanguine’s main architectural risk is concentrated in the interpretation core. Evidence ranking, AI role orchestration, specialist interpretation, reconciliation, and release control are tightly coupled, making them the key interfaces to monitor for change propagation, clinical accuracy, and reliable physician delivery.</a:t>
            </a:r>
            <a:endParaRPr sz="2040">
              <a:solidFill>
                <a:schemeClr val="dk2"/>
              </a:solidFill>
              <a:latin typeface="Proxima Nova"/>
              <a:ea typeface="Proxima Nova"/>
              <a:cs typeface="Proxima Nova"/>
              <a:sym typeface="Proxima Nova"/>
            </a:endParaRPr>
          </a:p>
        </p:txBody>
      </p:sp>
      <p:sp>
        <p:nvSpPr>
          <p:cNvPr id="588" name="Google Shape;588;p28"/>
          <p:cNvSpPr txBox="1"/>
          <p:nvPr/>
        </p:nvSpPr>
        <p:spPr>
          <a:xfrm>
            <a:off x="21349740" y="4586460"/>
            <a:ext cx="112485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Architectural hotspots and change propagation</a:t>
            </a:r>
            <a:endParaRPr sz="3640">
              <a:solidFill>
                <a:srgbClr val="67B4D4"/>
              </a:solidFill>
              <a:latin typeface="Proxima Nova"/>
              <a:ea typeface="Proxima Nova"/>
              <a:cs typeface="Proxima Nova"/>
              <a:sym typeface="Proxima Nova"/>
            </a:endParaRPr>
          </a:p>
        </p:txBody>
      </p:sp>
      <p:sp>
        <p:nvSpPr>
          <p:cNvPr id="589" name="Google Shape;589;p28"/>
          <p:cNvSpPr txBox="1"/>
          <p:nvPr/>
        </p:nvSpPr>
        <p:spPr>
          <a:xfrm>
            <a:off x="10502640" y="7909343"/>
            <a:ext cx="82983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Lab result interpretation workflow</a:t>
            </a:r>
            <a:endParaRPr sz="3640">
              <a:solidFill>
                <a:srgbClr val="67B4D4"/>
              </a:solidFill>
              <a:latin typeface="Proxima Nova"/>
              <a:ea typeface="Proxima Nova"/>
              <a:cs typeface="Proxima Nova"/>
              <a:sym typeface="Proxima Nova"/>
            </a:endParaRPr>
          </a:p>
        </p:txBody>
      </p:sp>
      <p:pic>
        <p:nvPicPr>
          <p:cNvPr id="590" name="Google Shape;590;p28"/>
          <p:cNvPicPr preferRelativeResize="0"/>
          <p:nvPr/>
        </p:nvPicPr>
        <p:blipFill rotWithShape="1">
          <a:blip r:embed="rId5">
            <a:alphaModFix/>
          </a:blip>
          <a:srcRect b="0" l="239" r="239" t="0"/>
          <a:stretch/>
        </p:blipFill>
        <p:spPr>
          <a:xfrm>
            <a:off x="11951875" y="2385593"/>
            <a:ext cx="8788320" cy="5740036"/>
          </a:xfrm>
          <a:prstGeom prst="rect">
            <a:avLst/>
          </a:prstGeom>
          <a:noFill/>
          <a:ln>
            <a:noFill/>
          </a:ln>
        </p:spPr>
      </p:pic>
      <p:graphicFrame>
        <p:nvGraphicFramePr>
          <p:cNvPr id="591" name="Google Shape;591;p28"/>
          <p:cNvGraphicFramePr/>
          <p:nvPr/>
        </p:nvGraphicFramePr>
        <p:xfrm>
          <a:off x="428580" y="17172420"/>
          <a:ext cx="3000000" cy="3000000"/>
        </p:xfrm>
        <a:graphic>
          <a:graphicData uri="http://schemas.openxmlformats.org/drawingml/2006/table">
            <a:tbl>
              <a:tblPr>
                <a:noFill/>
                <a:tableStyleId>{23E452CD-4AC9-494A-AED8-5A9A6700DAF9}</a:tableStyleId>
              </a:tblPr>
              <a:tblGrid>
                <a:gridCol w="2426700"/>
                <a:gridCol w="6827250"/>
              </a:tblGrid>
              <a:tr h="397925">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Design Decision</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67B4D5"/>
                    </a:solidFill>
                  </a:tcPr>
                </a:tc>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Preferred Choice</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67B4D5"/>
                    </a:solidFill>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Selected Concept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C1 — Maximalist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Family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Gemini family only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Research Paradigm</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RAG + fine-tuning</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AI Role Structure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Large specialized group, approximately 5–10 roles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Clinical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Multiple internal and external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Release Control</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Tiered release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88272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Specification</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Multimodal, powerful, higher-cost model, such as Gemini 3 Pro</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bl>
          </a:graphicData>
        </a:graphic>
      </p:graphicFrame>
      <p:sp>
        <p:nvSpPr>
          <p:cNvPr id="592" name="Google Shape;592;p28"/>
          <p:cNvSpPr txBox="1"/>
          <p:nvPr/>
        </p:nvSpPr>
        <p:spPr>
          <a:xfrm>
            <a:off x="349200" y="15831450"/>
            <a:ext cx="203910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Product &amp; project recommendation</a:t>
            </a:r>
            <a:endParaRPr sz="3640">
              <a:solidFill>
                <a:srgbClr val="67B4D4"/>
              </a:solidFill>
              <a:latin typeface="Proxima Nova"/>
              <a:ea typeface="Proxima Nova"/>
              <a:cs typeface="Proxima Nova"/>
              <a:sym typeface="Proxima Nova"/>
            </a:endParaRPr>
          </a:p>
        </p:txBody>
      </p:sp>
      <p:graphicFrame>
        <p:nvGraphicFramePr>
          <p:cNvPr id="593" name="Google Shape;593;p28"/>
          <p:cNvGraphicFramePr/>
          <p:nvPr/>
        </p:nvGraphicFramePr>
        <p:xfrm>
          <a:off x="10374720" y="18300333"/>
          <a:ext cx="3000000" cy="3000000"/>
        </p:xfrm>
        <a:graphic>
          <a:graphicData uri="http://schemas.openxmlformats.org/drawingml/2006/table">
            <a:tbl>
              <a:tblPr>
                <a:noFill/>
                <a:tableStyleId>{9A381E13-A8F7-4022-86C5-07623F0ABA3E}</a:tableStyleId>
              </a:tblPr>
              <a:tblGrid>
                <a:gridCol w="2314650"/>
                <a:gridCol w="8115750"/>
              </a:tblGrid>
              <a:tr h="357025">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Mitigation </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Commentary</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68B4D5"/>
                    </a:solidFill>
                  </a:tcPr>
                </a:tc>
              </a:tr>
              <a:tr h="622675">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Data Integration</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proof-of-concept to expose EHR/lab integration blockers before they cascade. Reduces probability from 50%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Clinical Validation Readiness</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Physician review board before shadow mode to reduce hallucination and clinical accuracy risk. Reduces probability from 40% to 15%.</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Integration &amp; Interface Testing</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interface testing across the data pipeline, retrieval layer, agentic AI core, physician workflow, and validation workflow. Reduces probability from 40%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bl>
          </a:graphicData>
        </a:graphic>
      </p:graphicFrame>
      <p:sp>
        <p:nvSpPr>
          <p:cNvPr id="594" name="Google Shape;594;p28"/>
          <p:cNvSpPr txBox="1"/>
          <p:nvPr/>
        </p:nvSpPr>
        <p:spPr>
          <a:xfrm>
            <a:off x="10326000" y="16637283"/>
            <a:ext cx="10527900" cy="16188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selected mitigation reduces riskiness from 179 to 102, removing 43% of baseline risk. It increases cost to $6.45M and schedule to 49 weeks, exceeding the $6M target but staying within the 50-week limit. The tradeoff is justified because it targets integration failure, hallucination risk, and late rework before clinical validation.</a:t>
            </a:r>
            <a:endParaRPr sz="2040">
              <a:solidFill>
                <a:schemeClr val="dk2"/>
              </a:solidFill>
              <a:latin typeface="Proxima Nova"/>
              <a:ea typeface="Proxima Nova"/>
              <a:cs typeface="Proxima Nova"/>
              <a:sym typeface="Proxima Nova"/>
            </a:endParaRPr>
          </a:p>
        </p:txBody>
      </p:sp>
      <p:sp>
        <p:nvSpPr>
          <p:cNvPr id="595" name="Google Shape;595;p28"/>
          <p:cNvSpPr txBox="1"/>
          <p:nvPr/>
        </p:nvSpPr>
        <p:spPr>
          <a:xfrm>
            <a:off x="21385290" y="10424010"/>
            <a:ext cx="114240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Risks mitigation design walk</a:t>
            </a:r>
            <a:endParaRPr sz="3640">
              <a:solidFill>
                <a:srgbClr val="67B4D4"/>
              </a:solidFill>
              <a:latin typeface="Proxima Nova"/>
              <a:ea typeface="Proxima Nova"/>
              <a:cs typeface="Proxima Nova"/>
              <a:sym typeface="Proxima Nova"/>
            </a:endParaRPr>
          </a:p>
        </p:txBody>
      </p:sp>
      <p:pic>
        <p:nvPicPr>
          <p:cNvPr id="596" name="Google Shape;596;p28"/>
          <p:cNvPicPr preferRelativeResize="0"/>
          <p:nvPr/>
        </p:nvPicPr>
        <p:blipFill>
          <a:blip r:embed="rId6">
            <a:alphaModFix/>
          </a:blip>
          <a:stretch>
            <a:fillRect/>
          </a:stretch>
        </p:blipFill>
        <p:spPr>
          <a:xfrm>
            <a:off x="22441980" y="11431116"/>
            <a:ext cx="8788321" cy="6696320"/>
          </a:xfrm>
          <a:prstGeom prst="rect">
            <a:avLst/>
          </a:prstGeom>
          <a:noFill/>
          <a:ln>
            <a:noFill/>
          </a:ln>
        </p:spPr>
      </p:pic>
      <p:sp>
        <p:nvSpPr>
          <p:cNvPr id="597" name="Google Shape;597;p28"/>
          <p:cNvSpPr txBox="1"/>
          <p:nvPr/>
        </p:nvSpPr>
        <p:spPr>
          <a:xfrm>
            <a:off x="21385290" y="18375930"/>
            <a:ext cx="10972800" cy="23412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mitigation walk shows two risk-reduction clusters. The technical feasibility cluster reduces integration and interface risks while staying closer to the original cost and schedule envelope. Adding clinical validation creates a larger risk reduction, but pushes the selected design above the $6M budget target while still remaining inside the 50-week schedule limit. This tradeoff was accepted because hallucination and clinical accuracy risks are more critical to physician trust and safe clinical use.</a:t>
            </a:r>
            <a:endParaRPr sz="2040">
              <a:solidFill>
                <a:schemeClr val="dk2"/>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1" name="Shape 601"/>
        <p:cNvGrpSpPr/>
        <p:nvPr/>
      </p:nvGrpSpPr>
      <p:grpSpPr>
        <a:xfrm>
          <a:off x="0" y="0"/>
          <a:ext cx="0" cy="0"/>
          <a:chOff x="0" y="0"/>
          <a:chExt cx="0" cy="0"/>
        </a:xfrm>
      </p:grpSpPr>
      <p:pic>
        <p:nvPicPr>
          <p:cNvPr id="602" name="Google Shape;602;p29"/>
          <p:cNvPicPr preferRelativeResize="0"/>
          <p:nvPr/>
        </p:nvPicPr>
        <p:blipFill rotWithShape="1">
          <a:blip r:embed="rId3">
            <a:alphaModFix/>
          </a:blip>
          <a:srcRect b="0" l="4251" r="0" t="0"/>
          <a:stretch/>
        </p:blipFill>
        <p:spPr>
          <a:xfrm>
            <a:off x="3" y="-69841"/>
            <a:ext cx="4920901" cy="1278001"/>
          </a:xfrm>
          <a:prstGeom prst="rect">
            <a:avLst/>
          </a:prstGeom>
          <a:noFill/>
          <a:ln>
            <a:noFill/>
          </a:ln>
        </p:spPr>
      </p:pic>
      <p:sp>
        <p:nvSpPr>
          <p:cNvPr id="603" name="Google Shape;603;p29"/>
          <p:cNvSpPr txBox="1"/>
          <p:nvPr/>
        </p:nvSpPr>
        <p:spPr>
          <a:xfrm>
            <a:off x="5304150" y="0"/>
            <a:ext cx="25134000" cy="1278000"/>
          </a:xfrm>
          <a:prstGeom prst="rect">
            <a:avLst/>
          </a:prstGeom>
          <a:noFill/>
          <a:ln>
            <a:noFill/>
          </a:ln>
        </p:spPr>
        <p:txBody>
          <a:bodyPr anchorCtr="0" anchor="t" bIns="216000" lIns="216000" spcFirstLastPara="1" rIns="216000" wrap="square" tIns="216000">
            <a:noAutofit/>
          </a:bodyPr>
          <a:lstStyle/>
          <a:p>
            <a:pPr indent="0" lvl="0" marL="0" rtl="0" algn="ctr">
              <a:spcBef>
                <a:spcPts val="0"/>
              </a:spcBef>
              <a:spcAft>
                <a:spcPts val="0"/>
              </a:spcAft>
              <a:buNone/>
            </a:pPr>
            <a:r>
              <a:rPr lang="pt-BR" sz="5680">
                <a:solidFill>
                  <a:srgbClr val="67B4D4"/>
                </a:solidFill>
              </a:rPr>
              <a:t>An agentic AI clinical librarian for laboratory results interpretation.</a:t>
            </a:r>
            <a:endParaRPr sz="5680">
              <a:solidFill>
                <a:srgbClr val="67B4D4"/>
              </a:solidFill>
            </a:endParaRPr>
          </a:p>
        </p:txBody>
      </p:sp>
      <p:sp>
        <p:nvSpPr>
          <p:cNvPr id="604" name="Google Shape;604;p29"/>
          <p:cNvSpPr txBox="1"/>
          <p:nvPr/>
        </p:nvSpPr>
        <p:spPr>
          <a:xfrm>
            <a:off x="-424800" y="36736200"/>
            <a:ext cx="30106800" cy="16278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lang="pt-BR" sz="3600">
                <a:solidFill>
                  <a:schemeClr val="dk2"/>
                </a:solidFill>
                <a:latin typeface="Proxima Nova"/>
                <a:ea typeface="Proxima Nova"/>
                <a:cs typeface="Proxima Nova"/>
                <a:sym typeface="Proxima Nova"/>
              </a:rPr>
              <a:t>Sanguine is a physician-facing clinical interpretation layer designed to scale the Mayo Clinic Model of Care by augmenting laboratory results with grounded, traceable, and clinically reviewed AI-generated interpretation.</a:t>
            </a:r>
            <a:endParaRPr sz="3600">
              <a:solidFill>
                <a:schemeClr val="dk2"/>
              </a:solidFill>
              <a:latin typeface="Proxima Nova"/>
              <a:ea typeface="Proxima Nova"/>
              <a:cs typeface="Proxima Nova"/>
              <a:sym typeface="Proxima Nova"/>
            </a:endParaRPr>
          </a:p>
        </p:txBody>
      </p:sp>
      <p:sp>
        <p:nvSpPr>
          <p:cNvPr id="605" name="Google Shape;605;p29"/>
          <p:cNvSpPr txBox="1"/>
          <p:nvPr/>
        </p:nvSpPr>
        <p:spPr>
          <a:xfrm>
            <a:off x="-54304" y="1665683"/>
            <a:ext cx="121893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From generic lab results to physician-ready interpretation</a:t>
            </a:r>
            <a:endParaRPr sz="3640">
              <a:solidFill>
                <a:srgbClr val="67B4D4"/>
              </a:solidFill>
              <a:latin typeface="Proxima Nova"/>
              <a:ea typeface="Proxima Nova"/>
              <a:cs typeface="Proxima Nova"/>
              <a:sym typeface="Proxima Nova"/>
            </a:endParaRPr>
          </a:p>
        </p:txBody>
      </p:sp>
      <p:sp>
        <p:nvSpPr>
          <p:cNvPr id="606" name="Google Shape;606;p29"/>
          <p:cNvSpPr txBox="1"/>
          <p:nvPr/>
        </p:nvSpPr>
        <p:spPr>
          <a:xfrm>
            <a:off x="349200" y="7228364"/>
            <a:ext cx="69375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Clinical librarian architecture</a:t>
            </a:r>
            <a:endParaRPr sz="3640">
              <a:solidFill>
                <a:srgbClr val="67B4D4"/>
              </a:solidFill>
              <a:latin typeface="Proxima Nova"/>
              <a:ea typeface="Proxima Nova"/>
              <a:cs typeface="Proxima Nova"/>
              <a:sym typeface="Proxima Nova"/>
            </a:endParaRPr>
          </a:p>
        </p:txBody>
      </p:sp>
      <p:sp>
        <p:nvSpPr>
          <p:cNvPr id="607" name="Google Shape;607;p29"/>
          <p:cNvSpPr txBox="1"/>
          <p:nvPr/>
        </p:nvSpPr>
        <p:spPr>
          <a:xfrm>
            <a:off x="-1883100" y="244701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Preferred Architecture</a:t>
            </a:r>
            <a:endParaRPr sz="5680">
              <a:solidFill>
                <a:srgbClr val="67B4D4"/>
              </a:solidFill>
            </a:endParaRPr>
          </a:p>
        </p:txBody>
      </p:sp>
      <p:sp>
        <p:nvSpPr>
          <p:cNvPr id="608" name="Google Shape;608;p29"/>
          <p:cNvSpPr txBox="1"/>
          <p:nvPr/>
        </p:nvSpPr>
        <p:spPr>
          <a:xfrm>
            <a:off x="-1883100" y="259497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Architectural Complexity</a:t>
            </a:r>
            <a:endParaRPr sz="5680">
              <a:solidFill>
                <a:srgbClr val="67B4D4"/>
              </a:solidFill>
            </a:endParaRPr>
          </a:p>
        </p:txBody>
      </p:sp>
      <p:sp>
        <p:nvSpPr>
          <p:cNvPr id="609" name="Google Shape;609;p29"/>
          <p:cNvSpPr txBox="1"/>
          <p:nvPr/>
        </p:nvSpPr>
        <p:spPr>
          <a:xfrm>
            <a:off x="-2188500" y="276852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Value Metrics</a:t>
            </a:r>
            <a:endParaRPr sz="5680">
              <a:solidFill>
                <a:srgbClr val="67B4D4"/>
              </a:solidFill>
            </a:endParaRPr>
          </a:p>
        </p:txBody>
      </p:sp>
      <p:sp>
        <p:nvSpPr>
          <p:cNvPr id="610" name="Google Shape;610;p29"/>
          <p:cNvSpPr txBox="1"/>
          <p:nvPr/>
        </p:nvSpPr>
        <p:spPr>
          <a:xfrm>
            <a:off x="35064600" y="12682469"/>
            <a:ext cx="87882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Selecting the preferred concept</a:t>
            </a:r>
            <a:endParaRPr sz="3640">
              <a:solidFill>
                <a:srgbClr val="67B4D4"/>
              </a:solidFill>
              <a:latin typeface="Proxima Nova"/>
              <a:ea typeface="Proxima Nova"/>
              <a:cs typeface="Proxima Nova"/>
              <a:sym typeface="Proxima Nova"/>
            </a:endParaRPr>
          </a:p>
        </p:txBody>
      </p:sp>
      <p:sp>
        <p:nvSpPr>
          <p:cNvPr id="611" name="Google Shape;611;p29"/>
          <p:cNvSpPr txBox="1"/>
          <p:nvPr/>
        </p:nvSpPr>
        <p:spPr>
          <a:xfrm>
            <a:off x="-54300" y="31482600"/>
            <a:ext cx="160704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Development Strategy: Risk-Driven Delivery</a:t>
            </a:r>
            <a:endParaRPr sz="5680">
              <a:solidFill>
                <a:srgbClr val="67B4D4"/>
              </a:solidFill>
            </a:endParaRPr>
          </a:p>
        </p:txBody>
      </p:sp>
      <p:sp>
        <p:nvSpPr>
          <p:cNvPr id="612" name="Google Shape;612;p29"/>
          <p:cNvSpPr txBox="1"/>
          <p:nvPr/>
        </p:nvSpPr>
        <p:spPr>
          <a:xfrm>
            <a:off x="3603300" y="351402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Recommendation</a:t>
            </a:r>
            <a:endParaRPr sz="5680">
              <a:solidFill>
                <a:srgbClr val="67B4D4"/>
              </a:solidFill>
            </a:endParaRPr>
          </a:p>
        </p:txBody>
      </p:sp>
      <p:pic>
        <p:nvPicPr>
          <p:cNvPr id="613" name="Google Shape;613;p29"/>
          <p:cNvPicPr preferRelativeResize="0"/>
          <p:nvPr/>
        </p:nvPicPr>
        <p:blipFill>
          <a:blip r:embed="rId4">
            <a:alphaModFix/>
          </a:blip>
          <a:stretch>
            <a:fillRect/>
          </a:stretch>
        </p:blipFill>
        <p:spPr>
          <a:xfrm>
            <a:off x="30731401" y="209700"/>
            <a:ext cx="1977610" cy="2164787"/>
          </a:xfrm>
          <a:prstGeom prst="rect">
            <a:avLst/>
          </a:prstGeom>
          <a:noFill/>
          <a:ln>
            <a:noFill/>
          </a:ln>
        </p:spPr>
      </p:pic>
      <p:sp>
        <p:nvSpPr>
          <p:cNvPr id="614" name="Google Shape;614;p29"/>
          <p:cNvSpPr txBox="1"/>
          <p:nvPr/>
        </p:nvSpPr>
        <p:spPr>
          <a:xfrm>
            <a:off x="18801000" y="1016215"/>
            <a:ext cx="11930400" cy="805800"/>
          </a:xfrm>
          <a:prstGeom prst="rect">
            <a:avLst/>
          </a:prstGeom>
          <a:noFill/>
          <a:ln>
            <a:noFill/>
          </a:ln>
        </p:spPr>
        <p:txBody>
          <a:bodyPr anchorCtr="0" anchor="t" bIns="216000" lIns="216000" spcFirstLastPara="1" rIns="216000" wrap="square" tIns="216000">
            <a:spAutoFit/>
          </a:bodyPr>
          <a:lstStyle/>
          <a:p>
            <a:pPr indent="0" lvl="0" marL="0" rtl="0" algn="r">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Mentors: Angela Tomczik and Eric Rebentisch</a:t>
            </a:r>
            <a:endParaRPr sz="2400">
              <a:solidFill>
                <a:schemeClr val="dk2"/>
              </a:solidFill>
              <a:latin typeface="Proxima Nova"/>
              <a:ea typeface="Proxima Nova"/>
              <a:cs typeface="Proxima Nova"/>
              <a:sym typeface="Proxima Nova"/>
            </a:endParaRPr>
          </a:p>
        </p:txBody>
      </p:sp>
      <p:sp>
        <p:nvSpPr>
          <p:cNvPr id="615" name="Google Shape;615;p29"/>
          <p:cNvSpPr txBox="1"/>
          <p:nvPr/>
        </p:nvSpPr>
        <p:spPr>
          <a:xfrm>
            <a:off x="125936" y="5935069"/>
            <a:ext cx="11218800" cy="14724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b="1" lang="pt-BR" sz="2040">
                <a:solidFill>
                  <a:schemeClr val="dk2"/>
                </a:solidFill>
                <a:latin typeface="Proxima Nova"/>
                <a:ea typeface="Proxima Nova"/>
                <a:cs typeface="Proxima Nova"/>
                <a:sym typeface="Proxima Nova"/>
              </a:rPr>
              <a:t>Sanguine is a physician-facing clinical interpretation layer for Mayo Clinic laboratory results. It aims to improve Mayo Clinic lab patient care outcomes at scale by augmenting physician-facing test results with relevant research using an agentic AI clinical librarian.</a:t>
            </a:r>
            <a:endParaRPr b="1" sz="2040">
              <a:solidFill>
                <a:schemeClr val="dk2"/>
              </a:solidFill>
              <a:latin typeface="Proxima Nova"/>
              <a:ea typeface="Proxima Nova"/>
              <a:cs typeface="Proxima Nova"/>
              <a:sym typeface="Proxima Nova"/>
            </a:endParaRPr>
          </a:p>
        </p:txBody>
      </p:sp>
      <p:grpSp>
        <p:nvGrpSpPr>
          <p:cNvPr id="616" name="Google Shape;616;p29"/>
          <p:cNvGrpSpPr/>
          <p:nvPr/>
        </p:nvGrpSpPr>
        <p:grpSpPr>
          <a:xfrm>
            <a:off x="-12311169" y="8621980"/>
            <a:ext cx="8941201" cy="5476658"/>
            <a:chOff x="11465487" y="9211798"/>
            <a:chExt cx="16116079" cy="8412685"/>
          </a:xfrm>
        </p:grpSpPr>
        <p:sp>
          <p:nvSpPr>
            <p:cNvPr id="617" name="Google Shape;617;p29"/>
            <p:cNvSpPr/>
            <p:nvPr/>
          </p:nvSpPr>
          <p:spPr>
            <a:xfrm>
              <a:off x="15867473" y="11457283"/>
              <a:ext cx="380700" cy="1087800"/>
            </a:xfrm>
            <a:prstGeom prst="roundRect">
              <a:avLst>
                <a:gd fmla="val 16667" name="adj"/>
              </a:avLst>
            </a:prstGeom>
            <a:solidFill>
              <a:srgbClr val="0F9ED5">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618" name="Google Shape;618;p29"/>
            <p:cNvCxnSpPr/>
            <p:nvPr/>
          </p:nvCxnSpPr>
          <p:spPr>
            <a:xfrm>
              <a:off x="16070970"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619" name="Google Shape;619;p29"/>
            <p:cNvSpPr txBox="1"/>
            <p:nvPr/>
          </p:nvSpPr>
          <p:spPr>
            <a:xfrm>
              <a:off x="15031756" y="9211798"/>
              <a:ext cx="2078700" cy="6504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External Laboratory</a:t>
              </a:r>
              <a:endParaRPr sz="1118">
                <a:solidFill>
                  <a:srgbClr val="000000"/>
                </a:solidFill>
                <a:latin typeface="Proxima Nova"/>
                <a:ea typeface="Proxima Nova"/>
                <a:cs typeface="Proxima Nova"/>
                <a:sym typeface="Proxima Nova"/>
              </a:endParaRPr>
            </a:p>
          </p:txBody>
        </p:sp>
        <p:cxnSp>
          <p:nvCxnSpPr>
            <p:cNvPr id="620" name="Google Shape;620;p29"/>
            <p:cNvCxnSpPr/>
            <p:nvPr/>
          </p:nvCxnSpPr>
          <p:spPr>
            <a:xfrm>
              <a:off x="18685657"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621" name="Google Shape;621;p29"/>
            <p:cNvSpPr txBox="1"/>
            <p:nvPr/>
          </p:nvSpPr>
          <p:spPr>
            <a:xfrm>
              <a:off x="17646454" y="9211798"/>
              <a:ext cx="2078700" cy="11793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Mayo Clinic Labs</a:t>
              </a:r>
              <a:endParaRPr sz="1204">
                <a:latin typeface="Proxima Nova"/>
                <a:ea typeface="Proxima Nova"/>
                <a:cs typeface="Proxima Nova"/>
                <a:sym typeface="Proxima Nova"/>
              </a:endParaRPr>
            </a:p>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(Tests Execution)</a:t>
              </a:r>
              <a:endParaRPr sz="1118">
                <a:solidFill>
                  <a:srgbClr val="000000"/>
                </a:solidFill>
                <a:latin typeface="Proxima Nova"/>
                <a:ea typeface="Proxima Nova"/>
                <a:cs typeface="Proxima Nova"/>
                <a:sym typeface="Proxima Nova"/>
              </a:endParaRPr>
            </a:p>
          </p:txBody>
        </p:sp>
        <p:cxnSp>
          <p:nvCxnSpPr>
            <p:cNvPr id="622" name="Google Shape;622;p29"/>
            <p:cNvCxnSpPr/>
            <p:nvPr/>
          </p:nvCxnSpPr>
          <p:spPr>
            <a:xfrm>
              <a:off x="21300369"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623" name="Google Shape;623;p29"/>
            <p:cNvSpPr txBox="1"/>
            <p:nvPr/>
          </p:nvSpPr>
          <p:spPr>
            <a:xfrm>
              <a:off x="20261155"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Patient Record</a:t>
              </a:r>
              <a:endParaRPr sz="1204">
                <a:latin typeface="Proxima Nova"/>
                <a:ea typeface="Proxima Nova"/>
                <a:cs typeface="Proxima Nova"/>
                <a:sym typeface="Proxima Nova"/>
              </a:endParaRPr>
            </a:p>
          </p:txBody>
        </p:sp>
        <p:cxnSp>
          <p:nvCxnSpPr>
            <p:cNvPr id="624" name="Google Shape;624;p29"/>
            <p:cNvCxnSpPr/>
            <p:nvPr/>
          </p:nvCxnSpPr>
          <p:spPr>
            <a:xfrm>
              <a:off x="23915067"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625" name="Google Shape;625;p29"/>
            <p:cNvSpPr txBox="1"/>
            <p:nvPr/>
          </p:nvSpPr>
          <p:spPr>
            <a:xfrm>
              <a:off x="25173466" y="9211798"/>
              <a:ext cx="2408100" cy="6504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Sanguine Librarian Layer</a:t>
              </a:r>
              <a:endParaRPr sz="1118">
                <a:solidFill>
                  <a:srgbClr val="000000"/>
                </a:solidFill>
                <a:latin typeface="Proxima Nova"/>
                <a:ea typeface="Proxima Nova"/>
                <a:cs typeface="Proxima Nova"/>
                <a:sym typeface="Proxima Nova"/>
              </a:endParaRPr>
            </a:p>
          </p:txBody>
        </p:sp>
        <p:sp>
          <p:nvSpPr>
            <p:cNvPr id="626" name="Google Shape;626;p29"/>
            <p:cNvSpPr/>
            <p:nvPr/>
          </p:nvSpPr>
          <p:spPr>
            <a:xfrm>
              <a:off x="18495302" y="11457283"/>
              <a:ext cx="380700" cy="1060500"/>
            </a:xfrm>
            <a:prstGeom prst="roundRect">
              <a:avLst>
                <a:gd fmla="val 16667" name="adj"/>
              </a:avLst>
            </a:prstGeom>
            <a:solidFill>
              <a:srgbClr val="4EA72E">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627" name="Google Shape;627;p29"/>
            <p:cNvSpPr/>
            <p:nvPr/>
          </p:nvSpPr>
          <p:spPr>
            <a:xfrm>
              <a:off x="21089755" y="11457283"/>
              <a:ext cx="380700" cy="1041900"/>
            </a:xfrm>
            <a:prstGeom prst="roundRect">
              <a:avLst>
                <a:gd fmla="val 16667" name="adj"/>
              </a:avLst>
            </a:prstGeom>
            <a:solidFill>
              <a:srgbClr val="E9713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628" name="Google Shape;628;p29"/>
            <p:cNvCxnSpPr/>
            <p:nvPr/>
          </p:nvCxnSpPr>
          <p:spPr>
            <a:xfrm>
              <a:off x="16248209" y="11606279"/>
              <a:ext cx="22206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629" name="Google Shape;629;p29"/>
            <p:cNvCxnSpPr/>
            <p:nvPr/>
          </p:nvCxnSpPr>
          <p:spPr>
            <a:xfrm>
              <a:off x="18876038" y="11582967"/>
              <a:ext cx="22266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630" name="Google Shape;630;p29"/>
            <p:cNvCxnSpPr/>
            <p:nvPr/>
          </p:nvCxnSpPr>
          <p:spPr>
            <a:xfrm rot="10800000">
              <a:off x="16239464" y="15170200"/>
              <a:ext cx="9880500" cy="0"/>
            </a:xfrm>
            <a:prstGeom prst="straightConnector1">
              <a:avLst/>
            </a:prstGeom>
            <a:noFill/>
            <a:ln cap="flat" cmpd="sng" w="24575">
              <a:solidFill>
                <a:srgbClr val="7F7F7F"/>
              </a:solidFill>
              <a:prstDash val="solid"/>
              <a:miter lim="800000"/>
              <a:headEnd len="sm" w="sm" type="none"/>
              <a:tailEnd len="med" w="med" type="triangle"/>
            </a:ln>
          </p:spPr>
        </p:cxnSp>
        <p:sp>
          <p:nvSpPr>
            <p:cNvPr id="631" name="Google Shape;631;p29"/>
            <p:cNvSpPr txBox="1"/>
            <p:nvPr/>
          </p:nvSpPr>
          <p:spPr>
            <a:xfrm>
              <a:off x="16320938" y="1169784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Collecs and send samples</a:t>
              </a:r>
              <a:endParaRPr sz="1032">
                <a:solidFill>
                  <a:srgbClr val="000000"/>
                </a:solidFill>
                <a:latin typeface="Proxima Nova"/>
                <a:ea typeface="Proxima Nova"/>
                <a:cs typeface="Proxima Nova"/>
                <a:sym typeface="Proxima Nova"/>
              </a:endParaRPr>
            </a:p>
          </p:txBody>
        </p:sp>
        <p:sp>
          <p:nvSpPr>
            <p:cNvPr id="632" name="Google Shape;632;p29"/>
            <p:cNvSpPr txBox="1"/>
            <p:nvPr/>
          </p:nvSpPr>
          <p:spPr>
            <a:xfrm>
              <a:off x="23903091" y="15223203"/>
              <a:ext cx="2353800" cy="10980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 of results interpretation complete</a:t>
              </a:r>
              <a:endParaRPr sz="1204">
                <a:latin typeface="Proxima Nova"/>
                <a:ea typeface="Proxima Nova"/>
                <a:cs typeface="Proxima Nova"/>
                <a:sym typeface="Proxima Nova"/>
              </a:endParaRPr>
            </a:p>
          </p:txBody>
        </p:sp>
        <p:sp>
          <p:nvSpPr>
            <p:cNvPr id="633" name="Google Shape;633;p29"/>
            <p:cNvSpPr txBox="1"/>
            <p:nvPr/>
          </p:nvSpPr>
          <p:spPr>
            <a:xfrm>
              <a:off x="18937140" y="1169784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Analyses and store results</a:t>
              </a:r>
              <a:endParaRPr sz="1032">
                <a:solidFill>
                  <a:srgbClr val="000000"/>
                </a:solidFill>
                <a:latin typeface="Proxima Nova"/>
                <a:ea typeface="Proxima Nova"/>
                <a:cs typeface="Proxima Nova"/>
                <a:sym typeface="Proxima Nova"/>
              </a:endParaRPr>
            </a:p>
          </p:txBody>
        </p:sp>
        <p:sp>
          <p:nvSpPr>
            <p:cNvPr id="634" name="Google Shape;634;p29"/>
            <p:cNvSpPr txBox="1"/>
            <p:nvPr/>
          </p:nvSpPr>
          <p:spPr>
            <a:xfrm>
              <a:off x="21531932" y="11697840"/>
              <a:ext cx="19080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Test raw results</a:t>
              </a:r>
              <a:endParaRPr sz="1032">
                <a:solidFill>
                  <a:srgbClr val="000000"/>
                </a:solidFill>
                <a:latin typeface="Proxima Nova"/>
                <a:ea typeface="Proxima Nova"/>
                <a:cs typeface="Proxima Nova"/>
                <a:sym typeface="Proxima Nova"/>
              </a:endParaRPr>
            </a:p>
          </p:txBody>
        </p:sp>
        <p:cxnSp>
          <p:nvCxnSpPr>
            <p:cNvPr id="635" name="Google Shape;635;p29"/>
            <p:cNvCxnSpPr/>
            <p:nvPr/>
          </p:nvCxnSpPr>
          <p:spPr>
            <a:xfrm rot="10800000">
              <a:off x="24094959" y="13848647"/>
              <a:ext cx="2070300" cy="0"/>
            </a:xfrm>
            <a:prstGeom prst="straightConnector1">
              <a:avLst/>
            </a:prstGeom>
            <a:noFill/>
            <a:ln cap="flat" cmpd="sng" w="24575">
              <a:solidFill>
                <a:srgbClr val="7F7F7F"/>
              </a:solidFill>
              <a:prstDash val="solid"/>
              <a:miter lim="800000"/>
              <a:headEnd len="sm" w="sm" type="none"/>
              <a:tailEnd len="med" w="med" type="triangle"/>
            </a:ln>
          </p:spPr>
        </p:cxnSp>
        <p:sp>
          <p:nvSpPr>
            <p:cNvPr id="636" name="Google Shape;636;p29"/>
            <p:cNvSpPr txBox="1"/>
            <p:nvPr/>
          </p:nvSpPr>
          <p:spPr>
            <a:xfrm>
              <a:off x="22106638" y="12891743"/>
              <a:ext cx="46635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Request patient context</a:t>
              </a:r>
              <a:endParaRPr sz="1032">
                <a:solidFill>
                  <a:srgbClr val="000000"/>
                </a:solidFill>
                <a:latin typeface="Proxima Nova"/>
                <a:ea typeface="Proxima Nova"/>
                <a:cs typeface="Proxima Nova"/>
                <a:sym typeface="Proxima Nova"/>
              </a:endParaRPr>
            </a:p>
          </p:txBody>
        </p:sp>
        <p:sp>
          <p:nvSpPr>
            <p:cNvPr id="637" name="Google Shape;637;p29"/>
            <p:cNvSpPr txBox="1"/>
            <p:nvPr/>
          </p:nvSpPr>
          <p:spPr>
            <a:xfrm>
              <a:off x="24105503" y="13903847"/>
              <a:ext cx="19545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Request clinical references</a:t>
              </a:r>
              <a:endParaRPr sz="1032">
                <a:solidFill>
                  <a:srgbClr val="000000"/>
                </a:solidFill>
                <a:latin typeface="Proxima Nova"/>
                <a:ea typeface="Proxima Nova"/>
                <a:cs typeface="Proxima Nova"/>
                <a:sym typeface="Proxima Nova"/>
              </a:endParaRPr>
            </a:p>
          </p:txBody>
        </p:sp>
        <p:cxnSp>
          <p:nvCxnSpPr>
            <p:cNvPr id="638" name="Google Shape;638;p29"/>
            <p:cNvCxnSpPr/>
            <p:nvPr/>
          </p:nvCxnSpPr>
          <p:spPr>
            <a:xfrm>
              <a:off x="26377558"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639" name="Google Shape;639;p29"/>
            <p:cNvSpPr/>
            <p:nvPr/>
          </p:nvSpPr>
          <p:spPr>
            <a:xfrm>
              <a:off x="26175833" y="11457283"/>
              <a:ext cx="380700" cy="4614000"/>
            </a:xfrm>
            <a:prstGeom prst="roundRect">
              <a:avLst>
                <a:gd fmla="val 16667" name="adj"/>
              </a:avLst>
            </a:prstGeom>
            <a:solidFill>
              <a:srgbClr val="FF0000">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640" name="Google Shape;640;p29"/>
            <p:cNvSpPr txBox="1"/>
            <p:nvPr/>
          </p:nvSpPr>
          <p:spPr>
            <a:xfrm>
              <a:off x="22875855" y="9211798"/>
              <a:ext cx="2078700" cy="9150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Mayo Clinic Knowledge &amp; Research</a:t>
              </a:r>
              <a:endParaRPr sz="1204">
                <a:latin typeface="Proxima Nova"/>
                <a:ea typeface="Proxima Nova"/>
                <a:cs typeface="Proxima Nova"/>
                <a:sym typeface="Proxima Nova"/>
              </a:endParaRPr>
            </a:p>
          </p:txBody>
        </p:sp>
        <p:sp>
          <p:nvSpPr>
            <p:cNvPr id="641" name="Google Shape;641;p29"/>
            <p:cNvSpPr/>
            <p:nvPr/>
          </p:nvSpPr>
          <p:spPr>
            <a:xfrm>
              <a:off x="23714193" y="13684467"/>
              <a:ext cx="380700" cy="1041600"/>
            </a:xfrm>
            <a:prstGeom prst="roundRect">
              <a:avLst>
                <a:gd fmla="val 16667" name="adj"/>
              </a:avLst>
            </a:prstGeom>
            <a:solidFill>
              <a:srgbClr val="AEAEAE">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642" name="Google Shape;642;p29"/>
            <p:cNvSpPr/>
            <p:nvPr/>
          </p:nvSpPr>
          <p:spPr>
            <a:xfrm>
              <a:off x="21102742" y="12636556"/>
              <a:ext cx="380700" cy="855600"/>
            </a:xfrm>
            <a:prstGeom prst="roundRect">
              <a:avLst>
                <a:gd fmla="val 16667" name="adj"/>
              </a:avLst>
            </a:prstGeom>
            <a:solidFill>
              <a:srgbClr val="E9713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643" name="Google Shape;643;p29"/>
            <p:cNvCxnSpPr/>
            <p:nvPr/>
          </p:nvCxnSpPr>
          <p:spPr>
            <a:xfrm rot="10800000">
              <a:off x="12703818" y="11163267"/>
              <a:ext cx="15228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644" name="Google Shape;644;p29"/>
            <p:cNvCxnSpPr/>
            <p:nvPr/>
          </p:nvCxnSpPr>
          <p:spPr>
            <a:xfrm>
              <a:off x="21456434" y="11606279"/>
              <a:ext cx="4745400" cy="0"/>
            </a:xfrm>
            <a:prstGeom prst="straightConnector1">
              <a:avLst/>
            </a:prstGeom>
            <a:noFill/>
            <a:ln cap="flat" cmpd="sng" w="24575">
              <a:solidFill>
                <a:srgbClr val="7F7F7F"/>
              </a:solidFill>
              <a:prstDash val="solid"/>
              <a:miter lim="800000"/>
              <a:headEnd len="sm" w="sm" type="none"/>
              <a:tailEnd len="med" w="med" type="triangle"/>
            </a:ln>
          </p:spPr>
        </p:cxnSp>
        <p:sp>
          <p:nvSpPr>
            <p:cNvPr id="645" name="Google Shape;645;p29"/>
            <p:cNvSpPr txBox="1"/>
            <p:nvPr/>
          </p:nvSpPr>
          <p:spPr>
            <a:xfrm>
              <a:off x="21456434" y="13354498"/>
              <a:ext cx="25419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Send patient clinical context</a:t>
              </a:r>
              <a:endParaRPr sz="1032">
                <a:solidFill>
                  <a:srgbClr val="000000"/>
                </a:solidFill>
                <a:latin typeface="Proxima Nova"/>
                <a:ea typeface="Proxima Nova"/>
                <a:cs typeface="Proxima Nova"/>
                <a:sym typeface="Proxima Nova"/>
              </a:endParaRPr>
            </a:p>
          </p:txBody>
        </p:sp>
        <p:cxnSp>
          <p:nvCxnSpPr>
            <p:cNvPr id="646" name="Google Shape;646;p29"/>
            <p:cNvCxnSpPr/>
            <p:nvPr/>
          </p:nvCxnSpPr>
          <p:spPr>
            <a:xfrm>
              <a:off x="24058504" y="14514168"/>
              <a:ext cx="2128800" cy="0"/>
            </a:xfrm>
            <a:prstGeom prst="straightConnector1">
              <a:avLst/>
            </a:prstGeom>
            <a:noFill/>
            <a:ln cap="flat" cmpd="sng" w="24575">
              <a:solidFill>
                <a:srgbClr val="7F7F7F"/>
              </a:solidFill>
              <a:prstDash val="solid"/>
              <a:miter lim="800000"/>
              <a:headEnd len="sm" w="sm" type="none"/>
              <a:tailEnd len="med" w="med" type="triangle"/>
            </a:ln>
          </p:spPr>
        </p:cxnSp>
        <p:sp>
          <p:nvSpPr>
            <p:cNvPr id="647" name="Google Shape;647;p29"/>
            <p:cNvSpPr txBox="1"/>
            <p:nvPr/>
          </p:nvSpPr>
          <p:spPr>
            <a:xfrm>
              <a:off x="24058504" y="14525107"/>
              <a:ext cx="1632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Send clinical references</a:t>
              </a:r>
              <a:endParaRPr sz="1032">
                <a:solidFill>
                  <a:srgbClr val="000000"/>
                </a:solidFill>
                <a:latin typeface="Proxima Nova"/>
                <a:ea typeface="Proxima Nova"/>
                <a:cs typeface="Proxima Nova"/>
                <a:sym typeface="Proxima Nova"/>
              </a:endParaRPr>
            </a:p>
          </p:txBody>
        </p:sp>
        <p:sp>
          <p:nvSpPr>
            <p:cNvPr id="648" name="Google Shape;648;p29"/>
            <p:cNvSpPr/>
            <p:nvPr/>
          </p:nvSpPr>
          <p:spPr>
            <a:xfrm>
              <a:off x="15858667" y="15086608"/>
              <a:ext cx="380700" cy="1353900"/>
            </a:xfrm>
            <a:prstGeom prst="roundRect">
              <a:avLst>
                <a:gd fmla="val 16667" name="adj"/>
              </a:avLst>
            </a:prstGeom>
            <a:solidFill>
              <a:srgbClr val="0F9ED5">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649" name="Google Shape;649;p29"/>
            <p:cNvSpPr/>
            <p:nvPr/>
          </p:nvSpPr>
          <p:spPr>
            <a:xfrm>
              <a:off x="12318864" y="10242365"/>
              <a:ext cx="380700" cy="17499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650" name="Google Shape;650;p29"/>
            <p:cNvCxnSpPr/>
            <p:nvPr/>
          </p:nvCxnSpPr>
          <p:spPr>
            <a:xfrm>
              <a:off x="12504700"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651" name="Google Shape;651;p29"/>
            <p:cNvSpPr txBox="1"/>
            <p:nvPr/>
          </p:nvSpPr>
          <p:spPr>
            <a:xfrm>
              <a:off x="11465487"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Patient</a:t>
              </a:r>
              <a:endParaRPr sz="1118">
                <a:solidFill>
                  <a:srgbClr val="000000"/>
                </a:solidFill>
                <a:latin typeface="Proxima Nova"/>
                <a:ea typeface="Proxima Nova"/>
                <a:cs typeface="Proxima Nova"/>
                <a:sym typeface="Proxima Nova"/>
              </a:endParaRPr>
            </a:p>
          </p:txBody>
        </p:sp>
        <p:sp>
          <p:nvSpPr>
            <p:cNvPr id="652" name="Google Shape;652;p29"/>
            <p:cNvSpPr/>
            <p:nvPr/>
          </p:nvSpPr>
          <p:spPr>
            <a:xfrm>
              <a:off x="12316454" y="15752918"/>
              <a:ext cx="380700" cy="5814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653" name="Google Shape;653;p29"/>
            <p:cNvSpPr/>
            <p:nvPr/>
          </p:nvSpPr>
          <p:spPr>
            <a:xfrm>
              <a:off x="14226618" y="10284614"/>
              <a:ext cx="380700" cy="10551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654" name="Google Shape;654;p29"/>
            <p:cNvCxnSpPr/>
            <p:nvPr/>
          </p:nvCxnSpPr>
          <p:spPr>
            <a:xfrm>
              <a:off x="14416986"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655" name="Google Shape;655;p29"/>
            <p:cNvSpPr txBox="1"/>
            <p:nvPr/>
          </p:nvSpPr>
          <p:spPr>
            <a:xfrm>
              <a:off x="13377773"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Physician</a:t>
              </a:r>
              <a:endParaRPr sz="1118">
                <a:solidFill>
                  <a:srgbClr val="000000"/>
                </a:solidFill>
                <a:latin typeface="Proxima Nova"/>
                <a:ea typeface="Proxima Nova"/>
                <a:cs typeface="Proxima Nova"/>
                <a:sym typeface="Proxima Nova"/>
              </a:endParaRPr>
            </a:p>
          </p:txBody>
        </p:sp>
        <p:sp>
          <p:nvSpPr>
            <p:cNvPr id="656" name="Google Shape;656;p29"/>
            <p:cNvSpPr/>
            <p:nvPr/>
          </p:nvSpPr>
          <p:spPr>
            <a:xfrm>
              <a:off x="14226618" y="15077351"/>
              <a:ext cx="380700" cy="5814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657" name="Google Shape;657;p29"/>
            <p:cNvCxnSpPr/>
            <p:nvPr/>
          </p:nvCxnSpPr>
          <p:spPr>
            <a:xfrm>
              <a:off x="12641221" y="10446061"/>
              <a:ext cx="1585200" cy="0"/>
            </a:xfrm>
            <a:prstGeom prst="straightConnector1">
              <a:avLst/>
            </a:prstGeom>
            <a:noFill/>
            <a:ln cap="flat" cmpd="sng" w="24575">
              <a:solidFill>
                <a:srgbClr val="7F7F7F"/>
              </a:solidFill>
              <a:prstDash val="solid"/>
              <a:miter lim="800000"/>
              <a:headEnd len="sm" w="sm" type="none"/>
              <a:tailEnd len="med" w="med" type="triangle"/>
            </a:ln>
          </p:spPr>
        </p:cxnSp>
        <p:sp>
          <p:nvSpPr>
            <p:cNvPr id="658" name="Google Shape;658;p29"/>
            <p:cNvSpPr txBox="1"/>
            <p:nvPr/>
          </p:nvSpPr>
          <p:spPr>
            <a:xfrm>
              <a:off x="12684299" y="9971282"/>
              <a:ext cx="25419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Medical consultation</a:t>
              </a:r>
              <a:endParaRPr sz="1032">
                <a:solidFill>
                  <a:srgbClr val="000000"/>
                </a:solidFill>
                <a:latin typeface="Proxima Nova"/>
                <a:ea typeface="Proxima Nova"/>
                <a:cs typeface="Proxima Nova"/>
                <a:sym typeface="Proxima Nova"/>
              </a:endParaRPr>
            </a:p>
          </p:txBody>
        </p:sp>
        <p:sp>
          <p:nvSpPr>
            <p:cNvPr id="659" name="Google Shape;659;p29"/>
            <p:cNvSpPr txBox="1"/>
            <p:nvPr/>
          </p:nvSpPr>
          <p:spPr>
            <a:xfrm>
              <a:off x="12728501" y="11207089"/>
              <a:ext cx="24081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Exam request</a:t>
              </a:r>
              <a:endParaRPr sz="1032">
                <a:solidFill>
                  <a:srgbClr val="000000"/>
                </a:solidFill>
                <a:latin typeface="Proxima Nova"/>
                <a:ea typeface="Proxima Nova"/>
                <a:cs typeface="Proxima Nova"/>
                <a:sym typeface="Proxima Nova"/>
              </a:endParaRPr>
            </a:p>
          </p:txBody>
        </p:sp>
        <p:cxnSp>
          <p:nvCxnSpPr>
            <p:cNvPr id="660" name="Google Shape;660;p29"/>
            <p:cNvCxnSpPr/>
            <p:nvPr/>
          </p:nvCxnSpPr>
          <p:spPr>
            <a:xfrm rot="10800000">
              <a:off x="21456464" y="12817687"/>
              <a:ext cx="46635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661" name="Google Shape;661;p29"/>
            <p:cNvCxnSpPr/>
            <p:nvPr/>
          </p:nvCxnSpPr>
          <p:spPr>
            <a:xfrm>
              <a:off x="12715955" y="11606279"/>
              <a:ext cx="3151500" cy="0"/>
            </a:xfrm>
            <a:prstGeom prst="straightConnector1">
              <a:avLst/>
            </a:prstGeom>
            <a:noFill/>
            <a:ln cap="flat" cmpd="sng" w="24575">
              <a:solidFill>
                <a:srgbClr val="7F7F7F"/>
              </a:solidFill>
              <a:prstDash val="solid"/>
              <a:miter lim="800000"/>
              <a:headEnd len="sm" w="sm" type="none"/>
              <a:tailEnd len="med" w="med" type="triangle"/>
            </a:ln>
          </p:spPr>
        </p:cxnSp>
        <p:sp>
          <p:nvSpPr>
            <p:cNvPr id="662" name="Google Shape;662;p29"/>
            <p:cNvSpPr txBox="1"/>
            <p:nvPr/>
          </p:nvSpPr>
          <p:spPr>
            <a:xfrm>
              <a:off x="12676593" y="11637411"/>
              <a:ext cx="23538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Exam schedule</a:t>
              </a:r>
              <a:endParaRPr sz="1032">
                <a:solidFill>
                  <a:srgbClr val="000000"/>
                </a:solidFill>
                <a:latin typeface="Proxima Nova"/>
                <a:ea typeface="Proxima Nova"/>
                <a:cs typeface="Proxima Nova"/>
                <a:sym typeface="Proxima Nova"/>
              </a:endParaRPr>
            </a:p>
          </p:txBody>
        </p:sp>
        <p:cxnSp>
          <p:nvCxnSpPr>
            <p:cNvPr id="663" name="Google Shape;663;p29"/>
            <p:cNvCxnSpPr/>
            <p:nvPr/>
          </p:nvCxnSpPr>
          <p:spPr>
            <a:xfrm>
              <a:off x="21499378" y="13291150"/>
              <a:ext cx="4676400" cy="0"/>
            </a:xfrm>
            <a:prstGeom prst="straightConnector1">
              <a:avLst/>
            </a:prstGeom>
            <a:noFill/>
            <a:ln cap="flat" cmpd="sng" w="24575">
              <a:solidFill>
                <a:srgbClr val="7F7F7F"/>
              </a:solidFill>
              <a:prstDash val="solid"/>
              <a:miter lim="800000"/>
              <a:headEnd len="sm" w="sm" type="none"/>
              <a:tailEnd len="med" w="med" type="triangle"/>
            </a:ln>
          </p:spPr>
        </p:cxnSp>
        <p:sp>
          <p:nvSpPr>
            <p:cNvPr id="664" name="Google Shape;664;p29"/>
            <p:cNvSpPr txBox="1"/>
            <p:nvPr/>
          </p:nvSpPr>
          <p:spPr>
            <a:xfrm>
              <a:off x="14564440" y="15318800"/>
              <a:ext cx="15186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a:t>
              </a:r>
              <a:endParaRPr sz="1204">
                <a:latin typeface="Proxima Nova"/>
                <a:ea typeface="Proxima Nova"/>
                <a:cs typeface="Proxima Nova"/>
                <a:sym typeface="Proxima Nova"/>
              </a:endParaRPr>
            </a:p>
          </p:txBody>
        </p:sp>
        <p:cxnSp>
          <p:nvCxnSpPr>
            <p:cNvPr id="665" name="Google Shape;665;p29"/>
            <p:cNvCxnSpPr/>
            <p:nvPr/>
          </p:nvCxnSpPr>
          <p:spPr>
            <a:xfrm rot="10800000">
              <a:off x="14591917" y="15223203"/>
              <a:ext cx="1263600" cy="0"/>
            </a:xfrm>
            <a:prstGeom prst="straightConnector1">
              <a:avLst/>
            </a:prstGeom>
            <a:noFill/>
            <a:ln cap="flat" cmpd="sng" w="24575">
              <a:solidFill>
                <a:srgbClr val="7F7F7F"/>
              </a:solidFill>
              <a:prstDash val="solid"/>
              <a:miter lim="800000"/>
              <a:headEnd len="sm" w="sm" type="none"/>
              <a:tailEnd len="med" w="med" type="triangle"/>
            </a:ln>
          </p:spPr>
        </p:cxnSp>
        <p:sp>
          <p:nvSpPr>
            <p:cNvPr id="666" name="Google Shape;666;p29"/>
            <p:cNvSpPr txBox="1"/>
            <p:nvPr/>
          </p:nvSpPr>
          <p:spPr>
            <a:xfrm>
              <a:off x="14530538" y="15926441"/>
              <a:ext cx="15186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a:t>
              </a:r>
              <a:endParaRPr sz="1204">
                <a:latin typeface="Proxima Nova"/>
                <a:ea typeface="Proxima Nova"/>
                <a:cs typeface="Proxima Nova"/>
                <a:sym typeface="Proxima Nova"/>
              </a:endParaRPr>
            </a:p>
          </p:txBody>
        </p:sp>
        <p:cxnSp>
          <p:nvCxnSpPr>
            <p:cNvPr id="667" name="Google Shape;667;p29"/>
            <p:cNvCxnSpPr/>
            <p:nvPr/>
          </p:nvCxnSpPr>
          <p:spPr>
            <a:xfrm rot="10800000">
              <a:off x="12697262" y="15868426"/>
              <a:ext cx="3141000" cy="0"/>
            </a:xfrm>
            <a:prstGeom prst="straightConnector1">
              <a:avLst/>
            </a:prstGeom>
            <a:noFill/>
            <a:ln cap="flat" cmpd="sng" w="24575">
              <a:solidFill>
                <a:srgbClr val="7F7F7F"/>
              </a:solidFill>
              <a:prstDash val="solid"/>
              <a:miter lim="800000"/>
              <a:headEnd len="sm" w="sm" type="none"/>
              <a:tailEnd len="med" w="med" type="triangle"/>
            </a:ln>
          </p:spPr>
        </p:cxnSp>
        <p:sp>
          <p:nvSpPr>
            <p:cNvPr id="668" name="Google Shape;668;p29"/>
            <p:cNvSpPr/>
            <p:nvPr/>
          </p:nvSpPr>
          <p:spPr>
            <a:xfrm>
              <a:off x="26159497" y="16384833"/>
              <a:ext cx="380700" cy="1121100"/>
            </a:xfrm>
            <a:prstGeom prst="roundRect">
              <a:avLst>
                <a:gd fmla="val 16667" name="adj"/>
              </a:avLst>
            </a:prstGeom>
            <a:solidFill>
              <a:srgbClr val="FF0000">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669" name="Google Shape;669;p29"/>
            <p:cNvCxnSpPr/>
            <p:nvPr/>
          </p:nvCxnSpPr>
          <p:spPr>
            <a:xfrm>
              <a:off x="14653655" y="16577065"/>
              <a:ext cx="11485500" cy="2100"/>
            </a:xfrm>
            <a:prstGeom prst="straightConnector1">
              <a:avLst/>
            </a:prstGeom>
            <a:noFill/>
            <a:ln cap="flat" cmpd="sng" w="24575">
              <a:solidFill>
                <a:srgbClr val="7F7F7F"/>
              </a:solidFill>
              <a:prstDash val="solid"/>
              <a:miter lim="800000"/>
              <a:headEnd len="sm" w="sm" type="none"/>
              <a:tailEnd len="med" w="med" type="triangle"/>
            </a:ln>
          </p:spPr>
        </p:cxnSp>
        <p:sp>
          <p:nvSpPr>
            <p:cNvPr id="670" name="Google Shape;670;p29"/>
            <p:cNvSpPr/>
            <p:nvPr/>
          </p:nvSpPr>
          <p:spPr>
            <a:xfrm>
              <a:off x="14211281" y="16503383"/>
              <a:ext cx="380700" cy="11211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671" name="Google Shape;671;p29"/>
            <p:cNvSpPr txBox="1"/>
            <p:nvPr/>
          </p:nvSpPr>
          <p:spPr>
            <a:xfrm>
              <a:off x="14495619" y="1662919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Access test interpretation</a:t>
              </a:r>
              <a:endParaRPr i="0" sz="1032">
                <a:solidFill>
                  <a:srgbClr val="000000"/>
                </a:solidFill>
                <a:latin typeface="Proxima Nova"/>
                <a:ea typeface="Proxima Nova"/>
                <a:cs typeface="Proxima Nova"/>
                <a:sym typeface="Proxima Nova"/>
              </a:endParaRPr>
            </a:p>
          </p:txBody>
        </p:sp>
        <p:sp>
          <p:nvSpPr>
            <p:cNvPr id="672" name="Google Shape;672;p29"/>
            <p:cNvSpPr/>
            <p:nvPr/>
          </p:nvSpPr>
          <p:spPr>
            <a:xfrm>
              <a:off x="12316458" y="16847915"/>
              <a:ext cx="380700" cy="7764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673" name="Google Shape;673;p29"/>
            <p:cNvCxnSpPr/>
            <p:nvPr/>
          </p:nvCxnSpPr>
          <p:spPr>
            <a:xfrm flipH="1">
              <a:off x="12717197" y="17340784"/>
              <a:ext cx="1480500" cy="6000"/>
            </a:xfrm>
            <a:prstGeom prst="straightConnector1">
              <a:avLst/>
            </a:prstGeom>
            <a:noFill/>
            <a:ln cap="flat" cmpd="sng" w="24575">
              <a:solidFill>
                <a:srgbClr val="7F7F7F"/>
              </a:solidFill>
              <a:prstDash val="solid"/>
              <a:miter lim="800000"/>
              <a:headEnd len="sm" w="sm" type="none"/>
              <a:tailEnd len="med" w="med" type="triangle"/>
            </a:ln>
          </p:spPr>
        </p:cxnSp>
        <p:sp>
          <p:nvSpPr>
            <p:cNvPr id="674" name="Google Shape;674;p29"/>
            <p:cNvSpPr txBox="1"/>
            <p:nvPr/>
          </p:nvSpPr>
          <p:spPr>
            <a:xfrm>
              <a:off x="12621112" y="16410222"/>
              <a:ext cx="1810500" cy="8538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Deliver personalized interpretation</a:t>
              </a:r>
              <a:endParaRPr i="0" sz="1032">
                <a:solidFill>
                  <a:srgbClr val="000000"/>
                </a:solidFill>
                <a:latin typeface="Proxima Nova"/>
                <a:ea typeface="Proxima Nova"/>
                <a:cs typeface="Proxima Nova"/>
                <a:sym typeface="Proxima Nova"/>
              </a:endParaRPr>
            </a:p>
          </p:txBody>
        </p:sp>
      </p:grpSp>
      <p:grpSp>
        <p:nvGrpSpPr>
          <p:cNvPr id="675" name="Google Shape;675;p29"/>
          <p:cNvGrpSpPr/>
          <p:nvPr/>
        </p:nvGrpSpPr>
        <p:grpSpPr>
          <a:xfrm>
            <a:off x="349274" y="8151605"/>
            <a:ext cx="9977270" cy="5590751"/>
            <a:chOff x="1619450" y="10711503"/>
            <a:chExt cx="11846675" cy="5301300"/>
          </a:xfrm>
        </p:grpSpPr>
        <p:grpSp>
          <p:nvGrpSpPr>
            <p:cNvPr id="676" name="Google Shape;676;p29"/>
            <p:cNvGrpSpPr/>
            <p:nvPr/>
          </p:nvGrpSpPr>
          <p:grpSpPr>
            <a:xfrm>
              <a:off x="2203856" y="10711503"/>
              <a:ext cx="6764219" cy="805897"/>
              <a:chOff x="1651406" y="3"/>
              <a:chExt cx="6764219" cy="805897"/>
            </a:xfrm>
          </p:grpSpPr>
          <p:grpSp>
            <p:nvGrpSpPr>
              <p:cNvPr id="677" name="Google Shape;677;p29"/>
              <p:cNvGrpSpPr/>
              <p:nvPr/>
            </p:nvGrpSpPr>
            <p:grpSpPr>
              <a:xfrm>
                <a:off x="1651406" y="3"/>
                <a:ext cx="4423813" cy="639000"/>
                <a:chOff x="1651406" y="3"/>
                <a:chExt cx="4423813" cy="639000"/>
              </a:xfrm>
            </p:grpSpPr>
            <p:sp>
              <p:nvSpPr>
                <p:cNvPr id="678" name="Google Shape;678;p29"/>
                <p:cNvSpPr/>
                <p:nvPr/>
              </p:nvSpPr>
              <p:spPr>
                <a:xfrm>
                  <a:off x="1651406" y="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Identity</a:t>
                  </a:r>
                  <a:endParaRPr sz="2040">
                    <a:solidFill>
                      <a:srgbClr val="FFFFFF"/>
                    </a:solidFill>
                    <a:latin typeface="Proxima Nova"/>
                    <a:ea typeface="Proxima Nova"/>
                    <a:cs typeface="Proxima Nova"/>
                    <a:sym typeface="Proxima Nova"/>
                  </a:endParaRPr>
                </a:p>
              </p:txBody>
            </p:sp>
            <p:sp>
              <p:nvSpPr>
                <p:cNvPr id="679" name="Google Shape;679;p29"/>
                <p:cNvSpPr/>
                <p:nvPr/>
              </p:nvSpPr>
              <p:spPr>
                <a:xfrm>
                  <a:off x="3932019" y="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Private Health Information</a:t>
                  </a:r>
                  <a:endParaRPr sz="2040">
                    <a:solidFill>
                      <a:srgbClr val="FFFFFF"/>
                    </a:solidFill>
                    <a:latin typeface="Proxima Nova"/>
                    <a:ea typeface="Proxima Nova"/>
                    <a:cs typeface="Proxima Nova"/>
                    <a:sym typeface="Proxima Nova"/>
                  </a:endParaRPr>
                </a:p>
              </p:txBody>
            </p:sp>
          </p:grpSp>
          <p:sp>
            <p:nvSpPr>
              <p:cNvPr id="680" name="Google Shape;680;p29"/>
              <p:cNvSpPr txBox="1"/>
              <p:nvPr/>
            </p:nvSpPr>
            <p:spPr>
              <a:xfrm>
                <a:off x="6272425" y="58300"/>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Trust Boundary</a:t>
                </a:r>
                <a:endParaRPr sz="2040">
                  <a:solidFill>
                    <a:srgbClr val="E85453"/>
                  </a:solidFill>
                  <a:latin typeface="Proxima Nova"/>
                  <a:ea typeface="Proxima Nova"/>
                  <a:cs typeface="Proxima Nova"/>
                  <a:sym typeface="Proxima Nova"/>
                </a:endParaRPr>
              </a:p>
            </p:txBody>
          </p:sp>
        </p:grpSp>
        <p:grpSp>
          <p:nvGrpSpPr>
            <p:cNvPr id="681" name="Google Shape;681;p29"/>
            <p:cNvGrpSpPr/>
            <p:nvPr/>
          </p:nvGrpSpPr>
          <p:grpSpPr>
            <a:xfrm>
              <a:off x="2203856" y="11674403"/>
              <a:ext cx="11262269" cy="639000"/>
              <a:chOff x="1651406" y="962903"/>
              <a:chExt cx="11262269" cy="639000"/>
            </a:xfrm>
          </p:grpSpPr>
          <p:grpSp>
            <p:nvGrpSpPr>
              <p:cNvPr id="682" name="Google Shape;682;p29"/>
              <p:cNvGrpSpPr/>
              <p:nvPr/>
            </p:nvGrpSpPr>
            <p:grpSpPr>
              <a:xfrm>
                <a:off x="1651406" y="962903"/>
                <a:ext cx="8896256" cy="639000"/>
                <a:chOff x="1651406" y="962903"/>
                <a:chExt cx="8896256" cy="639000"/>
              </a:xfrm>
            </p:grpSpPr>
            <p:sp>
              <p:nvSpPr>
                <p:cNvPr id="683" name="Google Shape;683;p29"/>
                <p:cNvSpPr/>
                <p:nvPr/>
              </p:nvSpPr>
              <p:spPr>
                <a:xfrm>
                  <a:off x="1651406"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Result</a:t>
                  </a:r>
                  <a:endParaRPr sz="2040">
                    <a:solidFill>
                      <a:srgbClr val="FFFFFF"/>
                    </a:solidFill>
                    <a:latin typeface="Proxima Nova"/>
                    <a:ea typeface="Proxima Nova"/>
                    <a:cs typeface="Proxima Nova"/>
                    <a:sym typeface="Proxima Nova"/>
                  </a:endParaRPr>
                </a:p>
              </p:txBody>
            </p:sp>
            <p:sp>
              <p:nvSpPr>
                <p:cNvPr id="684" name="Google Shape;684;p29"/>
                <p:cNvSpPr/>
                <p:nvPr/>
              </p:nvSpPr>
              <p:spPr>
                <a:xfrm>
                  <a:off x="3932019"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Patient Context</a:t>
                  </a:r>
                  <a:endParaRPr sz="2040">
                    <a:solidFill>
                      <a:srgbClr val="FFFFFF"/>
                    </a:solidFill>
                    <a:latin typeface="Proxima Nova"/>
                    <a:ea typeface="Proxima Nova"/>
                    <a:cs typeface="Proxima Nova"/>
                    <a:sym typeface="Proxima Nova"/>
                  </a:endParaRPr>
                </a:p>
              </p:txBody>
            </p:sp>
            <p:sp>
              <p:nvSpPr>
                <p:cNvPr id="685" name="Google Shape;685;p29"/>
                <p:cNvSpPr/>
                <p:nvPr/>
              </p:nvSpPr>
              <p:spPr>
                <a:xfrm>
                  <a:off x="6171000"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Prior History</a:t>
                  </a:r>
                  <a:endParaRPr sz="2040">
                    <a:solidFill>
                      <a:srgbClr val="FFFFFF"/>
                    </a:solidFill>
                    <a:latin typeface="Proxima Nova"/>
                    <a:ea typeface="Proxima Nova"/>
                    <a:cs typeface="Proxima Nova"/>
                    <a:sym typeface="Proxima Nova"/>
                  </a:endParaRPr>
                </a:p>
              </p:txBody>
            </p:sp>
            <p:sp>
              <p:nvSpPr>
                <p:cNvPr id="686" name="Google Shape;686;p29"/>
                <p:cNvSpPr/>
                <p:nvPr/>
              </p:nvSpPr>
              <p:spPr>
                <a:xfrm>
                  <a:off x="8404463"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Abnormal Patterns</a:t>
                  </a:r>
                  <a:endParaRPr sz="2040">
                    <a:solidFill>
                      <a:srgbClr val="FFFFFF"/>
                    </a:solidFill>
                    <a:latin typeface="Proxima Nova"/>
                    <a:ea typeface="Proxima Nova"/>
                    <a:cs typeface="Proxima Nova"/>
                    <a:sym typeface="Proxima Nova"/>
                  </a:endParaRPr>
                </a:p>
              </p:txBody>
            </p:sp>
          </p:grpSp>
          <p:sp>
            <p:nvSpPr>
              <p:cNvPr id="687" name="Google Shape;687;p29"/>
              <p:cNvSpPr txBox="1"/>
              <p:nvPr/>
            </p:nvSpPr>
            <p:spPr>
              <a:xfrm>
                <a:off x="10770475" y="1013000"/>
                <a:ext cx="2143200" cy="4500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Case Framing</a:t>
                </a:r>
                <a:endParaRPr sz="2040">
                  <a:solidFill>
                    <a:srgbClr val="E85453"/>
                  </a:solidFill>
                  <a:latin typeface="Proxima Nova"/>
                  <a:ea typeface="Proxima Nova"/>
                  <a:cs typeface="Proxima Nova"/>
                  <a:sym typeface="Proxima Nova"/>
                </a:endParaRPr>
              </a:p>
            </p:txBody>
          </p:sp>
        </p:grpSp>
        <p:grpSp>
          <p:nvGrpSpPr>
            <p:cNvPr id="688" name="Google Shape;688;p29"/>
            <p:cNvGrpSpPr/>
            <p:nvPr/>
          </p:nvGrpSpPr>
          <p:grpSpPr>
            <a:xfrm>
              <a:off x="2203856" y="12629078"/>
              <a:ext cx="9052169" cy="797722"/>
              <a:chOff x="1651406" y="1917578"/>
              <a:chExt cx="9052169" cy="797722"/>
            </a:xfrm>
          </p:grpSpPr>
          <p:grpSp>
            <p:nvGrpSpPr>
              <p:cNvPr id="689" name="Google Shape;689;p29"/>
              <p:cNvGrpSpPr/>
              <p:nvPr/>
            </p:nvGrpSpPr>
            <p:grpSpPr>
              <a:xfrm>
                <a:off x="1651406" y="1917578"/>
                <a:ext cx="6662794" cy="639000"/>
                <a:chOff x="1651406" y="1917578"/>
                <a:chExt cx="6662794" cy="639000"/>
              </a:xfrm>
            </p:grpSpPr>
            <p:sp>
              <p:nvSpPr>
                <p:cNvPr id="690" name="Google Shape;690;p29"/>
                <p:cNvSpPr/>
                <p:nvPr/>
              </p:nvSpPr>
              <p:spPr>
                <a:xfrm>
                  <a:off x="1651406"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Mayo Clinical Knowledge</a:t>
                  </a:r>
                  <a:endParaRPr sz="2040">
                    <a:solidFill>
                      <a:srgbClr val="FFFFFF"/>
                    </a:solidFill>
                    <a:latin typeface="Proxima Nova"/>
                    <a:ea typeface="Proxima Nova"/>
                    <a:cs typeface="Proxima Nova"/>
                    <a:sym typeface="Proxima Nova"/>
                  </a:endParaRPr>
                </a:p>
              </p:txBody>
            </p:sp>
            <p:sp>
              <p:nvSpPr>
                <p:cNvPr id="691" name="Google Shape;691;p29"/>
                <p:cNvSpPr/>
                <p:nvPr/>
              </p:nvSpPr>
              <p:spPr>
                <a:xfrm>
                  <a:off x="3932019"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Research Evidence</a:t>
                  </a:r>
                  <a:endParaRPr sz="2040">
                    <a:solidFill>
                      <a:srgbClr val="FFFFFF"/>
                    </a:solidFill>
                    <a:latin typeface="Proxima Nova"/>
                    <a:ea typeface="Proxima Nova"/>
                    <a:cs typeface="Proxima Nova"/>
                    <a:sym typeface="Proxima Nova"/>
                  </a:endParaRPr>
                </a:p>
              </p:txBody>
            </p:sp>
            <p:sp>
              <p:nvSpPr>
                <p:cNvPr id="692" name="Google Shape;692;p29"/>
                <p:cNvSpPr/>
                <p:nvPr/>
              </p:nvSpPr>
              <p:spPr>
                <a:xfrm>
                  <a:off x="6171000"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Guidelines</a:t>
                  </a:r>
                  <a:endParaRPr sz="2040">
                    <a:solidFill>
                      <a:srgbClr val="FFFFFF"/>
                    </a:solidFill>
                    <a:latin typeface="Proxima Nova"/>
                    <a:ea typeface="Proxima Nova"/>
                    <a:cs typeface="Proxima Nova"/>
                    <a:sym typeface="Proxima Nova"/>
                  </a:endParaRPr>
                </a:p>
              </p:txBody>
            </p:sp>
          </p:grpSp>
          <p:sp>
            <p:nvSpPr>
              <p:cNvPr id="693" name="Google Shape;693;p29"/>
              <p:cNvSpPr txBox="1"/>
              <p:nvPr/>
            </p:nvSpPr>
            <p:spPr>
              <a:xfrm>
                <a:off x="8560375" y="1967700"/>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Evidence Base</a:t>
                </a:r>
                <a:endParaRPr sz="2040">
                  <a:solidFill>
                    <a:srgbClr val="E85453"/>
                  </a:solidFill>
                  <a:latin typeface="Proxima Nova"/>
                  <a:ea typeface="Proxima Nova"/>
                  <a:cs typeface="Proxima Nova"/>
                  <a:sym typeface="Proxima Nova"/>
                </a:endParaRPr>
              </a:p>
            </p:txBody>
          </p:sp>
        </p:grpSp>
        <p:grpSp>
          <p:nvGrpSpPr>
            <p:cNvPr id="694" name="Google Shape;694;p29"/>
            <p:cNvGrpSpPr/>
            <p:nvPr/>
          </p:nvGrpSpPr>
          <p:grpSpPr>
            <a:xfrm>
              <a:off x="2203856" y="13526150"/>
              <a:ext cx="9548969" cy="747600"/>
              <a:chOff x="1651406" y="2814650"/>
              <a:chExt cx="9548969" cy="747600"/>
            </a:xfrm>
          </p:grpSpPr>
          <p:grpSp>
            <p:nvGrpSpPr>
              <p:cNvPr id="695" name="Google Shape;695;p29"/>
              <p:cNvGrpSpPr/>
              <p:nvPr/>
            </p:nvGrpSpPr>
            <p:grpSpPr>
              <a:xfrm>
                <a:off x="1651406" y="2832503"/>
                <a:ext cx="6662794" cy="639000"/>
                <a:chOff x="1651406" y="2832503"/>
                <a:chExt cx="6662794" cy="639000"/>
              </a:xfrm>
            </p:grpSpPr>
            <p:sp>
              <p:nvSpPr>
                <p:cNvPr id="696" name="Google Shape;696;p29"/>
                <p:cNvSpPr/>
                <p:nvPr/>
              </p:nvSpPr>
              <p:spPr>
                <a:xfrm>
                  <a:off x="1651406"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Specialist Roles</a:t>
                  </a:r>
                  <a:endParaRPr sz="2040">
                    <a:solidFill>
                      <a:srgbClr val="FFFFFF"/>
                    </a:solidFill>
                    <a:latin typeface="Proxima Nova"/>
                    <a:ea typeface="Proxima Nova"/>
                    <a:cs typeface="Proxima Nova"/>
                    <a:sym typeface="Proxima Nova"/>
                  </a:endParaRPr>
                </a:p>
              </p:txBody>
            </p:sp>
            <p:sp>
              <p:nvSpPr>
                <p:cNvPr id="697" name="Google Shape;697;p29"/>
                <p:cNvSpPr/>
                <p:nvPr/>
              </p:nvSpPr>
              <p:spPr>
                <a:xfrm>
                  <a:off x="3932019"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Synthesis</a:t>
                  </a:r>
                  <a:endParaRPr sz="2040">
                    <a:solidFill>
                      <a:srgbClr val="FFFFFF"/>
                    </a:solidFill>
                    <a:latin typeface="Proxima Nova"/>
                    <a:ea typeface="Proxima Nova"/>
                    <a:cs typeface="Proxima Nova"/>
                    <a:sym typeface="Proxima Nova"/>
                  </a:endParaRPr>
                </a:p>
              </p:txBody>
            </p:sp>
            <p:sp>
              <p:nvSpPr>
                <p:cNvPr id="698" name="Google Shape;698;p29"/>
                <p:cNvSpPr/>
                <p:nvPr/>
              </p:nvSpPr>
              <p:spPr>
                <a:xfrm>
                  <a:off x="6171000"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Prior Reconciliation</a:t>
                  </a:r>
                  <a:endParaRPr sz="2040">
                    <a:solidFill>
                      <a:srgbClr val="FFFFFF"/>
                    </a:solidFill>
                    <a:latin typeface="Proxima Nova"/>
                    <a:ea typeface="Proxima Nova"/>
                    <a:cs typeface="Proxima Nova"/>
                    <a:sym typeface="Proxima Nova"/>
                  </a:endParaRPr>
                </a:p>
              </p:txBody>
            </p:sp>
          </p:grpSp>
          <p:sp>
            <p:nvSpPr>
              <p:cNvPr id="699" name="Google Shape;699;p29"/>
              <p:cNvSpPr txBox="1"/>
              <p:nvPr/>
            </p:nvSpPr>
            <p:spPr>
              <a:xfrm>
                <a:off x="8560375" y="2814650"/>
                <a:ext cx="26400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Interpretation Core</a:t>
                </a:r>
                <a:endParaRPr sz="2040">
                  <a:solidFill>
                    <a:srgbClr val="E85453"/>
                  </a:solidFill>
                  <a:latin typeface="Proxima Nova"/>
                  <a:ea typeface="Proxima Nova"/>
                  <a:cs typeface="Proxima Nova"/>
                  <a:sym typeface="Proxima Nova"/>
                </a:endParaRPr>
              </a:p>
            </p:txBody>
          </p:sp>
        </p:grpSp>
        <p:grpSp>
          <p:nvGrpSpPr>
            <p:cNvPr id="700" name="Google Shape;700;p29"/>
            <p:cNvGrpSpPr/>
            <p:nvPr/>
          </p:nvGrpSpPr>
          <p:grpSpPr>
            <a:xfrm>
              <a:off x="2203856" y="14458903"/>
              <a:ext cx="11262269" cy="797697"/>
              <a:chOff x="1651406" y="3747403"/>
              <a:chExt cx="11262269" cy="797697"/>
            </a:xfrm>
          </p:grpSpPr>
          <p:grpSp>
            <p:nvGrpSpPr>
              <p:cNvPr id="701" name="Google Shape;701;p29"/>
              <p:cNvGrpSpPr/>
              <p:nvPr/>
            </p:nvGrpSpPr>
            <p:grpSpPr>
              <a:xfrm>
                <a:off x="1651406" y="3747403"/>
                <a:ext cx="8896256" cy="639000"/>
                <a:chOff x="1651406" y="3747403"/>
                <a:chExt cx="8896256" cy="639000"/>
              </a:xfrm>
            </p:grpSpPr>
            <p:sp>
              <p:nvSpPr>
                <p:cNvPr id="702" name="Google Shape;702;p29"/>
                <p:cNvSpPr/>
                <p:nvPr/>
              </p:nvSpPr>
              <p:spPr>
                <a:xfrm>
                  <a:off x="1651406"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Traceability</a:t>
                  </a:r>
                  <a:endParaRPr sz="2040">
                    <a:solidFill>
                      <a:srgbClr val="FFFFFF"/>
                    </a:solidFill>
                    <a:latin typeface="Proxima Nova"/>
                    <a:ea typeface="Proxima Nova"/>
                    <a:cs typeface="Proxima Nova"/>
                    <a:sym typeface="Proxima Nova"/>
                  </a:endParaRPr>
                </a:p>
              </p:txBody>
            </p:sp>
            <p:sp>
              <p:nvSpPr>
                <p:cNvPr id="703" name="Google Shape;703;p29"/>
                <p:cNvSpPr/>
                <p:nvPr/>
              </p:nvSpPr>
              <p:spPr>
                <a:xfrm>
                  <a:off x="3932019"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Safety Gates</a:t>
                  </a:r>
                  <a:endParaRPr sz="2040">
                    <a:solidFill>
                      <a:srgbClr val="FFFFFF"/>
                    </a:solidFill>
                    <a:latin typeface="Proxima Nova"/>
                    <a:ea typeface="Proxima Nova"/>
                    <a:cs typeface="Proxima Nova"/>
                    <a:sym typeface="Proxima Nova"/>
                  </a:endParaRPr>
                </a:p>
              </p:txBody>
            </p:sp>
            <p:sp>
              <p:nvSpPr>
                <p:cNvPr id="704" name="Google Shape;704;p29"/>
                <p:cNvSpPr/>
                <p:nvPr/>
              </p:nvSpPr>
              <p:spPr>
                <a:xfrm>
                  <a:off x="6171000"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Approval Rules</a:t>
                  </a:r>
                  <a:endParaRPr sz="2040">
                    <a:solidFill>
                      <a:srgbClr val="FFFFFF"/>
                    </a:solidFill>
                    <a:latin typeface="Proxima Nova"/>
                    <a:ea typeface="Proxima Nova"/>
                    <a:cs typeface="Proxima Nova"/>
                    <a:sym typeface="Proxima Nova"/>
                  </a:endParaRPr>
                </a:p>
              </p:txBody>
            </p:sp>
            <p:sp>
              <p:nvSpPr>
                <p:cNvPr id="705" name="Google Shape;705;p29"/>
                <p:cNvSpPr/>
                <p:nvPr/>
              </p:nvSpPr>
              <p:spPr>
                <a:xfrm>
                  <a:off x="8404463"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Escalation</a:t>
                  </a:r>
                  <a:endParaRPr sz="2040">
                    <a:solidFill>
                      <a:srgbClr val="FFFFFF"/>
                    </a:solidFill>
                    <a:latin typeface="Proxima Nova"/>
                    <a:ea typeface="Proxima Nova"/>
                    <a:cs typeface="Proxima Nova"/>
                    <a:sym typeface="Proxima Nova"/>
                  </a:endParaRPr>
                </a:p>
              </p:txBody>
            </p:sp>
          </p:grpSp>
          <p:sp>
            <p:nvSpPr>
              <p:cNvPr id="706" name="Google Shape;706;p29"/>
              <p:cNvSpPr txBox="1"/>
              <p:nvPr/>
            </p:nvSpPr>
            <p:spPr>
              <a:xfrm>
                <a:off x="10770475" y="3797500"/>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Clinical Review</a:t>
                </a:r>
                <a:endParaRPr sz="2040">
                  <a:solidFill>
                    <a:srgbClr val="E85453"/>
                  </a:solidFill>
                  <a:latin typeface="Proxima Nova"/>
                  <a:ea typeface="Proxima Nova"/>
                  <a:cs typeface="Proxima Nova"/>
                  <a:sym typeface="Proxima Nova"/>
                </a:endParaRPr>
              </a:p>
            </p:txBody>
          </p:sp>
        </p:grpSp>
        <p:grpSp>
          <p:nvGrpSpPr>
            <p:cNvPr id="707" name="Google Shape;707;p29"/>
            <p:cNvGrpSpPr/>
            <p:nvPr/>
          </p:nvGrpSpPr>
          <p:grpSpPr>
            <a:xfrm>
              <a:off x="2203856" y="15373803"/>
              <a:ext cx="7540019" cy="639000"/>
              <a:chOff x="1651406" y="4662303"/>
              <a:chExt cx="7540019" cy="639000"/>
            </a:xfrm>
          </p:grpSpPr>
          <p:grpSp>
            <p:nvGrpSpPr>
              <p:cNvPr id="708" name="Google Shape;708;p29"/>
              <p:cNvGrpSpPr/>
              <p:nvPr/>
            </p:nvGrpSpPr>
            <p:grpSpPr>
              <a:xfrm>
                <a:off x="1651406" y="4662303"/>
                <a:ext cx="4423813" cy="639000"/>
                <a:chOff x="1651406" y="4662303"/>
                <a:chExt cx="4423813" cy="639000"/>
              </a:xfrm>
            </p:grpSpPr>
            <p:sp>
              <p:nvSpPr>
                <p:cNvPr id="709" name="Google Shape;709;p29"/>
                <p:cNvSpPr/>
                <p:nvPr/>
              </p:nvSpPr>
              <p:spPr>
                <a:xfrm>
                  <a:off x="1651406" y="46623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Workflow Delivery</a:t>
                  </a:r>
                  <a:endParaRPr sz="2040">
                    <a:solidFill>
                      <a:srgbClr val="FFFFFF"/>
                    </a:solidFill>
                    <a:latin typeface="Proxima Nova"/>
                    <a:ea typeface="Proxima Nova"/>
                    <a:cs typeface="Proxima Nova"/>
                    <a:sym typeface="Proxima Nova"/>
                  </a:endParaRPr>
                </a:p>
              </p:txBody>
            </p:sp>
            <p:sp>
              <p:nvSpPr>
                <p:cNvPr id="710" name="Google Shape;710;p29"/>
                <p:cNvSpPr/>
                <p:nvPr/>
              </p:nvSpPr>
              <p:spPr>
                <a:xfrm>
                  <a:off x="3932019" y="46623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Feedback</a:t>
                  </a:r>
                  <a:endParaRPr sz="2040">
                    <a:solidFill>
                      <a:srgbClr val="FFFFFF"/>
                    </a:solidFill>
                    <a:latin typeface="Proxima Nova"/>
                    <a:ea typeface="Proxima Nova"/>
                    <a:cs typeface="Proxima Nova"/>
                    <a:sym typeface="Proxima Nova"/>
                  </a:endParaRPr>
                </a:p>
              </p:txBody>
            </p:sp>
          </p:grpSp>
          <p:sp>
            <p:nvSpPr>
              <p:cNvPr id="711" name="Google Shape;711;p29"/>
              <p:cNvSpPr txBox="1"/>
              <p:nvPr/>
            </p:nvSpPr>
            <p:spPr>
              <a:xfrm>
                <a:off x="6272425" y="4712400"/>
                <a:ext cx="2919000" cy="4500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Physician Delivery</a:t>
                </a:r>
                <a:endParaRPr sz="2040">
                  <a:solidFill>
                    <a:srgbClr val="E85453"/>
                  </a:solidFill>
                  <a:latin typeface="Proxima Nova"/>
                  <a:ea typeface="Proxima Nova"/>
                  <a:cs typeface="Proxima Nova"/>
                  <a:sym typeface="Proxima Nova"/>
                </a:endParaRPr>
              </a:p>
            </p:txBody>
          </p:sp>
        </p:grpSp>
        <p:sp>
          <p:nvSpPr>
            <p:cNvPr id="712" name="Google Shape;712;p29"/>
            <p:cNvSpPr/>
            <p:nvPr/>
          </p:nvSpPr>
          <p:spPr>
            <a:xfrm>
              <a:off x="1619450" y="11444500"/>
              <a:ext cx="419700" cy="3843600"/>
            </a:xfrm>
            <a:prstGeom prst="downArrow">
              <a:avLst>
                <a:gd fmla="val 50000" name="adj1"/>
                <a:gd fmla="val 50000" name="adj2"/>
              </a:avLst>
            </a:prstGeom>
            <a:solidFill>
              <a:srgbClr val="E85453"/>
            </a:solidFill>
            <a:ln>
              <a:noFill/>
            </a:ln>
          </p:spPr>
          <p:txBody>
            <a:bodyPr anchorCtr="0" anchor="ctr" bIns="79450" lIns="79450" spcFirstLastPara="1" rIns="79450" wrap="square" tIns="79450">
              <a:noAutofit/>
            </a:bodyPr>
            <a:lstStyle/>
            <a:p>
              <a:pPr indent="0" lvl="0" marL="0" rtl="0" algn="ctr">
                <a:spcBef>
                  <a:spcPts val="0"/>
                </a:spcBef>
                <a:spcAft>
                  <a:spcPts val="0"/>
                </a:spcAft>
                <a:buNone/>
              </a:pPr>
              <a:r>
                <a:t/>
              </a:r>
              <a:endParaRPr sz="2040"/>
            </a:p>
          </p:txBody>
        </p:sp>
      </p:grpSp>
      <p:sp>
        <p:nvSpPr>
          <p:cNvPr id="713" name="Google Shape;713;p29"/>
          <p:cNvSpPr txBox="1"/>
          <p:nvPr/>
        </p:nvSpPr>
        <p:spPr>
          <a:xfrm>
            <a:off x="349080" y="13924618"/>
            <a:ext cx="102669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architecture protects patient data, frames lab results with patient context from the EHR, retrieves Mayo and external clinical evidence, and uses specialized AI roles to synthesize a physician-facing interpretation. Before delivery, the output is checked for traceability, escalated for clinical review when needed, and then returned to the physician workflow with feedback captured for continuous improvement.</a:t>
            </a:r>
            <a:endParaRPr sz="2040">
              <a:solidFill>
                <a:schemeClr val="dk2"/>
              </a:solidFill>
              <a:latin typeface="Proxima Nova"/>
              <a:ea typeface="Proxima Nova"/>
              <a:cs typeface="Proxima Nova"/>
              <a:sym typeface="Proxima Nova"/>
            </a:endParaRPr>
          </a:p>
        </p:txBody>
      </p:sp>
      <p:sp>
        <p:nvSpPr>
          <p:cNvPr id="714" name="Google Shape;714;p29"/>
          <p:cNvSpPr txBox="1"/>
          <p:nvPr/>
        </p:nvSpPr>
        <p:spPr>
          <a:xfrm>
            <a:off x="-11992200" y="14143133"/>
            <a:ext cx="89406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sequence diagram shows how the clinical librarian fits into the existing lab workflow. After a physician requests an exam, Mayo Clinic Labs runs the test and stores the result in the EHR. The clinical librarian then combines the result with patient context and Mayo research-backed clinical knowledge to generate a traceable interpretation for physician review and use.</a:t>
            </a:r>
            <a:endParaRPr sz="2040">
              <a:solidFill>
                <a:schemeClr val="dk2"/>
              </a:solidFill>
              <a:latin typeface="Proxima Nova"/>
              <a:ea typeface="Proxima Nova"/>
              <a:cs typeface="Proxima Nova"/>
              <a:sym typeface="Proxima Nova"/>
            </a:endParaRPr>
          </a:p>
        </p:txBody>
      </p:sp>
      <p:sp>
        <p:nvSpPr>
          <p:cNvPr id="715" name="Google Shape;715;p29"/>
          <p:cNvSpPr txBox="1"/>
          <p:nvPr/>
        </p:nvSpPr>
        <p:spPr>
          <a:xfrm>
            <a:off x="33972360" y="19721805"/>
            <a:ext cx="10972800" cy="1980000"/>
          </a:xfrm>
          <a:prstGeom prst="rect">
            <a:avLst/>
          </a:prstGeom>
          <a:noFill/>
          <a:ln>
            <a:noFill/>
          </a:ln>
        </p:spPr>
        <p:txBody>
          <a:bodyPr anchorCtr="0" anchor="t" bIns="109700" lIns="109700" spcFirstLastPara="1" rIns="109700" wrap="square" tIns="109700">
            <a:spAutoFit/>
          </a:bodyPr>
          <a:lstStyle/>
          <a:p>
            <a:pPr indent="0" lvl="0" marL="0" marR="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tradespace maps current alternatives against cost and clinical accuracy. Epic Systems sits in the low-cost, lower-accuracy region; Labcorp sits in the moderate-cost, moderate-accuracy region; and the current Mayo Clinic model sits in the high-accuracy, high-cost region. The selected Sanguine design aims to move closer to Mayo-level clinical quality while improving scalability through evidence grounding, specialized AI roles, traceability, and clinical review.</a:t>
            </a:r>
            <a:endParaRPr sz="2040">
              <a:solidFill>
                <a:schemeClr val="dk2"/>
              </a:solidFill>
              <a:latin typeface="Proxima Nova"/>
              <a:ea typeface="Proxima Nova"/>
              <a:cs typeface="Proxima Nova"/>
              <a:sym typeface="Proxima Nova"/>
            </a:endParaRPr>
          </a:p>
        </p:txBody>
      </p:sp>
      <p:graphicFrame>
        <p:nvGraphicFramePr>
          <p:cNvPr id="716" name="Google Shape;716;p29"/>
          <p:cNvGraphicFramePr/>
          <p:nvPr/>
        </p:nvGraphicFramePr>
        <p:xfrm>
          <a:off x="25660869" y="6447407"/>
          <a:ext cx="3000000" cy="3000000"/>
        </p:xfrm>
        <a:graphic>
          <a:graphicData uri="http://schemas.openxmlformats.org/drawingml/2006/table">
            <a:tbl>
              <a:tblPr>
                <a:noFill/>
                <a:tableStyleId>{E802A5B2-C3E8-4156-8B02-1924D521DFD5}</a:tableStyleId>
              </a:tblPr>
              <a:tblGrid>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tblGrid>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6</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9</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1</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8</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2</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6</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9</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1</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8</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2</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highlight>
                          <a:srgbClr val="202729"/>
                        </a:highlight>
                        <a:latin typeface="Proxima Nova"/>
                        <a:ea typeface="Proxima Nova"/>
                        <a:cs typeface="Proxima Nova"/>
                        <a:sym typeface="Proxima Nova"/>
                      </a:endParaRPr>
                    </a:p>
                  </a:txBody>
                  <a:tcPr marT="0" marB="0" marR="0" marL="0" anchor="ctr">
                    <a:solidFill>
                      <a:srgbClr val="83CAEB"/>
                    </a:solidFill>
                  </a:tcPr>
                </a:tc>
              </a:tr>
            </a:tbl>
          </a:graphicData>
        </a:graphic>
      </p:graphicFrame>
      <p:grpSp>
        <p:nvGrpSpPr>
          <p:cNvPr id="717" name="Google Shape;717;p29"/>
          <p:cNvGrpSpPr/>
          <p:nvPr/>
        </p:nvGrpSpPr>
        <p:grpSpPr>
          <a:xfrm>
            <a:off x="25687627" y="5912825"/>
            <a:ext cx="5246711" cy="553680"/>
            <a:chOff x="3409794" y="395472"/>
            <a:chExt cx="4372259" cy="461400"/>
          </a:xfrm>
        </p:grpSpPr>
        <p:sp>
          <p:nvSpPr>
            <p:cNvPr id="718" name="Google Shape;718;p29"/>
            <p:cNvSpPr txBox="1"/>
            <p:nvPr/>
          </p:nvSpPr>
          <p:spPr>
            <a:xfrm rot="-5400000">
              <a:off x="3340794"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a:t>
              </a:r>
              <a:endParaRPr sz="840">
                <a:latin typeface="Proxima Nova"/>
                <a:ea typeface="Proxima Nova"/>
                <a:cs typeface="Proxima Nova"/>
                <a:sym typeface="Proxima Nova"/>
              </a:endParaRPr>
            </a:p>
          </p:txBody>
        </p:sp>
        <p:sp>
          <p:nvSpPr>
            <p:cNvPr id="719" name="Google Shape;719;p29"/>
            <p:cNvSpPr txBox="1"/>
            <p:nvPr/>
          </p:nvSpPr>
          <p:spPr>
            <a:xfrm rot="-5400000">
              <a:off x="3541097"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a:t>
              </a:r>
              <a:endParaRPr sz="840">
                <a:latin typeface="Proxima Nova"/>
                <a:ea typeface="Proxima Nova"/>
                <a:cs typeface="Proxima Nova"/>
                <a:sym typeface="Proxima Nova"/>
              </a:endParaRPr>
            </a:p>
          </p:txBody>
        </p:sp>
        <p:sp>
          <p:nvSpPr>
            <p:cNvPr id="720" name="Google Shape;720;p29"/>
            <p:cNvSpPr txBox="1"/>
            <p:nvPr/>
          </p:nvSpPr>
          <p:spPr>
            <a:xfrm rot="-5400000">
              <a:off x="374139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3</a:t>
              </a:r>
              <a:endParaRPr sz="840">
                <a:latin typeface="Proxima Nova"/>
                <a:ea typeface="Proxima Nova"/>
                <a:cs typeface="Proxima Nova"/>
                <a:sym typeface="Proxima Nova"/>
              </a:endParaRPr>
            </a:p>
          </p:txBody>
        </p:sp>
        <p:sp>
          <p:nvSpPr>
            <p:cNvPr id="721" name="Google Shape;721;p29"/>
            <p:cNvSpPr txBox="1"/>
            <p:nvPr/>
          </p:nvSpPr>
          <p:spPr>
            <a:xfrm rot="-5400000">
              <a:off x="394170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4</a:t>
              </a:r>
              <a:endParaRPr sz="840">
                <a:latin typeface="Proxima Nova"/>
                <a:ea typeface="Proxima Nova"/>
                <a:cs typeface="Proxima Nova"/>
                <a:sym typeface="Proxima Nova"/>
              </a:endParaRPr>
            </a:p>
          </p:txBody>
        </p:sp>
        <p:sp>
          <p:nvSpPr>
            <p:cNvPr id="722" name="Google Shape;722;p29"/>
            <p:cNvSpPr txBox="1"/>
            <p:nvPr/>
          </p:nvSpPr>
          <p:spPr>
            <a:xfrm rot="-5400000">
              <a:off x="414200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5</a:t>
              </a:r>
              <a:endParaRPr sz="840">
                <a:latin typeface="Proxima Nova"/>
                <a:ea typeface="Proxima Nova"/>
                <a:cs typeface="Proxima Nova"/>
                <a:sym typeface="Proxima Nova"/>
              </a:endParaRPr>
            </a:p>
          </p:txBody>
        </p:sp>
        <p:sp>
          <p:nvSpPr>
            <p:cNvPr id="723" name="Google Shape;723;p29"/>
            <p:cNvSpPr txBox="1"/>
            <p:nvPr/>
          </p:nvSpPr>
          <p:spPr>
            <a:xfrm rot="-5400000">
              <a:off x="4342308"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6</a:t>
              </a:r>
              <a:endParaRPr sz="840">
                <a:latin typeface="Proxima Nova"/>
                <a:ea typeface="Proxima Nova"/>
                <a:cs typeface="Proxima Nova"/>
                <a:sym typeface="Proxima Nova"/>
              </a:endParaRPr>
            </a:p>
          </p:txBody>
        </p:sp>
        <p:sp>
          <p:nvSpPr>
            <p:cNvPr id="724" name="Google Shape;724;p29"/>
            <p:cNvSpPr txBox="1"/>
            <p:nvPr/>
          </p:nvSpPr>
          <p:spPr>
            <a:xfrm rot="-5400000">
              <a:off x="4542611"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7</a:t>
              </a:r>
              <a:endParaRPr sz="840">
                <a:latin typeface="Proxima Nova"/>
                <a:ea typeface="Proxima Nova"/>
                <a:cs typeface="Proxima Nova"/>
                <a:sym typeface="Proxima Nova"/>
              </a:endParaRPr>
            </a:p>
          </p:txBody>
        </p:sp>
        <p:sp>
          <p:nvSpPr>
            <p:cNvPr id="725" name="Google Shape;725;p29"/>
            <p:cNvSpPr txBox="1"/>
            <p:nvPr/>
          </p:nvSpPr>
          <p:spPr>
            <a:xfrm rot="-5400000">
              <a:off x="4737964" y="617022"/>
              <a:ext cx="3138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8</a:t>
              </a:r>
              <a:endParaRPr sz="840">
                <a:latin typeface="Proxima Nova"/>
                <a:ea typeface="Proxima Nova"/>
                <a:cs typeface="Proxima Nova"/>
                <a:sym typeface="Proxima Nova"/>
              </a:endParaRPr>
            </a:p>
          </p:txBody>
        </p:sp>
        <p:sp>
          <p:nvSpPr>
            <p:cNvPr id="726" name="Google Shape;726;p29"/>
            <p:cNvSpPr txBox="1"/>
            <p:nvPr/>
          </p:nvSpPr>
          <p:spPr>
            <a:xfrm rot="-5400000">
              <a:off x="4943216"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9</a:t>
              </a:r>
              <a:endParaRPr sz="840">
                <a:latin typeface="Proxima Nova"/>
                <a:ea typeface="Proxima Nova"/>
                <a:cs typeface="Proxima Nova"/>
                <a:sym typeface="Proxima Nova"/>
              </a:endParaRPr>
            </a:p>
          </p:txBody>
        </p:sp>
        <p:sp>
          <p:nvSpPr>
            <p:cNvPr id="727" name="Google Shape;727;p29"/>
            <p:cNvSpPr txBox="1"/>
            <p:nvPr/>
          </p:nvSpPr>
          <p:spPr>
            <a:xfrm rot="-5400000">
              <a:off x="514351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10</a:t>
              </a:r>
              <a:endParaRPr sz="840">
                <a:latin typeface="Proxima Nova"/>
                <a:ea typeface="Proxima Nova"/>
                <a:cs typeface="Proxima Nova"/>
                <a:sym typeface="Proxima Nova"/>
              </a:endParaRPr>
            </a:p>
          </p:txBody>
        </p:sp>
        <p:sp>
          <p:nvSpPr>
            <p:cNvPr id="728" name="Google Shape;728;p29"/>
            <p:cNvSpPr txBox="1"/>
            <p:nvPr/>
          </p:nvSpPr>
          <p:spPr>
            <a:xfrm rot="-5400000">
              <a:off x="7468403" y="543222"/>
              <a:ext cx="4614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latin typeface="Proxima Nova"/>
                  <a:ea typeface="Proxima Nova"/>
                  <a:cs typeface="Proxima Nova"/>
                  <a:sym typeface="Proxima Nova"/>
                </a:rPr>
                <a:t>Total</a:t>
              </a:r>
              <a:endParaRPr sz="840">
                <a:latin typeface="Proxima Nova"/>
                <a:ea typeface="Proxima Nova"/>
                <a:cs typeface="Proxima Nova"/>
                <a:sym typeface="Proxima Nova"/>
              </a:endParaRPr>
            </a:p>
          </p:txBody>
        </p:sp>
        <p:sp>
          <p:nvSpPr>
            <p:cNvPr id="729" name="Google Shape;729;p29"/>
            <p:cNvSpPr txBox="1"/>
            <p:nvPr/>
          </p:nvSpPr>
          <p:spPr>
            <a:xfrm rot="-5400000">
              <a:off x="5744428"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13</a:t>
              </a:r>
              <a:endParaRPr sz="840">
                <a:latin typeface="Proxima Nova"/>
                <a:ea typeface="Proxima Nova"/>
                <a:cs typeface="Proxima Nova"/>
                <a:sym typeface="Proxima Nova"/>
              </a:endParaRPr>
            </a:p>
          </p:txBody>
        </p:sp>
        <p:sp>
          <p:nvSpPr>
            <p:cNvPr id="730" name="Google Shape;730;p29"/>
            <p:cNvSpPr txBox="1"/>
            <p:nvPr/>
          </p:nvSpPr>
          <p:spPr>
            <a:xfrm rot="-5400000">
              <a:off x="554412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12</a:t>
              </a:r>
              <a:endParaRPr sz="840">
                <a:latin typeface="Proxima Nova"/>
                <a:ea typeface="Proxima Nova"/>
                <a:cs typeface="Proxima Nova"/>
                <a:sym typeface="Proxima Nova"/>
              </a:endParaRPr>
            </a:p>
          </p:txBody>
        </p:sp>
        <p:sp>
          <p:nvSpPr>
            <p:cNvPr id="731" name="Google Shape;731;p29"/>
            <p:cNvSpPr txBox="1"/>
            <p:nvPr/>
          </p:nvSpPr>
          <p:spPr>
            <a:xfrm rot="-5400000">
              <a:off x="6145033"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15</a:t>
              </a:r>
              <a:endParaRPr sz="840">
                <a:latin typeface="Proxima Nova"/>
                <a:ea typeface="Proxima Nova"/>
                <a:cs typeface="Proxima Nova"/>
                <a:sym typeface="Proxima Nova"/>
              </a:endParaRPr>
            </a:p>
          </p:txBody>
        </p:sp>
        <p:sp>
          <p:nvSpPr>
            <p:cNvPr id="732" name="Google Shape;732;p29"/>
            <p:cNvSpPr txBox="1"/>
            <p:nvPr/>
          </p:nvSpPr>
          <p:spPr>
            <a:xfrm rot="-5400000">
              <a:off x="5944731"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14</a:t>
              </a:r>
              <a:endParaRPr sz="840">
                <a:latin typeface="Proxima Nova"/>
                <a:ea typeface="Proxima Nova"/>
                <a:cs typeface="Proxima Nova"/>
                <a:sym typeface="Proxima Nova"/>
              </a:endParaRPr>
            </a:p>
          </p:txBody>
        </p:sp>
        <p:sp>
          <p:nvSpPr>
            <p:cNvPr id="733" name="Google Shape;733;p29"/>
            <p:cNvSpPr txBox="1"/>
            <p:nvPr/>
          </p:nvSpPr>
          <p:spPr>
            <a:xfrm rot="-5400000">
              <a:off x="654563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17</a:t>
              </a:r>
              <a:endParaRPr sz="840">
                <a:latin typeface="Proxima Nova"/>
                <a:ea typeface="Proxima Nova"/>
                <a:cs typeface="Proxima Nova"/>
                <a:sym typeface="Proxima Nova"/>
              </a:endParaRPr>
            </a:p>
          </p:txBody>
        </p:sp>
        <p:sp>
          <p:nvSpPr>
            <p:cNvPr id="734" name="Google Shape;734;p29"/>
            <p:cNvSpPr txBox="1"/>
            <p:nvPr/>
          </p:nvSpPr>
          <p:spPr>
            <a:xfrm rot="-5400000">
              <a:off x="6345336"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16</a:t>
              </a:r>
              <a:endParaRPr sz="840">
                <a:latin typeface="Proxima Nova"/>
                <a:ea typeface="Proxima Nova"/>
                <a:cs typeface="Proxima Nova"/>
                <a:sym typeface="Proxima Nova"/>
              </a:endParaRPr>
            </a:p>
          </p:txBody>
        </p:sp>
        <p:sp>
          <p:nvSpPr>
            <p:cNvPr id="735" name="Google Shape;735;p29"/>
            <p:cNvSpPr txBox="1"/>
            <p:nvPr/>
          </p:nvSpPr>
          <p:spPr>
            <a:xfrm rot="-5400000">
              <a:off x="534382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11</a:t>
              </a:r>
              <a:endParaRPr sz="840">
                <a:latin typeface="Proxima Nova"/>
                <a:ea typeface="Proxima Nova"/>
                <a:cs typeface="Proxima Nova"/>
                <a:sym typeface="Proxima Nova"/>
              </a:endParaRPr>
            </a:p>
          </p:txBody>
        </p:sp>
        <p:sp>
          <p:nvSpPr>
            <p:cNvPr id="736" name="Google Shape;736;p29"/>
            <p:cNvSpPr txBox="1"/>
            <p:nvPr/>
          </p:nvSpPr>
          <p:spPr>
            <a:xfrm rot="-5400000">
              <a:off x="674594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18</a:t>
              </a:r>
              <a:endParaRPr sz="840">
                <a:latin typeface="Proxima Nova"/>
                <a:ea typeface="Proxima Nova"/>
                <a:cs typeface="Proxima Nova"/>
                <a:sym typeface="Proxima Nova"/>
              </a:endParaRPr>
            </a:p>
          </p:txBody>
        </p:sp>
        <p:sp>
          <p:nvSpPr>
            <p:cNvPr id="737" name="Google Shape;737;p29"/>
            <p:cNvSpPr txBox="1"/>
            <p:nvPr/>
          </p:nvSpPr>
          <p:spPr>
            <a:xfrm rot="-5400000">
              <a:off x="694624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19</a:t>
              </a:r>
              <a:endParaRPr sz="840">
                <a:latin typeface="Proxima Nova"/>
                <a:ea typeface="Proxima Nova"/>
                <a:cs typeface="Proxima Nova"/>
                <a:sym typeface="Proxima Nova"/>
              </a:endParaRPr>
            </a:p>
          </p:txBody>
        </p:sp>
        <p:sp>
          <p:nvSpPr>
            <p:cNvPr id="738" name="Google Shape;738;p29"/>
            <p:cNvSpPr txBox="1"/>
            <p:nvPr/>
          </p:nvSpPr>
          <p:spPr>
            <a:xfrm rot="-5400000">
              <a:off x="7146547"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20</a:t>
              </a:r>
              <a:endParaRPr sz="840">
                <a:latin typeface="Proxima Nova"/>
                <a:ea typeface="Proxima Nova"/>
                <a:cs typeface="Proxima Nova"/>
                <a:sym typeface="Proxima Nova"/>
              </a:endParaRPr>
            </a:p>
          </p:txBody>
        </p:sp>
        <p:sp>
          <p:nvSpPr>
            <p:cNvPr id="739" name="Google Shape;739;p29"/>
            <p:cNvSpPr txBox="1"/>
            <p:nvPr/>
          </p:nvSpPr>
          <p:spPr>
            <a:xfrm rot="-5400000">
              <a:off x="7346850"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21</a:t>
              </a:r>
              <a:endParaRPr sz="840">
                <a:latin typeface="Proxima Nova"/>
                <a:ea typeface="Proxima Nova"/>
                <a:cs typeface="Proxima Nova"/>
                <a:sym typeface="Proxima Nova"/>
              </a:endParaRPr>
            </a:p>
          </p:txBody>
        </p:sp>
      </p:grpSp>
      <p:grpSp>
        <p:nvGrpSpPr>
          <p:cNvPr id="740" name="Google Shape;740;p29"/>
          <p:cNvGrpSpPr/>
          <p:nvPr/>
        </p:nvGrpSpPr>
        <p:grpSpPr>
          <a:xfrm>
            <a:off x="23621834" y="6447399"/>
            <a:ext cx="2039040" cy="4010760"/>
            <a:chOff x="1688300" y="840950"/>
            <a:chExt cx="1699200" cy="3342300"/>
          </a:xfrm>
        </p:grpSpPr>
        <p:sp>
          <p:nvSpPr>
            <p:cNvPr id="741" name="Google Shape;741;p29"/>
            <p:cNvSpPr txBox="1"/>
            <p:nvPr/>
          </p:nvSpPr>
          <p:spPr>
            <a:xfrm>
              <a:off x="1720899" y="840950"/>
              <a:ext cx="1666500" cy="154500"/>
            </a:xfrm>
            <a:prstGeom prst="rect">
              <a:avLst/>
            </a:prstGeom>
            <a:noFill/>
            <a:ln>
              <a:noFill/>
            </a:ln>
          </p:spPr>
          <p:txBody>
            <a:bodyPr anchorCtr="0" anchor="ctr" bIns="109700" lIns="109700" spcFirstLastPara="1" rIns="109700" wrap="square" tIns="109700">
              <a:noAutofit/>
            </a:bodyPr>
            <a:lstStyle/>
            <a:p>
              <a:pPr indent="0" lvl="0" marL="0" marR="0" rtl="0" algn="r">
                <a:lnSpc>
                  <a:spcPct val="100000"/>
                </a:lnSpc>
                <a:spcBef>
                  <a:spcPts val="0"/>
                </a:spcBef>
                <a:spcAft>
                  <a:spcPts val="0"/>
                </a:spcAft>
                <a:buNone/>
              </a:pPr>
              <a:r>
                <a:rPr lang="pt-BR" sz="840">
                  <a:latin typeface="Proxima Nova"/>
                  <a:ea typeface="Proxima Nova"/>
                  <a:cs typeface="Proxima Nova"/>
                  <a:sym typeface="Proxima Nova"/>
                </a:rPr>
                <a:t>1 Identity and access manager</a:t>
              </a:r>
              <a:endParaRPr sz="840">
                <a:latin typeface="Proxima Nova"/>
                <a:ea typeface="Proxima Nova"/>
                <a:cs typeface="Proxima Nova"/>
                <a:sym typeface="Proxima Nova"/>
              </a:endParaRPr>
            </a:p>
          </p:txBody>
        </p:sp>
        <p:sp>
          <p:nvSpPr>
            <p:cNvPr id="742" name="Google Shape;742;p29"/>
            <p:cNvSpPr txBox="1"/>
            <p:nvPr/>
          </p:nvSpPr>
          <p:spPr>
            <a:xfrm>
              <a:off x="1720899" y="992750"/>
              <a:ext cx="1666500" cy="154500"/>
            </a:xfrm>
            <a:prstGeom prst="rect">
              <a:avLst/>
            </a:prstGeom>
            <a:noFill/>
            <a:ln>
              <a:noFill/>
            </a:ln>
          </p:spPr>
          <p:txBody>
            <a:bodyPr anchorCtr="0" anchor="ctr" bIns="109700" lIns="109700" spcFirstLastPara="1" rIns="109700" wrap="square" tIns="109700">
              <a:noAutofit/>
            </a:bodyPr>
            <a:lstStyle/>
            <a:p>
              <a:pPr indent="0" lvl="0" marL="0" marR="0" rtl="0" algn="r">
                <a:lnSpc>
                  <a:spcPct val="100000"/>
                </a:lnSpc>
                <a:spcBef>
                  <a:spcPts val="0"/>
                </a:spcBef>
                <a:spcAft>
                  <a:spcPts val="0"/>
                </a:spcAft>
                <a:buNone/>
              </a:pPr>
              <a:r>
                <a:rPr lang="pt-BR" sz="840">
                  <a:latin typeface="Proxima Nova"/>
                  <a:ea typeface="Proxima Nova"/>
                  <a:cs typeface="Proxima Nova"/>
                  <a:sym typeface="Proxima Nova"/>
                </a:rPr>
                <a:t>2 Privacy and access control layer</a:t>
              </a:r>
              <a:endParaRPr sz="840">
                <a:latin typeface="Proxima Nova"/>
                <a:ea typeface="Proxima Nova"/>
                <a:cs typeface="Proxima Nova"/>
                <a:sym typeface="Proxima Nova"/>
              </a:endParaRPr>
            </a:p>
          </p:txBody>
        </p:sp>
        <p:sp>
          <p:nvSpPr>
            <p:cNvPr id="743" name="Google Shape;743;p29"/>
            <p:cNvSpPr txBox="1"/>
            <p:nvPr/>
          </p:nvSpPr>
          <p:spPr>
            <a:xfrm>
              <a:off x="1720899" y="1144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3 Lab results ingress</a:t>
              </a:r>
              <a:endParaRPr sz="840">
                <a:latin typeface="Proxima Nova"/>
                <a:ea typeface="Proxima Nova"/>
                <a:cs typeface="Proxima Nova"/>
                <a:sym typeface="Proxima Nova"/>
              </a:endParaRPr>
            </a:p>
          </p:txBody>
        </p:sp>
        <p:sp>
          <p:nvSpPr>
            <p:cNvPr id="744" name="Google Shape;744;p29"/>
            <p:cNvSpPr txBox="1"/>
            <p:nvPr/>
          </p:nvSpPr>
          <p:spPr>
            <a:xfrm>
              <a:off x="1688300" y="1296343"/>
              <a:ext cx="16992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4 Results normalization engine</a:t>
              </a:r>
              <a:endParaRPr sz="840">
                <a:latin typeface="Proxima Nova"/>
                <a:ea typeface="Proxima Nova"/>
                <a:cs typeface="Proxima Nova"/>
                <a:sym typeface="Proxima Nova"/>
              </a:endParaRPr>
            </a:p>
          </p:txBody>
        </p:sp>
        <p:sp>
          <p:nvSpPr>
            <p:cNvPr id="745" name="Google Shape;745;p29"/>
            <p:cNvSpPr txBox="1"/>
            <p:nvPr/>
          </p:nvSpPr>
          <p:spPr>
            <a:xfrm>
              <a:off x="1720899" y="1448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5 Patient context repository</a:t>
              </a:r>
              <a:endParaRPr sz="840">
                <a:latin typeface="Proxima Nova"/>
                <a:ea typeface="Proxima Nova"/>
                <a:cs typeface="Proxima Nova"/>
                <a:sym typeface="Proxima Nova"/>
              </a:endParaRPr>
            </a:p>
          </p:txBody>
        </p:sp>
        <p:sp>
          <p:nvSpPr>
            <p:cNvPr id="746" name="Google Shape;746;p29"/>
            <p:cNvSpPr txBox="1"/>
            <p:nvPr/>
          </p:nvSpPr>
          <p:spPr>
            <a:xfrm>
              <a:off x="1720899" y="1599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6 Case context builder</a:t>
              </a:r>
              <a:endParaRPr sz="840">
                <a:latin typeface="Proxima Nova"/>
                <a:ea typeface="Proxima Nova"/>
                <a:cs typeface="Proxima Nova"/>
                <a:sym typeface="Proxima Nova"/>
              </a:endParaRPr>
            </a:p>
          </p:txBody>
        </p:sp>
        <p:sp>
          <p:nvSpPr>
            <p:cNvPr id="747" name="Google Shape;747;p29"/>
            <p:cNvSpPr txBox="1"/>
            <p:nvPr/>
          </p:nvSpPr>
          <p:spPr>
            <a:xfrm>
              <a:off x="1720899" y="1751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7 Internal evidence access API</a:t>
              </a:r>
              <a:endParaRPr sz="840">
                <a:latin typeface="Proxima Nova"/>
                <a:ea typeface="Proxima Nova"/>
                <a:cs typeface="Proxima Nova"/>
                <a:sym typeface="Proxima Nova"/>
              </a:endParaRPr>
            </a:p>
          </p:txBody>
        </p:sp>
        <p:sp>
          <p:nvSpPr>
            <p:cNvPr id="748" name="Google Shape;748;p29"/>
            <p:cNvSpPr txBox="1"/>
            <p:nvPr/>
          </p:nvSpPr>
          <p:spPr>
            <a:xfrm>
              <a:off x="1720899" y="1903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8 External evidence access API</a:t>
              </a:r>
              <a:endParaRPr sz="840">
                <a:latin typeface="Proxima Nova"/>
                <a:ea typeface="Proxima Nova"/>
                <a:cs typeface="Proxima Nova"/>
                <a:sym typeface="Proxima Nova"/>
              </a:endParaRPr>
            </a:p>
          </p:txBody>
        </p:sp>
        <p:sp>
          <p:nvSpPr>
            <p:cNvPr id="749" name="Google Shape;749;p29"/>
            <p:cNvSpPr txBox="1"/>
            <p:nvPr/>
          </p:nvSpPr>
          <p:spPr>
            <a:xfrm>
              <a:off x="1720899" y="2055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9 Evidence consolidation service</a:t>
              </a:r>
              <a:endParaRPr sz="840">
                <a:latin typeface="Proxima Nova"/>
                <a:ea typeface="Proxima Nova"/>
                <a:cs typeface="Proxima Nova"/>
                <a:sym typeface="Proxima Nova"/>
              </a:endParaRPr>
            </a:p>
          </p:txBody>
        </p:sp>
        <p:sp>
          <p:nvSpPr>
            <p:cNvPr id="750" name="Google Shape;750;p29"/>
            <p:cNvSpPr txBox="1"/>
            <p:nvPr/>
          </p:nvSpPr>
          <p:spPr>
            <a:xfrm>
              <a:off x="1720899" y="2207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10 Evidence ranking module</a:t>
              </a:r>
              <a:endParaRPr sz="840">
                <a:latin typeface="Proxima Nova"/>
                <a:ea typeface="Proxima Nova"/>
                <a:cs typeface="Proxima Nova"/>
                <a:sym typeface="Proxima Nova"/>
              </a:endParaRPr>
            </a:p>
          </p:txBody>
        </p:sp>
        <p:sp>
          <p:nvSpPr>
            <p:cNvPr id="751" name="Google Shape;751;p29"/>
            <p:cNvSpPr txBox="1"/>
            <p:nvPr/>
          </p:nvSpPr>
          <p:spPr>
            <a:xfrm>
              <a:off x="1720899" y="4028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Total (# Related)</a:t>
              </a:r>
              <a:endParaRPr sz="840">
                <a:latin typeface="Proxima Nova"/>
                <a:ea typeface="Proxima Nova"/>
                <a:cs typeface="Proxima Nova"/>
                <a:sym typeface="Proxima Nova"/>
              </a:endParaRPr>
            </a:p>
          </p:txBody>
        </p:sp>
        <p:sp>
          <p:nvSpPr>
            <p:cNvPr id="752" name="Google Shape;752;p29"/>
            <p:cNvSpPr txBox="1"/>
            <p:nvPr/>
          </p:nvSpPr>
          <p:spPr>
            <a:xfrm>
              <a:off x="1720899" y="2358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11 AI role catalog</a:t>
              </a:r>
              <a:endParaRPr sz="840">
                <a:latin typeface="Proxima Nova"/>
                <a:ea typeface="Proxima Nova"/>
                <a:cs typeface="Proxima Nova"/>
                <a:sym typeface="Proxima Nova"/>
              </a:endParaRPr>
            </a:p>
          </p:txBody>
        </p:sp>
        <p:sp>
          <p:nvSpPr>
            <p:cNvPr id="753" name="Google Shape;753;p29"/>
            <p:cNvSpPr txBox="1"/>
            <p:nvPr/>
          </p:nvSpPr>
          <p:spPr>
            <a:xfrm>
              <a:off x="1720899" y="2510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12 AI role orchestrator</a:t>
              </a:r>
              <a:endParaRPr sz="840">
                <a:latin typeface="Proxima Nova"/>
                <a:ea typeface="Proxima Nova"/>
                <a:cs typeface="Proxima Nova"/>
                <a:sym typeface="Proxima Nova"/>
              </a:endParaRPr>
            </a:p>
          </p:txBody>
        </p:sp>
        <p:sp>
          <p:nvSpPr>
            <p:cNvPr id="754" name="Google Shape;754;p29"/>
            <p:cNvSpPr txBox="1"/>
            <p:nvPr/>
          </p:nvSpPr>
          <p:spPr>
            <a:xfrm>
              <a:off x="1720899" y="2662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13 Specialist interpreter</a:t>
              </a:r>
              <a:endParaRPr sz="840">
                <a:latin typeface="Proxima Nova"/>
                <a:ea typeface="Proxima Nova"/>
                <a:cs typeface="Proxima Nova"/>
                <a:sym typeface="Proxima Nova"/>
              </a:endParaRPr>
            </a:p>
          </p:txBody>
        </p:sp>
        <p:sp>
          <p:nvSpPr>
            <p:cNvPr id="755" name="Google Shape;755;p29"/>
            <p:cNvSpPr txBox="1"/>
            <p:nvPr/>
          </p:nvSpPr>
          <p:spPr>
            <a:xfrm>
              <a:off x="1720899" y="2814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14 Cross-role reconcilier</a:t>
              </a:r>
              <a:endParaRPr sz="840">
                <a:latin typeface="Proxima Nova"/>
                <a:ea typeface="Proxima Nova"/>
                <a:cs typeface="Proxima Nova"/>
                <a:sym typeface="Proxima Nova"/>
              </a:endParaRPr>
            </a:p>
          </p:txBody>
        </p:sp>
        <p:sp>
          <p:nvSpPr>
            <p:cNvPr id="756" name="Google Shape;756;p29"/>
            <p:cNvSpPr txBox="1"/>
            <p:nvPr/>
          </p:nvSpPr>
          <p:spPr>
            <a:xfrm>
              <a:off x="1720899" y="2966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15 Interpretation composer</a:t>
              </a:r>
              <a:endParaRPr sz="840">
                <a:latin typeface="Proxima Nova"/>
                <a:ea typeface="Proxima Nova"/>
                <a:cs typeface="Proxima Nova"/>
                <a:sym typeface="Proxima Nova"/>
              </a:endParaRPr>
            </a:p>
          </p:txBody>
        </p:sp>
        <p:sp>
          <p:nvSpPr>
            <p:cNvPr id="757" name="Google Shape;757;p29"/>
            <p:cNvSpPr txBox="1"/>
            <p:nvPr/>
          </p:nvSpPr>
          <p:spPr>
            <a:xfrm>
              <a:off x="1720899" y="3117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16 Review gateway</a:t>
              </a:r>
              <a:endParaRPr sz="840">
                <a:latin typeface="Proxima Nova"/>
                <a:ea typeface="Proxima Nova"/>
                <a:cs typeface="Proxima Nova"/>
                <a:sym typeface="Proxima Nova"/>
              </a:endParaRPr>
            </a:p>
          </p:txBody>
        </p:sp>
        <p:sp>
          <p:nvSpPr>
            <p:cNvPr id="758" name="Google Shape;758;p29"/>
            <p:cNvSpPr txBox="1"/>
            <p:nvPr/>
          </p:nvSpPr>
          <p:spPr>
            <a:xfrm>
              <a:off x="1720899" y="3269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17 Release controller</a:t>
              </a:r>
              <a:endParaRPr sz="840">
                <a:latin typeface="Proxima Nova"/>
                <a:ea typeface="Proxima Nova"/>
                <a:cs typeface="Proxima Nova"/>
                <a:sym typeface="Proxima Nova"/>
              </a:endParaRPr>
            </a:p>
          </p:txBody>
        </p:sp>
        <p:sp>
          <p:nvSpPr>
            <p:cNvPr id="759" name="Google Shape;759;p29"/>
            <p:cNvSpPr txBox="1"/>
            <p:nvPr/>
          </p:nvSpPr>
          <p:spPr>
            <a:xfrm>
              <a:off x="1720899" y="3876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21 Outcome feedback registry</a:t>
              </a:r>
              <a:endParaRPr sz="840">
                <a:latin typeface="Proxima Nova"/>
                <a:ea typeface="Proxima Nova"/>
                <a:cs typeface="Proxima Nova"/>
                <a:sym typeface="Proxima Nova"/>
              </a:endParaRPr>
            </a:p>
          </p:txBody>
        </p:sp>
        <p:sp>
          <p:nvSpPr>
            <p:cNvPr id="760" name="Google Shape;760;p29"/>
            <p:cNvSpPr txBox="1"/>
            <p:nvPr/>
          </p:nvSpPr>
          <p:spPr>
            <a:xfrm>
              <a:off x="1720899" y="3421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18 Evidence trace store</a:t>
              </a:r>
              <a:endParaRPr sz="840">
                <a:latin typeface="Proxima Nova"/>
                <a:ea typeface="Proxima Nova"/>
                <a:cs typeface="Proxima Nova"/>
                <a:sym typeface="Proxima Nova"/>
              </a:endParaRPr>
            </a:p>
          </p:txBody>
        </p:sp>
        <p:sp>
          <p:nvSpPr>
            <p:cNvPr id="761" name="Google Shape;761;p29"/>
            <p:cNvSpPr txBox="1"/>
            <p:nvPr/>
          </p:nvSpPr>
          <p:spPr>
            <a:xfrm>
              <a:off x="1720899" y="3573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19 Decision audit store</a:t>
              </a:r>
              <a:endParaRPr sz="840">
                <a:latin typeface="Proxima Nova"/>
                <a:ea typeface="Proxima Nova"/>
                <a:cs typeface="Proxima Nova"/>
                <a:sym typeface="Proxima Nova"/>
              </a:endParaRPr>
            </a:p>
          </p:txBody>
        </p:sp>
        <p:sp>
          <p:nvSpPr>
            <p:cNvPr id="762" name="Google Shape;762;p29"/>
            <p:cNvSpPr txBox="1"/>
            <p:nvPr/>
          </p:nvSpPr>
          <p:spPr>
            <a:xfrm>
              <a:off x="1720899" y="3725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20 Physician delivery channel</a:t>
              </a:r>
              <a:endParaRPr sz="840">
                <a:latin typeface="Proxima Nova"/>
                <a:ea typeface="Proxima Nova"/>
                <a:cs typeface="Proxima Nova"/>
                <a:sym typeface="Proxima Nova"/>
              </a:endParaRPr>
            </a:p>
          </p:txBody>
        </p:sp>
      </p:grpSp>
      <p:grpSp>
        <p:nvGrpSpPr>
          <p:cNvPr id="763" name="Google Shape;763;p29"/>
          <p:cNvGrpSpPr/>
          <p:nvPr/>
        </p:nvGrpSpPr>
        <p:grpSpPr>
          <a:xfrm>
            <a:off x="25627184" y="6441639"/>
            <a:ext cx="5230200" cy="4233480"/>
            <a:chOff x="3359425" y="836150"/>
            <a:chExt cx="4358500" cy="3527900"/>
          </a:xfrm>
        </p:grpSpPr>
        <p:sp>
          <p:nvSpPr>
            <p:cNvPr id="764" name="Google Shape;764;p29"/>
            <p:cNvSpPr/>
            <p:nvPr/>
          </p:nvSpPr>
          <p:spPr>
            <a:xfrm>
              <a:off x="3387400" y="836150"/>
              <a:ext cx="1000200" cy="7665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65" name="Google Shape;765;p29"/>
            <p:cNvSpPr/>
            <p:nvPr/>
          </p:nvSpPr>
          <p:spPr>
            <a:xfrm>
              <a:off x="4394775" y="1597550"/>
              <a:ext cx="795900" cy="6099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66" name="Google Shape;766;p29"/>
            <p:cNvSpPr/>
            <p:nvPr/>
          </p:nvSpPr>
          <p:spPr>
            <a:xfrm>
              <a:off x="5190725" y="2205325"/>
              <a:ext cx="1189200" cy="9102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67" name="Google Shape;767;p29"/>
            <p:cNvSpPr/>
            <p:nvPr/>
          </p:nvSpPr>
          <p:spPr>
            <a:xfrm>
              <a:off x="4999625" y="22071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68" name="Google Shape;768;p29"/>
            <p:cNvSpPr/>
            <p:nvPr/>
          </p:nvSpPr>
          <p:spPr>
            <a:xfrm>
              <a:off x="5800825" y="25134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69" name="Google Shape;769;p29"/>
            <p:cNvSpPr/>
            <p:nvPr/>
          </p:nvSpPr>
          <p:spPr>
            <a:xfrm>
              <a:off x="6201425" y="28143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grpSp>
          <p:nvGrpSpPr>
            <p:cNvPr id="770" name="Google Shape;770;p29"/>
            <p:cNvGrpSpPr/>
            <p:nvPr/>
          </p:nvGrpSpPr>
          <p:grpSpPr>
            <a:xfrm>
              <a:off x="3359425" y="4209550"/>
              <a:ext cx="3380800" cy="154500"/>
              <a:chOff x="3359425" y="4209550"/>
              <a:chExt cx="3380800" cy="154500"/>
            </a:xfrm>
          </p:grpSpPr>
          <p:sp>
            <p:nvSpPr>
              <p:cNvPr id="771" name="Google Shape;771;p29"/>
              <p:cNvSpPr/>
              <p:nvPr/>
            </p:nvSpPr>
            <p:spPr>
              <a:xfrm>
                <a:off x="3359425" y="42095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72" name="Google Shape;772;p29"/>
              <p:cNvSpPr/>
              <p:nvPr/>
            </p:nvSpPr>
            <p:spPr>
              <a:xfrm>
                <a:off x="5012225" y="4209550"/>
                <a:ext cx="191100" cy="1545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73" name="Google Shape;773;p29"/>
              <p:cNvSpPr txBox="1"/>
              <p:nvPr/>
            </p:nvSpPr>
            <p:spPr>
              <a:xfrm>
                <a:off x="3575700" y="4209550"/>
                <a:ext cx="1483200" cy="1545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latin typeface="Proxima Nova"/>
                    <a:ea typeface="Proxima Nova"/>
                    <a:cs typeface="Proxima Nova"/>
                    <a:sym typeface="Proxima Nova"/>
                  </a:rPr>
                  <a:t>Interfaces that needs monitoring</a:t>
                </a:r>
                <a:endParaRPr sz="840">
                  <a:latin typeface="Proxima Nova"/>
                  <a:ea typeface="Proxima Nova"/>
                  <a:cs typeface="Proxima Nova"/>
                  <a:sym typeface="Proxima Nova"/>
                </a:endParaRPr>
              </a:p>
            </p:txBody>
          </p:sp>
          <p:sp>
            <p:nvSpPr>
              <p:cNvPr id="774" name="Google Shape;774;p29"/>
              <p:cNvSpPr txBox="1"/>
              <p:nvPr/>
            </p:nvSpPr>
            <p:spPr>
              <a:xfrm>
                <a:off x="5257025" y="4209550"/>
                <a:ext cx="1483200" cy="1545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Dependencies cluster region</a:t>
                </a:r>
                <a:endParaRPr sz="840">
                  <a:solidFill>
                    <a:srgbClr val="000000"/>
                  </a:solidFill>
                  <a:latin typeface="Proxima Nova"/>
                  <a:ea typeface="Proxima Nova"/>
                  <a:cs typeface="Proxima Nova"/>
                  <a:sym typeface="Proxima Nova"/>
                </a:endParaRPr>
              </a:p>
            </p:txBody>
          </p:sp>
        </p:grpSp>
        <p:sp>
          <p:nvSpPr>
            <p:cNvPr id="775" name="Google Shape;775;p29"/>
            <p:cNvSpPr/>
            <p:nvPr/>
          </p:nvSpPr>
          <p:spPr>
            <a:xfrm>
              <a:off x="6387142" y="3118575"/>
              <a:ext cx="1216500" cy="9102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76" name="Google Shape;776;p29"/>
            <p:cNvSpPr/>
            <p:nvPr/>
          </p:nvSpPr>
          <p:spPr>
            <a:xfrm>
              <a:off x="6401725" y="29661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77" name="Google Shape;777;p29"/>
            <p:cNvSpPr/>
            <p:nvPr/>
          </p:nvSpPr>
          <p:spPr>
            <a:xfrm>
              <a:off x="6802350" y="32697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778" name="Google Shape;778;p29"/>
            <p:cNvSpPr txBox="1"/>
            <p:nvPr/>
          </p:nvSpPr>
          <p:spPr>
            <a:xfrm>
              <a:off x="4350694" y="1027113"/>
              <a:ext cx="7959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Input</a:t>
              </a:r>
              <a:endParaRPr b="1" sz="1680">
                <a:solidFill>
                  <a:srgbClr val="FF0000"/>
                </a:solidFill>
                <a:highlight>
                  <a:srgbClr val="FFFFFF"/>
                </a:highlight>
              </a:endParaRPr>
            </a:p>
          </p:txBody>
        </p:sp>
        <p:sp>
          <p:nvSpPr>
            <p:cNvPr id="779" name="Google Shape;779;p29"/>
            <p:cNvSpPr txBox="1"/>
            <p:nvPr/>
          </p:nvSpPr>
          <p:spPr>
            <a:xfrm>
              <a:off x="5058900" y="1233350"/>
              <a:ext cx="13380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Preparation</a:t>
              </a:r>
              <a:endParaRPr b="1" sz="1680">
                <a:solidFill>
                  <a:srgbClr val="FF0000"/>
                </a:solidFill>
                <a:highlight>
                  <a:srgbClr val="FFFFFF"/>
                </a:highlight>
              </a:endParaRPr>
            </a:p>
          </p:txBody>
        </p:sp>
        <p:sp>
          <p:nvSpPr>
            <p:cNvPr id="780" name="Google Shape;780;p29"/>
            <p:cNvSpPr txBox="1"/>
            <p:nvPr/>
          </p:nvSpPr>
          <p:spPr>
            <a:xfrm>
              <a:off x="6379925" y="2310638"/>
              <a:ext cx="13380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Interpretation</a:t>
              </a:r>
              <a:endParaRPr b="1" sz="1680">
                <a:solidFill>
                  <a:srgbClr val="FF0000"/>
                </a:solidFill>
                <a:highlight>
                  <a:srgbClr val="FFFFFF"/>
                </a:highlight>
              </a:endParaRPr>
            </a:p>
          </p:txBody>
        </p:sp>
        <p:sp>
          <p:nvSpPr>
            <p:cNvPr id="781" name="Google Shape;781;p29"/>
            <p:cNvSpPr txBox="1"/>
            <p:nvPr/>
          </p:nvSpPr>
          <p:spPr>
            <a:xfrm>
              <a:off x="4918500" y="3687288"/>
              <a:ext cx="1338000" cy="400200"/>
            </a:xfrm>
            <a:prstGeom prst="rect">
              <a:avLst/>
            </a:prstGeom>
            <a:noFill/>
            <a:ln>
              <a:noFill/>
            </a:ln>
          </p:spPr>
          <p:txBody>
            <a:bodyPr anchorCtr="0" anchor="t" bIns="109700" lIns="109700" spcFirstLastPara="1" rIns="109700" wrap="square" tIns="109700">
              <a:spAutoFit/>
            </a:bodyPr>
            <a:lstStyle/>
            <a:p>
              <a:pPr indent="0" lvl="0" marL="0" rtl="0" algn="r">
                <a:spcBef>
                  <a:spcPts val="0"/>
                </a:spcBef>
                <a:spcAft>
                  <a:spcPts val="0"/>
                </a:spcAft>
                <a:buNone/>
              </a:pPr>
              <a:r>
                <a:rPr b="1" lang="pt-BR" sz="1680">
                  <a:solidFill>
                    <a:srgbClr val="FF0000"/>
                  </a:solidFill>
                  <a:highlight>
                    <a:srgbClr val="FFFFFF"/>
                  </a:highlight>
                </a:rPr>
                <a:t>Delivery</a:t>
              </a:r>
              <a:endParaRPr b="1" sz="1680">
                <a:solidFill>
                  <a:srgbClr val="FF0000"/>
                </a:solidFill>
                <a:highlight>
                  <a:srgbClr val="FFFFFF"/>
                </a:highlight>
              </a:endParaRPr>
            </a:p>
          </p:txBody>
        </p:sp>
      </p:grpSp>
      <p:sp>
        <p:nvSpPr>
          <p:cNvPr id="782" name="Google Shape;782;p29"/>
          <p:cNvSpPr txBox="1"/>
          <p:nvPr/>
        </p:nvSpPr>
        <p:spPr>
          <a:xfrm>
            <a:off x="22494240" y="11004990"/>
            <a:ext cx="95742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DSM reveals that Sanguine’s main architectural risk is concentrated in the interpretation core. Evidence ranking, AI role orchestration, specialist interpretation, reconciliation, and release control are tightly coupled, making them the key interfaces to monitor for change propagation, clinical accuracy, and reliable physician delivery.</a:t>
            </a:r>
            <a:endParaRPr sz="2040">
              <a:solidFill>
                <a:schemeClr val="dk2"/>
              </a:solidFill>
              <a:latin typeface="Proxima Nova"/>
              <a:ea typeface="Proxima Nova"/>
              <a:cs typeface="Proxima Nova"/>
              <a:sym typeface="Proxima Nova"/>
            </a:endParaRPr>
          </a:p>
        </p:txBody>
      </p:sp>
      <p:sp>
        <p:nvSpPr>
          <p:cNvPr id="783" name="Google Shape;783;p29"/>
          <p:cNvSpPr txBox="1"/>
          <p:nvPr/>
        </p:nvSpPr>
        <p:spPr>
          <a:xfrm>
            <a:off x="21349740" y="4586460"/>
            <a:ext cx="112485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Architectural hotspots and change propagation</a:t>
            </a:r>
            <a:endParaRPr sz="3640">
              <a:solidFill>
                <a:srgbClr val="67B4D4"/>
              </a:solidFill>
              <a:latin typeface="Proxima Nova"/>
              <a:ea typeface="Proxima Nova"/>
              <a:cs typeface="Proxima Nova"/>
              <a:sym typeface="Proxima Nova"/>
            </a:endParaRPr>
          </a:p>
        </p:txBody>
      </p:sp>
      <p:sp>
        <p:nvSpPr>
          <p:cNvPr id="784" name="Google Shape;784;p29"/>
          <p:cNvSpPr txBox="1"/>
          <p:nvPr/>
        </p:nvSpPr>
        <p:spPr>
          <a:xfrm>
            <a:off x="-12311640" y="7837853"/>
            <a:ext cx="82983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Lab result interpretation workflow</a:t>
            </a:r>
            <a:endParaRPr sz="3640">
              <a:solidFill>
                <a:srgbClr val="67B4D4"/>
              </a:solidFill>
              <a:latin typeface="Proxima Nova"/>
              <a:ea typeface="Proxima Nova"/>
              <a:cs typeface="Proxima Nova"/>
              <a:sym typeface="Proxima Nova"/>
            </a:endParaRPr>
          </a:p>
        </p:txBody>
      </p:sp>
      <p:pic>
        <p:nvPicPr>
          <p:cNvPr id="785" name="Google Shape;785;p29"/>
          <p:cNvPicPr preferRelativeResize="0"/>
          <p:nvPr/>
        </p:nvPicPr>
        <p:blipFill rotWithShape="1">
          <a:blip r:embed="rId5">
            <a:alphaModFix/>
          </a:blip>
          <a:srcRect b="0" l="239" r="239" t="0"/>
          <a:stretch/>
        </p:blipFill>
        <p:spPr>
          <a:xfrm>
            <a:off x="35064600" y="13908578"/>
            <a:ext cx="8788320" cy="5740036"/>
          </a:xfrm>
          <a:prstGeom prst="rect">
            <a:avLst/>
          </a:prstGeom>
          <a:noFill/>
          <a:ln>
            <a:noFill/>
          </a:ln>
        </p:spPr>
      </p:pic>
      <p:graphicFrame>
        <p:nvGraphicFramePr>
          <p:cNvPr id="786" name="Google Shape;786;p29"/>
          <p:cNvGraphicFramePr/>
          <p:nvPr/>
        </p:nvGraphicFramePr>
        <p:xfrm>
          <a:off x="428580" y="17172420"/>
          <a:ext cx="3000000" cy="3000000"/>
        </p:xfrm>
        <a:graphic>
          <a:graphicData uri="http://schemas.openxmlformats.org/drawingml/2006/table">
            <a:tbl>
              <a:tblPr>
                <a:noFill/>
                <a:tableStyleId>{23E452CD-4AC9-494A-AED8-5A9A6700DAF9}</a:tableStyleId>
              </a:tblPr>
              <a:tblGrid>
                <a:gridCol w="2426700"/>
                <a:gridCol w="6827250"/>
              </a:tblGrid>
              <a:tr h="397925">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Design Decision</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67B4D5"/>
                    </a:solidFill>
                  </a:tcPr>
                </a:tc>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Preferred Choice</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67B4D5"/>
                    </a:solidFill>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Selected Concept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C1 — Maximalist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Family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Gemini family only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Research Paradigm</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RAG + fine-tuning</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AI Role Structure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Large specialized group, approximately 5–10 roles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Clinical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Multiple internal and external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Release Control</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Tiered release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88272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Specification</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Multimodal, powerful, higher-cost model, such as Gemini 3 Pro</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bl>
          </a:graphicData>
        </a:graphic>
      </p:graphicFrame>
      <p:sp>
        <p:nvSpPr>
          <p:cNvPr id="787" name="Google Shape;787;p29"/>
          <p:cNvSpPr txBox="1"/>
          <p:nvPr/>
        </p:nvSpPr>
        <p:spPr>
          <a:xfrm>
            <a:off x="349200" y="15831450"/>
            <a:ext cx="203910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Product &amp; project recommendation</a:t>
            </a:r>
            <a:endParaRPr sz="3640">
              <a:solidFill>
                <a:srgbClr val="67B4D4"/>
              </a:solidFill>
              <a:latin typeface="Proxima Nova"/>
              <a:ea typeface="Proxima Nova"/>
              <a:cs typeface="Proxima Nova"/>
              <a:sym typeface="Proxima Nova"/>
            </a:endParaRPr>
          </a:p>
        </p:txBody>
      </p:sp>
      <p:graphicFrame>
        <p:nvGraphicFramePr>
          <p:cNvPr id="788" name="Google Shape;788;p29"/>
          <p:cNvGraphicFramePr/>
          <p:nvPr/>
        </p:nvGraphicFramePr>
        <p:xfrm>
          <a:off x="10374720" y="18300333"/>
          <a:ext cx="3000000" cy="3000000"/>
        </p:xfrm>
        <a:graphic>
          <a:graphicData uri="http://schemas.openxmlformats.org/drawingml/2006/table">
            <a:tbl>
              <a:tblPr>
                <a:noFill/>
                <a:tableStyleId>{9A381E13-A8F7-4022-86C5-07623F0ABA3E}</a:tableStyleId>
              </a:tblPr>
              <a:tblGrid>
                <a:gridCol w="2314650"/>
                <a:gridCol w="8115750"/>
              </a:tblGrid>
              <a:tr h="357025">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Mitigation </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Commentary</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68B4D5"/>
                    </a:solidFill>
                  </a:tcPr>
                </a:tc>
              </a:tr>
              <a:tr h="622675">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Data Integration</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proof-of-concept to expose EHR/lab integration blockers before they cascade. Reduces probability from 50%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Clinical Validation Readiness</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Physician review board before shadow mode to reduce hallucination and clinical accuracy risk. Reduces probability from 40% to 15%.</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Integration &amp; Interface Testing</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interface testing across the data pipeline, retrieval layer, agentic AI core, physician workflow, and validation workflow. Reduces probability from 40%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bl>
          </a:graphicData>
        </a:graphic>
      </p:graphicFrame>
      <p:sp>
        <p:nvSpPr>
          <p:cNvPr id="789" name="Google Shape;789;p29"/>
          <p:cNvSpPr txBox="1"/>
          <p:nvPr/>
        </p:nvSpPr>
        <p:spPr>
          <a:xfrm>
            <a:off x="10326000" y="16637283"/>
            <a:ext cx="10527900" cy="16188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selected mitigation reduces riskiness from 179 to 102, removing 43% of baseline risk. It increases cost to $6.45M and schedule to 49 weeks, exceeding the $6M target but staying within the 50-week limit. The tradeoff is justified because it targets integration failure, hallucination risk, and late rework before clinical validation.</a:t>
            </a:r>
            <a:endParaRPr sz="2040">
              <a:solidFill>
                <a:schemeClr val="dk2"/>
              </a:solidFill>
              <a:latin typeface="Proxima Nova"/>
              <a:ea typeface="Proxima Nova"/>
              <a:cs typeface="Proxima Nova"/>
              <a:sym typeface="Proxima Nova"/>
            </a:endParaRPr>
          </a:p>
        </p:txBody>
      </p:sp>
      <p:sp>
        <p:nvSpPr>
          <p:cNvPr id="790" name="Google Shape;790;p29"/>
          <p:cNvSpPr txBox="1"/>
          <p:nvPr/>
        </p:nvSpPr>
        <p:spPr>
          <a:xfrm>
            <a:off x="37393800" y="-1063830"/>
            <a:ext cx="114240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Risks mitigation design walk</a:t>
            </a:r>
            <a:endParaRPr sz="3640">
              <a:solidFill>
                <a:srgbClr val="67B4D4"/>
              </a:solidFill>
              <a:latin typeface="Proxima Nova"/>
              <a:ea typeface="Proxima Nova"/>
              <a:cs typeface="Proxima Nova"/>
              <a:sym typeface="Proxima Nova"/>
            </a:endParaRPr>
          </a:p>
        </p:txBody>
      </p:sp>
      <p:pic>
        <p:nvPicPr>
          <p:cNvPr id="791" name="Google Shape;791;p29"/>
          <p:cNvPicPr preferRelativeResize="0"/>
          <p:nvPr/>
        </p:nvPicPr>
        <p:blipFill>
          <a:blip r:embed="rId6">
            <a:alphaModFix/>
          </a:blip>
          <a:stretch>
            <a:fillRect/>
          </a:stretch>
        </p:blipFill>
        <p:spPr>
          <a:xfrm>
            <a:off x="38711580" y="-56724"/>
            <a:ext cx="8788321" cy="6696320"/>
          </a:xfrm>
          <a:prstGeom prst="rect">
            <a:avLst/>
          </a:prstGeom>
          <a:noFill/>
          <a:ln>
            <a:noFill/>
          </a:ln>
        </p:spPr>
      </p:pic>
      <p:sp>
        <p:nvSpPr>
          <p:cNvPr id="792" name="Google Shape;792;p29"/>
          <p:cNvSpPr txBox="1"/>
          <p:nvPr/>
        </p:nvSpPr>
        <p:spPr>
          <a:xfrm>
            <a:off x="37619340" y="6888090"/>
            <a:ext cx="10972800" cy="23412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mitigation walk shows two risk-reduction clusters. The technical feasibility cluster reduces integration and interface risks while staying closer to the original cost and schedule envelope. Adding clinical validation creates a larger risk reduction, but pushes the selected design above the $6M budget target while still remaining inside the 50-week schedule limit. This tradeoff was accepted because hallucination and clinical accuracy risks are more critical to physician trust and safe clinical use.</a:t>
            </a:r>
            <a:endParaRPr sz="2040">
              <a:solidFill>
                <a:schemeClr val="dk2"/>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30"/>
          <p:cNvSpPr/>
          <p:nvPr/>
        </p:nvSpPr>
        <p:spPr>
          <a:xfrm>
            <a:off x="349200" y="8566500"/>
            <a:ext cx="960600" cy="5011200"/>
          </a:xfrm>
          <a:prstGeom prst="downArrow">
            <a:avLst>
              <a:gd fmla="val 50000" name="adj1"/>
              <a:gd fmla="val 50000" name="adj2"/>
            </a:avLst>
          </a:prstGeom>
          <a:solidFill>
            <a:srgbClr val="E85453"/>
          </a:solidFill>
          <a:ln>
            <a:noFill/>
          </a:ln>
        </p:spPr>
        <p:txBody>
          <a:bodyPr anchorCtr="0" anchor="ctr" bIns="79450" lIns="79450" spcFirstLastPara="1" rIns="79450" wrap="square" tIns="79450">
            <a:noAutofit/>
          </a:bodyPr>
          <a:lstStyle/>
          <a:p>
            <a:pPr indent="0" lvl="0" marL="0" rtl="0" algn="ctr">
              <a:spcBef>
                <a:spcPts val="0"/>
              </a:spcBef>
              <a:spcAft>
                <a:spcPts val="0"/>
              </a:spcAft>
              <a:buNone/>
            </a:pPr>
            <a:r>
              <a:t/>
            </a:r>
            <a:endParaRPr sz="2040"/>
          </a:p>
        </p:txBody>
      </p:sp>
      <p:pic>
        <p:nvPicPr>
          <p:cNvPr id="798" name="Google Shape;798;p30"/>
          <p:cNvPicPr preferRelativeResize="0"/>
          <p:nvPr/>
        </p:nvPicPr>
        <p:blipFill rotWithShape="1">
          <a:blip r:embed="rId3">
            <a:alphaModFix/>
          </a:blip>
          <a:srcRect b="0" l="4251" r="0" t="0"/>
          <a:stretch/>
        </p:blipFill>
        <p:spPr>
          <a:xfrm>
            <a:off x="3" y="-69841"/>
            <a:ext cx="4920901" cy="1278001"/>
          </a:xfrm>
          <a:prstGeom prst="rect">
            <a:avLst/>
          </a:prstGeom>
          <a:noFill/>
          <a:ln>
            <a:noFill/>
          </a:ln>
        </p:spPr>
      </p:pic>
      <p:sp>
        <p:nvSpPr>
          <p:cNvPr id="799" name="Google Shape;799;p30"/>
          <p:cNvSpPr txBox="1"/>
          <p:nvPr/>
        </p:nvSpPr>
        <p:spPr>
          <a:xfrm>
            <a:off x="5304150" y="0"/>
            <a:ext cx="25134000" cy="1278000"/>
          </a:xfrm>
          <a:prstGeom prst="rect">
            <a:avLst/>
          </a:prstGeom>
          <a:noFill/>
          <a:ln>
            <a:noFill/>
          </a:ln>
        </p:spPr>
        <p:txBody>
          <a:bodyPr anchorCtr="0" anchor="t" bIns="216000" lIns="216000" spcFirstLastPara="1" rIns="216000" wrap="square" tIns="216000">
            <a:noAutofit/>
          </a:bodyPr>
          <a:lstStyle/>
          <a:p>
            <a:pPr indent="0" lvl="0" marL="0" rtl="0" algn="ctr">
              <a:spcBef>
                <a:spcPts val="0"/>
              </a:spcBef>
              <a:spcAft>
                <a:spcPts val="0"/>
              </a:spcAft>
              <a:buNone/>
            </a:pPr>
            <a:r>
              <a:rPr lang="pt-BR" sz="5680">
                <a:solidFill>
                  <a:srgbClr val="67B4D4"/>
                </a:solidFill>
              </a:rPr>
              <a:t>An agentic AI clinical librarian for laboratory results interpretation.</a:t>
            </a:r>
            <a:endParaRPr sz="5680">
              <a:solidFill>
                <a:srgbClr val="67B4D4"/>
              </a:solidFill>
            </a:endParaRPr>
          </a:p>
        </p:txBody>
      </p:sp>
      <p:sp>
        <p:nvSpPr>
          <p:cNvPr id="800" name="Google Shape;800;p30"/>
          <p:cNvSpPr txBox="1"/>
          <p:nvPr/>
        </p:nvSpPr>
        <p:spPr>
          <a:xfrm>
            <a:off x="-424800" y="36736200"/>
            <a:ext cx="30106800" cy="16278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lang="pt-BR" sz="3600">
                <a:solidFill>
                  <a:schemeClr val="dk2"/>
                </a:solidFill>
                <a:latin typeface="Proxima Nova"/>
                <a:ea typeface="Proxima Nova"/>
                <a:cs typeface="Proxima Nova"/>
                <a:sym typeface="Proxima Nova"/>
              </a:rPr>
              <a:t>Sanguine is a physician-facing clinical interpretation layer designed to scale the Mayo Clinic Model of Care by augmenting laboratory results with grounded, traceable, and clinically reviewed AI-generated interpretation.</a:t>
            </a:r>
            <a:endParaRPr sz="3600">
              <a:solidFill>
                <a:schemeClr val="dk2"/>
              </a:solidFill>
              <a:latin typeface="Proxima Nova"/>
              <a:ea typeface="Proxima Nova"/>
              <a:cs typeface="Proxima Nova"/>
              <a:sym typeface="Proxima Nova"/>
            </a:endParaRPr>
          </a:p>
        </p:txBody>
      </p:sp>
      <p:sp>
        <p:nvSpPr>
          <p:cNvPr id="801" name="Google Shape;801;p30"/>
          <p:cNvSpPr txBox="1"/>
          <p:nvPr/>
        </p:nvSpPr>
        <p:spPr>
          <a:xfrm>
            <a:off x="-50644" y="1489853"/>
            <a:ext cx="121893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From generic lab results to physician-ready interpretation</a:t>
            </a:r>
            <a:endParaRPr sz="3640">
              <a:solidFill>
                <a:srgbClr val="67B4D4"/>
              </a:solidFill>
              <a:latin typeface="Proxima Nova"/>
              <a:ea typeface="Proxima Nova"/>
              <a:cs typeface="Proxima Nova"/>
              <a:sym typeface="Proxima Nova"/>
            </a:endParaRPr>
          </a:p>
        </p:txBody>
      </p:sp>
      <p:sp>
        <p:nvSpPr>
          <p:cNvPr id="802" name="Google Shape;802;p30"/>
          <p:cNvSpPr txBox="1"/>
          <p:nvPr/>
        </p:nvSpPr>
        <p:spPr>
          <a:xfrm>
            <a:off x="349200" y="7228364"/>
            <a:ext cx="69375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Clinical librarian architecture</a:t>
            </a:r>
            <a:endParaRPr sz="3640">
              <a:solidFill>
                <a:srgbClr val="67B4D4"/>
              </a:solidFill>
              <a:latin typeface="Proxima Nova"/>
              <a:ea typeface="Proxima Nova"/>
              <a:cs typeface="Proxima Nova"/>
              <a:sym typeface="Proxima Nova"/>
            </a:endParaRPr>
          </a:p>
        </p:txBody>
      </p:sp>
      <p:sp>
        <p:nvSpPr>
          <p:cNvPr id="803" name="Google Shape;803;p30"/>
          <p:cNvSpPr txBox="1"/>
          <p:nvPr/>
        </p:nvSpPr>
        <p:spPr>
          <a:xfrm>
            <a:off x="-1883100" y="244701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Preferred Architecture</a:t>
            </a:r>
            <a:endParaRPr sz="5680">
              <a:solidFill>
                <a:srgbClr val="67B4D4"/>
              </a:solidFill>
            </a:endParaRPr>
          </a:p>
        </p:txBody>
      </p:sp>
      <p:sp>
        <p:nvSpPr>
          <p:cNvPr id="804" name="Google Shape;804;p30"/>
          <p:cNvSpPr txBox="1"/>
          <p:nvPr/>
        </p:nvSpPr>
        <p:spPr>
          <a:xfrm>
            <a:off x="-1883100" y="259497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Architectural Complexity</a:t>
            </a:r>
            <a:endParaRPr sz="5680">
              <a:solidFill>
                <a:srgbClr val="67B4D4"/>
              </a:solidFill>
            </a:endParaRPr>
          </a:p>
        </p:txBody>
      </p:sp>
      <p:sp>
        <p:nvSpPr>
          <p:cNvPr id="805" name="Google Shape;805;p30"/>
          <p:cNvSpPr txBox="1"/>
          <p:nvPr/>
        </p:nvSpPr>
        <p:spPr>
          <a:xfrm>
            <a:off x="-2188500" y="276852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Value Metrics</a:t>
            </a:r>
            <a:endParaRPr sz="5680">
              <a:solidFill>
                <a:srgbClr val="67B4D4"/>
              </a:solidFill>
            </a:endParaRPr>
          </a:p>
        </p:txBody>
      </p:sp>
      <p:sp>
        <p:nvSpPr>
          <p:cNvPr id="806" name="Google Shape;806;p30"/>
          <p:cNvSpPr txBox="1"/>
          <p:nvPr/>
        </p:nvSpPr>
        <p:spPr>
          <a:xfrm>
            <a:off x="12121493" y="1489860"/>
            <a:ext cx="199965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Selecting the preferred concept</a:t>
            </a:r>
            <a:endParaRPr sz="3640">
              <a:solidFill>
                <a:srgbClr val="67B4D4"/>
              </a:solidFill>
              <a:latin typeface="Proxima Nova"/>
              <a:ea typeface="Proxima Nova"/>
              <a:cs typeface="Proxima Nova"/>
              <a:sym typeface="Proxima Nova"/>
            </a:endParaRPr>
          </a:p>
        </p:txBody>
      </p:sp>
      <p:sp>
        <p:nvSpPr>
          <p:cNvPr id="807" name="Google Shape;807;p30"/>
          <p:cNvSpPr txBox="1"/>
          <p:nvPr/>
        </p:nvSpPr>
        <p:spPr>
          <a:xfrm>
            <a:off x="-54300" y="31482600"/>
            <a:ext cx="160704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Development Strategy: Risk-Driven Delivery</a:t>
            </a:r>
            <a:endParaRPr sz="5680">
              <a:solidFill>
                <a:srgbClr val="67B4D4"/>
              </a:solidFill>
            </a:endParaRPr>
          </a:p>
        </p:txBody>
      </p:sp>
      <p:sp>
        <p:nvSpPr>
          <p:cNvPr id="808" name="Google Shape;808;p30"/>
          <p:cNvSpPr txBox="1"/>
          <p:nvPr/>
        </p:nvSpPr>
        <p:spPr>
          <a:xfrm>
            <a:off x="3603300" y="351402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Recommendation</a:t>
            </a:r>
            <a:endParaRPr sz="5680">
              <a:solidFill>
                <a:srgbClr val="67B4D4"/>
              </a:solidFill>
            </a:endParaRPr>
          </a:p>
        </p:txBody>
      </p:sp>
      <p:pic>
        <p:nvPicPr>
          <p:cNvPr id="809" name="Google Shape;809;p30"/>
          <p:cNvPicPr preferRelativeResize="0"/>
          <p:nvPr/>
        </p:nvPicPr>
        <p:blipFill>
          <a:blip r:embed="rId4">
            <a:alphaModFix/>
          </a:blip>
          <a:stretch>
            <a:fillRect/>
          </a:stretch>
        </p:blipFill>
        <p:spPr>
          <a:xfrm>
            <a:off x="30731401" y="209700"/>
            <a:ext cx="1977610" cy="2164787"/>
          </a:xfrm>
          <a:prstGeom prst="rect">
            <a:avLst/>
          </a:prstGeom>
          <a:noFill/>
          <a:ln>
            <a:noFill/>
          </a:ln>
        </p:spPr>
      </p:pic>
      <p:sp>
        <p:nvSpPr>
          <p:cNvPr id="810" name="Google Shape;810;p30"/>
          <p:cNvSpPr txBox="1"/>
          <p:nvPr/>
        </p:nvSpPr>
        <p:spPr>
          <a:xfrm>
            <a:off x="18801000" y="1016215"/>
            <a:ext cx="11930400" cy="805800"/>
          </a:xfrm>
          <a:prstGeom prst="rect">
            <a:avLst/>
          </a:prstGeom>
          <a:noFill/>
          <a:ln>
            <a:noFill/>
          </a:ln>
        </p:spPr>
        <p:txBody>
          <a:bodyPr anchorCtr="0" anchor="t" bIns="216000" lIns="216000" spcFirstLastPara="1" rIns="216000" wrap="square" tIns="216000">
            <a:spAutoFit/>
          </a:bodyPr>
          <a:lstStyle/>
          <a:p>
            <a:pPr indent="0" lvl="0" marL="0" rtl="0" algn="r">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Mentors: Angela Tomczik and Eric Rebentisch</a:t>
            </a:r>
            <a:endParaRPr sz="2400">
              <a:solidFill>
                <a:schemeClr val="dk2"/>
              </a:solidFill>
              <a:latin typeface="Proxima Nova"/>
              <a:ea typeface="Proxima Nova"/>
              <a:cs typeface="Proxima Nova"/>
              <a:sym typeface="Proxima Nova"/>
            </a:endParaRPr>
          </a:p>
        </p:txBody>
      </p:sp>
      <p:sp>
        <p:nvSpPr>
          <p:cNvPr id="811" name="Google Shape;811;p30"/>
          <p:cNvSpPr txBox="1"/>
          <p:nvPr/>
        </p:nvSpPr>
        <p:spPr>
          <a:xfrm>
            <a:off x="0" y="1016215"/>
            <a:ext cx="15901200" cy="8058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Team: Camden Ramsay, David Ricardo, Michel Fernandes and Nora Alshareef</a:t>
            </a:r>
            <a:endParaRPr sz="2400">
              <a:solidFill>
                <a:schemeClr val="dk2"/>
              </a:solidFill>
              <a:latin typeface="Proxima Nova"/>
              <a:ea typeface="Proxima Nova"/>
              <a:cs typeface="Proxima Nova"/>
              <a:sym typeface="Proxima Nova"/>
            </a:endParaRPr>
          </a:p>
        </p:txBody>
      </p:sp>
      <p:sp>
        <p:nvSpPr>
          <p:cNvPr id="812" name="Google Shape;812;p30"/>
          <p:cNvSpPr txBox="1"/>
          <p:nvPr/>
        </p:nvSpPr>
        <p:spPr>
          <a:xfrm>
            <a:off x="125936" y="5935069"/>
            <a:ext cx="11218800" cy="14724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b="1" lang="pt-BR" sz="2040">
                <a:solidFill>
                  <a:schemeClr val="dk2"/>
                </a:solidFill>
                <a:latin typeface="Proxima Nova"/>
                <a:ea typeface="Proxima Nova"/>
                <a:cs typeface="Proxima Nova"/>
                <a:sym typeface="Proxima Nova"/>
              </a:rPr>
              <a:t>Sanguine is a physician-facing clinical interpretation layer for Mayo Clinic laboratory results. It aims to improve Mayo Clinic lab patient care outcomes at scale by augmenting physician-facing test results with relevant research using an agentic AI clinical librarian.</a:t>
            </a:r>
            <a:endParaRPr b="1" sz="2040">
              <a:solidFill>
                <a:schemeClr val="dk2"/>
              </a:solidFill>
              <a:latin typeface="Proxima Nova"/>
              <a:ea typeface="Proxima Nova"/>
              <a:cs typeface="Proxima Nova"/>
              <a:sym typeface="Proxima Nova"/>
            </a:endParaRPr>
          </a:p>
        </p:txBody>
      </p:sp>
      <p:grpSp>
        <p:nvGrpSpPr>
          <p:cNvPr id="813" name="Google Shape;813;p30"/>
          <p:cNvGrpSpPr/>
          <p:nvPr/>
        </p:nvGrpSpPr>
        <p:grpSpPr>
          <a:xfrm>
            <a:off x="10503111" y="8693470"/>
            <a:ext cx="8941201" cy="5476658"/>
            <a:chOff x="11465487" y="9211798"/>
            <a:chExt cx="16116079" cy="8412685"/>
          </a:xfrm>
        </p:grpSpPr>
        <p:sp>
          <p:nvSpPr>
            <p:cNvPr id="814" name="Google Shape;814;p30"/>
            <p:cNvSpPr/>
            <p:nvPr/>
          </p:nvSpPr>
          <p:spPr>
            <a:xfrm>
              <a:off x="15867473" y="11457283"/>
              <a:ext cx="380700" cy="1087800"/>
            </a:xfrm>
            <a:prstGeom prst="roundRect">
              <a:avLst>
                <a:gd fmla="val 16667" name="adj"/>
              </a:avLst>
            </a:prstGeom>
            <a:solidFill>
              <a:srgbClr val="0F9ED5">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815" name="Google Shape;815;p30"/>
            <p:cNvCxnSpPr/>
            <p:nvPr/>
          </p:nvCxnSpPr>
          <p:spPr>
            <a:xfrm>
              <a:off x="16070970"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816" name="Google Shape;816;p30"/>
            <p:cNvSpPr txBox="1"/>
            <p:nvPr/>
          </p:nvSpPr>
          <p:spPr>
            <a:xfrm>
              <a:off x="15031756" y="9211798"/>
              <a:ext cx="2078700" cy="6504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External Laboratory</a:t>
              </a:r>
              <a:endParaRPr sz="1118">
                <a:solidFill>
                  <a:srgbClr val="000000"/>
                </a:solidFill>
                <a:latin typeface="Proxima Nova"/>
                <a:ea typeface="Proxima Nova"/>
                <a:cs typeface="Proxima Nova"/>
                <a:sym typeface="Proxima Nova"/>
              </a:endParaRPr>
            </a:p>
          </p:txBody>
        </p:sp>
        <p:cxnSp>
          <p:nvCxnSpPr>
            <p:cNvPr id="817" name="Google Shape;817;p30"/>
            <p:cNvCxnSpPr/>
            <p:nvPr/>
          </p:nvCxnSpPr>
          <p:spPr>
            <a:xfrm>
              <a:off x="18685657"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818" name="Google Shape;818;p30"/>
            <p:cNvSpPr txBox="1"/>
            <p:nvPr/>
          </p:nvSpPr>
          <p:spPr>
            <a:xfrm>
              <a:off x="17646454" y="9211798"/>
              <a:ext cx="2078700" cy="11793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Mayo Clinic Labs</a:t>
              </a:r>
              <a:endParaRPr sz="1204">
                <a:latin typeface="Proxima Nova"/>
                <a:ea typeface="Proxima Nova"/>
                <a:cs typeface="Proxima Nova"/>
                <a:sym typeface="Proxima Nova"/>
              </a:endParaRPr>
            </a:p>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(Tests Execution)</a:t>
              </a:r>
              <a:endParaRPr sz="1118">
                <a:solidFill>
                  <a:srgbClr val="000000"/>
                </a:solidFill>
                <a:latin typeface="Proxima Nova"/>
                <a:ea typeface="Proxima Nova"/>
                <a:cs typeface="Proxima Nova"/>
                <a:sym typeface="Proxima Nova"/>
              </a:endParaRPr>
            </a:p>
          </p:txBody>
        </p:sp>
        <p:cxnSp>
          <p:nvCxnSpPr>
            <p:cNvPr id="819" name="Google Shape;819;p30"/>
            <p:cNvCxnSpPr/>
            <p:nvPr/>
          </p:nvCxnSpPr>
          <p:spPr>
            <a:xfrm>
              <a:off x="21300369"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820" name="Google Shape;820;p30"/>
            <p:cNvSpPr txBox="1"/>
            <p:nvPr/>
          </p:nvSpPr>
          <p:spPr>
            <a:xfrm>
              <a:off x="20261155"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Patient Record</a:t>
              </a:r>
              <a:endParaRPr sz="1204">
                <a:latin typeface="Proxima Nova"/>
                <a:ea typeface="Proxima Nova"/>
                <a:cs typeface="Proxima Nova"/>
                <a:sym typeface="Proxima Nova"/>
              </a:endParaRPr>
            </a:p>
          </p:txBody>
        </p:sp>
        <p:cxnSp>
          <p:nvCxnSpPr>
            <p:cNvPr id="821" name="Google Shape;821;p30"/>
            <p:cNvCxnSpPr/>
            <p:nvPr/>
          </p:nvCxnSpPr>
          <p:spPr>
            <a:xfrm>
              <a:off x="23915067"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822" name="Google Shape;822;p30"/>
            <p:cNvSpPr txBox="1"/>
            <p:nvPr/>
          </p:nvSpPr>
          <p:spPr>
            <a:xfrm>
              <a:off x="25173466" y="9211798"/>
              <a:ext cx="2408100" cy="6504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Sanguine Librarian Layer</a:t>
              </a:r>
              <a:endParaRPr sz="1118">
                <a:solidFill>
                  <a:srgbClr val="000000"/>
                </a:solidFill>
                <a:latin typeface="Proxima Nova"/>
                <a:ea typeface="Proxima Nova"/>
                <a:cs typeface="Proxima Nova"/>
                <a:sym typeface="Proxima Nova"/>
              </a:endParaRPr>
            </a:p>
          </p:txBody>
        </p:sp>
        <p:sp>
          <p:nvSpPr>
            <p:cNvPr id="823" name="Google Shape;823;p30"/>
            <p:cNvSpPr/>
            <p:nvPr/>
          </p:nvSpPr>
          <p:spPr>
            <a:xfrm>
              <a:off x="18495302" y="11457283"/>
              <a:ext cx="380700" cy="1060500"/>
            </a:xfrm>
            <a:prstGeom prst="roundRect">
              <a:avLst>
                <a:gd fmla="val 16667" name="adj"/>
              </a:avLst>
            </a:prstGeom>
            <a:solidFill>
              <a:srgbClr val="4EA72E">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824" name="Google Shape;824;p30"/>
            <p:cNvSpPr/>
            <p:nvPr/>
          </p:nvSpPr>
          <p:spPr>
            <a:xfrm>
              <a:off x="21089755" y="11457283"/>
              <a:ext cx="380700" cy="1041900"/>
            </a:xfrm>
            <a:prstGeom prst="roundRect">
              <a:avLst>
                <a:gd fmla="val 16667" name="adj"/>
              </a:avLst>
            </a:prstGeom>
            <a:solidFill>
              <a:srgbClr val="E9713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825" name="Google Shape;825;p30"/>
            <p:cNvCxnSpPr/>
            <p:nvPr/>
          </p:nvCxnSpPr>
          <p:spPr>
            <a:xfrm>
              <a:off x="16248209" y="11606279"/>
              <a:ext cx="22206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826" name="Google Shape;826;p30"/>
            <p:cNvCxnSpPr/>
            <p:nvPr/>
          </p:nvCxnSpPr>
          <p:spPr>
            <a:xfrm>
              <a:off x="18876038" y="11582967"/>
              <a:ext cx="22266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827" name="Google Shape;827;p30"/>
            <p:cNvCxnSpPr/>
            <p:nvPr/>
          </p:nvCxnSpPr>
          <p:spPr>
            <a:xfrm rot="10800000">
              <a:off x="16239464" y="15170200"/>
              <a:ext cx="9880500" cy="0"/>
            </a:xfrm>
            <a:prstGeom prst="straightConnector1">
              <a:avLst/>
            </a:prstGeom>
            <a:noFill/>
            <a:ln cap="flat" cmpd="sng" w="24575">
              <a:solidFill>
                <a:srgbClr val="7F7F7F"/>
              </a:solidFill>
              <a:prstDash val="solid"/>
              <a:miter lim="800000"/>
              <a:headEnd len="sm" w="sm" type="none"/>
              <a:tailEnd len="med" w="med" type="triangle"/>
            </a:ln>
          </p:spPr>
        </p:cxnSp>
        <p:sp>
          <p:nvSpPr>
            <p:cNvPr id="828" name="Google Shape;828;p30"/>
            <p:cNvSpPr txBox="1"/>
            <p:nvPr/>
          </p:nvSpPr>
          <p:spPr>
            <a:xfrm>
              <a:off x="16320938" y="1169784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Collecs and send samples</a:t>
              </a:r>
              <a:endParaRPr sz="1032">
                <a:solidFill>
                  <a:srgbClr val="000000"/>
                </a:solidFill>
                <a:latin typeface="Proxima Nova"/>
                <a:ea typeface="Proxima Nova"/>
                <a:cs typeface="Proxima Nova"/>
                <a:sym typeface="Proxima Nova"/>
              </a:endParaRPr>
            </a:p>
          </p:txBody>
        </p:sp>
        <p:sp>
          <p:nvSpPr>
            <p:cNvPr id="829" name="Google Shape;829;p30"/>
            <p:cNvSpPr txBox="1"/>
            <p:nvPr/>
          </p:nvSpPr>
          <p:spPr>
            <a:xfrm>
              <a:off x="23903091" y="15223203"/>
              <a:ext cx="2353800" cy="10980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 of results interpretation complete</a:t>
              </a:r>
              <a:endParaRPr sz="1204">
                <a:latin typeface="Proxima Nova"/>
                <a:ea typeface="Proxima Nova"/>
                <a:cs typeface="Proxima Nova"/>
                <a:sym typeface="Proxima Nova"/>
              </a:endParaRPr>
            </a:p>
          </p:txBody>
        </p:sp>
        <p:sp>
          <p:nvSpPr>
            <p:cNvPr id="830" name="Google Shape;830;p30"/>
            <p:cNvSpPr txBox="1"/>
            <p:nvPr/>
          </p:nvSpPr>
          <p:spPr>
            <a:xfrm>
              <a:off x="18937140" y="1169784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Analyses and store results</a:t>
              </a:r>
              <a:endParaRPr sz="1032">
                <a:solidFill>
                  <a:srgbClr val="000000"/>
                </a:solidFill>
                <a:latin typeface="Proxima Nova"/>
                <a:ea typeface="Proxima Nova"/>
                <a:cs typeface="Proxima Nova"/>
                <a:sym typeface="Proxima Nova"/>
              </a:endParaRPr>
            </a:p>
          </p:txBody>
        </p:sp>
        <p:sp>
          <p:nvSpPr>
            <p:cNvPr id="831" name="Google Shape;831;p30"/>
            <p:cNvSpPr txBox="1"/>
            <p:nvPr/>
          </p:nvSpPr>
          <p:spPr>
            <a:xfrm>
              <a:off x="21531932" y="11697840"/>
              <a:ext cx="19080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Test raw results</a:t>
              </a:r>
              <a:endParaRPr sz="1032">
                <a:solidFill>
                  <a:srgbClr val="000000"/>
                </a:solidFill>
                <a:latin typeface="Proxima Nova"/>
                <a:ea typeface="Proxima Nova"/>
                <a:cs typeface="Proxima Nova"/>
                <a:sym typeface="Proxima Nova"/>
              </a:endParaRPr>
            </a:p>
          </p:txBody>
        </p:sp>
        <p:cxnSp>
          <p:nvCxnSpPr>
            <p:cNvPr id="832" name="Google Shape;832;p30"/>
            <p:cNvCxnSpPr/>
            <p:nvPr/>
          </p:nvCxnSpPr>
          <p:spPr>
            <a:xfrm rot="10800000">
              <a:off x="24094959" y="13848647"/>
              <a:ext cx="2070300" cy="0"/>
            </a:xfrm>
            <a:prstGeom prst="straightConnector1">
              <a:avLst/>
            </a:prstGeom>
            <a:noFill/>
            <a:ln cap="flat" cmpd="sng" w="24575">
              <a:solidFill>
                <a:srgbClr val="7F7F7F"/>
              </a:solidFill>
              <a:prstDash val="solid"/>
              <a:miter lim="800000"/>
              <a:headEnd len="sm" w="sm" type="none"/>
              <a:tailEnd len="med" w="med" type="triangle"/>
            </a:ln>
          </p:spPr>
        </p:cxnSp>
        <p:sp>
          <p:nvSpPr>
            <p:cNvPr id="833" name="Google Shape;833;p30"/>
            <p:cNvSpPr txBox="1"/>
            <p:nvPr/>
          </p:nvSpPr>
          <p:spPr>
            <a:xfrm>
              <a:off x="22106638" y="12891743"/>
              <a:ext cx="46635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Request patient context</a:t>
              </a:r>
              <a:endParaRPr sz="1032">
                <a:solidFill>
                  <a:srgbClr val="000000"/>
                </a:solidFill>
                <a:latin typeface="Proxima Nova"/>
                <a:ea typeface="Proxima Nova"/>
                <a:cs typeface="Proxima Nova"/>
                <a:sym typeface="Proxima Nova"/>
              </a:endParaRPr>
            </a:p>
          </p:txBody>
        </p:sp>
        <p:sp>
          <p:nvSpPr>
            <p:cNvPr id="834" name="Google Shape;834;p30"/>
            <p:cNvSpPr txBox="1"/>
            <p:nvPr/>
          </p:nvSpPr>
          <p:spPr>
            <a:xfrm>
              <a:off x="24105503" y="13903847"/>
              <a:ext cx="19545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Request clinical references</a:t>
              </a:r>
              <a:endParaRPr sz="1032">
                <a:solidFill>
                  <a:srgbClr val="000000"/>
                </a:solidFill>
                <a:latin typeface="Proxima Nova"/>
                <a:ea typeface="Proxima Nova"/>
                <a:cs typeface="Proxima Nova"/>
                <a:sym typeface="Proxima Nova"/>
              </a:endParaRPr>
            </a:p>
          </p:txBody>
        </p:sp>
        <p:cxnSp>
          <p:nvCxnSpPr>
            <p:cNvPr id="835" name="Google Shape;835;p30"/>
            <p:cNvCxnSpPr/>
            <p:nvPr/>
          </p:nvCxnSpPr>
          <p:spPr>
            <a:xfrm>
              <a:off x="26377558"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836" name="Google Shape;836;p30"/>
            <p:cNvSpPr/>
            <p:nvPr/>
          </p:nvSpPr>
          <p:spPr>
            <a:xfrm>
              <a:off x="26175833" y="11457283"/>
              <a:ext cx="380700" cy="4614000"/>
            </a:xfrm>
            <a:prstGeom prst="roundRect">
              <a:avLst>
                <a:gd fmla="val 16667" name="adj"/>
              </a:avLst>
            </a:prstGeom>
            <a:solidFill>
              <a:srgbClr val="FF0000">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837" name="Google Shape;837;p30"/>
            <p:cNvSpPr txBox="1"/>
            <p:nvPr/>
          </p:nvSpPr>
          <p:spPr>
            <a:xfrm>
              <a:off x="22875855" y="9211798"/>
              <a:ext cx="2078700" cy="9150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Mayo Clinic Knowledge &amp; Research</a:t>
              </a:r>
              <a:endParaRPr sz="1204">
                <a:latin typeface="Proxima Nova"/>
                <a:ea typeface="Proxima Nova"/>
                <a:cs typeface="Proxima Nova"/>
                <a:sym typeface="Proxima Nova"/>
              </a:endParaRPr>
            </a:p>
          </p:txBody>
        </p:sp>
        <p:sp>
          <p:nvSpPr>
            <p:cNvPr id="838" name="Google Shape;838;p30"/>
            <p:cNvSpPr/>
            <p:nvPr/>
          </p:nvSpPr>
          <p:spPr>
            <a:xfrm>
              <a:off x="23714193" y="13684467"/>
              <a:ext cx="380700" cy="1041600"/>
            </a:xfrm>
            <a:prstGeom prst="roundRect">
              <a:avLst>
                <a:gd fmla="val 16667" name="adj"/>
              </a:avLst>
            </a:prstGeom>
            <a:solidFill>
              <a:srgbClr val="AEAEAE">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839" name="Google Shape;839;p30"/>
            <p:cNvSpPr/>
            <p:nvPr/>
          </p:nvSpPr>
          <p:spPr>
            <a:xfrm>
              <a:off x="21102742" y="12636556"/>
              <a:ext cx="380700" cy="855600"/>
            </a:xfrm>
            <a:prstGeom prst="roundRect">
              <a:avLst>
                <a:gd fmla="val 16667" name="adj"/>
              </a:avLst>
            </a:prstGeom>
            <a:solidFill>
              <a:srgbClr val="E9713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840" name="Google Shape;840;p30"/>
            <p:cNvCxnSpPr/>
            <p:nvPr/>
          </p:nvCxnSpPr>
          <p:spPr>
            <a:xfrm rot="10800000">
              <a:off x="12703818" y="11163267"/>
              <a:ext cx="15228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841" name="Google Shape;841;p30"/>
            <p:cNvCxnSpPr/>
            <p:nvPr/>
          </p:nvCxnSpPr>
          <p:spPr>
            <a:xfrm>
              <a:off x="21456434" y="11606279"/>
              <a:ext cx="4745400" cy="0"/>
            </a:xfrm>
            <a:prstGeom prst="straightConnector1">
              <a:avLst/>
            </a:prstGeom>
            <a:noFill/>
            <a:ln cap="flat" cmpd="sng" w="24575">
              <a:solidFill>
                <a:srgbClr val="7F7F7F"/>
              </a:solidFill>
              <a:prstDash val="solid"/>
              <a:miter lim="800000"/>
              <a:headEnd len="sm" w="sm" type="none"/>
              <a:tailEnd len="med" w="med" type="triangle"/>
            </a:ln>
          </p:spPr>
        </p:cxnSp>
        <p:sp>
          <p:nvSpPr>
            <p:cNvPr id="842" name="Google Shape;842;p30"/>
            <p:cNvSpPr txBox="1"/>
            <p:nvPr/>
          </p:nvSpPr>
          <p:spPr>
            <a:xfrm>
              <a:off x="21456434" y="13354498"/>
              <a:ext cx="25419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Send patient clinical context</a:t>
              </a:r>
              <a:endParaRPr sz="1032">
                <a:solidFill>
                  <a:srgbClr val="000000"/>
                </a:solidFill>
                <a:latin typeface="Proxima Nova"/>
                <a:ea typeface="Proxima Nova"/>
                <a:cs typeface="Proxima Nova"/>
                <a:sym typeface="Proxima Nova"/>
              </a:endParaRPr>
            </a:p>
          </p:txBody>
        </p:sp>
        <p:cxnSp>
          <p:nvCxnSpPr>
            <p:cNvPr id="843" name="Google Shape;843;p30"/>
            <p:cNvCxnSpPr/>
            <p:nvPr/>
          </p:nvCxnSpPr>
          <p:spPr>
            <a:xfrm>
              <a:off x="24058504" y="14514168"/>
              <a:ext cx="2128800" cy="0"/>
            </a:xfrm>
            <a:prstGeom prst="straightConnector1">
              <a:avLst/>
            </a:prstGeom>
            <a:noFill/>
            <a:ln cap="flat" cmpd="sng" w="24575">
              <a:solidFill>
                <a:srgbClr val="7F7F7F"/>
              </a:solidFill>
              <a:prstDash val="solid"/>
              <a:miter lim="800000"/>
              <a:headEnd len="sm" w="sm" type="none"/>
              <a:tailEnd len="med" w="med" type="triangle"/>
            </a:ln>
          </p:spPr>
        </p:cxnSp>
        <p:sp>
          <p:nvSpPr>
            <p:cNvPr id="844" name="Google Shape;844;p30"/>
            <p:cNvSpPr txBox="1"/>
            <p:nvPr/>
          </p:nvSpPr>
          <p:spPr>
            <a:xfrm>
              <a:off x="24058504" y="14525107"/>
              <a:ext cx="1632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Send clinical references</a:t>
              </a:r>
              <a:endParaRPr sz="1032">
                <a:solidFill>
                  <a:srgbClr val="000000"/>
                </a:solidFill>
                <a:latin typeface="Proxima Nova"/>
                <a:ea typeface="Proxima Nova"/>
                <a:cs typeface="Proxima Nova"/>
                <a:sym typeface="Proxima Nova"/>
              </a:endParaRPr>
            </a:p>
          </p:txBody>
        </p:sp>
        <p:sp>
          <p:nvSpPr>
            <p:cNvPr id="845" name="Google Shape;845;p30"/>
            <p:cNvSpPr/>
            <p:nvPr/>
          </p:nvSpPr>
          <p:spPr>
            <a:xfrm>
              <a:off x="15858667" y="15086608"/>
              <a:ext cx="380700" cy="1353900"/>
            </a:xfrm>
            <a:prstGeom prst="roundRect">
              <a:avLst>
                <a:gd fmla="val 16667" name="adj"/>
              </a:avLst>
            </a:prstGeom>
            <a:solidFill>
              <a:srgbClr val="0F9ED5">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846" name="Google Shape;846;p30"/>
            <p:cNvSpPr/>
            <p:nvPr/>
          </p:nvSpPr>
          <p:spPr>
            <a:xfrm>
              <a:off x="12318864" y="10242365"/>
              <a:ext cx="380700" cy="17499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847" name="Google Shape;847;p30"/>
            <p:cNvCxnSpPr/>
            <p:nvPr/>
          </p:nvCxnSpPr>
          <p:spPr>
            <a:xfrm>
              <a:off x="12504700"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848" name="Google Shape;848;p30"/>
            <p:cNvSpPr txBox="1"/>
            <p:nvPr/>
          </p:nvSpPr>
          <p:spPr>
            <a:xfrm>
              <a:off x="11465487"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Patient</a:t>
              </a:r>
              <a:endParaRPr sz="1118">
                <a:solidFill>
                  <a:srgbClr val="000000"/>
                </a:solidFill>
                <a:latin typeface="Proxima Nova"/>
                <a:ea typeface="Proxima Nova"/>
                <a:cs typeface="Proxima Nova"/>
                <a:sym typeface="Proxima Nova"/>
              </a:endParaRPr>
            </a:p>
          </p:txBody>
        </p:sp>
        <p:sp>
          <p:nvSpPr>
            <p:cNvPr id="849" name="Google Shape;849;p30"/>
            <p:cNvSpPr/>
            <p:nvPr/>
          </p:nvSpPr>
          <p:spPr>
            <a:xfrm>
              <a:off x="12316454" y="15752918"/>
              <a:ext cx="380700" cy="5814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850" name="Google Shape;850;p30"/>
            <p:cNvSpPr/>
            <p:nvPr/>
          </p:nvSpPr>
          <p:spPr>
            <a:xfrm>
              <a:off x="14226618" y="10284614"/>
              <a:ext cx="380700" cy="10551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851" name="Google Shape;851;p30"/>
            <p:cNvCxnSpPr/>
            <p:nvPr/>
          </p:nvCxnSpPr>
          <p:spPr>
            <a:xfrm>
              <a:off x="14416986"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852" name="Google Shape;852;p30"/>
            <p:cNvSpPr txBox="1"/>
            <p:nvPr/>
          </p:nvSpPr>
          <p:spPr>
            <a:xfrm>
              <a:off x="13377773"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Physician</a:t>
              </a:r>
              <a:endParaRPr sz="1118">
                <a:solidFill>
                  <a:srgbClr val="000000"/>
                </a:solidFill>
                <a:latin typeface="Proxima Nova"/>
                <a:ea typeface="Proxima Nova"/>
                <a:cs typeface="Proxima Nova"/>
                <a:sym typeface="Proxima Nova"/>
              </a:endParaRPr>
            </a:p>
          </p:txBody>
        </p:sp>
        <p:sp>
          <p:nvSpPr>
            <p:cNvPr id="853" name="Google Shape;853;p30"/>
            <p:cNvSpPr/>
            <p:nvPr/>
          </p:nvSpPr>
          <p:spPr>
            <a:xfrm>
              <a:off x="14226618" y="15077351"/>
              <a:ext cx="380700" cy="5814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854" name="Google Shape;854;p30"/>
            <p:cNvCxnSpPr/>
            <p:nvPr/>
          </p:nvCxnSpPr>
          <p:spPr>
            <a:xfrm>
              <a:off x="12641221" y="10446061"/>
              <a:ext cx="1585200" cy="0"/>
            </a:xfrm>
            <a:prstGeom prst="straightConnector1">
              <a:avLst/>
            </a:prstGeom>
            <a:noFill/>
            <a:ln cap="flat" cmpd="sng" w="24575">
              <a:solidFill>
                <a:srgbClr val="7F7F7F"/>
              </a:solidFill>
              <a:prstDash val="solid"/>
              <a:miter lim="800000"/>
              <a:headEnd len="sm" w="sm" type="none"/>
              <a:tailEnd len="med" w="med" type="triangle"/>
            </a:ln>
          </p:spPr>
        </p:cxnSp>
        <p:sp>
          <p:nvSpPr>
            <p:cNvPr id="855" name="Google Shape;855;p30"/>
            <p:cNvSpPr txBox="1"/>
            <p:nvPr/>
          </p:nvSpPr>
          <p:spPr>
            <a:xfrm>
              <a:off x="12684299" y="9971282"/>
              <a:ext cx="25419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Medical consultation</a:t>
              </a:r>
              <a:endParaRPr sz="1032">
                <a:solidFill>
                  <a:srgbClr val="000000"/>
                </a:solidFill>
                <a:latin typeface="Proxima Nova"/>
                <a:ea typeface="Proxima Nova"/>
                <a:cs typeface="Proxima Nova"/>
                <a:sym typeface="Proxima Nova"/>
              </a:endParaRPr>
            </a:p>
          </p:txBody>
        </p:sp>
        <p:sp>
          <p:nvSpPr>
            <p:cNvPr id="856" name="Google Shape;856;p30"/>
            <p:cNvSpPr txBox="1"/>
            <p:nvPr/>
          </p:nvSpPr>
          <p:spPr>
            <a:xfrm>
              <a:off x="12728501" y="11207089"/>
              <a:ext cx="24081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Exam request</a:t>
              </a:r>
              <a:endParaRPr sz="1032">
                <a:solidFill>
                  <a:srgbClr val="000000"/>
                </a:solidFill>
                <a:latin typeface="Proxima Nova"/>
                <a:ea typeface="Proxima Nova"/>
                <a:cs typeface="Proxima Nova"/>
                <a:sym typeface="Proxima Nova"/>
              </a:endParaRPr>
            </a:p>
          </p:txBody>
        </p:sp>
        <p:cxnSp>
          <p:nvCxnSpPr>
            <p:cNvPr id="857" name="Google Shape;857;p30"/>
            <p:cNvCxnSpPr/>
            <p:nvPr/>
          </p:nvCxnSpPr>
          <p:spPr>
            <a:xfrm rot="10800000">
              <a:off x="21456464" y="12817687"/>
              <a:ext cx="46635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858" name="Google Shape;858;p30"/>
            <p:cNvCxnSpPr/>
            <p:nvPr/>
          </p:nvCxnSpPr>
          <p:spPr>
            <a:xfrm>
              <a:off x="12715955" y="11606279"/>
              <a:ext cx="3151500" cy="0"/>
            </a:xfrm>
            <a:prstGeom prst="straightConnector1">
              <a:avLst/>
            </a:prstGeom>
            <a:noFill/>
            <a:ln cap="flat" cmpd="sng" w="24575">
              <a:solidFill>
                <a:srgbClr val="7F7F7F"/>
              </a:solidFill>
              <a:prstDash val="solid"/>
              <a:miter lim="800000"/>
              <a:headEnd len="sm" w="sm" type="none"/>
              <a:tailEnd len="med" w="med" type="triangle"/>
            </a:ln>
          </p:spPr>
        </p:cxnSp>
        <p:sp>
          <p:nvSpPr>
            <p:cNvPr id="859" name="Google Shape;859;p30"/>
            <p:cNvSpPr txBox="1"/>
            <p:nvPr/>
          </p:nvSpPr>
          <p:spPr>
            <a:xfrm>
              <a:off x="12676593" y="11637411"/>
              <a:ext cx="23538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Exam schedule</a:t>
              </a:r>
              <a:endParaRPr sz="1032">
                <a:solidFill>
                  <a:srgbClr val="000000"/>
                </a:solidFill>
                <a:latin typeface="Proxima Nova"/>
                <a:ea typeface="Proxima Nova"/>
                <a:cs typeface="Proxima Nova"/>
                <a:sym typeface="Proxima Nova"/>
              </a:endParaRPr>
            </a:p>
          </p:txBody>
        </p:sp>
        <p:cxnSp>
          <p:nvCxnSpPr>
            <p:cNvPr id="860" name="Google Shape;860;p30"/>
            <p:cNvCxnSpPr/>
            <p:nvPr/>
          </p:nvCxnSpPr>
          <p:spPr>
            <a:xfrm>
              <a:off x="21499378" y="13291150"/>
              <a:ext cx="4676400" cy="0"/>
            </a:xfrm>
            <a:prstGeom prst="straightConnector1">
              <a:avLst/>
            </a:prstGeom>
            <a:noFill/>
            <a:ln cap="flat" cmpd="sng" w="24575">
              <a:solidFill>
                <a:srgbClr val="7F7F7F"/>
              </a:solidFill>
              <a:prstDash val="solid"/>
              <a:miter lim="800000"/>
              <a:headEnd len="sm" w="sm" type="none"/>
              <a:tailEnd len="med" w="med" type="triangle"/>
            </a:ln>
          </p:spPr>
        </p:cxnSp>
        <p:sp>
          <p:nvSpPr>
            <p:cNvPr id="861" name="Google Shape;861;p30"/>
            <p:cNvSpPr txBox="1"/>
            <p:nvPr/>
          </p:nvSpPr>
          <p:spPr>
            <a:xfrm>
              <a:off x="14564440" y="15318800"/>
              <a:ext cx="15186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a:t>
              </a:r>
              <a:endParaRPr sz="1204">
                <a:latin typeface="Proxima Nova"/>
                <a:ea typeface="Proxima Nova"/>
                <a:cs typeface="Proxima Nova"/>
                <a:sym typeface="Proxima Nova"/>
              </a:endParaRPr>
            </a:p>
          </p:txBody>
        </p:sp>
        <p:cxnSp>
          <p:nvCxnSpPr>
            <p:cNvPr id="862" name="Google Shape;862;p30"/>
            <p:cNvCxnSpPr/>
            <p:nvPr/>
          </p:nvCxnSpPr>
          <p:spPr>
            <a:xfrm rot="10800000">
              <a:off x="14591917" y="15223203"/>
              <a:ext cx="1263600" cy="0"/>
            </a:xfrm>
            <a:prstGeom prst="straightConnector1">
              <a:avLst/>
            </a:prstGeom>
            <a:noFill/>
            <a:ln cap="flat" cmpd="sng" w="24575">
              <a:solidFill>
                <a:srgbClr val="7F7F7F"/>
              </a:solidFill>
              <a:prstDash val="solid"/>
              <a:miter lim="800000"/>
              <a:headEnd len="sm" w="sm" type="none"/>
              <a:tailEnd len="med" w="med" type="triangle"/>
            </a:ln>
          </p:spPr>
        </p:cxnSp>
        <p:sp>
          <p:nvSpPr>
            <p:cNvPr id="863" name="Google Shape;863;p30"/>
            <p:cNvSpPr txBox="1"/>
            <p:nvPr/>
          </p:nvSpPr>
          <p:spPr>
            <a:xfrm>
              <a:off x="14530538" y="15926441"/>
              <a:ext cx="15186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a:t>
              </a:r>
              <a:endParaRPr sz="1204">
                <a:latin typeface="Proxima Nova"/>
                <a:ea typeface="Proxima Nova"/>
                <a:cs typeface="Proxima Nova"/>
                <a:sym typeface="Proxima Nova"/>
              </a:endParaRPr>
            </a:p>
          </p:txBody>
        </p:sp>
        <p:cxnSp>
          <p:nvCxnSpPr>
            <p:cNvPr id="864" name="Google Shape;864;p30"/>
            <p:cNvCxnSpPr/>
            <p:nvPr/>
          </p:nvCxnSpPr>
          <p:spPr>
            <a:xfrm rot="10800000">
              <a:off x="12697262" y="15868426"/>
              <a:ext cx="3141000" cy="0"/>
            </a:xfrm>
            <a:prstGeom prst="straightConnector1">
              <a:avLst/>
            </a:prstGeom>
            <a:noFill/>
            <a:ln cap="flat" cmpd="sng" w="24575">
              <a:solidFill>
                <a:srgbClr val="7F7F7F"/>
              </a:solidFill>
              <a:prstDash val="solid"/>
              <a:miter lim="800000"/>
              <a:headEnd len="sm" w="sm" type="none"/>
              <a:tailEnd len="med" w="med" type="triangle"/>
            </a:ln>
          </p:spPr>
        </p:cxnSp>
        <p:sp>
          <p:nvSpPr>
            <p:cNvPr id="865" name="Google Shape;865;p30"/>
            <p:cNvSpPr/>
            <p:nvPr/>
          </p:nvSpPr>
          <p:spPr>
            <a:xfrm>
              <a:off x="26159497" y="16384833"/>
              <a:ext cx="380700" cy="1121100"/>
            </a:xfrm>
            <a:prstGeom prst="roundRect">
              <a:avLst>
                <a:gd fmla="val 16667" name="adj"/>
              </a:avLst>
            </a:prstGeom>
            <a:solidFill>
              <a:srgbClr val="FF0000">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866" name="Google Shape;866;p30"/>
            <p:cNvCxnSpPr/>
            <p:nvPr/>
          </p:nvCxnSpPr>
          <p:spPr>
            <a:xfrm>
              <a:off x="14653655" y="16577065"/>
              <a:ext cx="11485500" cy="2100"/>
            </a:xfrm>
            <a:prstGeom prst="straightConnector1">
              <a:avLst/>
            </a:prstGeom>
            <a:noFill/>
            <a:ln cap="flat" cmpd="sng" w="24575">
              <a:solidFill>
                <a:srgbClr val="7F7F7F"/>
              </a:solidFill>
              <a:prstDash val="solid"/>
              <a:miter lim="800000"/>
              <a:headEnd len="sm" w="sm" type="none"/>
              <a:tailEnd len="med" w="med" type="triangle"/>
            </a:ln>
          </p:spPr>
        </p:cxnSp>
        <p:sp>
          <p:nvSpPr>
            <p:cNvPr id="867" name="Google Shape;867;p30"/>
            <p:cNvSpPr/>
            <p:nvPr/>
          </p:nvSpPr>
          <p:spPr>
            <a:xfrm>
              <a:off x="14211281" y="16503383"/>
              <a:ext cx="380700" cy="11211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868" name="Google Shape;868;p30"/>
            <p:cNvSpPr txBox="1"/>
            <p:nvPr/>
          </p:nvSpPr>
          <p:spPr>
            <a:xfrm>
              <a:off x="14495619" y="1662919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Access test interpretation</a:t>
              </a:r>
              <a:endParaRPr i="0" sz="1032">
                <a:solidFill>
                  <a:srgbClr val="000000"/>
                </a:solidFill>
                <a:latin typeface="Proxima Nova"/>
                <a:ea typeface="Proxima Nova"/>
                <a:cs typeface="Proxima Nova"/>
                <a:sym typeface="Proxima Nova"/>
              </a:endParaRPr>
            </a:p>
          </p:txBody>
        </p:sp>
        <p:sp>
          <p:nvSpPr>
            <p:cNvPr id="869" name="Google Shape;869;p30"/>
            <p:cNvSpPr/>
            <p:nvPr/>
          </p:nvSpPr>
          <p:spPr>
            <a:xfrm>
              <a:off x="12316458" y="16847915"/>
              <a:ext cx="380700" cy="7764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870" name="Google Shape;870;p30"/>
            <p:cNvCxnSpPr/>
            <p:nvPr/>
          </p:nvCxnSpPr>
          <p:spPr>
            <a:xfrm flipH="1">
              <a:off x="12717197" y="17340784"/>
              <a:ext cx="1480500" cy="6000"/>
            </a:xfrm>
            <a:prstGeom prst="straightConnector1">
              <a:avLst/>
            </a:prstGeom>
            <a:noFill/>
            <a:ln cap="flat" cmpd="sng" w="24575">
              <a:solidFill>
                <a:srgbClr val="7F7F7F"/>
              </a:solidFill>
              <a:prstDash val="solid"/>
              <a:miter lim="800000"/>
              <a:headEnd len="sm" w="sm" type="none"/>
              <a:tailEnd len="med" w="med" type="triangle"/>
            </a:ln>
          </p:spPr>
        </p:cxnSp>
        <p:sp>
          <p:nvSpPr>
            <p:cNvPr id="871" name="Google Shape;871;p30"/>
            <p:cNvSpPr txBox="1"/>
            <p:nvPr/>
          </p:nvSpPr>
          <p:spPr>
            <a:xfrm>
              <a:off x="12621112" y="16410222"/>
              <a:ext cx="1810500" cy="8538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Deliver personalized interpretation</a:t>
              </a:r>
              <a:endParaRPr i="0" sz="1032">
                <a:solidFill>
                  <a:srgbClr val="000000"/>
                </a:solidFill>
                <a:latin typeface="Proxima Nova"/>
                <a:ea typeface="Proxima Nova"/>
                <a:cs typeface="Proxima Nova"/>
                <a:sym typeface="Proxima Nova"/>
              </a:endParaRPr>
            </a:p>
          </p:txBody>
        </p:sp>
      </p:grpSp>
      <p:grpSp>
        <p:nvGrpSpPr>
          <p:cNvPr id="872" name="Google Shape;872;p30"/>
          <p:cNvGrpSpPr/>
          <p:nvPr/>
        </p:nvGrpSpPr>
        <p:grpSpPr>
          <a:xfrm>
            <a:off x="841439" y="8151176"/>
            <a:ext cx="5696825" cy="849899"/>
            <a:chOff x="1651406" y="3"/>
            <a:chExt cx="6764219" cy="805897"/>
          </a:xfrm>
        </p:grpSpPr>
        <p:grpSp>
          <p:nvGrpSpPr>
            <p:cNvPr id="873" name="Google Shape;873;p30"/>
            <p:cNvGrpSpPr/>
            <p:nvPr/>
          </p:nvGrpSpPr>
          <p:grpSpPr>
            <a:xfrm>
              <a:off x="1651406" y="3"/>
              <a:ext cx="4423813" cy="639000"/>
              <a:chOff x="1651406" y="3"/>
              <a:chExt cx="4423813" cy="639000"/>
            </a:xfrm>
          </p:grpSpPr>
          <p:sp>
            <p:nvSpPr>
              <p:cNvPr id="874" name="Google Shape;874;p30"/>
              <p:cNvSpPr/>
              <p:nvPr/>
            </p:nvSpPr>
            <p:spPr>
              <a:xfrm>
                <a:off x="1651406" y="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Identity</a:t>
                </a:r>
                <a:endParaRPr sz="2040">
                  <a:solidFill>
                    <a:srgbClr val="FFFFFF"/>
                  </a:solidFill>
                  <a:latin typeface="Proxima Nova"/>
                  <a:ea typeface="Proxima Nova"/>
                  <a:cs typeface="Proxima Nova"/>
                  <a:sym typeface="Proxima Nova"/>
                </a:endParaRPr>
              </a:p>
            </p:txBody>
          </p:sp>
          <p:sp>
            <p:nvSpPr>
              <p:cNvPr id="875" name="Google Shape;875;p30"/>
              <p:cNvSpPr/>
              <p:nvPr/>
            </p:nvSpPr>
            <p:spPr>
              <a:xfrm>
                <a:off x="3932019" y="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Private Health Information</a:t>
                </a:r>
                <a:endParaRPr sz="2040">
                  <a:solidFill>
                    <a:srgbClr val="FFFFFF"/>
                  </a:solidFill>
                  <a:latin typeface="Proxima Nova"/>
                  <a:ea typeface="Proxima Nova"/>
                  <a:cs typeface="Proxima Nova"/>
                  <a:sym typeface="Proxima Nova"/>
                </a:endParaRPr>
              </a:p>
            </p:txBody>
          </p:sp>
        </p:grpSp>
        <p:sp>
          <p:nvSpPr>
            <p:cNvPr id="876" name="Google Shape;876;p30"/>
            <p:cNvSpPr txBox="1"/>
            <p:nvPr/>
          </p:nvSpPr>
          <p:spPr>
            <a:xfrm>
              <a:off x="6272425" y="58300"/>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Trust Boundary</a:t>
              </a:r>
              <a:endParaRPr sz="2040">
                <a:solidFill>
                  <a:srgbClr val="E85453"/>
                </a:solidFill>
                <a:latin typeface="Proxima Nova"/>
                <a:ea typeface="Proxima Nova"/>
                <a:cs typeface="Proxima Nova"/>
                <a:sym typeface="Proxima Nova"/>
              </a:endParaRPr>
            </a:p>
          </p:txBody>
        </p:sp>
      </p:grpSp>
      <p:grpSp>
        <p:nvGrpSpPr>
          <p:cNvPr id="877" name="Google Shape;877;p30"/>
          <p:cNvGrpSpPr/>
          <p:nvPr/>
        </p:nvGrpSpPr>
        <p:grpSpPr>
          <a:xfrm>
            <a:off x="841439" y="9166651"/>
            <a:ext cx="9485083" cy="673889"/>
            <a:chOff x="1651406" y="962903"/>
            <a:chExt cx="11262269" cy="639000"/>
          </a:xfrm>
        </p:grpSpPr>
        <p:grpSp>
          <p:nvGrpSpPr>
            <p:cNvPr id="878" name="Google Shape;878;p30"/>
            <p:cNvGrpSpPr/>
            <p:nvPr/>
          </p:nvGrpSpPr>
          <p:grpSpPr>
            <a:xfrm>
              <a:off x="1651406" y="962903"/>
              <a:ext cx="8896256" cy="639000"/>
              <a:chOff x="1651406" y="962903"/>
              <a:chExt cx="8896256" cy="639000"/>
            </a:xfrm>
          </p:grpSpPr>
          <p:sp>
            <p:nvSpPr>
              <p:cNvPr id="879" name="Google Shape;879;p30"/>
              <p:cNvSpPr/>
              <p:nvPr/>
            </p:nvSpPr>
            <p:spPr>
              <a:xfrm>
                <a:off x="1651406"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Result</a:t>
                </a:r>
                <a:endParaRPr sz="2040">
                  <a:solidFill>
                    <a:srgbClr val="FFFFFF"/>
                  </a:solidFill>
                  <a:latin typeface="Proxima Nova"/>
                  <a:ea typeface="Proxima Nova"/>
                  <a:cs typeface="Proxima Nova"/>
                  <a:sym typeface="Proxima Nova"/>
                </a:endParaRPr>
              </a:p>
            </p:txBody>
          </p:sp>
          <p:sp>
            <p:nvSpPr>
              <p:cNvPr id="880" name="Google Shape;880;p30"/>
              <p:cNvSpPr/>
              <p:nvPr/>
            </p:nvSpPr>
            <p:spPr>
              <a:xfrm>
                <a:off x="3932019"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Patient Context</a:t>
                </a:r>
                <a:endParaRPr sz="2040">
                  <a:solidFill>
                    <a:srgbClr val="FFFFFF"/>
                  </a:solidFill>
                  <a:latin typeface="Proxima Nova"/>
                  <a:ea typeface="Proxima Nova"/>
                  <a:cs typeface="Proxima Nova"/>
                  <a:sym typeface="Proxima Nova"/>
                </a:endParaRPr>
              </a:p>
            </p:txBody>
          </p:sp>
          <p:sp>
            <p:nvSpPr>
              <p:cNvPr id="881" name="Google Shape;881;p30"/>
              <p:cNvSpPr/>
              <p:nvPr/>
            </p:nvSpPr>
            <p:spPr>
              <a:xfrm>
                <a:off x="6171000"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Prior History</a:t>
                </a:r>
                <a:endParaRPr sz="2040">
                  <a:solidFill>
                    <a:srgbClr val="FFFFFF"/>
                  </a:solidFill>
                  <a:latin typeface="Proxima Nova"/>
                  <a:ea typeface="Proxima Nova"/>
                  <a:cs typeface="Proxima Nova"/>
                  <a:sym typeface="Proxima Nova"/>
                </a:endParaRPr>
              </a:p>
            </p:txBody>
          </p:sp>
          <p:sp>
            <p:nvSpPr>
              <p:cNvPr id="882" name="Google Shape;882;p30"/>
              <p:cNvSpPr/>
              <p:nvPr/>
            </p:nvSpPr>
            <p:spPr>
              <a:xfrm>
                <a:off x="8404463"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Abnormal Patterns</a:t>
                </a:r>
                <a:endParaRPr sz="2040">
                  <a:solidFill>
                    <a:srgbClr val="FFFFFF"/>
                  </a:solidFill>
                  <a:latin typeface="Proxima Nova"/>
                  <a:ea typeface="Proxima Nova"/>
                  <a:cs typeface="Proxima Nova"/>
                  <a:sym typeface="Proxima Nova"/>
                </a:endParaRPr>
              </a:p>
            </p:txBody>
          </p:sp>
        </p:grpSp>
        <p:sp>
          <p:nvSpPr>
            <p:cNvPr id="883" name="Google Shape;883;p30"/>
            <p:cNvSpPr txBox="1"/>
            <p:nvPr/>
          </p:nvSpPr>
          <p:spPr>
            <a:xfrm>
              <a:off x="10770475" y="1013000"/>
              <a:ext cx="2143200" cy="4500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Case Framing</a:t>
              </a:r>
              <a:endParaRPr sz="2040">
                <a:solidFill>
                  <a:srgbClr val="E85453"/>
                </a:solidFill>
                <a:latin typeface="Proxima Nova"/>
                <a:ea typeface="Proxima Nova"/>
                <a:cs typeface="Proxima Nova"/>
                <a:sym typeface="Proxima Nova"/>
              </a:endParaRPr>
            </a:p>
          </p:txBody>
        </p:sp>
      </p:grpSp>
      <p:grpSp>
        <p:nvGrpSpPr>
          <p:cNvPr id="884" name="Google Shape;884;p30"/>
          <p:cNvGrpSpPr/>
          <p:nvPr/>
        </p:nvGrpSpPr>
        <p:grpSpPr>
          <a:xfrm>
            <a:off x="841439" y="10135826"/>
            <a:ext cx="7596240" cy="788419"/>
            <a:chOff x="1651406" y="1881901"/>
            <a:chExt cx="9019521" cy="747600"/>
          </a:xfrm>
        </p:grpSpPr>
        <p:grpSp>
          <p:nvGrpSpPr>
            <p:cNvPr id="885" name="Google Shape;885;p30"/>
            <p:cNvGrpSpPr/>
            <p:nvPr/>
          </p:nvGrpSpPr>
          <p:grpSpPr>
            <a:xfrm>
              <a:off x="1651406" y="1917578"/>
              <a:ext cx="6662794" cy="639000"/>
              <a:chOff x="1651406" y="1917578"/>
              <a:chExt cx="6662794" cy="639000"/>
            </a:xfrm>
          </p:grpSpPr>
          <p:sp>
            <p:nvSpPr>
              <p:cNvPr id="886" name="Google Shape;886;p30"/>
              <p:cNvSpPr/>
              <p:nvPr/>
            </p:nvSpPr>
            <p:spPr>
              <a:xfrm>
                <a:off x="1651406"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Mayo Clinical Knowledge</a:t>
                </a:r>
                <a:endParaRPr sz="2040">
                  <a:solidFill>
                    <a:srgbClr val="FFFFFF"/>
                  </a:solidFill>
                  <a:latin typeface="Proxima Nova"/>
                  <a:ea typeface="Proxima Nova"/>
                  <a:cs typeface="Proxima Nova"/>
                  <a:sym typeface="Proxima Nova"/>
                </a:endParaRPr>
              </a:p>
            </p:txBody>
          </p:sp>
          <p:sp>
            <p:nvSpPr>
              <p:cNvPr id="887" name="Google Shape;887;p30"/>
              <p:cNvSpPr/>
              <p:nvPr/>
            </p:nvSpPr>
            <p:spPr>
              <a:xfrm>
                <a:off x="3932019"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Research Evidence</a:t>
                </a:r>
                <a:endParaRPr sz="2040">
                  <a:solidFill>
                    <a:srgbClr val="FFFFFF"/>
                  </a:solidFill>
                  <a:latin typeface="Proxima Nova"/>
                  <a:ea typeface="Proxima Nova"/>
                  <a:cs typeface="Proxima Nova"/>
                  <a:sym typeface="Proxima Nova"/>
                </a:endParaRPr>
              </a:p>
            </p:txBody>
          </p:sp>
          <p:sp>
            <p:nvSpPr>
              <p:cNvPr id="888" name="Google Shape;888;p30"/>
              <p:cNvSpPr/>
              <p:nvPr/>
            </p:nvSpPr>
            <p:spPr>
              <a:xfrm>
                <a:off x="6171000"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Guidelines</a:t>
                </a:r>
                <a:endParaRPr sz="2040">
                  <a:solidFill>
                    <a:srgbClr val="FFFFFF"/>
                  </a:solidFill>
                  <a:latin typeface="Proxima Nova"/>
                  <a:ea typeface="Proxima Nova"/>
                  <a:cs typeface="Proxima Nova"/>
                  <a:sym typeface="Proxima Nova"/>
                </a:endParaRPr>
              </a:p>
            </p:txBody>
          </p:sp>
        </p:grpSp>
        <p:sp>
          <p:nvSpPr>
            <p:cNvPr id="889" name="Google Shape;889;p30"/>
            <p:cNvSpPr txBox="1"/>
            <p:nvPr/>
          </p:nvSpPr>
          <p:spPr>
            <a:xfrm>
              <a:off x="8527727" y="1881901"/>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Evidence Base</a:t>
              </a:r>
              <a:endParaRPr sz="2040">
                <a:solidFill>
                  <a:srgbClr val="E85453"/>
                </a:solidFill>
                <a:latin typeface="Proxima Nova"/>
                <a:ea typeface="Proxima Nova"/>
                <a:cs typeface="Proxima Nova"/>
                <a:sym typeface="Proxima Nova"/>
              </a:endParaRPr>
            </a:p>
          </p:txBody>
        </p:sp>
      </p:grpSp>
      <p:grpSp>
        <p:nvGrpSpPr>
          <p:cNvPr id="890" name="Google Shape;890;p30"/>
          <p:cNvGrpSpPr/>
          <p:nvPr/>
        </p:nvGrpSpPr>
        <p:grpSpPr>
          <a:xfrm>
            <a:off x="841439" y="11119503"/>
            <a:ext cx="8042141" cy="788419"/>
            <a:chOff x="1651406" y="2814650"/>
            <a:chExt cx="9548969" cy="747600"/>
          </a:xfrm>
        </p:grpSpPr>
        <p:grpSp>
          <p:nvGrpSpPr>
            <p:cNvPr id="891" name="Google Shape;891;p30"/>
            <p:cNvGrpSpPr/>
            <p:nvPr/>
          </p:nvGrpSpPr>
          <p:grpSpPr>
            <a:xfrm>
              <a:off x="1651406" y="2832503"/>
              <a:ext cx="6662794" cy="639000"/>
              <a:chOff x="1651406" y="2832503"/>
              <a:chExt cx="6662794" cy="639000"/>
            </a:xfrm>
          </p:grpSpPr>
          <p:sp>
            <p:nvSpPr>
              <p:cNvPr id="892" name="Google Shape;892;p30"/>
              <p:cNvSpPr/>
              <p:nvPr/>
            </p:nvSpPr>
            <p:spPr>
              <a:xfrm>
                <a:off x="1651406"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Specialist Roles</a:t>
                </a:r>
                <a:endParaRPr sz="2040">
                  <a:solidFill>
                    <a:srgbClr val="FFFFFF"/>
                  </a:solidFill>
                  <a:latin typeface="Proxima Nova"/>
                  <a:ea typeface="Proxima Nova"/>
                  <a:cs typeface="Proxima Nova"/>
                  <a:sym typeface="Proxima Nova"/>
                </a:endParaRPr>
              </a:p>
            </p:txBody>
          </p:sp>
          <p:sp>
            <p:nvSpPr>
              <p:cNvPr id="893" name="Google Shape;893;p30"/>
              <p:cNvSpPr/>
              <p:nvPr/>
            </p:nvSpPr>
            <p:spPr>
              <a:xfrm>
                <a:off x="3932019"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Synthesis</a:t>
                </a:r>
                <a:endParaRPr sz="2040">
                  <a:solidFill>
                    <a:srgbClr val="FFFFFF"/>
                  </a:solidFill>
                  <a:latin typeface="Proxima Nova"/>
                  <a:ea typeface="Proxima Nova"/>
                  <a:cs typeface="Proxima Nova"/>
                  <a:sym typeface="Proxima Nova"/>
                </a:endParaRPr>
              </a:p>
            </p:txBody>
          </p:sp>
          <p:sp>
            <p:nvSpPr>
              <p:cNvPr id="894" name="Google Shape;894;p30"/>
              <p:cNvSpPr/>
              <p:nvPr/>
            </p:nvSpPr>
            <p:spPr>
              <a:xfrm>
                <a:off x="6171000"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Prior Reconciliation</a:t>
                </a:r>
                <a:endParaRPr sz="2040">
                  <a:solidFill>
                    <a:srgbClr val="FFFFFF"/>
                  </a:solidFill>
                  <a:latin typeface="Proxima Nova"/>
                  <a:ea typeface="Proxima Nova"/>
                  <a:cs typeface="Proxima Nova"/>
                  <a:sym typeface="Proxima Nova"/>
                </a:endParaRPr>
              </a:p>
            </p:txBody>
          </p:sp>
        </p:grpSp>
        <p:sp>
          <p:nvSpPr>
            <p:cNvPr id="895" name="Google Shape;895;p30"/>
            <p:cNvSpPr txBox="1"/>
            <p:nvPr/>
          </p:nvSpPr>
          <p:spPr>
            <a:xfrm>
              <a:off x="8560375" y="2814650"/>
              <a:ext cx="26400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Interpretation Core</a:t>
              </a:r>
              <a:endParaRPr sz="2040">
                <a:solidFill>
                  <a:srgbClr val="E85453"/>
                </a:solidFill>
                <a:latin typeface="Proxima Nova"/>
                <a:ea typeface="Proxima Nova"/>
                <a:cs typeface="Proxima Nova"/>
                <a:sym typeface="Proxima Nova"/>
              </a:endParaRPr>
            </a:p>
          </p:txBody>
        </p:sp>
      </p:grpSp>
      <p:grpSp>
        <p:nvGrpSpPr>
          <p:cNvPr id="896" name="Google Shape;896;p30"/>
          <p:cNvGrpSpPr/>
          <p:nvPr/>
        </p:nvGrpSpPr>
        <p:grpSpPr>
          <a:xfrm>
            <a:off x="841439" y="12103184"/>
            <a:ext cx="9485083" cy="841251"/>
            <a:chOff x="1651406" y="3747403"/>
            <a:chExt cx="11262269" cy="797697"/>
          </a:xfrm>
        </p:grpSpPr>
        <p:grpSp>
          <p:nvGrpSpPr>
            <p:cNvPr id="897" name="Google Shape;897;p30"/>
            <p:cNvGrpSpPr/>
            <p:nvPr/>
          </p:nvGrpSpPr>
          <p:grpSpPr>
            <a:xfrm>
              <a:off x="1651406" y="3747403"/>
              <a:ext cx="8896256" cy="639000"/>
              <a:chOff x="1651406" y="3747403"/>
              <a:chExt cx="8896256" cy="639000"/>
            </a:xfrm>
          </p:grpSpPr>
          <p:sp>
            <p:nvSpPr>
              <p:cNvPr id="898" name="Google Shape;898;p30"/>
              <p:cNvSpPr/>
              <p:nvPr/>
            </p:nvSpPr>
            <p:spPr>
              <a:xfrm>
                <a:off x="1651406"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Traceability</a:t>
                </a:r>
                <a:endParaRPr sz="2040">
                  <a:solidFill>
                    <a:srgbClr val="FFFFFF"/>
                  </a:solidFill>
                  <a:latin typeface="Proxima Nova"/>
                  <a:ea typeface="Proxima Nova"/>
                  <a:cs typeface="Proxima Nova"/>
                  <a:sym typeface="Proxima Nova"/>
                </a:endParaRPr>
              </a:p>
            </p:txBody>
          </p:sp>
          <p:sp>
            <p:nvSpPr>
              <p:cNvPr id="899" name="Google Shape;899;p30"/>
              <p:cNvSpPr/>
              <p:nvPr/>
            </p:nvSpPr>
            <p:spPr>
              <a:xfrm>
                <a:off x="3932019"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Safety Gates</a:t>
                </a:r>
                <a:endParaRPr sz="2040">
                  <a:solidFill>
                    <a:srgbClr val="FFFFFF"/>
                  </a:solidFill>
                  <a:latin typeface="Proxima Nova"/>
                  <a:ea typeface="Proxima Nova"/>
                  <a:cs typeface="Proxima Nova"/>
                  <a:sym typeface="Proxima Nova"/>
                </a:endParaRPr>
              </a:p>
            </p:txBody>
          </p:sp>
          <p:sp>
            <p:nvSpPr>
              <p:cNvPr id="900" name="Google Shape;900;p30"/>
              <p:cNvSpPr/>
              <p:nvPr/>
            </p:nvSpPr>
            <p:spPr>
              <a:xfrm>
                <a:off x="6171000"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Approval Rules</a:t>
                </a:r>
                <a:endParaRPr sz="2040">
                  <a:solidFill>
                    <a:srgbClr val="FFFFFF"/>
                  </a:solidFill>
                  <a:latin typeface="Proxima Nova"/>
                  <a:ea typeface="Proxima Nova"/>
                  <a:cs typeface="Proxima Nova"/>
                  <a:sym typeface="Proxima Nova"/>
                </a:endParaRPr>
              </a:p>
            </p:txBody>
          </p:sp>
          <p:sp>
            <p:nvSpPr>
              <p:cNvPr id="901" name="Google Shape;901;p30"/>
              <p:cNvSpPr/>
              <p:nvPr/>
            </p:nvSpPr>
            <p:spPr>
              <a:xfrm>
                <a:off x="8404463"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Escalation</a:t>
                </a:r>
                <a:endParaRPr sz="2040">
                  <a:solidFill>
                    <a:srgbClr val="FFFFFF"/>
                  </a:solidFill>
                  <a:latin typeface="Proxima Nova"/>
                  <a:ea typeface="Proxima Nova"/>
                  <a:cs typeface="Proxima Nova"/>
                  <a:sym typeface="Proxima Nova"/>
                </a:endParaRPr>
              </a:p>
            </p:txBody>
          </p:sp>
        </p:grpSp>
        <p:sp>
          <p:nvSpPr>
            <p:cNvPr id="902" name="Google Shape;902;p30"/>
            <p:cNvSpPr txBox="1"/>
            <p:nvPr/>
          </p:nvSpPr>
          <p:spPr>
            <a:xfrm>
              <a:off x="10770475" y="3797500"/>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Clinical Review</a:t>
              </a:r>
              <a:endParaRPr sz="2040">
                <a:solidFill>
                  <a:srgbClr val="E85453"/>
                </a:solidFill>
                <a:latin typeface="Proxima Nova"/>
                <a:ea typeface="Proxima Nova"/>
                <a:cs typeface="Proxima Nova"/>
                <a:sym typeface="Proxima Nova"/>
              </a:endParaRPr>
            </a:p>
          </p:txBody>
        </p:sp>
      </p:grpSp>
      <p:grpSp>
        <p:nvGrpSpPr>
          <p:cNvPr id="903" name="Google Shape;903;p30"/>
          <p:cNvGrpSpPr/>
          <p:nvPr/>
        </p:nvGrpSpPr>
        <p:grpSpPr>
          <a:xfrm>
            <a:off x="841439" y="13068038"/>
            <a:ext cx="6350204" cy="673889"/>
            <a:chOff x="1651406" y="4662303"/>
            <a:chExt cx="7540019" cy="639000"/>
          </a:xfrm>
        </p:grpSpPr>
        <p:grpSp>
          <p:nvGrpSpPr>
            <p:cNvPr id="904" name="Google Shape;904;p30"/>
            <p:cNvGrpSpPr/>
            <p:nvPr/>
          </p:nvGrpSpPr>
          <p:grpSpPr>
            <a:xfrm>
              <a:off x="1651406" y="4662303"/>
              <a:ext cx="4423813" cy="639000"/>
              <a:chOff x="1651406" y="4662303"/>
              <a:chExt cx="4423813" cy="639000"/>
            </a:xfrm>
          </p:grpSpPr>
          <p:sp>
            <p:nvSpPr>
              <p:cNvPr id="905" name="Google Shape;905;p30"/>
              <p:cNvSpPr/>
              <p:nvPr/>
            </p:nvSpPr>
            <p:spPr>
              <a:xfrm>
                <a:off x="1651406" y="46623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Workflow Delivery</a:t>
                </a:r>
                <a:endParaRPr sz="2040">
                  <a:solidFill>
                    <a:srgbClr val="FFFFFF"/>
                  </a:solidFill>
                  <a:latin typeface="Proxima Nova"/>
                  <a:ea typeface="Proxima Nova"/>
                  <a:cs typeface="Proxima Nova"/>
                  <a:sym typeface="Proxima Nova"/>
                </a:endParaRPr>
              </a:p>
            </p:txBody>
          </p:sp>
          <p:sp>
            <p:nvSpPr>
              <p:cNvPr id="906" name="Google Shape;906;p30"/>
              <p:cNvSpPr/>
              <p:nvPr/>
            </p:nvSpPr>
            <p:spPr>
              <a:xfrm>
                <a:off x="3932019" y="46623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Feedback</a:t>
                </a:r>
                <a:endParaRPr sz="2040">
                  <a:solidFill>
                    <a:srgbClr val="FFFFFF"/>
                  </a:solidFill>
                  <a:latin typeface="Proxima Nova"/>
                  <a:ea typeface="Proxima Nova"/>
                  <a:cs typeface="Proxima Nova"/>
                  <a:sym typeface="Proxima Nova"/>
                </a:endParaRPr>
              </a:p>
            </p:txBody>
          </p:sp>
        </p:grpSp>
        <p:sp>
          <p:nvSpPr>
            <p:cNvPr id="907" name="Google Shape;907;p30"/>
            <p:cNvSpPr txBox="1"/>
            <p:nvPr/>
          </p:nvSpPr>
          <p:spPr>
            <a:xfrm>
              <a:off x="6272425" y="4712400"/>
              <a:ext cx="2919000" cy="4500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Physician Delivery</a:t>
              </a:r>
              <a:endParaRPr sz="2040">
                <a:solidFill>
                  <a:srgbClr val="E85453"/>
                </a:solidFill>
                <a:latin typeface="Proxima Nova"/>
                <a:ea typeface="Proxima Nova"/>
                <a:cs typeface="Proxima Nova"/>
                <a:sym typeface="Proxima Nova"/>
              </a:endParaRPr>
            </a:p>
          </p:txBody>
        </p:sp>
      </p:grpSp>
      <p:sp>
        <p:nvSpPr>
          <p:cNvPr id="908" name="Google Shape;908;p30"/>
          <p:cNvSpPr txBox="1"/>
          <p:nvPr/>
        </p:nvSpPr>
        <p:spPr>
          <a:xfrm>
            <a:off x="349080" y="13924618"/>
            <a:ext cx="102669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architecture protects patient data, frames lab results with patient context from the EHR, retrieves Mayo and external clinical evidence, and uses specialized AI roles to synthesize a physician-facing interpretation. Before delivery, the output is checked for traceability, escalated for clinical review when needed, and then returned to the physician workflow with feedback captured for continuous improvement.</a:t>
            </a:r>
            <a:endParaRPr sz="2040">
              <a:solidFill>
                <a:schemeClr val="dk2"/>
              </a:solidFill>
              <a:latin typeface="Proxima Nova"/>
              <a:ea typeface="Proxima Nova"/>
              <a:cs typeface="Proxima Nova"/>
              <a:sym typeface="Proxima Nova"/>
            </a:endParaRPr>
          </a:p>
        </p:txBody>
      </p:sp>
      <p:sp>
        <p:nvSpPr>
          <p:cNvPr id="909" name="Google Shape;909;p30"/>
          <p:cNvSpPr txBox="1"/>
          <p:nvPr/>
        </p:nvSpPr>
        <p:spPr>
          <a:xfrm>
            <a:off x="10822080" y="14214623"/>
            <a:ext cx="89406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sequence diagram shows how the clinical librarian fits into the existing lab workflow. After a physician requests an exam, Mayo Clinic Labs runs the test and stores the result in the EHR. The clinical librarian then combines the result with patient context and Mayo research-backed clinical knowledge to generate a traceable interpretation for physician review and use.</a:t>
            </a:r>
            <a:endParaRPr sz="2040">
              <a:solidFill>
                <a:schemeClr val="dk2"/>
              </a:solidFill>
              <a:latin typeface="Proxima Nova"/>
              <a:ea typeface="Proxima Nova"/>
              <a:cs typeface="Proxima Nova"/>
              <a:sym typeface="Proxima Nova"/>
            </a:endParaRPr>
          </a:p>
        </p:txBody>
      </p:sp>
      <p:sp>
        <p:nvSpPr>
          <p:cNvPr id="910" name="Google Shape;910;p30"/>
          <p:cNvSpPr txBox="1"/>
          <p:nvPr/>
        </p:nvSpPr>
        <p:spPr>
          <a:xfrm>
            <a:off x="21349740" y="2606460"/>
            <a:ext cx="10972800" cy="1980000"/>
          </a:xfrm>
          <a:prstGeom prst="rect">
            <a:avLst/>
          </a:prstGeom>
          <a:noFill/>
          <a:ln>
            <a:noFill/>
          </a:ln>
        </p:spPr>
        <p:txBody>
          <a:bodyPr anchorCtr="0" anchor="t" bIns="109700" lIns="109700" spcFirstLastPara="1" rIns="109700" wrap="square" tIns="109700">
            <a:spAutoFit/>
          </a:bodyPr>
          <a:lstStyle/>
          <a:p>
            <a:pPr indent="0" lvl="0" marL="0" marR="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tradespace maps current alternatives against cost and clinical accuracy. Epic Systems sits in the low-cost, lower-accuracy region; Labcorp sits in the moderate-cost, moderate-accuracy region; and the current Mayo Clinic model sits in the high-accuracy, high-cost region. The selected Sanguine design aims to move closer to Mayo-level clinical quality while improving scalability through evidence grounding, specialized AI roles, traceability, and clinical review.</a:t>
            </a:r>
            <a:endParaRPr sz="2040">
              <a:solidFill>
                <a:schemeClr val="dk2"/>
              </a:solidFill>
              <a:latin typeface="Proxima Nova"/>
              <a:ea typeface="Proxima Nova"/>
              <a:cs typeface="Proxima Nova"/>
              <a:sym typeface="Proxima Nova"/>
            </a:endParaRPr>
          </a:p>
        </p:txBody>
      </p:sp>
      <p:graphicFrame>
        <p:nvGraphicFramePr>
          <p:cNvPr id="911" name="Google Shape;911;p30"/>
          <p:cNvGraphicFramePr/>
          <p:nvPr/>
        </p:nvGraphicFramePr>
        <p:xfrm>
          <a:off x="27318159" y="6016247"/>
          <a:ext cx="3000000" cy="3000000"/>
        </p:xfrm>
        <a:graphic>
          <a:graphicData uri="http://schemas.openxmlformats.org/drawingml/2006/table">
            <a:tbl>
              <a:tblPr>
                <a:noFill/>
                <a:tableStyleId>{E802A5B2-C3E8-4156-8B02-1924D521DFD5}</a:tableStyleId>
              </a:tblPr>
              <a:tblGrid>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tblGrid>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6</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9</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1</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8</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2</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6</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9</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1</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8</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2</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highlight>
                          <a:srgbClr val="202729"/>
                        </a:highlight>
                        <a:latin typeface="Proxima Nova"/>
                        <a:ea typeface="Proxima Nova"/>
                        <a:cs typeface="Proxima Nova"/>
                        <a:sym typeface="Proxima Nova"/>
                      </a:endParaRPr>
                    </a:p>
                  </a:txBody>
                  <a:tcPr marT="0" marB="0" marR="0" marL="0" anchor="ctr">
                    <a:solidFill>
                      <a:srgbClr val="83CAEB"/>
                    </a:solidFill>
                  </a:tcPr>
                </a:tc>
              </a:tr>
            </a:tbl>
          </a:graphicData>
        </a:graphic>
      </p:graphicFrame>
      <p:grpSp>
        <p:nvGrpSpPr>
          <p:cNvPr id="912" name="Google Shape;912;p30"/>
          <p:cNvGrpSpPr/>
          <p:nvPr/>
        </p:nvGrpSpPr>
        <p:grpSpPr>
          <a:xfrm>
            <a:off x="27344917" y="5481665"/>
            <a:ext cx="5246711" cy="553680"/>
            <a:chOff x="3409794" y="395472"/>
            <a:chExt cx="4372259" cy="461400"/>
          </a:xfrm>
        </p:grpSpPr>
        <p:sp>
          <p:nvSpPr>
            <p:cNvPr id="913" name="Google Shape;913;p30"/>
            <p:cNvSpPr txBox="1"/>
            <p:nvPr/>
          </p:nvSpPr>
          <p:spPr>
            <a:xfrm rot="-5400000">
              <a:off x="3340794"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a:t>
              </a:r>
              <a:endParaRPr sz="840">
                <a:latin typeface="Proxima Nova"/>
                <a:ea typeface="Proxima Nova"/>
                <a:cs typeface="Proxima Nova"/>
                <a:sym typeface="Proxima Nova"/>
              </a:endParaRPr>
            </a:p>
          </p:txBody>
        </p:sp>
        <p:sp>
          <p:nvSpPr>
            <p:cNvPr id="914" name="Google Shape;914;p30"/>
            <p:cNvSpPr txBox="1"/>
            <p:nvPr/>
          </p:nvSpPr>
          <p:spPr>
            <a:xfrm rot="-5400000">
              <a:off x="3541097"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a:t>
              </a:r>
              <a:endParaRPr sz="840">
                <a:latin typeface="Proxima Nova"/>
                <a:ea typeface="Proxima Nova"/>
                <a:cs typeface="Proxima Nova"/>
                <a:sym typeface="Proxima Nova"/>
              </a:endParaRPr>
            </a:p>
          </p:txBody>
        </p:sp>
        <p:sp>
          <p:nvSpPr>
            <p:cNvPr id="915" name="Google Shape;915;p30"/>
            <p:cNvSpPr txBox="1"/>
            <p:nvPr/>
          </p:nvSpPr>
          <p:spPr>
            <a:xfrm rot="-5400000">
              <a:off x="374139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3</a:t>
              </a:r>
              <a:endParaRPr sz="840">
                <a:latin typeface="Proxima Nova"/>
                <a:ea typeface="Proxima Nova"/>
                <a:cs typeface="Proxima Nova"/>
                <a:sym typeface="Proxima Nova"/>
              </a:endParaRPr>
            </a:p>
          </p:txBody>
        </p:sp>
        <p:sp>
          <p:nvSpPr>
            <p:cNvPr id="916" name="Google Shape;916;p30"/>
            <p:cNvSpPr txBox="1"/>
            <p:nvPr/>
          </p:nvSpPr>
          <p:spPr>
            <a:xfrm rot="-5400000">
              <a:off x="394170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4</a:t>
              </a:r>
              <a:endParaRPr sz="840">
                <a:latin typeface="Proxima Nova"/>
                <a:ea typeface="Proxima Nova"/>
                <a:cs typeface="Proxima Nova"/>
                <a:sym typeface="Proxima Nova"/>
              </a:endParaRPr>
            </a:p>
          </p:txBody>
        </p:sp>
        <p:sp>
          <p:nvSpPr>
            <p:cNvPr id="917" name="Google Shape;917;p30"/>
            <p:cNvSpPr txBox="1"/>
            <p:nvPr/>
          </p:nvSpPr>
          <p:spPr>
            <a:xfrm rot="-5400000">
              <a:off x="414200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5</a:t>
              </a:r>
              <a:endParaRPr sz="840">
                <a:latin typeface="Proxima Nova"/>
                <a:ea typeface="Proxima Nova"/>
                <a:cs typeface="Proxima Nova"/>
                <a:sym typeface="Proxima Nova"/>
              </a:endParaRPr>
            </a:p>
          </p:txBody>
        </p:sp>
        <p:sp>
          <p:nvSpPr>
            <p:cNvPr id="918" name="Google Shape;918;p30"/>
            <p:cNvSpPr txBox="1"/>
            <p:nvPr/>
          </p:nvSpPr>
          <p:spPr>
            <a:xfrm rot="-5400000">
              <a:off x="4342308"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6</a:t>
              </a:r>
              <a:endParaRPr sz="840">
                <a:latin typeface="Proxima Nova"/>
                <a:ea typeface="Proxima Nova"/>
                <a:cs typeface="Proxima Nova"/>
                <a:sym typeface="Proxima Nova"/>
              </a:endParaRPr>
            </a:p>
          </p:txBody>
        </p:sp>
        <p:sp>
          <p:nvSpPr>
            <p:cNvPr id="919" name="Google Shape;919;p30"/>
            <p:cNvSpPr txBox="1"/>
            <p:nvPr/>
          </p:nvSpPr>
          <p:spPr>
            <a:xfrm rot="-5400000">
              <a:off x="4542611"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7</a:t>
              </a:r>
              <a:endParaRPr sz="840">
                <a:latin typeface="Proxima Nova"/>
                <a:ea typeface="Proxima Nova"/>
                <a:cs typeface="Proxima Nova"/>
                <a:sym typeface="Proxima Nova"/>
              </a:endParaRPr>
            </a:p>
          </p:txBody>
        </p:sp>
        <p:sp>
          <p:nvSpPr>
            <p:cNvPr id="920" name="Google Shape;920;p30"/>
            <p:cNvSpPr txBox="1"/>
            <p:nvPr/>
          </p:nvSpPr>
          <p:spPr>
            <a:xfrm rot="-5400000">
              <a:off x="4737964" y="617022"/>
              <a:ext cx="3138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8</a:t>
              </a:r>
              <a:endParaRPr sz="840">
                <a:latin typeface="Proxima Nova"/>
                <a:ea typeface="Proxima Nova"/>
                <a:cs typeface="Proxima Nova"/>
                <a:sym typeface="Proxima Nova"/>
              </a:endParaRPr>
            </a:p>
          </p:txBody>
        </p:sp>
        <p:sp>
          <p:nvSpPr>
            <p:cNvPr id="921" name="Google Shape;921;p30"/>
            <p:cNvSpPr txBox="1"/>
            <p:nvPr/>
          </p:nvSpPr>
          <p:spPr>
            <a:xfrm rot="-5400000">
              <a:off x="4943216"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9</a:t>
              </a:r>
              <a:endParaRPr sz="840">
                <a:latin typeface="Proxima Nova"/>
                <a:ea typeface="Proxima Nova"/>
                <a:cs typeface="Proxima Nova"/>
                <a:sym typeface="Proxima Nova"/>
              </a:endParaRPr>
            </a:p>
          </p:txBody>
        </p:sp>
        <p:sp>
          <p:nvSpPr>
            <p:cNvPr id="922" name="Google Shape;922;p30"/>
            <p:cNvSpPr txBox="1"/>
            <p:nvPr/>
          </p:nvSpPr>
          <p:spPr>
            <a:xfrm rot="-5400000">
              <a:off x="514351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10</a:t>
              </a:r>
              <a:endParaRPr sz="840">
                <a:latin typeface="Proxima Nova"/>
                <a:ea typeface="Proxima Nova"/>
                <a:cs typeface="Proxima Nova"/>
                <a:sym typeface="Proxima Nova"/>
              </a:endParaRPr>
            </a:p>
          </p:txBody>
        </p:sp>
        <p:sp>
          <p:nvSpPr>
            <p:cNvPr id="923" name="Google Shape;923;p30"/>
            <p:cNvSpPr txBox="1"/>
            <p:nvPr/>
          </p:nvSpPr>
          <p:spPr>
            <a:xfrm rot="-5400000">
              <a:off x="7468403" y="543222"/>
              <a:ext cx="4614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latin typeface="Proxima Nova"/>
                  <a:ea typeface="Proxima Nova"/>
                  <a:cs typeface="Proxima Nova"/>
                  <a:sym typeface="Proxima Nova"/>
                </a:rPr>
                <a:t>Total</a:t>
              </a:r>
              <a:endParaRPr sz="840">
                <a:latin typeface="Proxima Nova"/>
                <a:ea typeface="Proxima Nova"/>
                <a:cs typeface="Proxima Nova"/>
                <a:sym typeface="Proxima Nova"/>
              </a:endParaRPr>
            </a:p>
          </p:txBody>
        </p:sp>
        <p:sp>
          <p:nvSpPr>
            <p:cNvPr id="924" name="Google Shape;924;p30"/>
            <p:cNvSpPr txBox="1"/>
            <p:nvPr/>
          </p:nvSpPr>
          <p:spPr>
            <a:xfrm rot="-5400000">
              <a:off x="5744428"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13</a:t>
              </a:r>
              <a:endParaRPr sz="840">
                <a:latin typeface="Proxima Nova"/>
                <a:ea typeface="Proxima Nova"/>
                <a:cs typeface="Proxima Nova"/>
                <a:sym typeface="Proxima Nova"/>
              </a:endParaRPr>
            </a:p>
          </p:txBody>
        </p:sp>
        <p:sp>
          <p:nvSpPr>
            <p:cNvPr id="925" name="Google Shape;925;p30"/>
            <p:cNvSpPr txBox="1"/>
            <p:nvPr/>
          </p:nvSpPr>
          <p:spPr>
            <a:xfrm rot="-5400000">
              <a:off x="554412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12</a:t>
              </a:r>
              <a:endParaRPr sz="840">
                <a:latin typeface="Proxima Nova"/>
                <a:ea typeface="Proxima Nova"/>
                <a:cs typeface="Proxima Nova"/>
                <a:sym typeface="Proxima Nova"/>
              </a:endParaRPr>
            </a:p>
          </p:txBody>
        </p:sp>
        <p:sp>
          <p:nvSpPr>
            <p:cNvPr id="926" name="Google Shape;926;p30"/>
            <p:cNvSpPr txBox="1"/>
            <p:nvPr/>
          </p:nvSpPr>
          <p:spPr>
            <a:xfrm rot="-5400000">
              <a:off x="6145033"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15</a:t>
              </a:r>
              <a:endParaRPr sz="840">
                <a:latin typeface="Proxima Nova"/>
                <a:ea typeface="Proxima Nova"/>
                <a:cs typeface="Proxima Nova"/>
                <a:sym typeface="Proxima Nova"/>
              </a:endParaRPr>
            </a:p>
          </p:txBody>
        </p:sp>
        <p:sp>
          <p:nvSpPr>
            <p:cNvPr id="927" name="Google Shape;927;p30"/>
            <p:cNvSpPr txBox="1"/>
            <p:nvPr/>
          </p:nvSpPr>
          <p:spPr>
            <a:xfrm rot="-5400000">
              <a:off x="5944731"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14</a:t>
              </a:r>
              <a:endParaRPr sz="840">
                <a:latin typeface="Proxima Nova"/>
                <a:ea typeface="Proxima Nova"/>
                <a:cs typeface="Proxima Nova"/>
                <a:sym typeface="Proxima Nova"/>
              </a:endParaRPr>
            </a:p>
          </p:txBody>
        </p:sp>
        <p:sp>
          <p:nvSpPr>
            <p:cNvPr id="928" name="Google Shape;928;p30"/>
            <p:cNvSpPr txBox="1"/>
            <p:nvPr/>
          </p:nvSpPr>
          <p:spPr>
            <a:xfrm rot="-5400000">
              <a:off x="654563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17</a:t>
              </a:r>
              <a:endParaRPr sz="840">
                <a:latin typeface="Proxima Nova"/>
                <a:ea typeface="Proxima Nova"/>
                <a:cs typeface="Proxima Nova"/>
                <a:sym typeface="Proxima Nova"/>
              </a:endParaRPr>
            </a:p>
          </p:txBody>
        </p:sp>
        <p:sp>
          <p:nvSpPr>
            <p:cNvPr id="929" name="Google Shape;929;p30"/>
            <p:cNvSpPr txBox="1"/>
            <p:nvPr/>
          </p:nvSpPr>
          <p:spPr>
            <a:xfrm rot="-5400000">
              <a:off x="6345336"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16</a:t>
              </a:r>
              <a:endParaRPr sz="840">
                <a:latin typeface="Proxima Nova"/>
                <a:ea typeface="Proxima Nova"/>
                <a:cs typeface="Proxima Nova"/>
                <a:sym typeface="Proxima Nova"/>
              </a:endParaRPr>
            </a:p>
          </p:txBody>
        </p:sp>
        <p:sp>
          <p:nvSpPr>
            <p:cNvPr id="930" name="Google Shape;930;p30"/>
            <p:cNvSpPr txBox="1"/>
            <p:nvPr/>
          </p:nvSpPr>
          <p:spPr>
            <a:xfrm rot="-5400000">
              <a:off x="534382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11</a:t>
              </a:r>
              <a:endParaRPr sz="840">
                <a:latin typeface="Proxima Nova"/>
                <a:ea typeface="Proxima Nova"/>
                <a:cs typeface="Proxima Nova"/>
                <a:sym typeface="Proxima Nova"/>
              </a:endParaRPr>
            </a:p>
          </p:txBody>
        </p:sp>
        <p:sp>
          <p:nvSpPr>
            <p:cNvPr id="931" name="Google Shape;931;p30"/>
            <p:cNvSpPr txBox="1"/>
            <p:nvPr/>
          </p:nvSpPr>
          <p:spPr>
            <a:xfrm rot="-5400000">
              <a:off x="674594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18</a:t>
              </a:r>
              <a:endParaRPr sz="840">
                <a:latin typeface="Proxima Nova"/>
                <a:ea typeface="Proxima Nova"/>
                <a:cs typeface="Proxima Nova"/>
                <a:sym typeface="Proxima Nova"/>
              </a:endParaRPr>
            </a:p>
          </p:txBody>
        </p:sp>
        <p:sp>
          <p:nvSpPr>
            <p:cNvPr id="932" name="Google Shape;932;p30"/>
            <p:cNvSpPr txBox="1"/>
            <p:nvPr/>
          </p:nvSpPr>
          <p:spPr>
            <a:xfrm rot="-5400000">
              <a:off x="694624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19</a:t>
              </a:r>
              <a:endParaRPr sz="840">
                <a:latin typeface="Proxima Nova"/>
                <a:ea typeface="Proxima Nova"/>
                <a:cs typeface="Proxima Nova"/>
                <a:sym typeface="Proxima Nova"/>
              </a:endParaRPr>
            </a:p>
          </p:txBody>
        </p:sp>
        <p:sp>
          <p:nvSpPr>
            <p:cNvPr id="933" name="Google Shape;933;p30"/>
            <p:cNvSpPr txBox="1"/>
            <p:nvPr/>
          </p:nvSpPr>
          <p:spPr>
            <a:xfrm rot="-5400000">
              <a:off x="7146547"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20</a:t>
              </a:r>
              <a:endParaRPr sz="840">
                <a:latin typeface="Proxima Nova"/>
                <a:ea typeface="Proxima Nova"/>
                <a:cs typeface="Proxima Nova"/>
                <a:sym typeface="Proxima Nova"/>
              </a:endParaRPr>
            </a:p>
          </p:txBody>
        </p:sp>
        <p:sp>
          <p:nvSpPr>
            <p:cNvPr id="934" name="Google Shape;934;p30"/>
            <p:cNvSpPr txBox="1"/>
            <p:nvPr/>
          </p:nvSpPr>
          <p:spPr>
            <a:xfrm rot="-5400000">
              <a:off x="7346850"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21</a:t>
              </a:r>
              <a:endParaRPr sz="840">
                <a:latin typeface="Proxima Nova"/>
                <a:ea typeface="Proxima Nova"/>
                <a:cs typeface="Proxima Nova"/>
                <a:sym typeface="Proxima Nova"/>
              </a:endParaRPr>
            </a:p>
          </p:txBody>
        </p:sp>
      </p:grpSp>
      <p:grpSp>
        <p:nvGrpSpPr>
          <p:cNvPr id="935" name="Google Shape;935;p30"/>
          <p:cNvGrpSpPr/>
          <p:nvPr/>
        </p:nvGrpSpPr>
        <p:grpSpPr>
          <a:xfrm>
            <a:off x="25279124" y="6016239"/>
            <a:ext cx="2039040" cy="4010760"/>
            <a:chOff x="1688300" y="840950"/>
            <a:chExt cx="1699200" cy="3342300"/>
          </a:xfrm>
        </p:grpSpPr>
        <p:sp>
          <p:nvSpPr>
            <p:cNvPr id="936" name="Google Shape;936;p30"/>
            <p:cNvSpPr txBox="1"/>
            <p:nvPr/>
          </p:nvSpPr>
          <p:spPr>
            <a:xfrm>
              <a:off x="1720899" y="840950"/>
              <a:ext cx="1666500" cy="154500"/>
            </a:xfrm>
            <a:prstGeom prst="rect">
              <a:avLst/>
            </a:prstGeom>
            <a:noFill/>
            <a:ln>
              <a:noFill/>
            </a:ln>
          </p:spPr>
          <p:txBody>
            <a:bodyPr anchorCtr="0" anchor="ctr" bIns="109700" lIns="109700" spcFirstLastPara="1" rIns="109700" wrap="square" tIns="109700">
              <a:noAutofit/>
            </a:bodyPr>
            <a:lstStyle/>
            <a:p>
              <a:pPr indent="0" lvl="0" marL="0" marR="0" rtl="0" algn="r">
                <a:lnSpc>
                  <a:spcPct val="100000"/>
                </a:lnSpc>
                <a:spcBef>
                  <a:spcPts val="0"/>
                </a:spcBef>
                <a:spcAft>
                  <a:spcPts val="0"/>
                </a:spcAft>
                <a:buNone/>
              </a:pPr>
              <a:r>
                <a:rPr lang="pt-BR" sz="840">
                  <a:latin typeface="Proxima Nova"/>
                  <a:ea typeface="Proxima Nova"/>
                  <a:cs typeface="Proxima Nova"/>
                  <a:sym typeface="Proxima Nova"/>
                </a:rPr>
                <a:t>1 Identity and access manager</a:t>
              </a:r>
              <a:endParaRPr sz="840">
                <a:latin typeface="Proxima Nova"/>
                <a:ea typeface="Proxima Nova"/>
                <a:cs typeface="Proxima Nova"/>
                <a:sym typeface="Proxima Nova"/>
              </a:endParaRPr>
            </a:p>
          </p:txBody>
        </p:sp>
        <p:sp>
          <p:nvSpPr>
            <p:cNvPr id="937" name="Google Shape;937;p30"/>
            <p:cNvSpPr txBox="1"/>
            <p:nvPr/>
          </p:nvSpPr>
          <p:spPr>
            <a:xfrm>
              <a:off x="1720899" y="992750"/>
              <a:ext cx="1666500" cy="154500"/>
            </a:xfrm>
            <a:prstGeom prst="rect">
              <a:avLst/>
            </a:prstGeom>
            <a:noFill/>
            <a:ln>
              <a:noFill/>
            </a:ln>
          </p:spPr>
          <p:txBody>
            <a:bodyPr anchorCtr="0" anchor="ctr" bIns="109700" lIns="109700" spcFirstLastPara="1" rIns="109700" wrap="square" tIns="109700">
              <a:noAutofit/>
            </a:bodyPr>
            <a:lstStyle/>
            <a:p>
              <a:pPr indent="0" lvl="0" marL="0" marR="0" rtl="0" algn="r">
                <a:lnSpc>
                  <a:spcPct val="100000"/>
                </a:lnSpc>
                <a:spcBef>
                  <a:spcPts val="0"/>
                </a:spcBef>
                <a:spcAft>
                  <a:spcPts val="0"/>
                </a:spcAft>
                <a:buNone/>
              </a:pPr>
              <a:r>
                <a:rPr lang="pt-BR" sz="840">
                  <a:latin typeface="Proxima Nova"/>
                  <a:ea typeface="Proxima Nova"/>
                  <a:cs typeface="Proxima Nova"/>
                  <a:sym typeface="Proxima Nova"/>
                </a:rPr>
                <a:t>2 Privacy and access control layer</a:t>
              </a:r>
              <a:endParaRPr sz="840">
                <a:latin typeface="Proxima Nova"/>
                <a:ea typeface="Proxima Nova"/>
                <a:cs typeface="Proxima Nova"/>
                <a:sym typeface="Proxima Nova"/>
              </a:endParaRPr>
            </a:p>
          </p:txBody>
        </p:sp>
        <p:sp>
          <p:nvSpPr>
            <p:cNvPr id="938" name="Google Shape;938;p30"/>
            <p:cNvSpPr txBox="1"/>
            <p:nvPr/>
          </p:nvSpPr>
          <p:spPr>
            <a:xfrm>
              <a:off x="1720899" y="1144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3 Lab results ingress</a:t>
              </a:r>
              <a:endParaRPr sz="840">
                <a:latin typeface="Proxima Nova"/>
                <a:ea typeface="Proxima Nova"/>
                <a:cs typeface="Proxima Nova"/>
                <a:sym typeface="Proxima Nova"/>
              </a:endParaRPr>
            </a:p>
          </p:txBody>
        </p:sp>
        <p:sp>
          <p:nvSpPr>
            <p:cNvPr id="939" name="Google Shape;939;p30"/>
            <p:cNvSpPr txBox="1"/>
            <p:nvPr/>
          </p:nvSpPr>
          <p:spPr>
            <a:xfrm>
              <a:off x="1688300" y="1296343"/>
              <a:ext cx="16992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4 Results normalization engine</a:t>
              </a:r>
              <a:endParaRPr sz="840">
                <a:latin typeface="Proxima Nova"/>
                <a:ea typeface="Proxima Nova"/>
                <a:cs typeface="Proxima Nova"/>
                <a:sym typeface="Proxima Nova"/>
              </a:endParaRPr>
            </a:p>
          </p:txBody>
        </p:sp>
        <p:sp>
          <p:nvSpPr>
            <p:cNvPr id="940" name="Google Shape;940;p30"/>
            <p:cNvSpPr txBox="1"/>
            <p:nvPr/>
          </p:nvSpPr>
          <p:spPr>
            <a:xfrm>
              <a:off x="1720899" y="1448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5 Patient context repository</a:t>
              </a:r>
              <a:endParaRPr sz="840">
                <a:latin typeface="Proxima Nova"/>
                <a:ea typeface="Proxima Nova"/>
                <a:cs typeface="Proxima Nova"/>
                <a:sym typeface="Proxima Nova"/>
              </a:endParaRPr>
            </a:p>
          </p:txBody>
        </p:sp>
        <p:sp>
          <p:nvSpPr>
            <p:cNvPr id="941" name="Google Shape;941;p30"/>
            <p:cNvSpPr txBox="1"/>
            <p:nvPr/>
          </p:nvSpPr>
          <p:spPr>
            <a:xfrm>
              <a:off x="1720899" y="1599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6 Case context builder</a:t>
              </a:r>
              <a:endParaRPr sz="840">
                <a:latin typeface="Proxima Nova"/>
                <a:ea typeface="Proxima Nova"/>
                <a:cs typeface="Proxima Nova"/>
                <a:sym typeface="Proxima Nova"/>
              </a:endParaRPr>
            </a:p>
          </p:txBody>
        </p:sp>
        <p:sp>
          <p:nvSpPr>
            <p:cNvPr id="942" name="Google Shape;942;p30"/>
            <p:cNvSpPr txBox="1"/>
            <p:nvPr/>
          </p:nvSpPr>
          <p:spPr>
            <a:xfrm>
              <a:off x="1720899" y="1751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7 Internal evidence access API</a:t>
              </a:r>
              <a:endParaRPr sz="840">
                <a:latin typeface="Proxima Nova"/>
                <a:ea typeface="Proxima Nova"/>
                <a:cs typeface="Proxima Nova"/>
                <a:sym typeface="Proxima Nova"/>
              </a:endParaRPr>
            </a:p>
          </p:txBody>
        </p:sp>
        <p:sp>
          <p:nvSpPr>
            <p:cNvPr id="943" name="Google Shape;943;p30"/>
            <p:cNvSpPr txBox="1"/>
            <p:nvPr/>
          </p:nvSpPr>
          <p:spPr>
            <a:xfrm>
              <a:off x="1720899" y="1903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8 External evidence access API</a:t>
              </a:r>
              <a:endParaRPr sz="840">
                <a:latin typeface="Proxima Nova"/>
                <a:ea typeface="Proxima Nova"/>
                <a:cs typeface="Proxima Nova"/>
                <a:sym typeface="Proxima Nova"/>
              </a:endParaRPr>
            </a:p>
          </p:txBody>
        </p:sp>
        <p:sp>
          <p:nvSpPr>
            <p:cNvPr id="944" name="Google Shape;944;p30"/>
            <p:cNvSpPr txBox="1"/>
            <p:nvPr/>
          </p:nvSpPr>
          <p:spPr>
            <a:xfrm>
              <a:off x="1720899" y="2055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9 Evidence consolidation service</a:t>
              </a:r>
              <a:endParaRPr sz="840">
                <a:latin typeface="Proxima Nova"/>
                <a:ea typeface="Proxima Nova"/>
                <a:cs typeface="Proxima Nova"/>
                <a:sym typeface="Proxima Nova"/>
              </a:endParaRPr>
            </a:p>
          </p:txBody>
        </p:sp>
        <p:sp>
          <p:nvSpPr>
            <p:cNvPr id="945" name="Google Shape;945;p30"/>
            <p:cNvSpPr txBox="1"/>
            <p:nvPr/>
          </p:nvSpPr>
          <p:spPr>
            <a:xfrm>
              <a:off x="1720899" y="2207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10 Evidence ranking module</a:t>
              </a:r>
              <a:endParaRPr sz="840">
                <a:latin typeface="Proxima Nova"/>
                <a:ea typeface="Proxima Nova"/>
                <a:cs typeface="Proxima Nova"/>
                <a:sym typeface="Proxima Nova"/>
              </a:endParaRPr>
            </a:p>
          </p:txBody>
        </p:sp>
        <p:sp>
          <p:nvSpPr>
            <p:cNvPr id="946" name="Google Shape;946;p30"/>
            <p:cNvSpPr txBox="1"/>
            <p:nvPr/>
          </p:nvSpPr>
          <p:spPr>
            <a:xfrm>
              <a:off x="1720899" y="4028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Total (# Related)</a:t>
              </a:r>
              <a:endParaRPr sz="840">
                <a:latin typeface="Proxima Nova"/>
                <a:ea typeface="Proxima Nova"/>
                <a:cs typeface="Proxima Nova"/>
                <a:sym typeface="Proxima Nova"/>
              </a:endParaRPr>
            </a:p>
          </p:txBody>
        </p:sp>
        <p:sp>
          <p:nvSpPr>
            <p:cNvPr id="947" name="Google Shape;947;p30"/>
            <p:cNvSpPr txBox="1"/>
            <p:nvPr/>
          </p:nvSpPr>
          <p:spPr>
            <a:xfrm>
              <a:off x="1720899" y="2358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11 AI role catalog</a:t>
              </a:r>
              <a:endParaRPr sz="840">
                <a:latin typeface="Proxima Nova"/>
                <a:ea typeface="Proxima Nova"/>
                <a:cs typeface="Proxima Nova"/>
                <a:sym typeface="Proxima Nova"/>
              </a:endParaRPr>
            </a:p>
          </p:txBody>
        </p:sp>
        <p:sp>
          <p:nvSpPr>
            <p:cNvPr id="948" name="Google Shape;948;p30"/>
            <p:cNvSpPr txBox="1"/>
            <p:nvPr/>
          </p:nvSpPr>
          <p:spPr>
            <a:xfrm>
              <a:off x="1720899" y="2510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12 AI role orchestrator</a:t>
              </a:r>
              <a:endParaRPr sz="840">
                <a:latin typeface="Proxima Nova"/>
                <a:ea typeface="Proxima Nova"/>
                <a:cs typeface="Proxima Nova"/>
                <a:sym typeface="Proxima Nova"/>
              </a:endParaRPr>
            </a:p>
          </p:txBody>
        </p:sp>
        <p:sp>
          <p:nvSpPr>
            <p:cNvPr id="949" name="Google Shape;949;p30"/>
            <p:cNvSpPr txBox="1"/>
            <p:nvPr/>
          </p:nvSpPr>
          <p:spPr>
            <a:xfrm>
              <a:off x="1720899" y="2662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13 Specialist interpreter</a:t>
              </a:r>
              <a:endParaRPr sz="840">
                <a:latin typeface="Proxima Nova"/>
                <a:ea typeface="Proxima Nova"/>
                <a:cs typeface="Proxima Nova"/>
                <a:sym typeface="Proxima Nova"/>
              </a:endParaRPr>
            </a:p>
          </p:txBody>
        </p:sp>
        <p:sp>
          <p:nvSpPr>
            <p:cNvPr id="950" name="Google Shape;950;p30"/>
            <p:cNvSpPr txBox="1"/>
            <p:nvPr/>
          </p:nvSpPr>
          <p:spPr>
            <a:xfrm>
              <a:off x="1720899" y="2814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14 Cross-role reconcilier</a:t>
              </a:r>
              <a:endParaRPr sz="840">
                <a:latin typeface="Proxima Nova"/>
                <a:ea typeface="Proxima Nova"/>
                <a:cs typeface="Proxima Nova"/>
                <a:sym typeface="Proxima Nova"/>
              </a:endParaRPr>
            </a:p>
          </p:txBody>
        </p:sp>
        <p:sp>
          <p:nvSpPr>
            <p:cNvPr id="951" name="Google Shape;951;p30"/>
            <p:cNvSpPr txBox="1"/>
            <p:nvPr/>
          </p:nvSpPr>
          <p:spPr>
            <a:xfrm>
              <a:off x="1720899" y="2966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15 Interpretation composer</a:t>
              </a:r>
              <a:endParaRPr sz="840">
                <a:latin typeface="Proxima Nova"/>
                <a:ea typeface="Proxima Nova"/>
                <a:cs typeface="Proxima Nova"/>
                <a:sym typeface="Proxima Nova"/>
              </a:endParaRPr>
            </a:p>
          </p:txBody>
        </p:sp>
        <p:sp>
          <p:nvSpPr>
            <p:cNvPr id="952" name="Google Shape;952;p30"/>
            <p:cNvSpPr txBox="1"/>
            <p:nvPr/>
          </p:nvSpPr>
          <p:spPr>
            <a:xfrm>
              <a:off x="1720899" y="3117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16 Review gateway</a:t>
              </a:r>
              <a:endParaRPr sz="840">
                <a:latin typeface="Proxima Nova"/>
                <a:ea typeface="Proxima Nova"/>
                <a:cs typeface="Proxima Nova"/>
                <a:sym typeface="Proxima Nova"/>
              </a:endParaRPr>
            </a:p>
          </p:txBody>
        </p:sp>
        <p:sp>
          <p:nvSpPr>
            <p:cNvPr id="953" name="Google Shape;953;p30"/>
            <p:cNvSpPr txBox="1"/>
            <p:nvPr/>
          </p:nvSpPr>
          <p:spPr>
            <a:xfrm>
              <a:off x="1720899" y="3269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17 Release controller</a:t>
              </a:r>
              <a:endParaRPr sz="840">
                <a:latin typeface="Proxima Nova"/>
                <a:ea typeface="Proxima Nova"/>
                <a:cs typeface="Proxima Nova"/>
                <a:sym typeface="Proxima Nova"/>
              </a:endParaRPr>
            </a:p>
          </p:txBody>
        </p:sp>
        <p:sp>
          <p:nvSpPr>
            <p:cNvPr id="954" name="Google Shape;954;p30"/>
            <p:cNvSpPr txBox="1"/>
            <p:nvPr/>
          </p:nvSpPr>
          <p:spPr>
            <a:xfrm>
              <a:off x="1720899" y="3876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21 Outcome feedback registry</a:t>
              </a:r>
              <a:endParaRPr sz="840">
                <a:latin typeface="Proxima Nova"/>
                <a:ea typeface="Proxima Nova"/>
                <a:cs typeface="Proxima Nova"/>
                <a:sym typeface="Proxima Nova"/>
              </a:endParaRPr>
            </a:p>
          </p:txBody>
        </p:sp>
        <p:sp>
          <p:nvSpPr>
            <p:cNvPr id="955" name="Google Shape;955;p30"/>
            <p:cNvSpPr txBox="1"/>
            <p:nvPr/>
          </p:nvSpPr>
          <p:spPr>
            <a:xfrm>
              <a:off x="1720899" y="3421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18 Evidence trace store</a:t>
              </a:r>
              <a:endParaRPr sz="840">
                <a:latin typeface="Proxima Nova"/>
                <a:ea typeface="Proxima Nova"/>
                <a:cs typeface="Proxima Nova"/>
                <a:sym typeface="Proxima Nova"/>
              </a:endParaRPr>
            </a:p>
          </p:txBody>
        </p:sp>
        <p:sp>
          <p:nvSpPr>
            <p:cNvPr id="956" name="Google Shape;956;p30"/>
            <p:cNvSpPr txBox="1"/>
            <p:nvPr/>
          </p:nvSpPr>
          <p:spPr>
            <a:xfrm>
              <a:off x="1720899" y="3573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19 Decision audit store</a:t>
              </a:r>
              <a:endParaRPr sz="840">
                <a:latin typeface="Proxima Nova"/>
                <a:ea typeface="Proxima Nova"/>
                <a:cs typeface="Proxima Nova"/>
                <a:sym typeface="Proxima Nova"/>
              </a:endParaRPr>
            </a:p>
          </p:txBody>
        </p:sp>
        <p:sp>
          <p:nvSpPr>
            <p:cNvPr id="957" name="Google Shape;957;p30"/>
            <p:cNvSpPr txBox="1"/>
            <p:nvPr/>
          </p:nvSpPr>
          <p:spPr>
            <a:xfrm>
              <a:off x="1720899" y="3725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20 Physician delivery channel</a:t>
              </a:r>
              <a:endParaRPr sz="840">
                <a:latin typeface="Proxima Nova"/>
                <a:ea typeface="Proxima Nova"/>
                <a:cs typeface="Proxima Nova"/>
                <a:sym typeface="Proxima Nova"/>
              </a:endParaRPr>
            </a:p>
          </p:txBody>
        </p:sp>
      </p:grpSp>
      <p:grpSp>
        <p:nvGrpSpPr>
          <p:cNvPr id="958" name="Google Shape;958;p30"/>
          <p:cNvGrpSpPr/>
          <p:nvPr/>
        </p:nvGrpSpPr>
        <p:grpSpPr>
          <a:xfrm>
            <a:off x="27284474" y="6010479"/>
            <a:ext cx="5230200" cy="4233480"/>
            <a:chOff x="3359425" y="836150"/>
            <a:chExt cx="4358500" cy="3527900"/>
          </a:xfrm>
        </p:grpSpPr>
        <p:sp>
          <p:nvSpPr>
            <p:cNvPr id="959" name="Google Shape;959;p30"/>
            <p:cNvSpPr/>
            <p:nvPr/>
          </p:nvSpPr>
          <p:spPr>
            <a:xfrm>
              <a:off x="3387400" y="836150"/>
              <a:ext cx="1000200" cy="7665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60" name="Google Shape;960;p30"/>
            <p:cNvSpPr/>
            <p:nvPr/>
          </p:nvSpPr>
          <p:spPr>
            <a:xfrm>
              <a:off x="4394775" y="1597550"/>
              <a:ext cx="795900" cy="6099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61" name="Google Shape;961;p30"/>
            <p:cNvSpPr/>
            <p:nvPr/>
          </p:nvSpPr>
          <p:spPr>
            <a:xfrm>
              <a:off x="5190725" y="2205325"/>
              <a:ext cx="1189200" cy="9102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62" name="Google Shape;962;p30"/>
            <p:cNvSpPr/>
            <p:nvPr/>
          </p:nvSpPr>
          <p:spPr>
            <a:xfrm>
              <a:off x="4999625" y="22071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63" name="Google Shape;963;p30"/>
            <p:cNvSpPr/>
            <p:nvPr/>
          </p:nvSpPr>
          <p:spPr>
            <a:xfrm>
              <a:off x="5800825" y="25134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64" name="Google Shape;964;p30"/>
            <p:cNvSpPr/>
            <p:nvPr/>
          </p:nvSpPr>
          <p:spPr>
            <a:xfrm>
              <a:off x="6201425" y="28143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grpSp>
          <p:nvGrpSpPr>
            <p:cNvPr id="965" name="Google Shape;965;p30"/>
            <p:cNvGrpSpPr/>
            <p:nvPr/>
          </p:nvGrpSpPr>
          <p:grpSpPr>
            <a:xfrm>
              <a:off x="3359425" y="4209550"/>
              <a:ext cx="3380800" cy="154500"/>
              <a:chOff x="3359425" y="4209550"/>
              <a:chExt cx="3380800" cy="154500"/>
            </a:xfrm>
          </p:grpSpPr>
          <p:sp>
            <p:nvSpPr>
              <p:cNvPr id="966" name="Google Shape;966;p30"/>
              <p:cNvSpPr/>
              <p:nvPr/>
            </p:nvSpPr>
            <p:spPr>
              <a:xfrm>
                <a:off x="3359425" y="42095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67" name="Google Shape;967;p30"/>
              <p:cNvSpPr/>
              <p:nvPr/>
            </p:nvSpPr>
            <p:spPr>
              <a:xfrm>
                <a:off x="5012225" y="4209550"/>
                <a:ext cx="191100" cy="1545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68" name="Google Shape;968;p30"/>
              <p:cNvSpPr txBox="1"/>
              <p:nvPr/>
            </p:nvSpPr>
            <p:spPr>
              <a:xfrm>
                <a:off x="3575700" y="4209550"/>
                <a:ext cx="1483200" cy="1545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latin typeface="Proxima Nova"/>
                    <a:ea typeface="Proxima Nova"/>
                    <a:cs typeface="Proxima Nova"/>
                    <a:sym typeface="Proxima Nova"/>
                  </a:rPr>
                  <a:t>Interfaces that needs monitoring</a:t>
                </a:r>
                <a:endParaRPr sz="840">
                  <a:latin typeface="Proxima Nova"/>
                  <a:ea typeface="Proxima Nova"/>
                  <a:cs typeface="Proxima Nova"/>
                  <a:sym typeface="Proxima Nova"/>
                </a:endParaRPr>
              </a:p>
            </p:txBody>
          </p:sp>
          <p:sp>
            <p:nvSpPr>
              <p:cNvPr id="969" name="Google Shape;969;p30"/>
              <p:cNvSpPr txBox="1"/>
              <p:nvPr/>
            </p:nvSpPr>
            <p:spPr>
              <a:xfrm>
                <a:off x="5257025" y="4209550"/>
                <a:ext cx="1483200" cy="1545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Dependencies cluster region</a:t>
                </a:r>
                <a:endParaRPr sz="840">
                  <a:solidFill>
                    <a:srgbClr val="000000"/>
                  </a:solidFill>
                  <a:latin typeface="Proxima Nova"/>
                  <a:ea typeface="Proxima Nova"/>
                  <a:cs typeface="Proxima Nova"/>
                  <a:sym typeface="Proxima Nova"/>
                </a:endParaRPr>
              </a:p>
            </p:txBody>
          </p:sp>
        </p:grpSp>
        <p:sp>
          <p:nvSpPr>
            <p:cNvPr id="970" name="Google Shape;970;p30"/>
            <p:cNvSpPr/>
            <p:nvPr/>
          </p:nvSpPr>
          <p:spPr>
            <a:xfrm>
              <a:off x="6387142" y="3118575"/>
              <a:ext cx="1216500" cy="9102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71" name="Google Shape;971;p30"/>
            <p:cNvSpPr/>
            <p:nvPr/>
          </p:nvSpPr>
          <p:spPr>
            <a:xfrm>
              <a:off x="6401725" y="29661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72" name="Google Shape;972;p30"/>
            <p:cNvSpPr/>
            <p:nvPr/>
          </p:nvSpPr>
          <p:spPr>
            <a:xfrm>
              <a:off x="6802350" y="32697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973" name="Google Shape;973;p30"/>
            <p:cNvSpPr txBox="1"/>
            <p:nvPr/>
          </p:nvSpPr>
          <p:spPr>
            <a:xfrm>
              <a:off x="4350694" y="1027113"/>
              <a:ext cx="7959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Input</a:t>
              </a:r>
              <a:endParaRPr b="1" sz="1680">
                <a:solidFill>
                  <a:srgbClr val="FF0000"/>
                </a:solidFill>
                <a:highlight>
                  <a:srgbClr val="FFFFFF"/>
                </a:highlight>
              </a:endParaRPr>
            </a:p>
          </p:txBody>
        </p:sp>
        <p:sp>
          <p:nvSpPr>
            <p:cNvPr id="974" name="Google Shape;974;p30"/>
            <p:cNvSpPr txBox="1"/>
            <p:nvPr/>
          </p:nvSpPr>
          <p:spPr>
            <a:xfrm>
              <a:off x="5058900" y="1233350"/>
              <a:ext cx="13380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Preparation</a:t>
              </a:r>
              <a:endParaRPr b="1" sz="1680">
                <a:solidFill>
                  <a:srgbClr val="FF0000"/>
                </a:solidFill>
                <a:highlight>
                  <a:srgbClr val="FFFFFF"/>
                </a:highlight>
              </a:endParaRPr>
            </a:p>
          </p:txBody>
        </p:sp>
        <p:sp>
          <p:nvSpPr>
            <p:cNvPr id="975" name="Google Shape;975;p30"/>
            <p:cNvSpPr txBox="1"/>
            <p:nvPr/>
          </p:nvSpPr>
          <p:spPr>
            <a:xfrm>
              <a:off x="6379925" y="2310638"/>
              <a:ext cx="13380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Interpretation</a:t>
              </a:r>
              <a:endParaRPr b="1" sz="1680">
                <a:solidFill>
                  <a:srgbClr val="FF0000"/>
                </a:solidFill>
                <a:highlight>
                  <a:srgbClr val="FFFFFF"/>
                </a:highlight>
              </a:endParaRPr>
            </a:p>
          </p:txBody>
        </p:sp>
        <p:sp>
          <p:nvSpPr>
            <p:cNvPr id="976" name="Google Shape;976;p30"/>
            <p:cNvSpPr txBox="1"/>
            <p:nvPr/>
          </p:nvSpPr>
          <p:spPr>
            <a:xfrm>
              <a:off x="4918500" y="3687288"/>
              <a:ext cx="1338000" cy="400200"/>
            </a:xfrm>
            <a:prstGeom prst="rect">
              <a:avLst/>
            </a:prstGeom>
            <a:noFill/>
            <a:ln>
              <a:noFill/>
            </a:ln>
          </p:spPr>
          <p:txBody>
            <a:bodyPr anchorCtr="0" anchor="t" bIns="109700" lIns="109700" spcFirstLastPara="1" rIns="109700" wrap="square" tIns="109700">
              <a:spAutoFit/>
            </a:bodyPr>
            <a:lstStyle/>
            <a:p>
              <a:pPr indent="0" lvl="0" marL="0" rtl="0" algn="r">
                <a:spcBef>
                  <a:spcPts val="0"/>
                </a:spcBef>
                <a:spcAft>
                  <a:spcPts val="0"/>
                </a:spcAft>
                <a:buNone/>
              </a:pPr>
              <a:r>
                <a:rPr b="1" lang="pt-BR" sz="1680">
                  <a:solidFill>
                    <a:srgbClr val="FF0000"/>
                  </a:solidFill>
                  <a:highlight>
                    <a:srgbClr val="FFFFFF"/>
                  </a:highlight>
                </a:rPr>
                <a:t>Delivery</a:t>
              </a:r>
              <a:endParaRPr b="1" sz="1680">
                <a:solidFill>
                  <a:srgbClr val="FF0000"/>
                </a:solidFill>
                <a:highlight>
                  <a:srgbClr val="FFFFFF"/>
                </a:highlight>
              </a:endParaRPr>
            </a:p>
          </p:txBody>
        </p:sp>
      </p:grpSp>
      <p:sp>
        <p:nvSpPr>
          <p:cNvPr id="977" name="Google Shape;977;p30"/>
          <p:cNvSpPr txBox="1"/>
          <p:nvPr/>
        </p:nvSpPr>
        <p:spPr>
          <a:xfrm>
            <a:off x="21225060" y="5930055"/>
            <a:ext cx="4338000" cy="41466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DSM reveals that Sanguine’s main architectural risk is concentrated in the interpretation core. Evidence ranking, AI role orchestration, specialist interpretation, reconciliation, and release control are tightly coupled, making them the key interfaces to monitor for change propagation, clinical accuracy, and reliable physician delivery.</a:t>
            </a:r>
            <a:endParaRPr sz="2040">
              <a:solidFill>
                <a:schemeClr val="dk2"/>
              </a:solidFill>
              <a:latin typeface="Proxima Nova"/>
              <a:ea typeface="Proxima Nova"/>
              <a:cs typeface="Proxima Nova"/>
              <a:sym typeface="Proxima Nova"/>
            </a:endParaRPr>
          </a:p>
        </p:txBody>
      </p:sp>
      <p:sp>
        <p:nvSpPr>
          <p:cNvPr id="978" name="Google Shape;978;p30"/>
          <p:cNvSpPr txBox="1"/>
          <p:nvPr/>
        </p:nvSpPr>
        <p:spPr>
          <a:xfrm>
            <a:off x="21349740" y="4586460"/>
            <a:ext cx="112485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Architectural hotspots and change propagation</a:t>
            </a:r>
            <a:endParaRPr sz="3640">
              <a:solidFill>
                <a:srgbClr val="67B4D4"/>
              </a:solidFill>
              <a:latin typeface="Proxima Nova"/>
              <a:ea typeface="Proxima Nova"/>
              <a:cs typeface="Proxima Nova"/>
              <a:sym typeface="Proxima Nova"/>
            </a:endParaRPr>
          </a:p>
        </p:txBody>
      </p:sp>
      <p:sp>
        <p:nvSpPr>
          <p:cNvPr id="979" name="Google Shape;979;p30"/>
          <p:cNvSpPr txBox="1"/>
          <p:nvPr/>
        </p:nvSpPr>
        <p:spPr>
          <a:xfrm>
            <a:off x="10502640" y="7909343"/>
            <a:ext cx="82983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Lab result interpretation workflow</a:t>
            </a:r>
            <a:endParaRPr sz="3640">
              <a:solidFill>
                <a:srgbClr val="67B4D4"/>
              </a:solidFill>
              <a:latin typeface="Proxima Nova"/>
              <a:ea typeface="Proxima Nova"/>
              <a:cs typeface="Proxima Nova"/>
              <a:sym typeface="Proxima Nova"/>
            </a:endParaRPr>
          </a:p>
        </p:txBody>
      </p:sp>
      <p:pic>
        <p:nvPicPr>
          <p:cNvPr id="980" name="Google Shape;980;p30"/>
          <p:cNvPicPr preferRelativeResize="0"/>
          <p:nvPr/>
        </p:nvPicPr>
        <p:blipFill rotWithShape="1">
          <a:blip r:embed="rId5">
            <a:alphaModFix/>
          </a:blip>
          <a:srcRect b="0" l="239" r="239" t="0"/>
          <a:stretch/>
        </p:blipFill>
        <p:spPr>
          <a:xfrm>
            <a:off x="11951875" y="2385593"/>
            <a:ext cx="8788320" cy="5740036"/>
          </a:xfrm>
          <a:prstGeom prst="rect">
            <a:avLst/>
          </a:prstGeom>
          <a:noFill/>
          <a:ln>
            <a:noFill/>
          </a:ln>
        </p:spPr>
      </p:pic>
      <p:graphicFrame>
        <p:nvGraphicFramePr>
          <p:cNvPr id="981" name="Google Shape;981;p30"/>
          <p:cNvGraphicFramePr/>
          <p:nvPr/>
        </p:nvGraphicFramePr>
        <p:xfrm>
          <a:off x="428580" y="17172420"/>
          <a:ext cx="3000000" cy="3000000"/>
        </p:xfrm>
        <a:graphic>
          <a:graphicData uri="http://schemas.openxmlformats.org/drawingml/2006/table">
            <a:tbl>
              <a:tblPr>
                <a:noFill/>
                <a:tableStyleId>{23E452CD-4AC9-494A-AED8-5A9A6700DAF9}</a:tableStyleId>
              </a:tblPr>
              <a:tblGrid>
                <a:gridCol w="2426700"/>
                <a:gridCol w="6827250"/>
              </a:tblGrid>
              <a:tr h="397925">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Design Decision</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67B4D5"/>
                    </a:solidFill>
                  </a:tcPr>
                </a:tc>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Preferred Choice</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67B4D5"/>
                    </a:solidFill>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Selected Concept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C1 — Maximalist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Family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Gemini family only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Research Paradigm</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RAG + fine-tuning</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AI Role Structure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Large specialized group, approximately 5–10 roles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Clinical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Multiple internal and external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Release Control</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Tiered release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88272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Specification</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Multimodal, powerful, higher-cost model, such as Gemini 3 Pro</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bl>
          </a:graphicData>
        </a:graphic>
      </p:graphicFrame>
      <p:sp>
        <p:nvSpPr>
          <p:cNvPr id="982" name="Google Shape;982;p30"/>
          <p:cNvSpPr txBox="1"/>
          <p:nvPr/>
        </p:nvSpPr>
        <p:spPr>
          <a:xfrm>
            <a:off x="349200" y="15831450"/>
            <a:ext cx="203910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Product &amp; project recommendation</a:t>
            </a:r>
            <a:endParaRPr sz="3640">
              <a:solidFill>
                <a:srgbClr val="67B4D4"/>
              </a:solidFill>
              <a:latin typeface="Proxima Nova"/>
              <a:ea typeface="Proxima Nova"/>
              <a:cs typeface="Proxima Nova"/>
              <a:sym typeface="Proxima Nova"/>
            </a:endParaRPr>
          </a:p>
        </p:txBody>
      </p:sp>
      <p:graphicFrame>
        <p:nvGraphicFramePr>
          <p:cNvPr id="983" name="Google Shape;983;p30"/>
          <p:cNvGraphicFramePr/>
          <p:nvPr/>
        </p:nvGraphicFramePr>
        <p:xfrm>
          <a:off x="10374720" y="18300333"/>
          <a:ext cx="3000000" cy="3000000"/>
        </p:xfrm>
        <a:graphic>
          <a:graphicData uri="http://schemas.openxmlformats.org/drawingml/2006/table">
            <a:tbl>
              <a:tblPr>
                <a:noFill/>
                <a:tableStyleId>{9A381E13-A8F7-4022-86C5-07623F0ABA3E}</a:tableStyleId>
              </a:tblPr>
              <a:tblGrid>
                <a:gridCol w="2314650"/>
                <a:gridCol w="8115750"/>
              </a:tblGrid>
              <a:tr h="357025">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Mitigation </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Commentary</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68B4D5"/>
                    </a:solidFill>
                  </a:tcPr>
                </a:tc>
              </a:tr>
              <a:tr h="622675">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Data Integration</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proof-of-concept to expose EHR/lab integration blockers before they cascade. Reduces probability from 50%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Clinical Validation Readiness</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Physician review board before shadow mode to reduce hallucination and clinical accuracy risk. Reduces probability from 40% to 15%.</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Integration &amp; Interface Testing</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interface testing across the data pipeline, retrieval layer, agentic AI core, physician workflow, and validation workflow. Reduces probability from 40%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bl>
          </a:graphicData>
        </a:graphic>
      </p:graphicFrame>
      <p:sp>
        <p:nvSpPr>
          <p:cNvPr id="984" name="Google Shape;984;p30"/>
          <p:cNvSpPr txBox="1"/>
          <p:nvPr/>
        </p:nvSpPr>
        <p:spPr>
          <a:xfrm>
            <a:off x="10326000" y="16637283"/>
            <a:ext cx="10527900" cy="16188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selected mitigation reduces riskiness from 179 to 102, removing 43% of baseline risk. It increases cost to $6.45M and schedule to 49 weeks, exceeding the $6M target but staying within the 50-week limit. The tradeoff is justified because it targets integration failure, hallucination risk, and late rework before clinical validation.</a:t>
            </a:r>
            <a:endParaRPr sz="2040">
              <a:solidFill>
                <a:schemeClr val="dk2"/>
              </a:solidFill>
              <a:latin typeface="Proxima Nova"/>
              <a:ea typeface="Proxima Nova"/>
              <a:cs typeface="Proxima Nova"/>
              <a:sym typeface="Proxima Nova"/>
            </a:endParaRPr>
          </a:p>
        </p:txBody>
      </p:sp>
      <p:sp>
        <p:nvSpPr>
          <p:cNvPr id="985" name="Google Shape;985;p30"/>
          <p:cNvSpPr txBox="1"/>
          <p:nvPr/>
        </p:nvSpPr>
        <p:spPr>
          <a:xfrm>
            <a:off x="21385290" y="10424010"/>
            <a:ext cx="114240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Risks mitigation design walk</a:t>
            </a:r>
            <a:endParaRPr sz="3640">
              <a:solidFill>
                <a:srgbClr val="67B4D4"/>
              </a:solidFill>
              <a:latin typeface="Proxima Nova"/>
              <a:ea typeface="Proxima Nova"/>
              <a:cs typeface="Proxima Nova"/>
              <a:sym typeface="Proxima Nova"/>
            </a:endParaRPr>
          </a:p>
        </p:txBody>
      </p:sp>
      <p:pic>
        <p:nvPicPr>
          <p:cNvPr id="986" name="Google Shape;986;p30"/>
          <p:cNvPicPr preferRelativeResize="0"/>
          <p:nvPr/>
        </p:nvPicPr>
        <p:blipFill>
          <a:blip r:embed="rId6">
            <a:alphaModFix/>
          </a:blip>
          <a:stretch>
            <a:fillRect/>
          </a:stretch>
        </p:blipFill>
        <p:spPr>
          <a:xfrm>
            <a:off x="22441980" y="11431116"/>
            <a:ext cx="8788321" cy="6696320"/>
          </a:xfrm>
          <a:prstGeom prst="rect">
            <a:avLst/>
          </a:prstGeom>
          <a:noFill/>
          <a:ln>
            <a:noFill/>
          </a:ln>
        </p:spPr>
      </p:pic>
      <p:sp>
        <p:nvSpPr>
          <p:cNvPr id="987" name="Google Shape;987;p30"/>
          <p:cNvSpPr txBox="1"/>
          <p:nvPr/>
        </p:nvSpPr>
        <p:spPr>
          <a:xfrm>
            <a:off x="21385290" y="18375930"/>
            <a:ext cx="10972800" cy="23412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mitigation walk shows two risk-reduction clusters. The technical feasibility cluster reduces integration and interface risks while staying closer to the original cost and schedule envelope. Adding clinical validation creates a larger risk reduction, but pushes the selected design above the $6M budget target while still remaining inside the 50-week schedule limit. This tradeoff was accepted because hallucination and clinical accuracy risks are more critical to physician trust and safe clinical use.</a:t>
            </a:r>
            <a:endParaRPr sz="2040">
              <a:solidFill>
                <a:schemeClr val="dk2"/>
              </a:solidFill>
              <a:latin typeface="Proxima Nova"/>
              <a:ea typeface="Proxima Nova"/>
              <a:cs typeface="Proxima Nova"/>
              <a:sym typeface="Proxima Nova"/>
            </a:endParaRPr>
          </a:p>
        </p:txBody>
      </p:sp>
      <p:pic>
        <p:nvPicPr>
          <p:cNvPr id="988" name="Google Shape;988;p30"/>
          <p:cNvPicPr preferRelativeResize="0"/>
          <p:nvPr/>
        </p:nvPicPr>
        <p:blipFill>
          <a:blip r:embed="rId7">
            <a:alphaModFix/>
          </a:blip>
          <a:stretch>
            <a:fillRect/>
          </a:stretch>
        </p:blipFill>
        <p:spPr>
          <a:xfrm>
            <a:off x="5187547" y="2409630"/>
            <a:ext cx="2796399" cy="3380040"/>
          </a:xfrm>
          <a:prstGeom prst="rect">
            <a:avLst/>
          </a:prstGeom>
          <a:noFill/>
          <a:ln>
            <a:noFill/>
          </a:ln>
        </p:spPr>
      </p:pic>
      <p:pic>
        <p:nvPicPr>
          <p:cNvPr id="989" name="Google Shape;989;p30"/>
          <p:cNvPicPr preferRelativeResize="0"/>
          <p:nvPr/>
        </p:nvPicPr>
        <p:blipFill>
          <a:blip r:embed="rId8">
            <a:alphaModFix/>
          </a:blip>
          <a:stretch>
            <a:fillRect/>
          </a:stretch>
        </p:blipFill>
        <p:spPr>
          <a:xfrm>
            <a:off x="275027" y="2324450"/>
            <a:ext cx="3328672" cy="2998386"/>
          </a:xfrm>
          <a:prstGeom prst="rect">
            <a:avLst/>
          </a:prstGeom>
          <a:noFill/>
          <a:ln>
            <a:noFill/>
          </a:ln>
        </p:spPr>
      </p:pic>
      <p:pic>
        <p:nvPicPr>
          <p:cNvPr id="990" name="Google Shape;990;p30"/>
          <p:cNvPicPr preferRelativeResize="0"/>
          <p:nvPr/>
        </p:nvPicPr>
        <p:blipFill>
          <a:blip r:embed="rId9">
            <a:alphaModFix/>
          </a:blip>
          <a:stretch>
            <a:fillRect/>
          </a:stretch>
        </p:blipFill>
        <p:spPr>
          <a:xfrm>
            <a:off x="1309684" y="3444682"/>
            <a:ext cx="3400923" cy="2410062"/>
          </a:xfrm>
          <a:prstGeom prst="rect">
            <a:avLst/>
          </a:prstGeom>
          <a:noFill/>
          <a:ln>
            <a:noFill/>
          </a:ln>
        </p:spPr>
      </p:pic>
      <p:pic>
        <p:nvPicPr>
          <p:cNvPr id="991" name="Google Shape;991;p30"/>
          <p:cNvPicPr preferRelativeResize="0"/>
          <p:nvPr/>
        </p:nvPicPr>
        <p:blipFill>
          <a:blip r:embed="rId10">
            <a:alphaModFix/>
          </a:blip>
          <a:stretch>
            <a:fillRect/>
          </a:stretch>
        </p:blipFill>
        <p:spPr>
          <a:xfrm>
            <a:off x="8045406" y="2398468"/>
            <a:ext cx="2332763" cy="2164800"/>
          </a:xfrm>
          <a:prstGeom prst="rect">
            <a:avLst/>
          </a:prstGeom>
          <a:noFill/>
          <a:ln>
            <a:noFill/>
          </a:ln>
        </p:spPr>
      </p:pic>
      <p:pic>
        <p:nvPicPr>
          <p:cNvPr id="992" name="Google Shape;992;p30"/>
          <p:cNvPicPr preferRelativeResize="0"/>
          <p:nvPr/>
        </p:nvPicPr>
        <p:blipFill>
          <a:blip r:embed="rId11">
            <a:alphaModFix/>
          </a:blip>
          <a:stretch>
            <a:fillRect/>
          </a:stretch>
        </p:blipFill>
        <p:spPr>
          <a:xfrm>
            <a:off x="8635427" y="3090975"/>
            <a:ext cx="2427227" cy="2239469"/>
          </a:xfrm>
          <a:prstGeom prst="rect">
            <a:avLst/>
          </a:prstGeom>
          <a:noFill/>
          <a:ln>
            <a:noFill/>
          </a:ln>
        </p:spPr>
      </p:pic>
      <p:pic>
        <p:nvPicPr>
          <p:cNvPr id="993" name="Google Shape;993;p30"/>
          <p:cNvPicPr preferRelativeResize="0"/>
          <p:nvPr/>
        </p:nvPicPr>
        <p:blipFill>
          <a:blip r:embed="rId12">
            <a:alphaModFix/>
          </a:blip>
          <a:stretch>
            <a:fillRect/>
          </a:stretch>
        </p:blipFill>
        <p:spPr>
          <a:xfrm>
            <a:off x="9365796" y="4127580"/>
            <a:ext cx="2348340" cy="1811585"/>
          </a:xfrm>
          <a:prstGeom prst="rect">
            <a:avLst/>
          </a:prstGeom>
          <a:noFill/>
          <a:ln>
            <a:noFill/>
          </a:ln>
        </p:spPr>
      </p:pic>
      <p:sp>
        <p:nvSpPr>
          <p:cNvPr id="994" name="Google Shape;994;p30"/>
          <p:cNvSpPr/>
          <p:nvPr/>
        </p:nvSpPr>
        <p:spPr>
          <a:xfrm>
            <a:off x="4562880" y="3659070"/>
            <a:ext cx="877800" cy="438900"/>
          </a:xfrm>
          <a:prstGeom prst="rightArrow">
            <a:avLst>
              <a:gd fmla="val 50000" name="adj1"/>
              <a:gd fmla="val 50000" name="adj2"/>
            </a:avLst>
          </a:prstGeom>
          <a:solidFill>
            <a:srgbClr val="F16463"/>
          </a:solidFill>
          <a:ln>
            <a:noFill/>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8" name="Shape 998"/>
        <p:cNvGrpSpPr/>
        <p:nvPr/>
      </p:nvGrpSpPr>
      <p:grpSpPr>
        <a:xfrm>
          <a:off x="0" y="0"/>
          <a:ext cx="0" cy="0"/>
          <a:chOff x="0" y="0"/>
          <a:chExt cx="0" cy="0"/>
        </a:xfrm>
      </p:grpSpPr>
      <p:pic>
        <p:nvPicPr>
          <p:cNvPr id="999" name="Google Shape;999;p31"/>
          <p:cNvPicPr preferRelativeResize="0"/>
          <p:nvPr/>
        </p:nvPicPr>
        <p:blipFill rotWithShape="1">
          <a:blip r:embed="rId3">
            <a:alphaModFix/>
          </a:blip>
          <a:srcRect b="0" l="4251" r="0" t="0"/>
          <a:stretch/>
        </p:blipFill>
        <p:spPr>
          <a:xfrm>
            <a:off x="3" y="-69841"/>
            <a:ext cx="4920901" cy="1278001"/>
          </a:xfrm>
          <a:prstGeom prst="rect">
            <a:avLst/>
          </a:prstGeom>
          <a:noFill/>
          <a:ln>
            <a:noFill/>
          </a:ln>
        </p:spPr>
      </p:pic>
      <p:sp>
        <p:nvSpPr>
          <p:cNvPr id="1000" name="Google Shape;1000;p31"/>
          <p:cNvSpPr txBox="1"/>
          <p:nvPr/>
        </p:nvSpPr>
        <p:spPr>
          <a:xfrm>
            <a:off x="5304150" y="0"/>
            <a:ext cx="25134000" cy="1278000"/>
          </a:xfrm>
          <a:prstGeom prst="rect">
            <a:avLst/>
          </a:prstGeom>
          <a:noFill/>
          <a:ln>
            <a:noFill/>
          </a:ln>
        </p:spPr>
        <p:txBody>
          <a:bodyPr anchorCtr="0" anchor="t" bIns="216000" lIns="216000" spcFirstLastPara="1" rIns="216000" wrap="square" tIns="216000">
            <a:noAutofit/>
          </a:bodyPr>
          <a:lstStyle/>
          <a:p>
            <a:pPr indent="0" lvl="0" marL="0" rtl="0" algn="ctr">
              <a:spcBef>
                <a:spcPts val="0"/>
              </a:spcBef>
              <a:spcAft>
                <a:spcPts val="0"/>
              </a:spcAft>
              <a:buNone/>
            </a:pPr>
            <a:r>
              <a:rPr lang="pt-BR" sz="5680">
                <a:solidFill>
                  <a:srgbClr val="67B4D4"/>
                </a:solidFill>
              </a:rPr>
              <a:t>An agentic AI clinical librarian for laboratory results interpretation.</a:t>
            </a:r>
            <a:endParaRPr sz="5680">
              <a:solidFill>
                <a:srgbClr val="67B4D4"/>
              </a:solidFill>
            </a:endParaRPr>
          </a:p>
        </p:txBody>
      </p:sp>
      <p:sp>
        <p:nvSpPr>
          <p:cNvPr id="1001" name="Google Shape;1001;p31"/>
          <p:cNvSpPr txBox="1"/>
          <p:nvPr/>
        </p:nvSpPr>
        <p:spPr>
          <a:xfrm>
            <a:off x="-424800" y="36736200"/>
            <a:ext cx="30106800" cy="16278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lang="pt-BR" sz="3600">
                <a:solidFill>
                  <a:schemeClr val="dk2"/>
                </a:solidFill>
                <a:latin typeface="Proxima Nova"/>
                <a:ea typeface="Proxima Nova"/>
                <a:cs typeface="Proxima Nova"/>
                <a:sym typeface="Proxima Nova"/>
              </a:rPr>
              <a:t>Sanguine is a physician-facing clinical interpretation layer designed to scale the Mayo Clinic Model of Care by augmenting laboratory results with grounded, traceable, and clinically reviewed AI-generated interpretation.</a:t>
            </a:r>
            <a:endParaRPr sz="3600">
              <a:solidFill>
                <a:schemeClr val="dk2"/>
              </a:solidFill>
              <a:latin typeface="Proxima Nova"/>
              <a:ea typeface="Proxima Nova"/>
              <a:cs typeface="Proxima Nova"/>
              <a:sym typeface="Proxima Nova"/>
            </a:endParaRPr>
          </a:p>
        </p:txBody>
      </p:sp>
      <p:sp>
        <p:nvSpPr>
          <p:cNvPr id="1002" name="Google Shape;1002;p31"/>
          <p:cNvSpPr txBox="1"/>
          <p:nvPr/>
        </p:nvSpPr>
        <p:spPr>
          <a:xfrm>
            <a:off x="-50640" y="1489860"/>
            <a:ext cx="124764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1 From generic lab results to physician-ready interpretation</a:t>
            </a:r>
            <a:endParaRPr sz="3640">
              <a:solidFill>
                <a:srgbClr val="67B4D4"/>
              </a:solidFill>
              <a:latin typeface="Proxima Nova"/>
              <a:ea typeface="Proxima Nova"/>
              <a:cs typeface="Proxima Nova"/>
              <a:sym typeface="Proxima Nova"/>
            </a:endParaRPr>
          </a:p>
        </p:txBody>
      </p:sp>
      <p:sp>
        <p:nvSpPr>
          <p:cNvPr id="1003" name="Google Shape;1003;p31"/>
          <p:cNvSpPr txBox="1"/>
          <p:nvPr/>
        </p:nvSpPr>
        <p:spPr>
          <a:xfrm>
            <a:off x="349200" y="7228364"/>
            <a:ext cx="69375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3 Clinical librarian architecture</a:t>
            </a:r>
            <a:endParaRPr sz="3640">
              <a:solidFill>
                <a:srgbClr val="67B4D4"/>
              </a:solidFill>
              <a:latin typeface="Proxima Nova"/>
              <a:ea typeface="Proxima Nova"/>
              <a:cs typeface="Proxima Nova"/>
              <a:sym typeface="Proxima Nova"/>
            </a:endParaRPr>
          </a:p>
        </p:txBody>
      </p:sp>
      <p:sp>
        <p:nvSpPr>
          <p:cNvPr id="1004" name="Google Shape;1004;p31"/>
          <p:cNvSpPr txBox="1"/>
          <p:nvPr/>
        </p:nvSpPr>
        <p:spPr>
          <a:xfrm>
            <a:off x="-1883100" y="244701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Preferred Architecture</a:t>
            </a:r>
            <a:endParaRPr sz="5680">
              <a:solidFill>
                <a:srgbClr val="67B4D4"/>
              </a:solidFill>
            </a:endParaRPr>
          </a:p>
        </p:txBody>
      </p:sp>
      <p:sp>
        <p:nvSpPr>
          <p:cNvPr id="1005" name="Google Shape;1005;p31"/>
          <p:cNvSpPr txBox="1"/>
          <p:nvPr/>
        </p:nvSpPr>
        <p:spPr>
          <a:xfrm>
            <a:off x="-1883100" y="259497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Architectural Complexity</a:t>
            </a:r>
            <a:endParaRPr sz="5680">
              <a:solidFill>
                <a:srgbClr val="67B4D4"/>
              </a:solidFill>
            </a:endParaRPr>
          </a:p>
        </p:txBody>
      </p:sp>
      <p:sp>
        <p:nvSpPr>
          <p:cNvPr id="1006" name="Google Shape;1006;p31"/>
          <p:cNvSpPr txBox="1"/>
          <p:nvPr/>
        </p:nvSpPr>
        <p:spPr>
          <a:xfrm>
            <a:off x="-2188500" y="276852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Value Metrics</a:t>
            </a:r>
            <a:endParaRPr sz="5680">
              <a:solidFill>
                <a:srgbClr val="67B4D4"/>
              </a:solidFill>
            </a:endParaRPr>
          </a:p>
        </p:txBody>
      </p:sp>
      <p:sp>
        <p:nvSpPr>
          <p:cNvPr id="1007" name="Google Shape;1007;p31"/>
          <p:cNvSpPr txBox="1"/>
          <p:nvPr/>
        </p:nvSpPr>
        <p:spPr>
          <a:xfrm>
            <a:off x="12121493" y="1489860"/>
            <a:ext cx="199965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4 Selecting the preferred concept</a:t>
            </a:r>
            <a:endParaRPr sz="3640">
              <a:solidFill>
                <a:srgbClr val="67B4D4"/>
              </a:solidFill>
              <a:latin typeface="Proxima Nova"/>
              <a:ea typeface="Proxima Nova"/>
              <a:cs typeface="Proxima Nova"/>
              <a:sym typeface="Proxima Nova"/>
            </a:endParaRPr>
          </a:p>
        </p:txBody>
      </p:sp>
      <p:sp>
        <p:nvSpPr>
          <p:cNvPr id="1008" name="Google Shape;1008;p31"/>
          <p:cNvSpPr txBox="1"/>
          <p:nvPr/>
        </p:nvSpPr>
        <p:spPr>
          <a:xfrm>
            <a:off x="-54300" y="31482600"/>
            <a:ext cx="160704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Development Strategy: Risk-Driven Delivery</a:t>
            </a:r>
            <a:endParaRPr sz="5680">
              <a:solidFill>
                <a:srgbClr val="67B4D4"/>
              </a:solidFill>
            </a:endParaRPr>
          </a:p>
        </p:txBody>
      </p:sp>
      <p:sp>
        <p:nvSpPr>
          <p:cNvPr id="1009" name="Google Shape;1009;p31"/>
          <p:cNvSpPr txBox="1"/>
          <p:nvPr/>
        </p:nvSpPr>
        <p:spPr>
          <a:xfrm>
            <a:off x="3603300" y="35140200"/>
            <a:ext cx="13410000" cy="13107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5680">
                <a:solidFill>
                  <a:srgbClr val="67B4D4"/>
                </a:solidFill>
              </a:rPr>
              <a:t>Recommendation</a:t>
            </a:r>
            <a:endParaRPr sz="5680">
              <a:solidFill>
                <a:srgbClr val="67B4D4"/>
              </a:solidFill>
            </a:endParaRPr>
          </a:p>
        </p:txBody>
      </p:sp>
      <p:pic>
        <p:nvPicPr>
          <p:cNvPr id="1010" name="Google Shape;1010;p31"/>
          <p:cNvPicPr preferRelativeResize="0"/>
          <p:nvPr/>
        </p:nvPicPr>
        <p:blipFill>
          <a:blip r:embed="rId4">
            <a:alphaModFix/>
          </a:blip>
          <a:stretch>
            <a:fillRect/>
          </a:stretch>
        </p:blipFill>
        <p:spPr>
          <a:xfrm>
            <a:off x="30731401" y="209700"/>
            <a:ext cx="1977610" cy="2164787"/>
          </a:xfrm>
          <a:prstGeom prst="rect">
            <a:avLst/>
          </a:prstGeom>
          <a:noFill/>
          <a:ln>
            <a:noFill/>
          </a:ln>
        </p:spPr>
      </p:pic>
      <p:sp>
        <p:nvSpPr>
          <p:cNvPr id="1011" name="Google Shape;1011;p31"/>
          <p:cNvSpPr txBox="1"/>
          <p:nvPr/>
        </p:nvSpPr>
        <p:spPr>
          <a:xfrm>
            <a:off x="18801000" y="1016215"/>
            <a:ext cx="11930400" cy="805800"/>
          </a:xfrm>
          <a:prstGeom prst="rect">
            <a:avLst/>
          </a:prstGeom>
          <a:noFill/>
          <a:ln>
            <a:noFill/>
          </a:ln>
        </p:spPr>
        <p:txBody>
          <a:bodyPr anchorCtr="0" anchor="t" bIns="216000" lIns="216000" spcFirstLastPara="1" rIns="216000" wrap="square" tIns="216000">
            <a:spAutoFit/>
          </a:bodyPr>
          <a:lstStyle/>
          <a:p>
            <a:pPr indent="0" lvl="0" marL="0" rtl="0" algn="r">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Mentors: Angela Tomczik and Eric Rebentisch</a:t>
            </a:r>
            <a:endParaRPr sz="2400">
              <a:solidFill>
                <a:schemeClr val="dk2"/>
              </a:solidFill>
              <a:latin typeface="Proxima Nova"/>
              <a:ea typeface="Proxima Nova"/>
              <a:cs typeface="Proxima Nova"/>
              <a:sym typeface="Proxima Nova"/>
            </a:endParaRPr>
          </a:p>
        </p:txBody>
      </p:sp>
      <p:sp>
        <p:nvSpPr>
          <p:cNvPr id="1012" name="Google Shape;1012;p31"/>
          <p:cNvSpPr txBox="1"/>
          <p:nvPr/>
        </p:nvSpPr>
        <p:spPr>
          <a:xfrm>
            <a:off x="0" y="1016215"/>
            <a:ext cx="15901200" cy="805800"/>
          </a:xfrm>
          <a:prstGeom prst="rect">
            <a:avLst/>
          </a:prstGeom>
          <a:noFill/>
          <a:ln>
            <a:noFill/>
          </a:ln>
        </p:spPr>
        <p:txBody>
          <a:bodyPr anchorCtr="0" anchor="t" bIns="216000" lIns="216000" spcFirstLastPara="1" rIns="216000" wrap="square" tIns="216000">
            <a:spAutoFit/>
          </a:bodyPr>
          <a:lstStyle/>
          <a:p>
            <a:pPr indent="0" lvl="0" marL="0" rtl="0" algn="l">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Team: Camden Ramsay, David Ricardo, Michel Fernandes and Nora Alshareef</a:t>
            </a:r>
            <a:endParaRPr sz="2400">
              <a:solidFill>
                <a:schemeClr val="dk2"/>
              </a:solidFill>
              <a:latin typeface="Proxima Nova"/>
              <a:ea typeface="Proxima Nova"/>
              <a:cs typeface="Proxima Nova"/>
              <a:sym typeface="Proxima Nova"/>
            </a:endParaRPr>
          </a:p>
        </p:txBody>
      </p:sp>
      <p:sp>
        <p:nvSpPr>
          <p:cNvPr id="1013" name="Google Shape;1013;p31"/>
          <p:cNvSpPr txBox="1"/>
          <p:nvPr/>
        </p:nvSpPr>
        <p:spPr>
          <a:xfrm>
            <a:off x="-1143983" y="2768029"/>
            <a:ext cx="4338000" cy="805800"/>
          </a:xfrm>
          <a:prstGeom prst="rect">
            <a:avLst/>
          </a:prstGeom>
          <a:noFill/>
          <a:ln>
            <a:noFill/>
          </a:ln>
        </p:spPr>
        <p:txBody>
          <a:bodyPr anchorCtr="0" anchor="t" bIns="216000" lIns="216000" spcFirstLastPara="1" rIns="216000" wrap="square" tIns="216000">
            <a:spAutoFit/>
          </a:bodyPr>
          <a:lstStyle/>
          <a:p>
            <a:pPr indent="0" lvl="0" marL="0" rtl="0" algn="r">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Standard lab results</a:t>
            </a:r>
            <a:endParaRPr sz="2400">
              <a:solidFill>
                <a:schemeClr val="dk2"/>
              </a:solidFill>
              <a:latin typeface="Proxima Nova"/>
              <a:ea typeface="Proxima Nova"/>
              <a:cs typeface="Proxima Nova"/>
              <a:sym typeface="Proxima Nova"/>
            </a:endParaRPr>
          </a:p>
        </p:txBody>
      </p:sp>
      <p:sp>
        <p:nvSpPr>
          <p:cNvPr id="1014" name="Google Shape;1014;p31"/>
          <p:cNvSpPr/>
          <p:nvPr/>
        </p:nvSpPr>
        <p:spPr>
          <a:xfrm>
            <a:off x="3427717" y="2682109"/>
            <a:ext cx="2487300" cy="805800"/>
          </a:xfrm>
          <a:prstGeom prst="rect">
            <a:avLst/>
          </a:prstGeom>
          <a:solidFill>
            <a:srgbClr val="F26968"/>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General ranges</a:t>
            </a:r>
            <a:endParaRPr sz="2040">
              <a:solidFill>
                <a:schemeClr val="lt1"/>
              </a:solidFill>
              <a:latin typeface="Proxima Nova"/>
              <a:ea typeface="Proxima Nova"/>
              <a:cs typeface="Proxima Nova"/>
              <a:sym typeface="Proxima Nova"/>
            </a:endParaRPr>
          </a:p>
        </p:txBody>
      </p:sp>
      <p:sp>
        <p:nvSpPr>
          <p:cNvPr id="1015" name="Google Shape;1015;p31"/>
          <p:cNvSpPr/>
          <p:nvPr/>
        </p:nvSpPr>
        <p:spPr>
          <a:xfrm>
            <a:off x="6093233" y="2682109"/>
            <a:ext cx="2487300" cy="805800"/>
          </a:xfrm>
          <a:prstGeom prst="rect">
            <a:avLst/>
          </a:prstGeom>
          <a:solidFill>
            <a:srgbClr val="F26968"/>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Generic flags</a:t>
            </a:r>
            <a:endParaRPr sz="2040">
              <a:solidFill>
                <a:schemeClr val="lt1"/>
              </a:solidFill>
              <a:latin typeface="Proxima Nova"/>
              <a:ea typeface="Proxima Nova"/>
              <a:cs typeface="Proxima Nova"/>
              <a:sym typeface="Proxima Nova"/>
            </a:endParaRPr>
          </a:p>
        </p:txBody>
      </p:sp>
      <p:sp>
        <p:nvSpPr>
          <p:cNvPr id="1016" name="Google Shape;1016;p31"/>
          <p:cNvSpPr/>
          <p:nvPr/>
        </p:nvSpPr>
        <p:spPr>
          <a:xfrm>
            <a:off x="8758748" y="2682109"/>
            <a:ext cx="2487300" cy="805800"/>
          </a:xfrm>
          <a:prstGeom prst="rect">
            <a:avLst/>
          </a:prstGeom>
          <a:solidFill>
            <a:srgbClr val="F26968"/>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Limited context</a:t>
            </a:r>
            <a:endParaRPr sz="2040">
              <a:solidFill>
                <a:schemeClr val="lt1"/>
              </a:solidFill>
              <a:latin typeface="Proxima Nova"/>
              <a:ea typeface="Proxima Nova"/>
              <a:cs typeface="Proxima Nova"/>
              <a:sym typeface="Proxima Nova"/>
            </a:endParaRPr>
          </a:p>
        </p:txBody>
      </p:sp>
      <p:sp>
        <p:nvSpPr>
          <p:cNvPr id="1017" name="Google Shape;1017;p31"/>
          <p:cNvSpPr txBox="1"/>
          <p:nvPr/>
        </p:nvSpPr>
        <p:spPr>
          <a:xfrm>
            <a:off x="-1143983" y="4051639"/>
            <a:ext cx="4338000" cy="1230600"/>
          </a:xfrm>
          <a:prstGeom prst="rect">
            <a:avLst/>
          </a:prstGeom>
          <a:noFill/>
          <a:ln>
            <a:noFill/>
          </a:ln>
        </p:spPr>
        <p:txBody>
          <a:bodyPr anchorCtr="0" anchor="t" bIns="216000" lIns="216000" spcFirstLastPara="1" rIns="216000" wrap="square" tIns="216000">
            <a:spAutoFit/>
          </a:bodyPr>
          <a:lstStyle/>
          <a:p>
            <a:pPr indent="0" lvl="0" marL="0" rtl="0" algn="r">
              <a:lnSpc>
                <a:spcPct val="115000"/>
              </a:lnSpc>
              <a:spcBef>
                <a:spcPts val="14400"/>
              </a:spcBef>
              <a:spcAft>
                <a:spcPts val="14400"/>
              </a:spcAft>
              <a:buNone/>
            </a:pPr>
            <a:r>
              <a:rPr lang="pt-BR" sz="2400">
                <a:solidFill>
                  <a:schemeClr val="dk2"/>
                </a:solidFill>
                <a:latin typeface="Proxima Nova"/>
                <a:ea typeface="Proxima Nova"/>
                <a:cs typeface="Proxima Nova"/>
                <a:sym typeface="Proxima Nova"/>
              </a:rPr>
              <a:t>Mayo Model of Care interpretation</a:t>
            </a:r>
            <a:endParaRPr sz="2400">
              <a:solidFill>
                <a:schemeClr val="dk2"/>
              </a:solidFill>
              <a:latin typeface="Proxima Nova"/>
              <a:ea typeface="Proxima Nova"/>
              <a:cs typeface="Proxima Nova"/>
              <a:sym typeface="Proxima Nova"/>
            </a:endParaRPr>
          </a:p>
        </p:txBody>
      </p:sp>
      <p:sp>
        <p:nvSpPr>
          <p:cNvPr id="1018" name="Google Shape;1018;p31"/>
          <p:cNvSpPr/>
          <p:nvPr/>
        </p:nvSpPr>
        <p:spPr>
          <a:xfrm>
            <a:off x="3449454" y="3804285"/>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Patient context</a:t>
            </a:r>
            <a:endParaRPr sz="2040">
              <a:solidFill>
                <a:schemeClr val="lt1"/>
              </a:solidFill>
              <a:latin typeface="Proxima Nova"/>
              <a:ea typeface="Proxima Nova"/>
              <a:cs typeface="Proxima Nova"/>
              <a:sym typeface="Proxima Nova"/>
            </a:endParaRPr>
          </a:p>
        </p:txBody>
      </p:sp>
      <p:sp>
        <p:nvSpPr>
          <p:cNvPr id="1019" name="Google Shape;1019;p31"/>
          <p:cNvSpPr/>
          <p:nvPr/>
        </p:nvSpPr>
        <p:spPr>
          <a:xfrm>
            <a:off x="6114970" y="3804285"/>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Evidence grounded</a:t>
            </a:r>
            <a:endParaRPr sz="2040">
              <a:solidFill>
                <a:schemeClr val="lt1"/>
              </a:solidFill>
              <a:latin typeface="Proxima Nova"/>
              <a:ea typeface="Proxima Nova"/>
              <a:cs typeface="Proxima Nova"/>
              <a:sym typeface="Proxima Nova"/>
            </a:endParaRPr>
          </a:p>
        </p:txBody>
      </p:sp>
      <p:sp>
        <p:nvSpPr>
          <p:cNvPr id="1020" name="Google Shape;1020;p31"/>
          <p:cNvSpPr/>
          <p:nvPr/>
        </p:nvSpPr>
        <p:spPr>
          <a:xfrm>
            <a:off x="6114970" y="4742939"/>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Traceable</a:t>
            </a:r>
            <a:endParaRPr sz="2040">
              <a:solidFill>
                <a:schemeClr val="lt1"/>
              </a:solidFill>
              <a:latin typeface="Proxima Nova"/>
              <a:ea typeface="Proxima Nova"/>
              <a:cs typeface="Proxima Nova"/>
              <a:sym typeface="Proxima Nova"/>
            </a:endParaRPr>
          </a:p>
        </p:txBody>
      </p:sp>
      <p:sp>
        <p:nvSpPr>
          <p:cNvPr id="1021" name="Google Shape;1021;p31"/>
          <p:cNvSpPr/>
          <p:nvPr/>
        </p:nvSpPr>
        <p:spPr>
          <a:xfrm>
            <a:off x="3449454" y="4742939"/>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Clinically reviewed</a:t>
            </a:r>
            <a:endParaRPr sz="2040">
              <a:solidFill>
                <a:schemeClr val="lt1"/>
              </a:solidFill>
              <a:latin typeface="Proxima Nova"/>
              <a:ea typeface="Proxima Nova"/>
              <a:cs typeface="Proxima Nova"/>
              <a:sym typeface="Proxima Nova"/>
            </a:endParaRPr>
          </a:p>
        </p:txBody>
      </p:sp>
      <p:sp>
        <p:nvSpPr>
          <p:cNvPr id="1022" name="Google Shape;1022;p31"/>
          <p:cNvSpPr/>
          <p:nvPr/>
        </p:nvSpPr>
        <p:spPr>
          <a:xfrm>
            <a:off x="8780485" y="3804285"/>
            <a:ext cx="2487300" cy="805800"/>
          </a:xfrm>
          <a:prstGeom prst="rect">
            <a:avLst/>
          </a:prstGeom>
          <a:solidFill>
            <a:srgbClr val="67B4D4"/>
          </a:solidFill>
          <a:ln>
            <a:noFill/>
          </a:ln>
        </p:spPr>
        <p:txBody>
          <a:bodyPr anchorCtr="0" anchor="ctr" bIns="216000" lIns="216000" spcFirstLastPara="1" rIns="216000" wrap="square" tIns="216000">
            <a:noAutofit/>
          </a:bodyPr>
          <a:lstStyle/>
          <a:p>
            <a:pPr indent="0" lvl="0" marL="0" rtl="0" algn="ctr">
              <a:spcBef>
                <a:spcPts val="0"/>
              </a:spcBef>
              <a:spcAft>
                <a:spcPts val="0"/>
              </a:spcAft>
              <a:buNone/>
            </a:pPr>
            <a:r>
              <a:rPr lang="pt-BR" sz="2040">
                <a:solidFill>
                  <a:schemeClr val="lt1"/>
                </a:solidFill>
                <a:latin typeface="Proxima Nova"/>
                <a:ea typeface="Proxima Nova"/>
                <a:cs typeface="Proxima Nova"/>
                <a:sym typeface="Proxima Nova"/>
              </a:rPr>
              <a:t>Specialist informed</a:t>
            </a:r>
            <a:endParaRPr sz="2040">
              <a:solidFill>
                <a:schemeClr val="lt1"/>
              </a:solidFill>
              <a:latin typeface="Proxima Nova"/>
              <a:ea typeface="Proxima Nova"/>
              <a:cs typeface="Proxima Nova"/>
              <a:sym typeface="Proxima Nova"/>
            </a:endParaRPr>
          </a:p>
        </p:txBody>
      </p:sp>
      <p:sp>
        <p:nvSpPr>
          <p:cNvPr id="1023" name="Google Shape;1023;p31"/>
          <p:cNvSpPr/>
          <p:nvPr/>
        </p:nvSpPr>
        <p:spPr>
          <a:xfrm>
            <a:off x="3283244" y="2458159"/>
            <a:ext cx="8121000" cy="3249000"/>
          </a:xfrm>
          <a:prstGeom prst="roundRect">
            <a:avLst>
              <a:gd fmla="val 6483" name="adj"/>
            </a:avLst>
          </a:prstGeom>
          <a:noFill/>
          <a:ln cap="flat" cmpd="sng" w="22850">
            <a:solidFill>
              <a:srgbClr val="999999"/>
            </a:solidFill>
            <a:prstDash val="solid"/>
            <a:round/>
            <a:headEnd len="sm" w="sm" type="none"/>
            <a:tailEnd len="sm" w="sm" type="none"/>
          </a:ln>
        </p:spPr>
        <p:txBody>
          <a:bodyPr anchorCtr="0" anchor="ctr" bIns="1097100" lIns="1097100" spcFirstLastPara="1" rIns="1097100" wrap="square" tIns="1097100">
            <a:noAutofit/>
          </a:bodyPr>
          <a:lstStyle/>
          <a:p>
            <a:pPr indent="0" lvl="0" marL="0" rtl="0" algn="ctr">
              <a:spcBef>
                <a:spcPts val="0"/>
              </a:spcBef>
              <a:spcAft>
                <a:spcPts val="0"/>
              </a:spcAft>
              <a:buNone/>
            </a:pPr>
            <a:r>
              <a:t/>
            </a:r>
            <a:endParaRPr sz="2160">
              <a:latin typeface="Proxima Nova"/>
              <a:ea typeface="Proxima Nova"/>
              <a:cs typeface="Proxima Nova"/>
              <a:sym typeface="Proxima Nova"/>
            </a:endParaRPr>
          </a:p>
        </p:txBody>
      </p:sp>
      <p:sp>
        <p:nvSpPr>
          <p:cNvPr id="1024" name="Google Shape;1024;p31"/>
          <p:cNvSpPr txBox="1"/>
          <p:nvPr/>
        </p:nvSpPr>
        <p:spPr>
          <a:xfrm>
            <a:off x="8702947" y="4798549"/>
            <a:ext cx="2641800" cy="10644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b="1" lang="pt-BR" sz="2040">
                <a:solidFill>
                  <a:srgbClr val="999999"/>
                </a:solidFill>
                <a:latin typeface="Proxima Nova"/>
                <a:ea typeface="Proxima Nova"/>
                <a:cs typeface="Proxima Nova"/>
                <a:sym typeface="Proxima Nova"/>
              </a:rPr>
              <a:t>Interpretation Layer</a:t>
            </a:r>
            <a:endParaRPr b="1" sz="2040">
              <a:solidFill>
                <a:srgbClr val="999999"/>
              </a:solidFill>
              <a:latin typeface="Proxima Nova"/>
              <a:ea typeface="Proxima Nova"/>
              <a:cs typeface="Proxima Nova"/>
              <a:sym typeface="Proxima Nova"/>
            </a:endParaRPr>
          </a:p>
        </p:txBody>
      </p:sp>
      <p:grpSp>
        <p:nvGrpSpPr>
          <p:cNvPr id="1025" name="Google Shape;1025;p31"/>
          <p:cNvGrpSpPr/>
          <p:nvPr/>
        </p:nvGrpSpPr>
        <p:grpSpPr>
          <a:xfrm>
            <a:off x="10503111" y="8693470"/>
            <a:ext cx="8941201" cy="5476658"/>
            <a:chOff x="11465487" y="9211798"/>
            <a:chExt cx="16116079" cy="8412685"/>
          </a:xfrm>
        </p:grpSpPr>
        <p:sp>
          <p:nvSpPr>
            <p:cNvPr id="1026" name="Google Shape;1026;p31"/>
            <p:cNvSpPr/>
            <p:nvPr/>
          </p:nvSpPr>
          <p:spPr>
            <a:xfrm>
              <a:off x="15867473" y="11457283"/>
              <a:ext cx="380700" cy="1087800"/>
            </a:xfrm>
            <a:prstGeom prst="roundRect">
              <a:avLst>
                <a:gd fmla="val 16667" name="adj"/>
              </a:avLst>
            </a:prstGeom>
            <a:solidFill>
              <a:srgbClr val="0F9ED5">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1027" name="Google Shape;1027;p31"/>
            <p:cNvCxnSpPr/>
            <p:nvPr/>
          </p:nvCxnSpPr>
          <p:spPr>
            <a:xfrm>
              <a:off x="16070970"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1028" name="Google Shape;1028;p31"/>
            <p:cNvSpPr txBox="1"/>
            <p:nvPr/>
          </p:nvSpPr>
          <p:spPr>
            <a:xfrm>
              <a:off x="15031756" y="9211798"/>
              <a:ext cx="2078700" cy="6504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External Laboratory</a:t>
              </a:r>
              <a:endParaRPr sz="1118">
                <a:solidFill>
                  <a:srgbClr val="000000"/>
                </a:solidFill>
                <a:latin typeface="Proxima Nova"/>
                <a:ea typeface="Proxima Nova"/>
                <a:cs typeface="Proxima Nova"/>
                <a:sym typeface="Proxima Nova"/>
              </a:endParaRPr>
            </a:p>
          </p:txBody>
        </p:sp>
        <p:cxnSp>
          <p:nvCxnSpPr>
            <p:cNvPr id="1029" name="Google Shape;1029;p31"/>
            <p:cNvCxnSpPr/>
            <p:nvPr/>
          </p:nvCxnSpPr>
          <p:spPr>
            <a:xfrm>
              <a:off x="18685657"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1030" name="Google Shape;1030;p31"/>
            <p:cNvSpPr txBox="1"/>
            <p:nvPr/>
          </p:nvSpPr>
          <p:spPr>
            <a:xfrm>
              <a:off x="17646454" y="9211798"/>
              <a:ext cx="2078700" cy="11793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Mayo Clinic Labs</a:t>
              </a:r>
              <a:endParaRPr sz="1204">
                <a:latin typeface="Proxima Nova"/>
                <a:ea typeface="Proxima Nova"/>
                <a:cs typeface="Proxima Nova"/>
                <a:sym typeface="Proxima Nova"/>
              </a:endParaRPr>
            </a:p>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(Tests Execution)</a:t>
              </a:r>
              <a:endParaRPr sz="1118">
                <a:solidFill>
                  <a:srgbClr val="000000"/>
                </a:solidFill>
                <a:latin typeface="Proxima Nova"/>
                <a:ea typeface="Proxima Nova"/>
                <a:cs typeface="Proxima Nova"/>
                <a:sym typeface="Proxima Nova"/>
              </a:endParaRPr>
            </a:p>
          </p:txBody>
        </p:sp>
        <p:cxnSp>
          <p:nvCxnSpPr>
            <p:cNvPr id="1031" name="Google Shape;1031;p31"/>
            <p:cNvCxnSpPr/>
            <p:nvPr/>
          </p:nvCxnSpPr>
          <p:spPr>
            <a:xfrm>
              <a:off x="21300369"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1032" name="Google Shape;1032;p31"/>
            <p:cNvSpPr txBox="1"/>
            <p:nvPr/>
          </p:nvSpPr>
          <p:spPr>
            <a:xfrm>
              <a:off x="20261155"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Patient Record</a:t>
              </a:r>
              <a:endParaRPr sz="1204">
                <a:latin typeface="Proxima Nova"/>
                <a:ea typeface="Proxima Nova"/>
                <a:cs typeface="Proxima Nova"/>
                <a:sym typeface="Proxima Nova"/>
              </a:endParaRPr>
            </a:p>
          </p:txBody>
        </p:sp>
        <p:cxnSp>
          <p:nvCxnSpPr>
            <p:cNvPr id="1033" name="Google Shape;1033;p31"/>
            <p:cNvCxnSpPr/>
            <p:nvPr/>
          </p:nvCxnSpPr>
          <p:spPr>
            <a:xfrm>
              <a:off x="23915067"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1034" name="Google Shape;1034;p31"/>
            <p:cNvSpPr txBox="1"/>
            <p:nvPr/>
          </p:nvSpPr>
          <p:spPr>
            <a:xfrm>
              <a:off x="25173466" y="9211798"/>
              <a:ext cx="2408100" cy="6504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Sanguine Librarian Layer</a:t>
              </a:r>
              <a:endParaRPr sz="1118">
                <a:solidFill>
                  <a:srgbClr val="000000"/>
                </a:solidFill>
                <a:latin typeface="Proxima Nova"/>
                <a:ea typeface="Proxima Nova"/>
                <a:cs typeface="Proxima Nova"/>
                <a:sym typeface="Proxima Nova"/>
              </a:endParaRPr>
            </a:p>
          </p:txBody>
        </p:sp>
        <p:sp>
          <p:nvSpPr>
            <p:cNvPr id="1035" name="Google Shape;1035;p31"/>
            <p:cNvSpPr/>
            <p:nvPr/>
          </p:nvSpPr>
          <p:spPr>
            <a:xfrm>
              <a:off x="18495302" y="11457283"/>
              <a:ext cx="380700" cy="1060500"/>
            </a:xfrm>
            <a:prstGeom prst="roundRect">
              <a:avLst>
                <a:gd fmla="val 16667" name="adj"/>
              </a:avLst>
            </a:prstGeom>
            <a:solidFill>
              <a:srgbClr val="4EA72E">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1036" name="Google Shape;1036;p31"/>
            <p:cNvSpPr/>
            <p:nvPr/>
          </p:nvSpPr>
          <p:spPr>
            <a:xfrm>
              <a:off x="21089755" y="11457283"/>
              <a:ext cx="380700" cy="1041900"/>
            </a:xfrm>
            <a:prstGeom prst="roundRect">
              <a:avLst>
                <a:gd fmla="val 16667" name="adj"/>
              </a:avLst>
            </a:prstGeom>
            <a:solidFill>
              <a:srgbClr val="E9713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1037" name="Google Shape;1037;p31"/>
            <p:cNvCxnSpPr/>
            <p:nvPr/>
          </p:nvCxnSpPr>
          <p:spPr>
            <a:xfrm>
              <a:off x="16248209" y="11606279"/>
              <a:ext cx="22206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1038" name="Google Shape;1038;p31"/>
            <p:cNvCxnSpPr/>
            <p:nvPr/>
          </p:nvCxnSpPr>
          <p:spPr>
            <a:xfrm>
              <a:off x="18876038" y="11582967"/>
              <a:ext cx="22266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1039" name="Google Shape;1039;p31"/>
            <p:cNvCxnSpPr/>
            <p:nvPr/>
          </p:nvCxnSpPr>
          <p:spPr>
            <a:xfrm rot="10800000">
              <a:off x="16239464" y="15170200"/>
              <a:ext cx="9880500" cy="0"/>
            </a:xfrm>
            <a:prstGeom prst="straightConnector1">
              <a:avLst/>
            </a:prstGeom>
            <a:noFill/>
            <a:ln cap="flat" cmpd="sng" w="24575">
              <a:solidFill>
                <a:srgbClr val="7F7F7F"/>
              </a:solidFill>
              <a:prstDash val="solid"/>
              <a:miter lim="800000"/>
              <a:headEnd len="sm" w="sm" type="none"/>
              <a:tailEnd len="med" w="med" type="triangle"/>
            </a:ln>
          </p:spPr>
        </p:cxnSp>
        <p:sp>
          <p:nvSpPr>
            <p:cNvPr id="1040" name="Google Shape;1040;p31"/>
            <p:cNvSpPr txBox="1"/>
            <p:nvPr/>
          </p:nvSpPr>
          <p:spPr>
            <a:xfrm>
              <a:off x="16320938" y="1169784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Collecs and send samples</a:t>
              </a:r>
              <a:endParaRPr sz="1032">
                <a:solidFill>
                  <a:srgbClr val="000000"/>
                </a:solidFill>
                <a:latin typeface="Proxima Nova"/>
                <a:ea typeface="Proxima Nova"/>
                <a:cs typeface="Proxima Nova"/>
                <a:sym typeface="Proxima Nova"/>
              </a:endParaRPr>
            </a:p>
          </p:txBody>
        </p:sp>
        <p:sp>
          <p:nvSpPr>
            <p:cNvPr id="1041" name="Google Shape;1041;p31"/>
            <p:cNvSpPr txBox="1"/>
            <p:nvPr/>
          </p:nvSpPr>
          <p:spPr>
            <a:xfrm>
              <a:off x="23903091" y="15223203"/>
              <a:ext cx="2353800" cy="10980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 of results interpretation complete</a:t>
              </a:r>
              <a:endParaRPr sz="1204">
                <a:latin typeface="Proxima Nova"/>
                <a:ea typeface="Proxima Nova"/>
                <a:cs typeface="Proxima Nova"/>
                <a:sym typeface="Proxima Nova"/>
              </a:endParaRPr>
            </a:p>
          </p:txBody>
        </p:sp>
        <p:sp>
          <p:nvSpPr>
            <p:cNvPr id="1042" name="Google Shape;1042;p31"/>
            <p:cNvSpPr txBox="1"/>
            <p:nvPr/>
          </p:nvSpPr>
          <p:spPr>
            <a:xfrm>
              <a:off x="18937140" y="1169784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Analyses and store results</a:t>
              </a:r>
              <a:endParaRPr sz="1032">
                <a:solidFill>
                  <a:srgbClr val="000000"/>
                </a:solidFill>
                <a:latin typeface="Proxima Nova"/>
                <a:ea typeface="Proxima Nova"/>
                <a:cs typeface="Proxima Nova"/>
                <a:sym typeface="Proxima Nova"/>
              </a:endParaRPr>
            </a:p>
          </p:txBody>
        </p:sp>
        <p:sp>
          <p:nvSpPr>
            <p:cNvPr id="1043" name="Google Shape;1043;p31"/>
            <p:cNvSpPr txBox="1"/>
            <p:nvPr/>
          </p:nvSpPr>
          <p:spPr>
            <a:xfrm>
              <a:off x="21531932" y="11697840"/>
              <a:ext cx="19080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Test raw results</a:t>
              </a:r>
              <a:endParaRPr sz="1032">
                <a:solidFill>
                  <a:srgbClr val="000000"/>
                </a:solidFill>
                <a:latin typeface="Proxima Nova"/>
                <a:ea typeface="Proxima Nova"/>
                <a:cs typeface="Proxima Nova"/>
                <a:sym typeface="Proxima Nova"/>
              </a:endParaRPr>
            </a:p>
          </p:txBody>
        </p:sp>
        <p:cxnSp>
          <p:nvCxnSpPr>
            <p:cNvPr id="1044" name="Google Shape;1044;p31"/>
            <p:cNvCxnSpPr/>
            <p:nvPr/>
          </p:nvCxnSpPr>
          <p:spPr>
            <a:xfrm rot="10800000">
              <a:off x="24094959" y="13848647"/>
              <a:ext cx="2070300" cy="0"/>
            </a:xfrm>
            <a:prstGeom prst="straightConnector1">
              <a:avLst/>
            </a:prstGeom>
            <a:noFill/>
            <a:ln cap="flat" cmpd="sng" w="24575">
              <a:solidFill>
                <a:srgbClr val="7F7F7F"/>
              </a:solidFill>
              <a:prstDash val="solid"/>
              <a:miter lim="800000"/>
              <a:headEnd len="sm" w="sm" type="none"/>
              <a:tailEnd len="med" w="med" type="triangle"/>
            </a:ln>
          </p:spPr>
        </p:cxnSp>
        <p:sp>
          <p:nvSpPr>
            <p:cNvPr id="1045" name="Google Shape;1045;p31"/>
            <p:cNvSpPr txBox="1"/>
            <p:nvPr/>
          </p:nvSpPr>
          <p:spPr>
            <a:xfrm>
              <a:off x="22106638" y="12891743"/>
              <a:ext cx="46635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Request patient context</a:t>
              </a:r>
              <a:endParaRPr sz="1032">
                <a:solidFill>
                  <a:srgbClr val="000000"/>
                </a:solidFill>
                <a:latin typeface="Proxima Nova"/>
                <a:ea typeface="Proxima Nova"/>
                <a:cs typeface="Proxima Nova"/>
                <a:sym typeface="Proxima Nova"/>
              </a:endParaRPr>
            </a:p>
          </p:txBody>
        </p:sp>
        <p:sp>
          <p:nvSpPr>
            <p:cNvPr id="1046" name="Google Shape;1046;p31"/>
            <p:cNvSpPr txBox="1"/>
            <p:nvPr/>
          </p:nvSpPr>
          <p:spPr>
            <a:xfrm>
              <a:off x="24105503" y="13903847"/>
              <a:ext cx="19545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Request clinical references</a:t>
              </a:r>
              <a:endParaRPr sz="1032">
                <a:solidFill>
                  <a:srgbClr val="000000"/>
                </a:solidFill>
                <a:latin typeface="Proxima Nova"/>
                <a:ea typeface="Proxima Nova"/>
                <a:cs typeface="Proxima Nova"/>
                <a:sym typeface="Proxima Nova"/>
              </a:endParaRPr>
            </a:p>
          </p:txBody>
        </p:sp>
        <p:cxnSp>
          <p:nvCxnSpPr>
            <p:cNvPr id="1047" name="Google Shape;1047;p31"/>
            <p:cNvCxnSpPr/>
            <p:nvPr/>
          </p:nvCxnSpPr>
          <p:spPr>
            <a:xfrm>
              <a:off x="26377558"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1048" name="Google Shape;1048;p31"/>
            <p:cNvSpPr/>
            <p:nvPr/>
          </p:nvSpPr>
          <p:spPr>
            <a:xfrm>
              <a:off x="26175833" y="11457283"/>
              <a:ext cx="380700" cy="4614000"/>
            </a:xfrm>
            <a:prstGeom prst="roundRect">
              <a:avLst>
                <a:gd fmla="val 16667" name="adj"/>
              </a:avLst>
            </a:prstGeom>
            <a:solidFill>
              <a:srgbClr val="FF0000">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1049" name="Google Shape;1049;p31"/>
            <p:cNvSpPr txBox="1"/>
            <p:nvPr/>
          </p:nvSpPr>
          <p:spPr>
            <a:xfrm>
              <a:off x="22875855" y="9211798"/>
              <a:ext cx="2078700" cy="9150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Mayo Clinic Knowledge &amp; Research</a:t>
              </a:r>
              <a:endParaRPr sz="1204">
                <a:latin typeface="Proxima Nova"/>
                <a:ea typeface="Proxima Nova"/>
                <a:cs typeface="Proxima Nova"/>
                <a:sym typeface="Proxima Nova"/>
              </a:endParaRPr>
            </a:p>
          </p:txBody>
        </p:sp>
        <p:sp>
          <p:nvSpPr>
            <p:cNvPr id="1050" name="Google Shape;1050;p31"/>
            <p:cNvSpPr/>
            <p:nvPr/>
          </p:nvSpPr>
          <p:spPr>
            <a:xfrm>
              <a:off x="23714193" y="13684467"/>
              <a:ext cx="380700" cy="1041600"/>
            </a:xfrm>
            <a:prstGeom prst="roundRect">
              <a:avLst>
                <a:gd fmla="val 16667" name="adj"/>
              </a:avLst>
            </a:prstGeom>
            <a:solidFill>
              <a:srgbClr val="AEAEAE">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1051" name="Google Shape;1051;p31"/>
            <p:cNvSpPr/>
            <p:nvPr/>
          </p:nvSpPr>
          <p:spPr>
            <a:xfrm>
              <a:off x="21102742" y="12636556"/>
              <a:ext cx="380700" cy="855600"/>
            </a:xfrm>
            <a:prstGeom prst="roundRect">
              <a:avLst>
                <a:gd fmla="val 16667" name="adj"/>
              </a:avLst>
            </a:prstGeom>
            <a:solidFill>
              <a:srgbClr val="E9713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1052" name="Google Shape;1052;p31"/>
            <p:cNvCxnSpPr/>
            <p:nvPr/>
          </p:nvCxnSpPr>
          <p:spPr>
            <a:xfrm rot="10800000">
              <a:off x="12703818" y="11163267"/>
              <a:ext cx="15228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1053" name="Google Shape;1053;p31"/>
            <p:cNvCxnSpPr/>
            <p:nvPr/>
          </p:nvCxnSpPr>
          <p:spPr>
            <a:xfrm>
              <a:off x="21456434" y="11606279"/>
              <a:ext cx="4745400" cy="0"/>
            </a:xfrm>
            <a:prstGeom prst="straightConnector1">
              <a:avLst/>
            </a:prstGeom>
            <a:noFill/>
            <a:ln cap="flat" cmpd="sng" w="24575">
              <a:solidFill>
                <a:srgbClr val="7F7F7F"/>
              </a:solidFill>
              <a:prstDash val="solid"/>
              <a:miter lim="800000"/>
              <a:headEnd len="sm" w="sm" type="none"/>
              <a:tailEnd len="med" w="med" type="triangle"/>
            </a:ln>
          </p:spPr>
        </p:cxnSp>
        <p:sp>
          <p:nvSpPr>
            <p:cNvPr id="1054" name="Google Shape;1054;p31"/>
            <p:cNvSpPr txBox="1"/>
            <p:nvPr/>
          </p:nvSpPr>
          <p:spPr>
            <a:xfrm>
              <a:off x="21456434" y="13354498"/>
              <a:ext cx="25419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Send patient clinical context</a:t>
              </a:r>
              <a:endParaRPr sz="1032">
                <a:solidFill>
                  <a:srgbClr val="000000"/>
                </a:solidFill>
                <a:latin typeface="Proxima Nova"/>
                <a:ea typeface="Proxima Nova"/>
                <a:cs typeface="Proxima Nova"/>
                <a:sym typeface="Proxima Nova"/>
              </a:endParaRPr>
            </a:p>
          </p:txBody>
        </p:sp>
        <p:cxnSp>
          <p:nvCxnSpPr>
            <p:cNvPr id="1055" name="Google Shape;1055;p31"/>
            <p:cNvCxnSpPr/>
            <p:nvPr/>
          </p:nvCxnSpPr>
          <p:spPr>
            <a:xfrm>
              <a:off x="24058504" y="14514168"/>
              <a:ext cx="2128800" cy="0"/>
            </a:xfrm>
            <a:prstGeom prst="straightConnector1">
              <a:avLst/>
            </a:prstGeom>
            <a:noFill/>
            <a:ln cap="flat" cmpd="sng" w="24575">
              <a:solidFill>
                <a:srgbClr val="7F7F7F"/>
              </a:solidFill>
              <a:prstDash val="solid"/>
              <a:miter lim="800000"/>
              <a:headEnd len="sm" w="sm" type="none"/>
              <a:tailEnd len="med" w="med" type="triangle"/>
            </a:ln>
          </p:spPr>
        </p:cxnSp>
        <p:sp>
          <p:nvSpPr>
            <p:cNvPr id="1056" name="Google Shape;1056;p31"/>
            <p:cNvSpPr txBox="1"/>
            <p:nvPr/>
          </p:nvSpPr>
          <p:spPr>
            <a:xfrm>
              <a:off x="24058504" y="14525107"/>
              <a:ext cx="1632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Send clinical references</a:t>
              </a:r>
              <a:endParaRPr sz="1032">
                <a:solidFill>
                  <a:srgbClr val="000000"/>
                </a:solidFill>
                <a:latin typeface="Proxima Nova"/>
                <a:ea typeface="Proxima Nova"/>
                <a:cs typeface="Proxima Nova"/>
                <a:sym typeface="Proxima Nova"/>
              </a:endParaRPr>
            </a:p>
          </p:txBody>
        </p:sp>
        <p:sp>
          <p:nvSpPr>
            <p:cNvPr id="1057" name="Google Shape;1057;p31"/>
            <p:cNvSpPr/>
            <p:nvPr/>
          </p:nvSpPr>
          <p:spPr>
            <a:xfrm>
              <a:off x="15858667" y="15086608"/>
              <a:ext cx="380700" cy="1353900"/>
            </a:xfrm>
            <a:prstGeom prst="roundRect">
              <a:avLst>
                <a:gd fmla="val 16667" name="adj"/>
              </a:avLst>
            </a:prstGeom>
            <a:solidFill>
              <a:srgbClr val="0F9ED5">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1058" name="Google Shape;1058;p31"/>
            <p:cNvSpPr/>
            <p:nvPr/>
          </p:nvSpPr>
          <p:spPr>
            <a:xfrm>
              <a:off x="12318864" y="10242365"/>
              <a:ext cx="380700" cy="17499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1059" name="Google Shape;1059;p31"/>
            <p:cNvCxnSpPr/>
            <p:nvPr/>
          </p:nvCxnSpPr>
          <p:spPr>
            <a:xfrm>
              <a:off x="12504700"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1060" name="Google Shape;1060;p31"/>
            <p:cNvSpPr txBox="1"/>
            <p:nvPr/>
          </p:nvSpPr>
          <p:spPr>
            <a:xfrm>
              <a:off x="11465487"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Patient</a:t>
              </a:r>
              <a:endParaRPr sz="1118">
                <a:solidFill>
                  <a:srgbClr val="000000"/>
                </a:solidFill>
                <a:latin typeface="Proxima Nova"/>
                <a:ea typeface="Proxima Nova"/>
                <a:cs typeface="Proxima Nova"/>
                <a:sym typeface="Proxima Nova"/>
              </a:endParaRPr>
            </a:p>
          </p:txBody>
        </p:sp>
        <p:sp>
          <p:nvSpPr>
            <p:cNvPr id="1061" name="Google Shape;1061;p31"/>
            <p:cNvSpPr/>
            <p:nvPr/>
          </p:nvSpPr>
          <p:spPr>
            <a:xfrm>
              <a:off x="12316454" y="15752918"/>
              <a:ext cx="380700" cy="5814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1062" name="Google Shape;1062;p31"/>
            <p:cNvSpPr/>
            <p:nvPr/>
          </p:nvSpPr>
          <p:spPr>
            <a:xfrm>
              <a:off x="14226618" y="10284614"/>
              <a:ext cx="380700" cy="10551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1063" name="Google Shape;1063;p31"/>
            <p:cNvCxnSpPr/>
            <p:nvPr/>
          </p:nvCxnSpPr>
          <p:spPr>
            <a:xfrm>
              <a:off x="14416986" y="10303043"/>
              <a:ext cx="0" cy="7233900"/>
            </a:xfrm>
            <a:prstGeom prst="straightConnector1">
              <a:avLst/>
            </a:prstGeom>
            <a:noFill/>
            <a:ln cap="flat" cmpd="sng" w="16450">
              <a:solidFill>
                <a:srgbClr val="7F7F7F"/>
              </a:solidFill>
              <a:prstDash val="dash"/>
              <a:miter lim="800000"/>
              <a:headEnd len="sm" w="sm" type="none"/>
              <a:tailEnd len="sm" w="sm" type="none"/>
            </a:ln>
          </p:spPr>
        </p:cxnSp>
        <p:sp>
          <p:nvSpPr>
            <p:cNvPr id="1064" name="Google Shape;1064;p31"/>
            <p:cNvSpPr txBox="1"/>
            <p:nvPr/>
          </p:nvSpPr>
          <p:spPr>
            <a:xfrm>
              <a:off x="13377773" y="9211798"/>
              <a:ext cx="2078700" cy="386100"/>
            </a:xfrm>
            <a:prstGeom prst="rect">
              <a:avLst/>
            </a:prstGeom>
            <a:noFill/>
            <a:ln>
              <a:noFill/>
            </a:ln>
          </p:spPr>
          <p:txBody>
            <a:bodyPr anchorCtr="0" anchor="t" bIns="39200" lIns="78750" spcFirstLastPara="1" rIns="78750" wrap="square" tIns="39200">
              <a:spAutoFit/>
            </a:bodyPr>
            <a:lstStyle/>
            <a:p>
              <a:pPr indent="0" lvl="0" marL="0" marR="0" rtl="0" algn="ctr">
                <a:spcBef>
                  <a:spcPts val="0"/>
                </a:spcBef>
                <a:spcAft>
                  <a:spcPts val="0"/>
                </a:spcAft>
                <a:buNone/>
              </a:pPr>
              <a:r>
                <a:rPr lang="pt-BR" sz="1118">
                  <a:solidFill>
                    <a:srgbClr val="000000"/>
                  </a:solidFill>
                  <a:latin typeface="Proxima Nova"/>
                  <a:ea typeface="Proxima Nova"/>
                  <a:cs typeface="Proxima Nova"/>
                  <a:sym typeface="Proxima Nova"/>
                </a:rPr>
                <a:t>Physician</a:t>
              </a:r>
              <a:endParaRPr sz="1118">
                <a:solidFill>
                  <a:srgbClr val="000000"/>
                </a:solidFill>
                <a:latin typeface="Proxima Nova"/>
                <a:ea typeface="Proxima Nova"/>
                <a:cs typeface="Proxima Nova"/>
                <a:sym typeface="Proxima Nova"/>
              </a:endParaRPr>
            </a:p>
          </p:txBody>
        </p:sp>
        <p:sp>
          <p:nvSpPr>
            <p:cNvPr id="1065" name="Google Shape;1065;p31"/>
            <p:cNvSpPr/>
            <p:nvPr/>
          </p:nvSpPr>
          <p:spPr>
            <a:xfrm>
              <a:off x="14226618" y="15077351"/>
              <a:ext cx="380700" cy="5814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1066" name="Google Shape;1066;p31"/>
            <p:cNvCxnSpPr/>
            <p:nvPr/>
          </p:nvCxnSpPr>
          <p:spPr>
            <a:xfrm>
              <a:off x="12641221" y="10446061"/>
              <a:ext cx="1585200" cy="0"/>
            </a:xfrm>
            <a:prstGeom prst="straightConnector1">
              <a:avLst/>
            </a:prstGeom>
            <a:noFill/>
            <a:ln cap="flat" cmpd="sng" w="24575">
              <a:solidFill>
                <a:srgbClr val="7F7F7F"/>
              </a:solidFill>
              <a:prstDash val="solid"/>
              <a:miter lim="800000"/>
              <a:headEnd len="sm" w="sm" type="none"/>
              <a:tailEnd len="med" w="med" type="triangle"/>
            </a:ln>
          </p:spPr>
        </p:cxnSp>
        <p:sp>
          <p:nvSpPr>
            <p:cNvPr id="1067" name="Google Shape;1067;p31"/>
            <p:cNvSpPr txBox="1"/>
            <p:nvPr/>
          </p:nvSpPr>
          <p:spPr>
            <a:xfrm>
              <a:off x="12684299" y="9971282"/>
              <a:ext cx="25419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Medical consultation</a:t>
              </a:r>
              <a:endParaRPr sz="1032">
                <a:solidFill>
                  <a:srgbClr val="000000"/>
                </a:solidFill>
                <a:latin typeface="Proxima Nova"/>
                <a:ea typeface="Proxima Nova"/>
                <a:cs typeface="Proxima Nova"/>
                <a:sym typeface="Proxima Nova"/>
              </a:endParaRPr>
            </a:p>
          </p:txBody>
        </p:sp>
        <p:sp>
          <p:nvSpPr>
            <p:cNvPr id="1068" name="Google Shape;1068;p31"/>
            <p:cNvSpPr txBox="1"/>
            <p:nvPr/>
          </p:nvSpPr>
          <p:spPr>
            <a:xfrm>
              <a:off x="12728501" y="11207089"/>
              <a:ext cx="24081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Exam request</a:t>
              </a:r>
              <a:endParaRPr sz="1032">
                <a:solidFill>
                  <a:srgbClr val="000000"/>
                </a:solidFill>
                <a:latin typeface="Proxima Nova"/>
                <a:ea typeface="Proxima Nova"/>
                <a:cs typeface="Proxima Nova"/>
                <a:sym typeface="Proxima Nova"/>
              </a:endParaRPr>
            </a:p>
          </p:txBody>
        </p:sp>
        <p:cxnSp>
          <p:nvCxnSpPr>
            <p:cNvPr id="1069" name="Google Shape;1069;p31"/>
            <p:cNvCxnSpPr/>
            <p:nvPr/>
          </p:nvCxnSpPr>
          <p:spPr>
            <a:xfrm rot="10800000">
              <a:off x="21456464" y="12817687"/>
              <a:ext cx="4663500" cy="0"/>
            </a:xfrm>
            <a:prstGeom prst="straightConnector1">
              <a:avLst/>
            </a:prstGeom>
            <a:noFill/>
            <a:ln cap="flat" cmpd="sng" w="24575">
              <a:solidFill>
                <a:srgbClr val="7F7F7F"/>
              </a:solidFill>
              <a:prstDash val="solid"/>
              <a:miter lim="800000"/>
              <a:headEnd len="sm" w="sm" type="none"/>
              <a:tailEnd len="med" w="med" type="triangle"/>
            </a:ln>
          </p:spPr>
        </p:cxnSp>
        <p:cxnSp>
          <p:nvCxnSpPr>
            <p:cNvPr id="1070" name="Google Shape;1070;p31"/>
            <p:cNvCxnSpPr/>
            <p:nvPr/>
          </p:nvCxnSpPr>
          <p:spPr>
            <a:xfrm>
              <a:off x="12715955" y="11606279"/>
              <a:ext cx="3151500" cy="0"/>
            </a:xfrm>
            <a:prstGeom prst="straightConnector1">
              <a:avLst/>
            </a:prstGeom>
            <a:noFill/>
            <a:ln cap="flat" cmpd="sng" w="24575">
              <a:solidFill>
                <a:srgbClr val="7F7F7F"/>
              </a:solidFill>
              <a:prstDash val="solid"/>
              <a:miter lim="800000"/>
              <a:headEnd len="sm" w="sm" type="none"/>
              <a:tailEnd len="med" w="med" type="triangle"/>
            </a:ln>
          </p:spPr>
        </p:cxnSp>
        <p:sp>
          <p:nvSpPr>
            <p:cNvPr id="1071" name="Google Shape;1071;p31"/>
            <p:cNvSpPr txBox="1"/>
            <p:nvPr/>
          </p:nvSpPr>
          <p:spPr>
            <a:xfrm>
              <a:off x="12676593" y="11637411"/>
              <a:ext cx="23538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Exam schedule</a:t>
              </a:r>
              <a:endParaRPr sz="1032">
                <a:solidFill>
                  <a:srgbClr val="000000"/>
                </a:solidFill>
                <a:latin typeface="Proxima Nova"/>
                <a:ea typeface="Proxima Nova"/>
                <a:cs typeface="Proxima Nova"/>
                <a:sym typeface="Proxima Nova"/>
              </a:endParaRPr>
            </a:p>
          </p:txBody>
        </p:sp>
        <p:cxnSp>
          <p:nvCxnSpPr>
            <p:cNvPr id="1072" name="Google Shape;1072;p31"/>
            <p:cNvCxnSpPr/>
            <p:nvPr/>
          </p:nvCxnSpPr>
          <p:spPr>
            <a:xfrm>
              <a:off x="21499378" y="13291150"/>
              <a:ext cx="4676400" cy="0"/>
            </a:xfrm>
            <a:prstGeom prst="straightConnector1">
              <a:avLst/>
            </a:prstGeom>
            <a:noFill/>
            <a:ln cap="flat" cmpd="sng" w="24575">
              <a:solidFill>
                <a:srgbClr val="7F7F7F"/>
              </a:solidFill>
              <a:prstDash val="solid"/>
              <a:miter lim="800000"/>
              <a:headEnd len="sm" w="sm" type="none"/>
              <a:tailEnd len="med" w="med" type="triangle"/>
            </a:ln>
          </p:spPr>
        </p:cxnSp>
        <p:sp>
          <p:nvSpPr>
            <p:cNvPr id="1073" name="Google Shape;1073;p31"/>
            <p:cNvSpPr txBox="1"/>
            <p:nvPr/>
          </p:nvSpPr>
          <p:spPr>
            <a:xfrm>
              <a:off x="14564440" y="15318800"/>
              <a:ext cx="15186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a:t>
              </a:r>
              <a:endParaRPr sz="1204">
                <a:latin typeface="Proxima Nova"/>
                <a:ea typeface="Proxima Nova"/>
                <a:cs typeface="Proxima Nova"/>
                <a:sym typeface="Proxima Nova"/>
              </a:endParaRPr>
            </a:p>
          </p:txBody>
        </p:sp>
        <p:cxnSp>
          <p:nvCxnSpPr>
            <p:cNvPr id="1074" name="Google Shape;1074;p31"/>
            <p:cNvCxnSpPr/>
            <p:nvPr/>
          </p:nvCxnSpPr>
          <p:spPr>
            <a:xfrm rot="10800000">
              <a:off x="14591917" y="15223203"/>
              <a:ext cx="1263600" cy="0"/>
            </a:xfrm>
            <a:prstGeom prst="straightConnector1">
              <a:avLst/>
            </a:prstGeom>
            <a:noFill/>
            <a:ln cap="flat" cmpd="sng" w="24575">
              <a:solidFill>
                <a:srgbClr val="7F7F7F"/>
              </a:solidFill>
              <a:prstDash val="solid"/>
              <a:miter lim="800000"/>
              <a:headEnd len="sm" w="sm" type="none"/>
              <a:tailEnd len="med" w="med" type="triangle"/>
            </a:ln>
          </p:spPr>
        </p:cxnSp>
        <p:sp>
          <p:nvSpPr>
            <p:cNvPr id="1075" name="Google Shape;1075;p31"/>
            <p:cNvSpPr txBox="1"/>
            <p:nvPr/>
          </p:nvSpPr>
          <p:spPr>
            <a:xfrm>
              <a:off x="14530538" y="15926441"/>
              <a:ext cx="1518600" cy="3657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Notification</a:t>
              </a:r>
              <a:endParaRPr sz="1204">
                <a:latin typeface="Proxima Nova"/>
                <a:ea typeface="Proxima Nova"/>
                <a:cs typeface="Proxima Nova"/>
                <a:sym typeface="Proxima Nova"/>
              </a:endParaRPr>
            </a:p>
          </p:txBody>
        </p:sp>
        <p:cxnSp>
          <p:nvCxnSpPr>
            <p:cNvPr id="1076" name="Google Shape;1076;p31"/>
            <p:cNvCxnSpPr/>
            <p:nvPr/>
          </p:nvCxnSpPr>
          <p:spPr>
            <a:xfrm rot="10800000">
              <a:off x="12697262" y="15868426"/>
              <a:ext cx="3141000" cy="0"/>
            </a:xfrm>
            <a:prstGeom prst="straightConnector1">
              <a:avLst/>
            </a:prstGeom>
            <a:noFill/>
            <a:ln cap="flat" cmpd="sng" w="24575">
              <a:solidFill>
                <a:srgbClr val="7F7F7F"/>
              </a:solidFill>
              <a:prstDash val="solid"/>
              <a:miter lim="800000"/>
              <a:headEnd len="sm" w="sm" type="none"/>
              <a:tailEnd len="med" w="med" type="triangle"/>
            </a:ln>
          </p:spPr>
        </p:cxnSp>
        <p:sp>
          <p:nvSpPr>
            <p:cNvPr id="1077" name="Google Shape;1077;p31"/>
            <p:cNvSpPr/>
            <p:nvPr/>
          </p:nvSpPr>
          <p:spPr>
            <a:xfrm>
              <a:off x="26159497" y="16384833"/>
              <a:ext cx="380700" cy="1121100"/>
            </a:xfrm>
            <a:prstGeom prst="roundRect">
              <a:avLst>
                <a:gd fmla="val 16667" name="adj"/>
              </a:avLst>
            </a:prstGeom>
            <a:solidFill>
              <a:srgbClr val="FF0000">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1078" name="Google Shape;1078;p31"/>
            <p:cNvCxnSpPr/>
            <p:nvPr/>
          </p:nvCxnSpPr>
          <p:spPr>
            <a:xfrm>
              <a:off x="14653655" y="16577065"/>
              <a:ext cx="11485500" cy="2100"/>
            </a:xfrm>
            <a:prstGeom prst="straightConnector1">
              <a:avLst/>
            </a:prstGeom>
            <a:noFill/>
            <a:ln cap="flat" cmpd="sng" w="24575">
              <a:solidFill>
                <a:srgbClr val="7F7F7F"/>
              </a:solidFill>
              <a:prstDash val="solid"/>
              <a:miter lim="800000"/>
              <a:headEnd len="sm" w="sm" type="none"/>
              <a:tailEnd len="med" w="med" type="triangle"/>
            </a:ln>
          </p:spPr>
        </p:cxnSp>
        <p:sp>
          <p:nvSpPr>
            <p:cNvPr id="1079" name="Google Shape;1079;p31"/>
            <p:cNvSpPr/>
            <p:nvPr/>
          </p:nvSpPr>
          <p:spPr>
            <a:xfrm>
              <a:off x="14211281" y="16503383"/>
              <a:ext cx="380700" cy="1121100"/>
            </a:xfrm>
            <a:prstGeom prst="roundRect">
              <a:avLst>
                <a:gd fmla="val 16667" name="adj"/>
              </a:avLst>
            </a:prstGeom>
            <a:solidFill>
              <a:srgbClr val="A02B93">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sp>
          <p:nvSpPr>
            <p:cNvPr id="1080" name="Google Shape;1080;p31"/>
            <p:cNvSpPr txBox="1"/>
            <p:nvPr/>
          </p:nvSpPr>
          <p:spPr>
            <a:xfrm>
              <a:off x="14495619" y="16629190"/>
              <a:ext cx="1908000" cy="6099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i="0" lang="pt-BR" sz="1032">
                  <a:solidFill>
                    <a:srgbClr val="000000"/>
                  </a:solidFill>
                  <a:latin typeface="Proxima Nova"/>
                  <a:ea typeface="Proxima Nova"/>
                  <a:cs typeface="Proxima Nova"/>
                  <a:sym typeface="Proxima Nova"/>
                </a:rPr>
                <a:t>Access test interpretation</a:t>
              </a:r>
              <a:endParaRPr i="0" sz="1032">
                <a:solidFill>
                  <a:srgbClr val="000000"/>
                </a:solidFill>
                <a:latin typeface="Proxima Nova"/>
                <a:ea typeface="Proxima Nova"/>
                <a:cs typeface="Proxima Nova"/>
                <a:sym typeface="Proxima Nova"/>
              </a:endParaRPr>
            </a:p>
          </p:txBody>
        </p:sp>
        <p:sp>
          <p:nvSpPr>
            <p:cNvPr id="1081" name="Google Shape;1081;p31"/>
            <p:cNvSpPr/>
            <p:nvPr/>
          </p:nvSpPr>
          <p:spPr>
            <a:xfrm>
              <a:off x="12316458" y="16847915"/>
              <a:ext cx="380700" cy="776400"/>
            </a:xfrm>
            <a:prstGeom prst="roundRect">
              <a:avLst>
                <a:gd fmla="val 16667" name="adj"/>
              </a:avLst>
            </a:prstGeom>
            <a:solidFill>
              <a:srgbClr val="156082">
                <a:alpha val="49800"/>
              </a:srgbClr>
            </a:solidFill>
            <a:ln>
              <a:noFill/>
            </a:ln>
          </p:spPr>
          <p:txBody>
            <a:bodyPr anchorCtr="0" anchor="ctr" bIns="39200" lIns="78750" spcFirstLastPara="1" rIns="78750" wrap="square" tIns="39200">
              <a:noAutofit/>
            </a:bodyPr>
            <a:lstStyle/>
            <a:p>
              <a:pPr indent="0" lvl="0" marL="0" marR="0" rtl="0" algn="ctr">
                <a:spcBef>
                  <a:spcPts val="0"/>
                </a:spcBef>
                <a:spcAft>
                  <a:spcPts val="0"/>
                </a:spcAft>
                <a:buNone/>
              </a:pPr>
              <a:r>
                <a:t/>
              </a:r>
              <a:endParaRPr sz="1032">
                <a:solidFill>
                  <a:srgbClr val="FFFFFF"/>
                </a:solidFill>
                <a:latin typeface="Arial"/>
                <a:ea typeface="Arial"/>
                <a:cs typeface="Arial"/>
                <a:sym typeface="Arial"/>
              </a:endParaRPr>
            </a:p>
          </p:txBody>
        </p:sp>
        <p:cxnSp>
          <p:nvCxnSpPr>
            <p:cNvPr id="1082" name="Google Shape;1082;p31"/>
            <p:cNvCxnSpPr/>
            <p:nvPr/>
          </p:nvCxnSpPr>
          <p:spPr>
            <a:xfrm flipH="1">
              <a:off x="12717197" y="17340784"/>
              <a:ext cx="1480500" cy="6000"/>
            </a:xfrm>
            <a:prstGeom prst="straightConnector1">
              <a:avLst/>
            </a:prstGeom>
            <a:noFill/>
            <a:ln cap="flat" cmpd="sng" w="24575">
              <a:solidFill>
                <a:srgbClr val="7F7F7F"/>
              </a:solidFill>
              <a:prstDash val="solid"/>
              <a:miter lim="800000"/>
              <a:headEnd len="sm" w="sm" type="none"/>
              <a:tailEnd len="med" w="med" type="triangle"/>
            </a:ln>
          </p:spPr>
        </p:cxnSp>
        <p:sp>
          <p:nvSpPr>
            <p:cNvPr id="1083" name="Google Shape;1083;p31"/>
            <p:cNvSpPr txBox="1"/>
            <p:nvPr/>
          </p:nvSpPr>
          <p:spPr>
            <a:xfrm>
              <a:off x="12621112" y="16410222"/>
              <a:ext cx="1810500" cy="853800"/>
            </a:xfrm>
            <a:prstGeom prst="rect">
              <a:avLst/>
            </a:prstGeom>
            <a:noFill/>
            <a:ln>
              <a:noFill/>
            </a:ln>
          </p:spPr>
          <p:txBody>
            <a:bodyPr anchorCtr="0" anchor="t" bIns="39200" lIns="78750" spcFirstLastPara="1" rIns="78750" wrap="square" tIns="39200">
              <a:spAutoFit/>
            </a:bodyPr>
            <a:lstStyle/>
            <a:p>
              <a:pPr indent="0" lvl="0" marL="0" marR="0" rtl="0" algn="l">
                <a:spcBef>
                  <a:spcPts val="0"/>
                </a:spcBef>
                <a:spcAft>
                  <a:spcPts val="0"/>
                </a:spcAft>
                <a:buNone/>
              </a:pPr>
              <a:r>
                <a:rPr lang="pt-BR" sz="1032">
                  <a:solidFill>
                    <a:srgbClr val="000000"/>
                  </a:solidFill>
                  <a:latin typeface="Proxima Nova"/>
                  <a:ea typeface="Proxima Nova"/>
                  <a:cs typeface="Proxima Nova"/>
                  <a:sym typeface="Proxima Nova"/>
                </a:rPr>
                <a:t>Deliver personalized interpretation</a:t>
              </a:r>
              <a:endParaRPr i="0" sz="1032">
                <a:solidFill>
                  <a:srgbClr val="000000"/>
                </a:solidFill>
                <a:latin typeface="Proxima Nova"/>
                <a:ea typeface="Proxima Nova"/>
                <a:cs typeface="Proxima Nova"/>
                <a:sym typeface="Proxima Nova"/>
              </a:endParaRPr>
            </a:p>
          </p:txBody>
        </p:sp>
      </p:grpSp>
      <p:grpSp>
        <p:nvGrpSpPr>
          <p:cNvPr id="1084" name="Google Shape;1084;p31"/>
          <p:cNvGrpSpPr/>
          <p:nvPr/>
        </p:nvGrpSpPr>
        <p:grpSpPr>
          <a:xfrm>
            <a:off x="349200" y="8125609"/>
            <a:ext cx="9971300" cy="5616106"/>
            <a:chOff x="291000" y="6771341"/>
            <a:chExt cx="8309417" cy="4680088"/>
          </a:xfrm>
        </p:grpSpPr>
        <p:sp>
          <p:nvSpPr>
            <p:cNvPr id="1085" name="Google Shape;1085;p31"/>
            <p:cNvSpPr/>
            <p:nvPr/>
          </p:nvSpPr>
          <p:spPr>
            <a:xfrm>
              <a:off x="291000" y="7138750"/>
              <a:ext cx="800400" cy="4176000"/>
            </a:xfrm>
            <a:prstGeom prst="downArrow">
              <a:avLst>
                <a:gd fmla="val 50000" name="adj1"/>
                <a:gd fmla="val 50000" name="adj2"/>
              </a:avLst>
            </a:prstGeom>
            <a:solidFill>
              <a:srgbClr val="E85453"/>
            </a:solidFill>
            <a:ln>
              <a:noFill/>
            </a:ln>
          </p:spPr>
          <p:txBody>
            <a:bodyPr anchorCtr="0" anchor="ctr" bIns="79450" lIns="79450" spcFirstLastPara="1" rIns="79450" wrap="square" tIns="79450">
              <a:noAutofit/>
            </a:bodyPr>
            <a:lstStyle/>
            <a:p>
              <a:pPr indent="0" lvl="0" marL="0" rtl="0" algn="ctr">
                <a:spcBef>
                  <a:spcPts val="0"/>
                </a:spcBef>
                <a:spcAft>
                  <a:spcPts val="0"/>
                </a:spcAft>
                <a:buNone/>
              </a:pPr>
              <a:r>
                <a:t/>
              </a:r>
              <a:endParaRPr sz="2040"/>
            </a:p>
          </p:txBody>
        </p:sp>
        <p:grpSp>
          <p:nvGrpSpPr>
            <p:cNvPr id="1086" name="Google Shape;1086;p31"/>
            <p:cNvGrpSpPr/>
            <p:nvPr/>
          </p:nvGrpSpPr>
          <p:grpSpPr>
            <a:xfrm>
              <a:off x="701144" y="6771341"/>
              <a:ext cx="4747129" cy="656991"/>
              <a:chOff x="1651406" y="-24242"/>
              <a:chExt cx="6764219" cy="747600"/>
            </a:xfrm>
          </p:grpSpPr>
          <p:grpSp>
            <p:nvGrpSpPr>
              <p:cNvPr id="1087" name="Google Shape;1087;p31"/>
              <p:cNvGrpSpPr/>
              <p:nvPr/>
            </p:nvGrpSpPr>
            <p:grpSpPr>
              <a:xfrm>
                <a:off x="1651406" y="3"/>
                <a:ext cx="4423813" cy="639000"/>
                <a:chOff x="1651406" y="3"/>
                <a:chExt cx="4423813" cy="639000"/>
              </a:xfrm>
            </p:grpSpPr>
            <p:sp>
              <p:nvSpPr>
                <p:cNvPr id="1088" name="Google Shape;1088;p31"/>
                <p:cNvSpPr/>
                <p:nvPr/>
              </p:nvSpPr>
              <p:spPr>
                <a:xfrm>
                  <a:off x="1651406" y="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Identity</a:t>
                  </a:r>
                  <a:endParaRPr sz="2040">
                    <a:solidFill>
                      <a:srgbClr val="FFFFFF"/>
                    </a:solidFill>
                    <a:latin typeface="Proxima Nova"/>
                    <a:ea typeface="Proxima Nova"/>
                    <a:cs typeface="Proxima Nova"/>
                    <a:sym typeface="Proxima Nova"/>
                  </a:endParaRPr>
                </a:p>
              </p:txBody>
            </p:sp>
            <p:sp>
              <p:nvSpPr>
                <p:cNvPr id="1089" name="Google Shape;1089;p31"/>
                <p:cNvSpPr/>
                <p:nvPr/>
              </p:nvSpPr>
              <p:spPr>
                <a:xfrm>
                  <a:off x="3932019" y="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Private Health Information</a:t>
                  </a:r>
                  <a:endParaRPr sz="2040">
                    <a:solidFill>
                      <a:srgbClr val="FFFFFF"/>
                    </a:solidFill>
                    <a:latin typeface="Proxima Nova"/>
                    <a:ea typeface="Proxima Nova"/>
                    <a:cs typeface="Proxima Nova"/>
                    <a:sym typeface="Proxima Nova"/>
                  </a:endParaRPr>
                </a:p>
              </p:txBody>
            </p:sp>
          </p:grpSp>
          <p:sp>
            <p:nvSpPr>
              <p:cNvPr id="1090" name="Google Shape;1090;p31"/>
              <p:cNvSpPr txBox="1"/>
              <p:nvPr/>
            </p:nvSpPr>
            <p:spPr>
              <a:xfrm>
                <a:off x="6272425" y="-24242"/>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Trust Boundary</a:t>
                </a:r>
                <a:endParaRPr sz="2040">
                  <a:solidFill>
                    <a:srgbClr val="E85453"/>
                  </a:solidFill>
                  <a:latin typeface="Proxima Nova"/>
                  <a:ea typeface="Proxima Nova"/>
                  <a:cs typeface="Proxima Nova"/>
                  <a:sym typeface="Proxima Nova"/>
                </a:endParaRPr>
              </a:p>
            </p:txBody>
          </p:sp>
        </p:grpSp>
        <p:grpSp>
          <p:nvGrpSpPr>
            <p:cNvPr id="1091" name="Google Shape;1091;p31"/>
            <p:cNvGrpSpPr/>
            <p:nvPr/>
          </p:nvGrpSpPr>
          <p:grpSpPr>
            <a:xfrm>
              <a:off x="701144" y="7638843"/>
              <a:ext cx="7899273" cy="561553"/>
              <a:chOff x="1651406" y="962903"/>
              <a:chExt cx="11255732" cy="639000"/>
            </a:xfrm>
          </p:grpSpPr>
          <p:grpSp>
            <p:nvGrpSpPr>
              <p:cNvPr id="1092" name="Google Shape;1092;p31"/>
              <p:cNvGrpSpPr/>
              <p:nvPr/>
            </p:nvGrpSpPr>
            <p:grpSpPr>
              <a:xfrm>
                <a:off x="1651406" y="962903"/>
                <a:ext cx="8896256" cy="639000"/>
                <a:chOff x="1651406" y="962903"/>
                <a:chExt cx="8896256" cy="639000"/>
              </a:xfrm>
            </p:grpSpPr>
            <p:sp>
              <p:nvSpPr>
                <p:cNvPr id="1093" name="Google Shape;1093;p31"/>
                <p:cNvSpPr/>
                <p:nvPr/>
              </p:nvSpPr>
              <p:spPr>
                <a:xfrm>
                  <a:off x="1651406"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Result</a:t>
                  </a:r>
                  <a:endParaRPr sz="2040">
                    <a:solidFill>
                      <a:srgbClr val="FFFFFF"/>
                    </a:solidFill>
                    <a:latin typeface="Proxima Nova"/>
                    <a:ea typeface="Proxima Nova"/>
                    <a:cs typeface="Proxima Nova"/>
                    <a:sym typeface="Proxima Nova"/>
                  </a:endParaRPr>
                </a:p>
              </p:txBody>
            </p:sp>
            <p:sp>
              <p:nvSpPr>
                <p:cNvPr id="1094" name="Google Shape;1094;p31"/>
                <p:cNvSpPr/>
                <p:nvPr/>
              </p:nvSpPr>
              <p:spPr>
                <a:xfrm>
                  <a:off x="3932019"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Patient Context</a:t>
                  </a:r>
                  <a:endParaRPr sz="2040">
                    <a:solidFill>
                      <a:srgbClr val="FFFFFF"/>
                    </a:solidFill>
                    <a:latin typeface="Proxima Nova"/>
                    <a:ea typeface="Proxima Nova"/>
                    <a:cs typeface="Proxima Nova"/>
                    <a:sym typeface="Proxima Nova"/>
                  </a:endParaRPr>
                </a:p>
              </p:txBody>
            </p:sp>
            <p:sp>
              <p:nvSpPr>
                <p:cNvPr id="1095" name="Google Shape;1095;p31"/>
                <p:cNvSpPr/>
                <p:nvPr/>
              </p:nvSpPr>
              <p:spPr>
                <a:xfrm>
                  <a:off x="6171000"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Prior History</a:t>
                  </a:r>
                  <a:endParaRPr sz="2040">
                    <a:solidFill>
                      <a:srgbClr val="FFFFFF"/>
                    </a:solidFill>
                    <a:latin typeface="Proxima Nova"/>
                    <a:ea typeface="Proxima Nova"/>
                    <a:cs typeface="Proxima Nova"/>
                    <a:sym typeface="Proxima Nova"/>
                  </a:endParaRPr>
                </a:p>
              </p:txBody>
            </p:sp>
            <p:sp>
              <p:nvSpPr>
                <p:cNvPr id="1096" name="Google Shape;1096;p31"/>
                <p:cNvSpPr/>
                <p:nvPr/>
              </p:nvSpPr>
              <p:spPr>
                <a:xfrm>
                  <a:off x="8404463" y="9629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Abnormal Patterns</a:t>
                  </a:r>
                  <a:endParaRPr sz="2040">
                    <a:solidFill>
                      <a:srgbClr val="FFFFFF"/>
                    </a:solidFill>
                    <a:latin typeface="Proxima Nova"/>
                    <a:ea typeface="Proxima Nova"/>
                    <a:cs typeface="Proxima Nova"/>
                    <a:sym typeface="Proxima Nova"/>
                  </a:endParaRPr>
                </a:p>
              </p:txBody>
            </p:sp>
          </p:grpSp>
          <p:sp>
            <p:nvSpPr>
              <p:cNvPr id="1097" name="Google Shape;1097;p31"/>
              <p:cNvSpPr txBox="1"/>
              <p:nvPr/>
            </p:nvSpPr>
            <p:spPr>
              <a:xfrm>
                <a:off x="10763938" y="1051348"/>
                <a:ext cx="2143200" cy="4500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Case Framing</a:t>
                </a:r>
                <a:endParaRPr sz="2040">
                  <a:solidFill>
                    <a:srgbClr val="E85453"/>
                  </a:solidFill>
                  <a:latin typeface="Proxima Nova"/>
                  <a:ea typeface="Proxima Nova"/>
                  <a:cs typeface="Proxima Nova"/>
                  <a:sym typeface="Proxima Nova"/>
                </a:endParaRPr>
              </a:p>
            </p:txBody>
          </p:sp>
        </p:grpSp>
        <p:grpSp>
          <p:nvGrpSpPr>
            <p:cNvPr id="1098" name="Google Shape;1098;p31"/>
            <p:cNvGrpSpPr/>
            <p:nvPr/>
          </p:nvGrpSpPr>
          <p:grpSpPr>
            <a:xfrm>
              <a:off x="701144" y="8446459"/>
              <a:ext cx="6329900" cy="656991"/>
              <a:chOff x="1651406" y="1881901"/>
              <a:chExt cx="9019521" cy="747600"/>
            </a:xfrm>
          </p:grpSpPr>
          <p:grpSp>
            <p:nvGrpSpPr>
              <p:cNvPr id="1099" name="Google Shape;1099;p31"/>
              <p:cNvGrpSpPr/>
              <p:nvPr/>
            </p:nvGrpSpPr>
            <p:grpSpPr>
              <a:xfrm>
                <a:off x="1651406" y="1917578"/>
                <a:ext cx="6662794" cy="639000"/>
                <a:chOff x="1651406" y="1917578"/>
                <a:chExt cx="6662794" cy="639000"/>
              </a:xfrm>
            </p:grpSpPr>
            <p:sp>
              <p:nvSpPr>
                <p:cNvPr id="1100" name="Google Shape;1100;p31"/>
                <p:cNvSpPr/>
                <p:nvPr/>
              </p:nvSpPr>
              <p:spPr>
                <a:xfrm>
                  <a:off x="1651406"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Mayo Clinical Knowledge</a:t>
                  </a:r>
                  <a:endParaRPr sz="2040">
                    <a:solidFill>
                      <a:srgbClr val="FFFFFF"/>
                    </a:solidFill>
                    <a:latin typeface="Proxima Nova"/>
                    <a:ea typeface="Proxima Nova"/>
                    <a:cs typeface="Proxima Nova"/>
                    <a:sym typeface="Proxima Nova"/>
                  </a:endParaRPr>
                </a:p>
              </p:txBody>
            </p:sp>
            <p:sp>
              <p:nvSpPr>
                <p:cNvPr id="1101" name="Google Shape;1101;p31"/>
                <p:cNvSpPr/>
                <p:nvPr/>
              </p:nvSpPr>
              <p:spPr>
                <a:xfrm>
                  <a:off x="3932019"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Research Evidence</a:t>
                  </a:r>
                  <a:endParaRPr sz="2040">
                    <a:solidFill>
                      <a:srgbClr val="FFFFFF"/>
                    </a:solidFill>
                    <a:latin typeface="Proxima Nova"/>
                    <a:ea typeface="Proxima Nova"/>
                    <a:cs typeface="Proxima Nova"/>
                    <a:sym typeface="Proxima Nova"/>
                  </a:endParaRPr>
                </a:p>
              </p:txBody>
            </p:sp>
            <p:sp>
              <p:nvSpPr>
                <p:cNvPr id="1102" name="Google Shape;1102;p31"/>
                <p:cNvSpPr/>
                <p:nvPr/>
              </p:nvSpPr>
              <p:spPr>
                <a:xfrm>
                  <a:off x="6171000" y="1917578"/>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Guidelines</a:t>
                  </a:r>
                  <a:endParaRPr sz="2040">
                    <a:solidFill>
                      <a:srgbClr val="FFFFFF"/>
                    </a:solidFill>
                    <a:latin typeface="Proxima Nova"/>
                    <a:ea typeface="Proxima Nova"/>
                    <a:cs typeface="Proxima Nova"/>
                    <a:sym typeface="Proxima Nova"/>
                  </a:endParaRPr>
                </a:p>
              </p:txBody>
            </p:sp>
          </p:grpSp>
          <p:sp>
            <p:nvSpPr>
              <p:cNvPr id="1103" name="Google Shape;1103;p31"/>
              <p:cNvSpPr txBox="1"/>
              <p:nvPr/>
            </p:nvSpPr>
            <p:spPr>
              <a:xfrm>
                <a:off x="8527727" y="1881901"/>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Evidence Base</a:t>
                </a:r>
                <a:endParaRPr sz="2040">
                  <a:solidFill>
                    <a:srgbClr val="E85453"/>
                  </a:solidFill>
                  <a:latin typeface="Proxima Nova"/>
                  <a:ea typeface="Proxima Nova"/>
                  <a:cs typeface="Proxima Nova"/>
                  <a:sym typeface="Proxima Nova"/>
                </a:endParaRPr>
              </a:p>
            </p:txBody>
          </p:sp>
        </p:grpSp>
        <p:grpSp>
          <p:nvGrpSpPr>
            <p:cNvPr id="1104" name="Google Shape;1104;p31"/>
            <p:cNvGrpSpPr/>
            <p:nvPr/>
          </p:nvGrpSpPr>
          <p:grpSpPr>
            <a:xfrm>
              <a:off x="701144" y="9266159"/>
              <a:ext cx="6701466" cy="656991"/>
              <a:chOff x="1651406" y="2814650"/>
              <a:chExt cx="9548969" cy="747600"/>
            </a:xfrm>
          </p:grpSpPr>
          <p:grpSp>
            <p:nvGrpSpPr>
              <p:cNvPr id="1105" name="Google Shape;1105;p31"/>
              <p:cNvGrpSpPr/>
              <p:nvPr/>
            </p:nvGrpSpPr>
            <p:grpSpPr>
              <a:xfrm>
                <a:off x="1651406" y="2832503"/>
                <a:ext cx="6662794" cy="639000"/>
                <a:chOff x="1651406" y="2832503"/>
                <a:chExt cx="6662794" cy="639000"/>
              </a:xfrm>
            </p:grpSpPr>
            <p:sp>
              <p:nvSpPr>
                <p:cNvPr id="1106" name="Google Shape;1106;p31"/>
                <p:cNvSpPr/>
                <p:nvPr/>
              </p:nvSpPr>
              <p:spPr>
                <a:xfrm>
                  <a:off x="1651406"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Specialist Roles</a:t>
                  </a:r>
                  <a:endParaRPr sz="2040">
                    <a:solidFill>
                      <a:srgbClr val="FFFFFF"/>
                    </a:solidFill>
                    <a:latin typeface="Proxima Nova"/>
                    <a:ea typeface="Proxima Nova"/>
                    <a:cs typeface="Proxima Nova"/>
                    <a:sym typeface="Proxima Nova"/>
                  </a:endParaRPr>
                </a:p>
              </p:txBody>
            </p:sp>
            <p:sp>
              <p:nvSpPr>
                <p:cNvPr id="1107" name="Google Shape;1107;p31"/>
                <p:cNvSpPr/>
                <p:nvPr/>
              </p:nvSpPr>
              <p:spPr>
                <a:xfrm>
                  <a:off x="3932019"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Synthesis</a:t>
                  </a:r>
                  <a:endParaRPr sz="2040">
                    <a:solidFill>
                      <a:srgbClr val="FFFFFF"/>
                    </a:solidFill>
                    <a:latin typeface="Proxima Nova"/>
                    <a:ea typeface="Proxima Nova"/>
                    <a:cs typeface="Proxima Nova"/>
                    <a:sym typeface="Proxima Nova"/>
                  </a:endParaRPr>
                </a:p>
              </p:txBody>
            </p:sp>
            <p:sp>
              <p:nvSpPr>
                <p:cNvPr id="1108" name="Google Shape;1108;p31"/>
                <p:cNvSpPr/>
                <p:nvPr/>
              </p:nvSpPr>
              <p:spPr>
                <a:xfrm>
                  <a:off x="6171000" y="28325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Prior Reconciliation</a:t>
                  </a:r>
                  <a:endParaRPr sz="2040">
                    <a:solidFill>
                      <a:srgbClr val="FFFFFF"/>
                    </a:solidFill>
                    <a:latin typeface="Proxima Nova"/>
                    <a:ea typeface="Proxima Nova"/>
                    <a:cs typeface="Proxima Nova"/>
                    <a:sym typeface="Proxima Nova"/>
                  </a:endParaRPr>
                </a:p>
              </p:txBody>
            </p:sp>
          </p:grpSp>
          <p:sp>
            <p:nvSpPr>
              <p:cNvPr id="1109" name="Google Shape;1109;p31"/>
              <p:cNvSpPr txBox="1"/>
              <p:nvPr/>
            </p:nvSpPr>
            <p:spPr>
              <a:xfrm>
                <a:off x="8560375" y="2814650"/>
                <a:ext cx="26400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Interpretation Core</a:t>
                </a:r>
                <a:endParaRPr sz="2040">
                  <a:solidFill>
                    <a:srgbClr val="E85453"/>
                  </a:solidFill>
                  <a:latin typeface="Proxima Nova"/>
                  <a:ea typeface="Proxima Nova"/>
                  <a:cs typeface="Proxima Nova"/>
                  <a:sym typeface="Proxima Nova"/>
                </a:endParaRPr>
              </a:p>
            </p:txBody>
          </p:sp>
        </p:grpSp>
        <p:grpSp>
          <p:nvGrpSpPr>
            <p:cNvPr id="1110" name="Google Shape;1110;p31"/>
            <p:cNvGrpSpPr/>
            <p:nvPr/>
          </p:nvGrpSpPr>
          <p:grpSpPr>
            <a:xfrm>
              <a:off x="701144" y="10085862"/>
              <a:ext cx="7899273" cy="666641"/>
              <a:chOff x="1651406" y="3747403"/>
              <a:chExt cx="11255732" cy="758581"/>
            </a:xfrm>
          </p:grpSpPr>
          <p:grpSp>
            <p:nvGrpSpPr>
              <p:cNvPr id="1111" name="Google Shape;1111;p31"/>
              <p:cNvGrpSpPr/>
              <p:nvPr/>
            </p:nvGrpSpPr>
            <p:grpSpPr>
              <a:xfrm>
                <a:off x="1651406" y="3747403"/>
                <a:ext cx="8896256" cy="639000"/>
                <a:chOff x="1651406" y="3747403"/>
                <a:chExt cx="8896256" cy="639000"/>
              </a:xfrm>
            </p:grpSpPr>
            <p:sp>
              <p:nvSpPr>
                <p:cNvPr id="1112" name="Google Shape;1112;p31"/>
                <p:cNvSpPr/>
                <p:nvPr/>
              </p:nvSpPr>
              <p:spPr>
                <a:xfrm>
                  <a:off x="1651406"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Traceability</a:t>
                  </a:r>
                  <a:endParaRPr sz="2040">
                    <a:solidFill>
                      <a:srgbClr val="FFFFFF"/>
                    </a:solidFill>
                    <a:latin typeface="Proxima Nova"/>
                    <a:ea typeface="Proxima Nova"/>
                    <a:cs typeface="Proxima Nova"/>
                    <a:sym typeface="Proxima Nova"/>
                  </a:endParaRPr>
                </a:p>
              </p:txBody>
            </p:sp>
            <p:sp>
              <p:nvSpPr>
                <p:cNvPr id="1113" name="Google Shape;1113;p31"/>
                <p:cNvSpPr/>
                <p:nvPr/>
              </p:nvSpPr>
              <p:spPr>
                <a:xfrm>
                  <a:off x="3932019"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Safety Gates</a:t>
                  </a:r>
                  <a:endParaRPr sz="2040">
                    <a:solidFill>
                      <a:srgbClr val="FFFFFF"/>
                    </a:solidFill>
                    <a:latin typeface="Proxima Nova"/>
                    <a:ea typeface="Proxima Nova"/>
                    <a:cs typeface="Proxima Nova"/>
                    <a:sym typeface="Proxima Nova"/>
                  </a:endParaRPr>
                </a:p>
              </p:txBody>
            </p:sp>
            <p:sp>
              <p:nvSpPr>
                <p:cNvPr id="1114" name="Google Shape;1114;p31"/>
                <p:cNvSpPr/>
                <p:nvPr/>
              </p:nvSpPr>
              <p:spPr>
                <a:xfrm>
                  <a:off x="6171000"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Approval Rules</a:t>
                  </a:r>
                  <a:endParaRPr sz="2040">
                    <a:solidFill>
                      <a:srgbClr val="FFFFFF"/>
                    </a:solidFill>
                    <a:latin typeface="Proxima Nova"/>
                    <a:ea typeface="Proxima Nova"/>
                    <a:cs typeface="Proxima Nova"/>
                    <a:sym typeface="Proxima Nova"/>
                  </a:endParaRPr>
                </a:p>
              </p:txBody>
            </p:sp>
            <p:sp>
              <p:nvSpPr>
                <p:cNvPr id="1115" name="Google Shape;1115;p31"/>
                <p:cNvSpPr/>
                <p:nvPr/>
              </p:nvSpPr>
              <p:spPr>
                <a:xfrm>
                  <a:off x="8404463" y="37474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Escalation</a:t>
                  </a:r>
                  <a:endParaRPr sz="2040">
                    <a:solidFill>
                      <a:srgbClr val="FFFFFF"/>
                    </a:solidFill>
                    <a:latin typeface="Proxima Nova"/>
                    <a:ea typeface="Proxima Nova"/>
                    <a:cs typeface="Proxima Nova"/>
                    <a:sym typeface="Proxima Nova"/>
                  </a:endParaRPr>
                </a:p>
              </p:txBody>
            </p:sp>
          </p:grpSp>
          <p:sp>
            <p:nvSpPr>
              <p:cNvPr id="1116" name="Google Shape;1116;p31"/>
              <p:cNvSpPr txBox="1"/>
              <p:nvPr/>
            </p:nvSpPr>
            <p:spPr>
              <a:xfrm>
                <a:off x="10763938" y="3758384"/>
                <a:ext cx="2143200" cy="7476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Clinical Review</a:t>
                </a:r>
                <a:endParaRPr sz="2040">
                  <a:solidFill>
                    <a:srgbClr val="E85453"/>
                  </a:solidFill>
                  <a:latin typeface="Proxima Nova"/>
                  <a:ea typeface="Proxima Nova"/>
                  <a:cs typeface="Proxima Nova"/>
                  <a:sym typeface="Proxima Nova"/>
                </a:endParaRPr>
              </a:p>
            </p:txBody>
          </p:sp>
        </p:grpSp>
        <p:grpSp>
          <p:nvGrpSpPr>
            <p:cNvPr id="1117" name="Google Shape;1117;p31"/>
            <p:cNvGrpSpPr/>
            <p:nvPr/>
          </p:nvGrpSpPr>
          <p:grpSpPr>
            <a:xfrm>
              <a:off x="701144" y="10889876"/>
              <a:ext cx="5291585" cy="561553"/>
              <a:chOff x="1651406" y="4662303"/>
              <a:chExt cx="7540019" cy="639000"/>
            </a:xfrm>
          </p:grpSpPr>
          <p:grpSp>
            <p:nvGrpSpPr>
              <p:cNvPr id="1118" name="Google Shape;1118;p31"/>
              <p:cNvGrpSpPr/>
              <p:nvPr/>
            </p:nvGrpSpPr>
            <p:grpSpPr>
              <a:xfrm>
                <a:off x="1651406" y="4662303"/>
                <a:ext cx="4423813" cy="639000"/>
                <a:chOff x="1651406" y="4662303"/>
                <a:chExt cx="4423813" cy="639000"/>
              </a:xfrm>
            </p:grpSpPr>
            <p:sp>
              <p:nvSpPr>
                <p:cNvPr id="1119" name="Google Shape;1119;p31"/>
                <p:cNvSpPr/>
                <p:nvPr/>
              </p:nvSpPr>
              <p:spPr>
                <a:xfrm>
                  <a:off x="1651406" y="46623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Workflow Delivery</a:t>
                  </a:r>
                  <a:endParaRPr sz="2040">
                    <a:solidFill>
                      <a:srgbClr val="FFFFFF"/>
                    </a:solidFill>
                    <a:latin typeface="Proxima Nova"/>
                    <a:ea typeface="Proxima Nova"/>
                    <a:cs typeface="Proxima Nova"/>
                    <a:sym typeface="Proxima Nova"/>
                  </a:endParaRPr>
                </a:p>
              </p:txBody>
            </p:sp>
            <p:sp>
              <p:nvSpPr>
                <p:cNvPr id="1120" name="Google Shape;1120;p31"/>
                <p:cNvSpPr/>
                <p:nvPr/>
              </p:nvSpPr>
              <p:spPr>
                <a:xfrm>
                  <a:off x="3932019" y="4662303"/>
                  <a:ext cx="2143200" cy="639000"/>
                </a:xfrm>
                <a:prstGeom prst="rect">
                  <a:avLst/>
                </a:prstGeom>
                <a:solidFill>
                  <a:srgbClr val="67B4D4"/>
                </a:solidFill>
                <a:ln>
                  <a:noFill/>
                </a:ln>
              </p:spPr>
              <p:txBody>
                <a:bodyPr anchorCtr="0" anchor="ctr" bIns="39725" lIns="79450" spcFirstLastPara="1" rIns="79450" wrap="square" tIns="39725">
                  <a:noAutofit/>
                </a:bodyPr>
                <a:lstStyle/>
                <a:p>
                  <a:pPr indent="0" lvl="0" marL="0" marR="0" rtl="0" algn="ctr">
                    <a:spcBef>
                      <a:spcPts val="0"/>
                    </a:spcBef>
                    <a:spcAft>
                      <a:spcPts val="0"/>
                    </a:spcAft>
                    <a:buNone/>
                  </a:pPr>
                  <a:r>
                    <a:rPr lang="pt-BR" sz="2040">
                      <a:solidFill>
                        <a:srgbClr val="FFFFFF"/>
                      </a:solidFill>
                      <a:latin typeface="Proxima Nova"/>
                      <a:ea typeface="Proxima Nova"/>
                      <a:cs typeface="Proxima Nova"/>
                      <a:sym typeface="Proxima Nova"/>
                    </a:rPr>
                    <a:t>Feedback</a:t>
                  </a:r>
                  <a:endParaRPr sz="2040">
                    <a:solidFill>
                      <a:srgbClr val="FFFFFF"/>
                    </a:solidFill>
                    <a:latin typeface="Proxima Nova"/>
                    <a:ea typeface="Proxima Nova"/>
                    <a:cs typeface="Proxima Nova"/>
                    <a:sym typeface="Proxima Nova"/>
                  </a:endParaRPr>
                </a:p>
              </p:txBody>
            </p:sp>
          </p:grpSp>
          <p:sp>
            <p:nvSpPr>
              <p:cNvPr id="1121" name="Google Shape;1121;p31"/>
              <p:cNvSpPr txBox="1"/>
              <p:nvPr/>
            </p:nvSpPr>
            <p:spPr>
              <a:xfrm>
                <a:off x="6272425" y="4765370"/>
                <a:ext cx="2919000" cy="450000"/>
              </a:xfrm>
              <a:prstGeom prst="rect">
                <a:avLst/>
              </a:prstGeom>
              <a:noFill/>
              <a:ln>
                <a:noFill/>
              </a:ln>
            </p:spPr>
            <p:txBody>
              <a:bodyPr anchorCtr="0" anchor="t" bIns="79450" lIns="79450" spcFirstLastPara="1" rIns="79450" wrap="square" tIns="79450">
                <a:spAutoFit/>
              </a:bodyPr>
              <a:lstStyle/>
              <a:p>
                <a:pPr indent="0" lvl="0" marL="0" rtl="0" algn="l">
                  <a:spcBef>
                    <a:spcPts val="0"/>
                  </a:spcBef>
                  <a:spcAft>
                    <a:spcPts val="0"/>
                  </a:spcAft>
                  <a:buNone/>
                </a:pPr>
                <a:r>
                  <a:rPr lang="pt-BR" sz="2040">
                    <a:solidFill>
                      <a:srgbClr val="E85453"/>
                    </a:solidFill>
                    <a:latin typeface="Proxima Nova"/>
                    <a:ea typeface="Proxima Nova"/>
                    <a:cs typeface="Proxima Nova"/>
                    <a:sym typeface="Proxima Nova"/>
                  </a:rPr>
                  <a:t>Physician Delivery</a:t>
                </a:r>
                <a:endParaRPr sz="2040">
                  <a:solidFill>
                    <a:srgbClr val="E85453"/>
                  </a:solidFill>
                  <a:latin typeface="Proxima Nova"/>
                  <a:ea typeface="Proxima Nova"/>
                  <a:cs typeface="Proxima Nova"/>
                  <a:sym typeface="Proxima Nova"/>
                </a:endParaRPr>
              </a:p>
            </p:txBody>
          </p:sp>
        </p:grpSp>
      </p:grpSp>
      <p:sp>
        <p:nvSpPr>
          <p:cNvPr id="1122" name="Google Shape;1122;p31"/>
          <p:cNvSpPr txBox="1"/>
          <p:nvPr/>
        </p:nvSpPr>
        <p:spPr>
          <a:xfrm>
            <a:off x="349080" y="13924618"/>
            <a:ext cx="102669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architecture protects patient data, frames lab results with patient context from the EHR, retrieves Mayo and external clinical evidence, and uses specialized AI roles to synthesize a physician-facing interpretation. Before delivery, the output is checked for traceability, escalated for clinical review when needed, and then returned to the physician workflow with feedback captured for continuous improvement.</a:t>
            </a:r>
            <a:endParaRPr sz="2040">
              <a:solidFill>
                <a:schemeClr val="dk2"/>
              </a:solidFill>
              <a:latin typeface="Proxima Nova"/>
              <a:ea typeface="Proxima Nova"/>
              <a:cs typeface="Proxima Nova"/>
              <a:sym typeface="Proxima Nova"/>
            </a:endParaRPr>
          </a:p>
        </p:txBody>
      </p:sp>
      <p:sp>
        <p:nvSpPr>
          <p:cNvPr id="1123" name="Google Shape;1123;p31"/>
          <p:cNvSpPr txBox="1"/>
          <p:nvPr/>
        </p:nvSpPr>
        <p:spPr>
          <a:xfrm>
            <a:off x="10822080" y="14214623"/>
            <a:ext cx="8940600" cy="19800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sequence diagram shows how the clinical librarian fits into the existing lab workflow. After a physician requests an exam, Mayo Clinic Labs runs the test and stores the result in the EHR. The clinical librarian then combines the result with patient context and Mayo research-backed clinical knowledge to generate a traceable interpretation for physician review and use.</a:t>
            </a:r>
            <a:endParaRPr sz="2040">
              <a:solidFill>
                <a:schemeClr val="dk2"/>
              </a:solidFill>
              <a:latin typeface="Proxima Nova"/>
              <a:ea typeface="Proxima Nova"/>
              <a:cs typeface="Proxima Nova"/>
              <a:sym typeface="Proxima Nova"/>
            </a:endParaRPr>
          </a:p>
        </p:txBody>
      </p:sp>
      <p:sp>
        <p:nvSpPr>
          <p:cNvPr id="1124" name="Google Shape;1124;p31"/>
          <p:cNvSpPr txBox="1"/>
          <p:nvPr/>
        </p:nvSpPr>
        <p:spPr>
          <a:xfrm>
            <a:off x="21349740" y="2606460"/>
            <a:ext cx="10972800" cy="1980000"/>
          </a:xfrm>
          <a:prstGeom prst="rect">
            <a:avLst/>
          </a:prstGeom>
          <a:noFill/>
          <a:ln>
            <a:noFill/>
          </a:ln>
        </p:spPr>
        <p:txBody>
          <a:bodyPr anchorCtr="0" anchor="t" bIns="109700" lIns="109700" spcFirstLastPara="1" rIns="109700" wrap="square" tIns="109700">
            <a:spAutoFit/>
          </a:bodyPr>
          <a:lstStyle/>
          <a:p>
            <a:pPr indent="0" lvl="0" marL="0" marR="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tradespace maps current alternatives against cost and clinical accuracy. Epic Systems sits in the low-cost, lower-accuracy region; Labcorp sits in the moderate-cost, moderate-accuracy region; and the current Mayo Clinic model sits in the high-accuracy, high-cost region. The selected Sanguine design aims to move closer to Mayo-level clinical quality while improving scalability through evidence grounding, specialized AI roles, traceability, and clinical review.</a:t>
            </a:r>
            <a:endParaRPr sz="2040">
              <a:solidFill>
                <a:schemeClr val="dk2"/>
              </a:solidFill>
              <a:latin typeface="Proxima Nova"/>
              <a:ea typeface="Proxima Nova"/>
              <a:cs typeface="Proxima Nova"/>
              <a:sym typeface="Proxima Nova"/>
            </a:endParaRPr>
          </a:p>
        </p:txBody>
      </p:sp>
      <p:graphicFrame>
        <p:nvGraphicFramePr>
          <p:cNvPr id="1125" name="Google Shape;1125;p31"/>
          <p:cNvGraphicFramePr/>
          <p:nvPr/>
        </p:nvGraphicFramePr>
        <p:xfrm>
          <a:off x="27318159" y="6016247"/>
          <a:ext cx="3000000" cy="3000000"/>
        </p:xfrm>
        <a:graphic>
          <a:graphicData uri="http://schemas.openxmlformats.org/drawingml/2006/table">
            <a:tbl>
              <a:tblPr>
                <a:noFill/>
                <a:tableStyleId>{E802A5B2-C3E8-4156-8B02-1924D521DFD5}</a:tableStyleId>
              </a:tblPr>
              <a:tblGrid>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gridCol w="240000"/>
              </a:tblGrid>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6</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9</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lnR cap="flat" cmpd="sng" w="11425">
                      <a:solidFill>
                        <a:srgbClr val="9E9E9E"/>
                      </a:solidFill>
                      <a:prstDash val="solid"/>
                      <a:round/>
                      <a:headEnd len="sm" w="sm" type="none"/>
                      <a:tailEnd len="sm" w="sm" type="none"/>
                    </a:ln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L cap="flat" cmpd="sng" w="11425">
                      <a:solidFill>
                        <a:srgbClr val="9E9E9E"/>
                      </a:solidFill>
                      <a:prstDash val="solid"/>
                      <a:round/>
                      <a:headEnd len="sm" w="sm" type="none"/>
                      <a:tailEnd len="sm" w="sm" type="none"/>
                    </a:ln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1</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8</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lnB cap="flat" cmpd="sng" w="114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X</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latin typeface="Proxima Nova"/>
                        <a:ea typeface="Proxima Nova"/>
                        <a:cs typeface="Proxima Nova"/>
                        <a:sym typeface="Proxima Nova"/>
                      </a:endParaRPr>
                    </a:p>
                  </a:txBody>
                  <a:tcPr marT="0" marB="0" marR="0" marL="0" anchor="ctr">
                    <a:solidFill>
                      <a:srgbClr val="83CAEB"/>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2</a:t>
                      </a:r>
                      <a:endParaRPr sz="840">
                        <a:latin typeface="Proxima Nova"/>
                        <a:ea typeface="Proxima Nova"/>
                        <a:cs typeface="Proxima Nova"/>
                        <a:sym typeface="Proxima Nova"/>
                      </a:endParaRPr>
                    </a:p>
                  </a:txBody>
                  <a:tcPr marT="0" marB="0" marR="0" marL="0" anchor="ctr">
                    <a:solidFill>
                      <a:srgbClr val="FFFFFF"/>
                    </a:solidFill>
                  </a:tcPr>
                </a:tc>
              </a:tr>
              <a:tr h="182150">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lnT cap="flat" cmpd="sng" w="11425">
                      <a:solidFill>
                        <a:srgbClr val="9E9E9E"/>
                      </a:solidFill>
                      <a:prstDash val="solid"/>
                      <a:round/>
                      <a:headEnd len="sm" w="sm" type="none"/>
                      <a:tailEnd len="sm" w="sm" type="none"/>
                    </a:lnT>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6</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3</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9</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1</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7</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4</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8</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5</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rtl="0" algn="ctr">
                        <a:spcBef>
                          <a:spcPts val="0"/>
                        </a:spcBef>
                        <a:spcAft>
                          <a:spcPts val="0"/>
                        </a:spcAft>
                        <a:buNone/>
                      </a:pPr>
                      <a:r>
                        <a:rPr lang="pt-BR" sz="840">
                          <a:latin typeface="Proxima Nova"/>
                          <a:ea typeface="Proxima Nova"/>
                          <a:cs typeface="Proxima Nova"/>
                          <a:sym typeface="Proxima Nova"/>
                        </a:rPr>
                        <a:t>2</a:t>
                      </a:r>
                      <a:endParaRPr sz="840">
                        <a:latin typeface="Proxima Nova"/>
                        <a:ea typeface="Proxima Nova"/>
                        <a:cs typeface="Proxima Nova"/>
                        <a:sym typeface="Proxima Nova"/>
                      </a:endParaRPr>
                    </a:p>
                  </a:txBody>
                  <a:tcPr marT="0" marB="0" marR="0" marL="0" anchor="ctr">
                    <a:solidFill>
                      <a:srgbClr val="FFFFFF"/>
                    </a:solidFill>
                  </a:tcPr>
                </a:tc>
                <a:tc>
                  <a:txBody>
                    <a:bodyPr/>
                    <a:lstStyle/>
                    <a:p>
                      <a:pPr indent="0" lvl="0" marL="0" marR="0" rtl="0" algn="ctr">
                        <a:lnSpc>
                          <a:spcPct val="100000"/>
                        </a:lnSpc>
                        <a:spcBef>
                          <a:spcPts val="0"/>
                        </a:spcBef>
                        <a:spcAft>
                          <a:spcPts val="0"/>
                        </a:spcAft>
                        <a:buNone/>
                      </a:pPr>
                      <a:r>
                        <a:t/>
                      </a:r>
                      <a:endParaRPr sz="840">
                        <a:highlight>
                          <a:srgbClr val="202729"/>
                        </a:highlight>
                        <a:latin typeface="Proxima Nova"/>
                        <a:ea typeface="Proxima Nova"/>
                        <a:cs typeface="Proxima Nova"/>
                        <a:sym typeface="Proxima Nova"/>
                      </a:endParaRPr>
                    </a:p>
                  </a:txBody>
                  <a:tcPr marT="0" marB="0" marR="0" marL="0" anchor="ctr">
                    <a:solidFill>
                      <a:srgbClr val="83CAEB"/>
                    </a:solidFill>
                  </a:tcPr>
                </a:tc>
              </a:tr>
            </a:tbl>
          </a:graphicData>
        </a:graphic>
      </p:graphicFrame>
      <p:grpSp>
        <p:nvGrpSpPr>
          <p:cNvPr id="1126" name="Google Shape;1126;p31"/>
          <p:cNvGrpSpPr/>
          <p:nvPr/>
        </p:nvGrpSpPr>
        <p:grpSpPr>
          <a:xfrm>
            <a:off x="27344917" y="5481665"/>
            <a:ext cx="5246711" cy="553680"/>
            <a:chOff x="3409794" y="395472"/>
            <a:chExt cx="4372259" cy="461400"/>
          </a:xfrm>
        </p:grpSpPr>
        <p:sp>
          <p:nvSpPr>
            <p:cNvPr id="1127" name="Google Shape;1127;p31"/>
            <p:cNvSpPr txBox="1"/>
            <p:nvPr/>
          </p:nvSpPr>
          <p:spPr>
            <a:xfrm rot="-5400000">
              <a:off x="3340794"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a:t>
              </a:r>
              <a:endParaRPr sz="840">
                <a:latin typeface="Proxima Nova"/>
                <a:ea typeface="Proxima Nova"/>
                <a:cs typeface="Proxima Nova"/>
                <a:sym typeface="Proxima Nova"/>
              </a:endParaRPr>
            </a:p>
          </p:txBody>
        </p:sp>
        <p:sp>
          <p:nvSpPr>
            <p:cNvPr id="1128" name="Google Shape;1128;p31"/>
            <p:cNvSpPr txBox="1"/>
            <p:nvPr/>
          </p:nvSpPr>
          <p:spPr>
            <a:xfrm rot="-5400000">
              <a:off x="3541097"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a:t>
              </a:r>
              <a:endParaRPr sz="840">
                <a:latin typeface="Proxima Nova"/>
                <a:ea typeface="Proxima Nova"/>
                <a:cs typeface="Proxima Nova"/>
                <a:sym typeface="Proxima Nova"/>
              </a:endParaRPr>
            </a:p>
          </p:txBody>
        </p:sp>
        <p:sp>
          <p:nvSpPr>
            <p:cNvPr id="1129" name="Google Shape;1129;p31"/>
            <p:cNvSpPr txBox="1"/>
            <p:nvPr/>
          </p:nvSpPr>
          <p:spPr>
            <a:xfrm rot="-5400000">
              <a:off x="374139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3</a:t>
              </a:r>
              <a:endParaRPr sz="840">
                <a:latin typeface="Proxima Nova"/>
                <a:ea typeface="Proxima Nova"/>
                <a:cs typeface="Proxima Nova"/>
                <a:sym typeface="Proxima Nova"/>
              </a:endParaRPr>
            </a:p>
          </p:txBody>
        </p:sp>
        <p:sp>
          <p:nvSpPr>
            <p:cNvPr id="1130" name="Google Shape;1130;p31"/>
            <p:cNvSpPr txBox="1"/>
            <p:nvPr/>
          </p:nvSpPr>
          <p:spPr>
            <a:xfrm rot="-5400000">
              <a:off x="394170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4</a:t>
              </a:r>
              <a:endParaRPr sz="840">
                <a:latin typeface="Proxima Nova"/>
                <a:ea typeface="Proxima Nova"/>
                <a:cs typeface="Proxima Nova"/>
                <a:sym typeface="Proxima Nova"/>
              </a:endParaRPr>
            </a:p>
          </p:txBody>
        </p:sp>
        <p:sp>
          <p:nvSpPr>
            <p:cNvPr id="1131" name="Google Shape;1131;p31"/>
            <p:cNvSpPr txBox="1"/>
            <p:nvPr/>
          </p:nvSpPr>
          <p:spPr>
            <a:xfrm rot="-5400000">
              <a:off x="414200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5</a:t>
              </a:r>
              <a:endParaRPr sz="840">
                <a:latin typeface="Proxima Nova"/>
                <a:ea typeface="Proxima Nova"/>
                <a:cs typeface="Proxima Nova"/>
                <a:sym typeface="Proxima Nova"/>
              </a:endParaRPr>
            </a:p>
          </p:txBody>
        </p:sp>
        <p:sp>
          <p:nvSpPr>
            <p:cNvPr id="1132" name="Google Shape;1132;p31"/>
            <p:cNvSpPr txBox="1"/>
            <p:nvPr/>
          </p:nvSpPr>
          <p:spPr>
            <a:xfrm rot="-5400000">
              <a:off x="4342308"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6</a:t>
              </a:r>
              <a:endParaRPr sz="840">
                <a:latin typeface="Proxima Nova"/>
                <a:ea typeface="Proxima Nova"/>
                <a:cs typeface="Proxima Nova"/>
                <a:sym typeface="Proxima Nova"/>
              </a:endParaRPr>
            </a:p>
          </p:txBody>
        </p:sp>
        <p:sp>
          <p:nvSpPr>
            <p:cNvPr id="1133" name="Google Shape;1133;p31"/>
            <p:cNvSpPr txBox="1"/>
            <p:nvPr/>
          </p:nvSpPr>
          <p:spPr>
            <a:xfrm rot="-5400000">
              <a:off x="4542611"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7</a:t>
              </a:r>
              <a:endParaRPr sz="840">
                <a:latin typeface="Proxima Nova"/>
                <a:ea typeface="Proxima Nova"/>
                <a:cs typeface="Proxima Nova"/>
                <a:sym typeface="Proxima Nova"/>
              </a:endParaRPr>
            </a:p>
          </p:txBody>
        </p:sp>
        <p:sp>
          <p:nvSpPr>
            <p:cNvPr id="1134" name="Google Shape;1134;p31"/>
            <p:cNvSpPr txBox="1"/>
            <p:nvPr/>
          </p:nvSpPr>
          <p:spPr>
            <a:xfrm rot="-5400000">
              <a:off x="4737964" y="617022"/>
              <a:ext cx="3138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8</a:t>
              </a:r>
              <a:endParaRPr sz="840">
                <a:latin typeface="Proxima Nova"/>
                <a:ea typeface="Proxima Nova"/>
                <a:cs typeface="Proxima Nova"/>
                <a:sym typeface="Proxima Nova"/>
              </a:endParaRPr>
            </a:p>
          </p:txBody>
        </p:sp>
        <p:sp>
          <p:nvSpPr>
            <p:cNvPr id="1135" name="Google Shape;1135;p31"/>
            <p:cNvSpPr txBox="1"/>
            <p:nvPr/>
          </p:nvSpPr>
          <p:spPr>
            <a:xfrm rot="-5400000">
              <a:off x="4943216"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9</a:t>
              </a:r>
              <a:endParaRPr sz="840">
                <a:latin typeface="Proxima Nova"/>
                <a:ea typeface="Proxima Nova"/>
                <a:cs typeface="Proxima Nova"/>
                <a:sym typeface="Proxima Nova"/>
              </a:endParaRPr>
            </a:p>
          </p:txBody>
        </p:sp>
        <p:sp>
          <p:nvSpPr>
            <p:cNvPr id="1136" name="Google Shape;1136;p31"/>
            <p:cNvSpPr txBox="1"/>
            <p:nvPr/>
          </p:nvSpPr>
          <p:spPr>
            <a:xfrm rot="-5400000">
              <a:off x="514351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10</a:t>
              </a:r>
              <a:endParaRPr sz="840">
                <a:latin typeface="Proxima Nova"/>
                <a:ea typeface="Proxima Nova"/>
                <a:cs typeface="Proxima Nova"/>
                <a:sym typeface="Proxima Nova"/>
              </a:endParaRPr>
            </a:p>
          </p:txBody>
        </p:sp>
        <p:sp>
          <p:nvSpPr>
            <p:cNvPr id="1137" name="Google Shape;1137;p31"/>
            <p:cNvSpPr txBox="1"/>
            <p:nvPr/>
          </p:nvSpPr>
          <p:spPr>
            <a:xfrm rot="-5400000">
              <a:off x="7468403" y="543222"/>
              <a:ext cx="4614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latin typeface="Proxima Nova"/>
                  <a:ea typeface="Proxima Nova"/>
                  <a:cs typeface="Proxima Nova"/>
                  <a:sym typeface="Proxima Nova"/>
                </a:rPr>
                <a:t>Total</a:t>
              </a:r>
              <a:endParaRPr sz="840">
                <a:latin typeface="Proxima Nova"/>
                <a:ea typeface="Proxima Nova"/>
                <a:cs typeface="Proxima Nova"/>
                <a:sym typeface="Proxima Nova"/>
              </a:endParaRPr>
            </a:p>
          </p:txBody>
        </p:sp>
        <p:sp>
          <p:nvSpPr>
            <p:cNvPr id="1138" name="Google Shape;1138;p31"/>
            <p:cNvSpPr txBox="1"/>
            <p:nvPr/>
          </p:nvSpPr>
          <p:spPr>
            <a:xfrm rot="-5400000">
              <a:off x="5744428"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13</a:t>
              </a:r>
              <a:endParaRPr sz="840">
                <a:latin typeface="Proxima Nova"/>
                <a:ea typeface="Proxima Nova"/>
                <a:cs typeface="Proxima Nova"/>
                <a:sym typeface="Proxima Nova"/>
              </a:endParaRPr>
            </a:p>
          </p:txBody>
        </p:sp>
        <p:sp>
          <p:nvSpPr>
            <p:cNvPr id="1139" name="Google Shape;1139;p31"/>
            <p:cNvSpPr txBox="1"/>
            <p:nvPr/>
          </p:nvSpPr>
          <p:spPr>
            <a:xfrm rot="-5400000">
              <a:off x="554412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12</a:t>
              </a:r>
              <a:endParaRPr sz="840">
                <a:latin typeface="Proxima Nova"/>
                <a:ea typeface="Proxima Nova"/>
                <a:cs typeface="Proxima Nova"/>
                <a:sym typeface="Proxima Nova"/>
              </a:endParaRPr>
            </a:p>
          </p:txBody>
        </p:sp>
        <p:sp>
          <p:nvSpPr>
            <p:cNvPr id="1140" name="Google Shape;1140;p31"/>
            <p:cNvSpPr txBox="1"/>
            <p:nvPr/>
          </p:nvSpPr>
          <p:spPr>
            <a:xfrm rot="-5400000">
              <a:off x="6145033"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15</a:t>
              </a:r>
              <a:endParaRPr sz="840">
                <a:latin typeface="Proxima Nova"/>
                <a:ea typeface="Proxima Nova"/>
                <a:cs typeface="Proxima Nova"/>
                <a:sym typeface="Proxima Nova"/>
              </a:endParaRPr>
            </a:p>
          </p:txBody>
        </p:sp>
        <p:sp>
          <p:nvSpPr>
            <p:cNvPr id="1141" name="Google Shape;1141;p31"/>
            <p:cNvSpPr txBox="1"/>
            <p:nvPr/>
          </p:nvSpPr>
          <p:spPr>
            <a:xfrm rot="-5400000">
              <a:off x="5944731"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14</a:t>
              </a:r>
              <a:endParaRPr sz="840">
                <a:latin typeface="Proxima Nova"/>
                <a:ea typeface="Proxima Nova"/>
                <a:cs typeface="Proxima Nova"/>
                <a:sym typeface="Proxima Nova"/>
              </a:endParaRPr>
            </a:p>
          </p:txBody>
        </p:sp>
        <p:sp>
          <p:nvSpPr>
            <p:cNvPr id="1142" name="Google Shape;1142;p31"/>
            <p:cNvSpPr txBox="1"/>
            <p:nvPr/>
          </p:nvSpPr>
          <p:spPr>
            <a:xfrm rot="-5400000">
              <a:off x="6545639"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17</a:t>
              </a:r>
              <a:endParaRPr sz="840">
                <a:latin typeface="Proxima Nova"/>
                <a:ea typeface="Proxima Nova"/>
                <a:cs typeface="Proxima Nova"/>
                <a:sym typeface="Proxima Nova"/>
              </a:endParaRPr>
            </a:p>
          </p:txBody>
        </p:sp>
        <p:sp>
          <p:nvSpPr>
            <p:cNvPr id="1143" name="Google Shape;1143;p31"/>
            <p:cNvSpPr txBox="1"/>
            <p:nvPr/>
          </p:nvSpPr>
          <p:spPr>
            <a:xfrm rot="-5400000">
              <a:off x="6345336"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16</a:t>
              </a:r>
              <a:endParaRPr sz="840">
                <a:latin typeface="Proxima Nova"/>
                <a:ea typeface="Proxima Nova"/>
                <a:cs typeface="Proxima Nova"/>
                <a:sym typeface="Proxima Nova"/>
              </a:endParaRPr>
            </a:p>
          </p:txBody>
        </p:sp>
        <p:sp>
          <p:nvSpPr>
            <p:cNvPr id="1144" name="Google Shape;1144;p31"/>
            <p:cNvSpPr txBox="1"/>
            <p:nvPr/>
          </p:nvSpPr>
          <p:spPr>
            <a:xfrm rot="-5400000">
              <a:off x="534382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11</a:t>
              </a:r>
              <a:endParaRPr sz="840">
                <a:latin typeface="Proxima Nova"/>
                <a:ea typeface="Proxima Nova"/>
                <a:cs typeface="Proxima Nova"/>
                <a:sym typeface="Proxima Nova"/>
              </a:endParaRPr>
            </a:p>
          </p:txBody>
        </p:sp>
        <p:sp>
          <p:nvSpPr>
            <p:cNvPr id="1145" name="Google Shape;1145;p31"/>
            <p:cNvSpPr txBox="1"/>
            <p:nvPr/>
          </p:nvSpPr>
          <p:spPr>
            <a:xfrm rot="-5400000">
              <a:off x="6745942"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18</a:t>
              </a:r>
              <a:endParaRPr sz="840">
                <a:latin typeface="Proxima Nova"/>
                <a:ea typeface="Proxima Nova"/>
                <a:cs typeface="Proxima Nova"/>
                <a:sym typeface="Proxima Nova"/>
              </a:endParaRPr>
            </a:p>
          </p:txBody>
        </p:sp>
        <p:sp>
          <p:nvSpPr>
            <p:cNvPr id="1146" name="Google Shape;1146;p31"/>
            <p:cNvSpPr txBox="1"/>
            <p:nvPr/>
          </p:nvSpPr>
          <p:spPr>
            <a:xfrm rot="-5400000">
              <a:off x="6946245"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19</a:t>
              </a:r>
              <a:endParaRPr sz="840">
                <a:latin typeface="Proxima Nova"/>
                <a:ea typeface="Proxima Nova"/>
                <a:cs typeface="Proxima Nova"/>
                <a:sym typeface="Proxima Nova"/>
              </a:endParaRPr>
            </a:p>
          </p:txBody>
        </p:sp>
        <p:sp>
          <p:nvSpPr>
            <p:cNvPr id="1147" name="Google Shape;1147;p31"/>
            <p:cNvSpPr txBox="1"/>
            <p:nvPr/>
          </p:nvSpPr>
          <p:spPr>
            <a:xfrm rot="-5400000">
              <a:off x="7146547"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20</a:t>
              </a:r>
              <a:endParaRPr sz="840">
                <a:latin typeface="Proxima Nova"/>
                <a:ea typeface="Proxima Nova"/>
                <a:cs typeface="Proxima Nova"/>
                <a:sym typeface="Proxima Nova"/>
              </a:endParaRPr>
            </a:p>
          </p:txBody>
        </p:sp>
        <p:sp>
          <p:nvSpPr>
            <p:cNvPr id="1148" name="Google Shape;1148;p31"/>
            <p:cNvSpPr txBox="1"/>
            <p:nvPr/>
          </p:nvSpPr>
          <p:spPr>
            <a:xfrm rot="-5400000">
              <a:off x="7346850" y="621972"/>
              <a:ext cx="303900" cy="1659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21</a:t>
              </a:r>
              <a:endParaRPr sz="840">
                <a:latin typeface="Proxima Nova"/>
                <a:ea typeface="Proxima Nova"/>
                <a:cs typeface="Proxima Nova"/>
                <a:sym typeface="Proxima Nova"/>
              </a:endParaRPr>
            </a:p>
          </p:txBody>
        </p:sp>
      </p:grpSp>
      <p:grpSp>
        <p:nvGrpSpPr>
          <p:cNvPr id="1149" name="Google Shape;1149;p31"/>
          <p:cNvGrpSpPr/>
          <p:nvPr/>
        </p:nvGrpSpPr>
        <p:grpSpPr>
          <a:xfrm>
            <a:off x="25279124" y="6016239"/>
            <a:ext cx="2039040" cy="4010760"/>
            <a:chOff x="1688300" y="840950"/>
            <a:chExt cx="1699200" cy="3342300"/>
          </a:xfrm>
        </p:grpSpPr>
        <p:sp>
          <p:nvSpPr>
            <p:cNvPr id="1150" name="Google Shape;1150;p31"/>
            <p:cNvSpPr txBox="1"/>
            <p:nvPr/>
          </p:nvSpPr>
          <p:spPr>
            <a:xfrm>
              <a:off x="1720899" y="840950"/>
              <a:ext cx="1666500" cy="154500"/>
            </a:xfrm>
            <a:prstGeom prst="rect">
              <a:avLst/>
            </a:prstGeom>
            <a:noFill/>
            <a:ln>
              <a:noFill/>
            </a:ln>
          </p:spPr>
          <p:txBody>
            <a:bodyPr anchorCtr="0" anchor="ctr" bIns="109700" lIns="109700" spcFirstLastPara="1" rIns="109700" wrap="square" tIns="109700">
              <a:noAutofit/>
            </a:bodyPr>
            <a:lstStyle/>
            <a:p>
              <a:pPr indent="0" lvl="0" marL="0" marR="0" rtl="0" algn="r">
                <a:lnSpc>
                  <a:spcPct val="100000"/>
                </a:lnSpc>
                <a:spcBef>
                  <a:spcPts val="0"/>
                </a:spcBef>
                <a:spcAft>
                  <a:spcPts val="0"/>
                </a:spcAft>
                <a:buNone/>
              </a:pPr>
              <a:r>
                <a:rPr lang="pt-BR" sz="840">
                  <a:latin typeface="Proxima Nova"/>
                  <a:ea typeface="Proxima Nova"/>
                  <a:cs typeface="Proxima Nova"/>
                  <a:sym typeface="Proxima Nova"/>
                </a:rPr>
                <a:t>1 Identity and access manager</a:t>
              </a:r>
              <a:endParaRPr sz="840">
                <a:latin typeface="Proxima Nova"/>
                <a:ea typeface="Proxima Nova"/>
                <a:cs typeface="Proxima Nova"/>
                <a:sym typeface="Proxima Nova"/>
              </a:endParaRPr>
            </a:p>
          </p:txBody>
        </p:sp>
        <p:sp>
          <p:nvSpPr>
            <p:cNvPr id="1151" name="Google Shape;1151;p31"/>
            <p:cNvSpPr txBox="1"/>
            <p:nvPr/>
          </p:nvSpPr>
          <p:spPr>
            <a:xfrm>
              <a:off x="1720899" y="992750"/>
              <a:ext cx="1666500" cy="154500"/>
            </a:xfrm>
            <a:prstGeom prst="rect">
              <a:avLst/>
            </a:prstGeom>
            <a:noFill/>
            <a:ln>
              <a:noFill/>
            </a:ln>
          </p:spPr>
          <p:txBody>
            <a:bodyPr anchorCtr="0" anchor="ctr" bIns="109700" lIns="109700" spcFirstLastPara="1" rIns="109700" wrap="square" tIns="109700">
              <a:noAutofit/>
            </a:bodyPr>
            <a:lstStyle/>
            <a:p>
              <a:pPr indent="0" lvl="0" marL="0" marR="0" rtl="0" algn="r">
                <a:lnSpc>
                  <a:spcPct val="100000"/>
                </a:lnSpc>
                <a:spcBef>
                  <a:spcPts val="0"/>
                </a:spcBef>
                <a:spcAft>
                  <a:spcPts val="0"/>
                </a:spcAft>
                <a:buNone/>
              </a:pPr>
              <a:r>
                <a:rPr lang="pt-BR" sz="840">
                  <a:latin typeface="Proxima Nova"/>
                  <a:ea typeface="Proxima Nova"/>
                  <a:cs typeface="Proxima Nova"/>
                  <a:sym typeface="Proxima Nova"/>
                </a:rPr>
                <a:t>2 Privacy and access control layer</a:t>
              </a:r>
              <a:endParaRPr sz="840">
                <a:latin typeface="Proxima Nova"/>
                <a:ea typeface="Proxima Nova"/>
                <a:cs typeface="Proxima Nova"/>
                <a:sym typeface="Proxima Nova"/>
              </a:endParaRPr>
            </a:p>
          </p:txBody>
        </p:sp>
        <p:sp>
          <p:nvSpPr>
            <p:cNvPr id="1152" name="Google Shape;1152;p31"/>
            <p:cNvSpPr txBox="1"/>
            <p:nvPr/>
          </p:nvSpPr>
          <p:spPr>
            <a:xfrm>
              <a:off x="1720899" y="1144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3 Lab results ingress</a:t>
              </a:r>
              <a:endParaRPr sz="840">
                <a:latin typeface="Proxima Nova"/>
                <a:ea typeface="Proxima Nova"/>
                <a:cs typeface="Proxima Nova"/>
                <a:sym typeface="Proxima Nova"/>
              </a:endParaRPr>
            </a:p>
          </p:txBody>
        </p:sp>
        <p:sp>
          <p:nvSpPr>
            <p:cNvPr id="1153" name="Google Shape;1153;p31"/>
            <p:cNvSpPr txBox="1"/>
            <p:nvPr/>
          </p:nvSpPr>
          <p:spPr>
            <a:xfrm>
              <a:off x="1688300" y="1296343"/>
              <a:ext cx="16992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4 Results normalization engine</a:t>
              </a:r>
              <a:endParaRPr sz="840">
                <a:latin typeface="Proxima Nova"/>
                <a:ea typeface="Proxima Nova"/>
                <a:cs typeface="Proxima Nova"/>
                <a:sym typeface="Proxima Nova"/>
              </a:endParaRPr>
            </a:p>
          </p:txBody>
        </p:sp>
        <p:sp>
          <p:nvSpPr>
            <p:cNvPr id="1154" name="Google Shape;1154;p31"/>
            <p:cNvSpPr txBox="1"/>
            <p:nvPr/>
          </p:nvSpPr>
          <p:spPr>
            <a:xfrm>
              <a:off x="1720899" y="1448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5 Patient context repository</a:t>
              </a:r>
              <a:endParaRPr sz="840">
                <a:latin typeface="Proxima Nova"/>
                <a:ea typeface="Proxima Nova"/>
                <a:cs typeface="Proxima Nova"/>
                <a:sym typeface="Proxima Nova"/>
              </a:endParaRPr>
            </a:p>
          </p:txBody>
        </p:sp>
        <p:sp>
          <p:nvSpPr>
            <p:cNvPr id="1155" name="Google Shape;1155;p31"/>
            <p:cNvSpPr txBox="1"/>
            <p:nvPr/>
          </p:nvSpPr>
          <p:spPr>
            <a:xfrm>
              <a:off x="1720899" y="1599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6 Case context builder</a:t>
              </a:r>
              <a:endParaRPr sz="840">
                <a:latin typeface="Proxima Nova"/>
                <a:ea typeface="Proxima Nova"/>
                <a:cs typeface="Proxima Nova"/>
                <a:sym typeface="Proxima Nova"/>
              </a:endParaRPr>
            </a:p>
          </p:txBody>
        </p:sp>
        <p:sp>
          <p:nvSpPr>
            <p:cNvPr id="1156" name="Google Shape;1156;p31"/>
            <p:cNvSpPr txBox="1"/>
            <p:nvPr/>
          </p:nvSpPr>
          <p:spPr>
            <a:xfrm>
              <a:off x="1720899" y="1751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7 Internal evidence access API</a:t>
              </a:r>
              <a:endParaRPr sz="840">
                <a:latin typeface="Proxima Nova"/>
                <a:ea typeface="Proxima Nova"/>
                <a:cs typeface="Proxima Nova"/>
                <a:sym typeface="Proxima Nova"/>
              </a:endParaRPr>
            </a:p>
          </p:txBody>
        </p:sp>
        <p:sp>
          <p:nvSpPr>
            <p:cNvPr id="1157" name="Google Shape;1157;p31"/>
            <p:cNvSpPr txBox="1"/>
            <p:nvPr/>
          </p:nvSpPr>
          <p:spPr>
            <a:xfrm>
              <a:off x="1720899" y="1903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8 External evidence access API</a:t>
              </a:r>
              <a:endParaRPr sz="840">
                <a:latin typeface="Proxima Nova"/>
                <a:ea typeface="Proxima Nova"/>
                <a:cs typeface="Proxima Nova"/>
                <a:sym typeface="Proxima Nova"/>
              </a:endParaRPr>
            </a:p>
          </p:txBody>
        </p:sp>
        <p:sp>
          <p:nvSpPr>
            <p:cNvPr id="1158" name="Google Shape;1158;p31"/>
            <p:cNvSpPr txBox="1"/>
            <p:nvPr/>
          </p:nvSpPr>
          <p:spPr>
            <a:xfrm>
              <a:off x="1720899" y="2055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9 Evidence consolidation service</a:t>
              </a:r>
              <a:endParaRPr sz="840">
                <a:latin typeface="Proxima Nova"/>
                <a:ea typeface="Proxima Nova"/>
                <a:cs typeface="Proxima Nova"/>
                <a:sym typeface="Proxima Nova"/>
              </a:endParaRPr>
            </a:p>
          </p:txBody>
        </p:sp>
        <p:sp>
          <p:nvSpPr>
            <p:cNvPr id="1159" name="Google Shape;1159;p31"/>
            <p:cNvSpPr txBox="1"/>
            <p:nvPr/>
          </p:nvSpPr>
          <p:spPr>
            <a:xfrm>
              <a:off x="1720899" y="2207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10 Evidence ranking module</a:t>
              </a:r>
              <a:endParaRPr sz="840">
                <a:latin typeface="Proxima Nova"/>
                <a:ea typeface="Proxima Nova"/>
                <a:cs typeface="Proxima Nova"/>
                <a:sym typeface="Proxima Nova"/>
              </a:endParaRPr>
            </a:p>
          </p:txBody>
        </p:sp>
        <p:sp>
          <p:nvSpPr>
            <p:cNvPr id="1160" name="Google Shape;1160;p31"/>
            <p:cNvSpPr txBox="1"/>
            <p:nvPr/>
          </p:nvSpPr>
          <p:spPr>
            <a:xfrm>
              <a:off x="1720899" y="4028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Total (# Related)</a:t>
              </a:r>
              <a:endParaRPr sz="840">
                <a:latin typeface="Proxima Nova"/>
                <a:ea typeface="Proxima Nova"/>
                <a:cs typeface="Proxima Nova"/>
                <a:sym typeface="Proxima Nova"/>
              </a:endParaRPr>
            </a:p>
          </p:txBody>
        </p:sp>
        <p:sp>
          <p:nvSpPr>
            <p:cNvPr id="1161" name="Google Shape;1161;p31"/>
            <p:cNvSpPr txBox="1"/>
            <p:nvPr/>
          </p:nvSpPr>
          <p:spPr>
            <a:xfrm>
              <a:off x="1720899" y="2358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11 AI role catalog</a:t>
              </a:r>
              <a:endParaRPr sz="840">
                <a:latin typeface="Proxima Nova"/>
                <a:ea typeface="Proxima Nova"/>
                <a:cs typeface="Proxima Nova"/>
                <a:sym typeface="Proxima Nova"/>
              </a:endParaRPr>
            </a:p>
          </p:txBody>
        </p:sp>
        <p:sp>
          <p:nvSpPr>
            <p:cNvPr id="1162" name="Google Shape;1162;p31"/>
            <p:cNvSpPr txBox="1"/>
            <p:nvPr/>
          </p:nvSpPr>
          <p:spPr>
            <a:xfrm>
              <a:off x="1720899" y="2510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12 AI role orchestrator</a:t>
              </a:r>
              <a:endParaRPr sz="840">
                <a:latin typeface="Proxima Nova"/>
                <a:ea typeface="Proxima Nova"/>
                <a:cs typeface="Proxima Nova"/>
                <a:sym typeface="Proxima Nova"/>
              </a:endParaRPr>
            </a:p>
          </p:txBody>
        </p:sp>
        <p:sp>
          <p:nvSpPr>
            <p:cNvPr id="1163" name="Google Shape;1163;p31"/>
            <p:cNvSpPr txBox="1"/>
            <p:nvPr/>
          </p:nvSpPr>
          <p:spPr>
            <a:xfrm>
              <a:off x="1720899" y="2662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13 Specialist interpreter</a:t>
              </a:r>
              <a:endParaRPr sz="840">
                <a:latin typeface="Proxima Nova"/>
                <a:ea typeface="Proxima Nova"/>
                <a:cs typeface="Proxima Nova"/>
                <a:sym typeface="Proxima Nova"/>
              </a:endParaRPr>
            </a:p>
          </p:txBody>
        </p:sp>
        <p:sp>
          <p:nvSpPr>
            <p:cNvPr id="1164" name="Google Shape;1164;p31"/>
            <p:cNvSpPr txBox="1"/>
            <p:nvPr/>
          </p:nvSpPr>
          <p:spPr>
            <a:xfrm>
              <a:off x="1720899" y="2814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14 Cross-role reconcilier</a:t>
              </a:r>
              <a:endParaRPr sz="840">
                <a:latin typeface="Proxima Nova"/>
                <a:ea typeface="Proxima Nova"/>
                <a:cs typeface="Proxima Nova"/>
                <a:sym typeface="Proxima Nova"/>
              </a:endParaRPr>
            </a:p>
          </p:txBody>
        </p:sp>
        <p:sp>
          <p:nvSpPr>
            <p:cNvPr id="1165" name="Google Shape;1165;p31"/>
            <p:cNvSpPr txBox="1"/>
            <p:nvPr/>
          </p:nvSpPr>
          <p:spPr>
            <a:xfrm>
              <a:off x="1720899" y="2966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15 Interpretation composer</a:t>
              </a:r>
              <a:endParaRPr sz="840">
                <a:latin typeface="Proxima Nova"/>
                <a:ea typeface="Proxima Nova"/>
                <a:cs typeface="Proxima Nova"/>
                <a:sym typeface="Proxima Nova"/>
              </a:endParaRPr>
            </a:p>
          </p:txBody>
        </p:sp>
        <p:sp>
          <p:nvSpPr>
            <p:cNvPr id="1166" name="Google Shape;1166;p31"/>
            <p:cNvSpPr txBox="1"/>
            <p:nvPr/>
          </p:nvSpPr>
          <p:spPr>
            <a:xfrm>
              <a:off x="1720899" y="3117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16 Review gateway</a:t>
              </a:r>
              <a:endParaRPr sz="840">
                <a:latin typeface="Proxima Nova"/>
                <a:ea typeface="Proxima Nova"/>
                <a:cs typeface="Proxima Nova"/>
                <a:sym typeface="Proxima Nova"/>
              </a:endParaRPr>
            </a:p>
          </p:txBody>
        </p:sp>
        <p:sp>
          <p:nvSpPr>
            <p:cNvPr id="1167" name="Google Shape;1167;p31"/>
            <p:cNvSpPr txBox="1"/>
            <p:nvPr/>
          </p:nvSpPr>
          <p:spPr>
            <a:xfrm>
              <a:off x="1720899" y="32697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17 Release controller</a:t>
              </a:r>
              <a:endParaRPr sz="840">
                <a:latin typeface="Proxima Nova"/>
                <a:ea typeface="Proxima Nova"/>
                <a:cs typeface="Proxima Nova"/>
                <a:sym typeface="Proxima Nova"/>
              </a:endParaRPr>
            </a:p>
          </p:txBody>
        </p:sp>
        <p:sp>
          <p:nvSpPr>
            <p:cNvPr id="1168" name="Google Shape;1168;p31"/>
            <p:cNvSpPr txBox="1"/>
            <p:nvPr/>
          </p:nvSpPr>
          <p:spPr>
            <a:xfrm>
              <a:off x="1720899" y="38769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21 Outcome feedback registry</a:t>
              </a:r>
              <a:endParaRPr sz="840">
                <a:latin typeface="Proxima Nova"/>
                <a:ea typeface="Proxima Nova"/>
                <a:cs typeface="Proxima Nova"/>
                <a:sym typeface="Proxima Nova"/>
              </a:endParaRPr>
            </a:p>
          </p:txBody>
        </p:sp>
        <p:sp>
          <p:nvSpPr>
            <p:cNvPr id="1169" name="Google Shape;1169;p31"/>
            <p:cNvSpPr txBox="1"/>
            <p:nvPr/>
          </p:nvSpPr>
          <p:spPr>
            <a:xfrm>
              <a:off x="1720899" y="34215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18 Evidence trace store</a:t>
              </a:r>
              <a:endParaRPr sz="840">
                <a:latin typeface="Proxima Nova"/>
                <a:ea typeface="Proxima Nova"/>
                <a:cs typeface="Proxima Nova"/>
                <a:sym typeface="Proxima Nova"/>
              </a:endParaRPr>
            </a:p>
          </p:txBody>
        </p:sp>
        <p:sp>
          <p:nvSpPr>
            <p:cNvPr id="1170" name="Google Shape;1170;p31"/>
            <p:cNvSpPr txBox="1"/>
            <p:nvPr/>
          </p:nvSpPr>
          <p:spPr>
            <a:xfrm>
              <a:off x="1720899" y="35733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19 Decision audit store</a:t>
              </a:r>
              <a:endParaRPr sz="840">
                <a:latin typeface="Proxima Nova"/>
                <a:ea typeface="Proxima Nova"/>
                <a:cs typeface="Proxima Nova"/>
                <a:sym typeface="Proxima Nova"/>
              </a:endParaRPr>
            </a:p>
          </p:txBody>
        </p:sp>
        <p:sp>
          <p:nvSpPr>
            <p:cNvPr id="1171" name="Google Shape;1171;p31"/>
            <p:cNvSpPr txBox="1"/>
            <p:nvPr/>
          </p:nvSpPr>
          <p:spPr>
            <a:xfrm>
              <a:off x="1720899" y="3725150"/>
              <a:ext cx="1666500" cy="154500"/>
            </a:xfrm>
            <a:prstGeom prst="rect">
              <a:avLst/>
            </a:prstGeom>
            <a:noFill/>
            <a:ln>
              <a:noFill/>
            </a:ln>
          </p:spPr>
          <p:txBody>
            <a:bodyPr anchorCtr="0" anchor="ctr" bIns="109700" lIns="109700" spcFirstLastPara="1" rIns="109700" wrap="square" tIns="109700">
              <a:noAutofit/>
            </a:bodyPr>
            <a:lstStyle/>
            <a:p>
              <a:pPr indent="0" lvl="0" marL="0" rtl="0" algn="r">
                <a:spcBef>
                  <a:spcPts val="0"/>
                </a:spcBef>
                <a:spcAft>
                  <a:spcPts val="0"/>
                </a:spcAft>
                <a:buNone/>
              </a:pPr>
              <a:r>
                <a:rPr lang="pt-BR" sz="840">
                  <a:latin typeface="Proxima Nova"/>
                  <a:ea typeface="Proxima Nova"/>
                  <a:cs typeface="Proxima Nova"/>
                  <a:sym typeface="Proxima Nova"/>
                </a:rPr>
                <a:t>20 Physician delivery channel</a:t>
              </a:r>
              <a:endParaRPr sz="840">
                <a:latin typeface="Proxima Nova"/>
                <a:ea typeface="Proxima Nova"/>
                <a:cs typeface="Proxima Nova"/>
                <a:sym typeface="Proxima Nova"/>
              </a:endParaRPr>
            </a:p>
          </p:txBody>
        </p:sp>
      </p:grpSp>
      <p:grpSp>
        <p:nvGrpSpPr>
          <p:cNvPr id="1172" name="Google Shape;1172;p31"/>
          <p:cNvGrpSpPr/>
          <p:nvPr/>
        </p:nvGrpSpPr>
        <p:grpSpPr>
          <a:xfrm>
            <a:off x="27284474" y="6010479"/>
            <a:ext cx="5230200" cy="4233480"/>
            <a:chOff x="3359425" y="836150"/>
            <a:chExt cx="4358500" cy="3527900"/>
          </a:xfrm>
        </p:grpSpPr>
        <p:sp>
          <p:nvSpPr>
            <p:cNvPr id="1173" name="Google Shape;1173;p31"/>
            <p:cNvSpPr/>
            <p:nvPr/>
          </p:nvSpPr>
          <p:spPr>
            <a:xfrm>
              <a:off x="3387400" y="836150"/>
              <a:ext cx="1000200" cy="7665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74" name="Google Shape;1174;p31"/>
            <p:cNvSpPr/>
            <p:nvPr/>
          </p:nvSpPr>
          <p:spPr>
            <a:xfrm>
              <a:off x="4394775" y="1597550"/>
              <a:ext cx="795900" cy="6099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75" name="Google Shape;1175;p31"/>
            <p:cNvSpPr/>
            <p:nvPr/>
          </p:nvSpPr>
          <p:spPr>
            <a:xfrm>
              <a:off x="5190725" y="2205325"/>
              <a:ext cx="1189200" cy="9102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76" name="Google Shape;1176;p31"/>
            <p:cNvSpPr/>
            <p:nvPr/>
          </p:nvSpPr>
          <p:spPr>
            <a:xfrm>
              <a:off x="4999625" y="22071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77" name="Google Shape;1177;p31"/>
            <p:cNvSpPr/>
            <p:nvPr/>
          </p:nvSpPr>
          <p:spPr>
            <a:xfrm>
              <a:off x="5800825" y="25134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78" name="Google Shape;1178;p31"/>
            <p:cNvSpPr/>
            <p:nvPr/>
          </p:nvSpPr>
          <p:spPr>
            <a:xfrm>
              <a:off x="6201425" y="28143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grpSp>
          <p:nvGrpSpPr>
            <p:cNvPr id="1179" name="Google Shape;1179;p31"/>
            <p:cNvGrpSpPr/>
            <p:nvPr/>
          </p:nvGrpSpPr>
          <p:grpSpPr>
            <a:xfrm>
              <a:off x="3359425" y="4209550"/>
              <a:ext cx="3380800" cy="154500"/>
              <a:chOff x="3359425" y="4209550"/>
              <a:chExt cx="3380800" cy="154500"/>
            </a:xfrm>
          </p:grpSpPr>
          <p:sp>
            <p:nvSpPr>
              <p:cNvPr id="1180" name="Google Shape;1180;p31"/>
              <p:cNvSpPr/>
              <p:nvPr/>
            </p:nvSpPr>
            <p:spPr>
              <a:xfrm>
                <a:off x="3359425" y="42095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81" name="Google Shape;1181;p31"/>
              <p:cNvSpPr/>
              <p:nvPr/>
            </p:nvSpPr>
            <p:spPr>
              <a:xfrm>
                <a:off x="5012225" y="4209550"/>
                <a:ext cx="191100" cy="1545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82" name="Google Shape;1182;p31"/>
              <p:cNvSpPr txBox="1"/>
              <p:nvPr/>
            </p:nvSpPr>
            <p:spPr>
              <a:xfrm>
                <a:off x="3575700" y="4209550"/>
                <a:ext cx="1483200" cy="1545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latin typeface="Proxima Nova"/>
                    <a:ea typeface="Proxima Nova"/>
                    <a:cs typeface="Proxima Nova"/>
                    <a:sym typeface="Proxima Nova"/>
                  </a:rPr>
                  <a:t>Interfaces that needs monitoring</a:t>
                </a:r>
                <a:endParaRPr sz="840">
                  <a:latin typeface="Proxima Nova"/>
                  <a:ea typeface="Proxima Nova"/>
                  <a:cs typeface="Proxima Nova"/>
                  <a:sym typeface="Proxima Nova"/>
                </a:endParaRPr>
              </a:p>
            </p:txBody>
          </p:sp>
          <p:sp>
            <p:nvSpPr>
              <p:cNvPr id="1183" name="Google Shape;1183;p31"/>
              <p:cNvSpPr txBox="1"/>
              <p:nvPr/>
            </p:nvSpPr>
            <p:spPr>
              <a:xfrm>
                <a:off x="5257025" y="4209550"/>
                <a:ext cx="1483200" cy="154500"/>
              </a:xfrm>
              <a:prstGeom prst="rect">
                <a:avLst/>
              </a:prstGeom>
              <a:noFill/>
              <a:ln>
                <a:noFill/>
              </a:ln>
            </p:spPr>
            <p:txBody>
              <a:bodyPr anchorCtr="0" anchor="ctr" bIns="109700" lIns="109700" spcFirstLastPara="1" rIns="109700" wrap="square" tIns="109700">
                <a:noAutofit/>
              </a:bodyPr>
              <a:lstStyle/>
              <a:p>
                <a:pPr indent="0" lvl="0" marL="0" rtl="0" algn="l">
                  <a:spcBef>
                    <a:spcPts val="0"/>
                  </a:spcBef>
                  <a:spcAft>
                    <a:spcPts val="0"/>
                  </a:spcAft>
                  <a:buNone/>
                </a:pPr>
                <a:r>
                  <a:rPr lang="pt-BR" sz="840">
                    <a:solidFill>
                      <a:srgbClr val="000000"/>
                    </a:solidFill>
                    <a:latin typeface="Proxima Nova"/>
                    <a:ea typeface="Proxima Nova"/>
                    <a:cs typeface="Proxima Nova"/>
                    <a:sym typeface="Proxima Nova"/>
                  </a:rPr>
                  <a:t>Dependencies cluster region</a:t>
                </a:r>
                <a:endParaRPr sz="840">
                  <a:solidFill>
                    <a:srgbClr val="000000"/>
                  </a:solidFill>
                  <a:latin typeface="Proxima Nova"/>
                  <a:ea typeface="Proxima Nova"/>
                  <a:cs typeface="Proxima Nova"/>
                  <a:sym typeface="Proxima Nova"/>
                </a:endParaRPr>
              </a:p>
            </p:txBody>
          </p:sp>
        </p:grpSp>
        <p:sp>
          <p:nvSpPr>
            <p:cNvPr id="1184" name="Google Shape;1184;p31"/>
            <p:cNvSpPr/>
            <p:nvPr/>
          </p:nvSpPr>
          <p:spPr>
            <a:xfrm>
              <a:off x="6387142" y="3118575"/>
              <a:ext cx="1216500" cy="910200"/>
            </a:xfrm>
            <a:prstGeom prst="rect">
              <a:avLst/>
            </a:prstGeom>
            <a:noFill/>
            <a:ln cap="flat" cmpd="sng" w="34300">
              <a:solidFill>
                <a:srgbClr val="FF00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85" name="Google Shape;1185;p31"/>
            <p:cNvSpPr/>
            <p:nvPr/>
          </p:nvSpPr>
          <p:spPr>
            <a:xfrm>
              <a:off x="6401725" y="29661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86" name="Google Shape;1186;p31"/>
            <p:cNvSpPr/>
            <p:nvPr/>
          </p:nvSpPr>
          <p:spPr>
            <a:xfrm>
              <a:off x="6802350" y="3269750"/>
              <a:ext cx="191100" cy="154500"/>
            </a:xfrm>
            <a:prstGeom prst="rect">
              <a:avLst/>
            </a:prstGeom>
            <a:noFill/>
            <a:ln cap="flat" cmpd="sng" w="34300">
              <a:solidFill>
                <a:srgbClr val="FF9900"/>
              </a:solidFill>
              <a:prstDash val="solid"/>
              <a:round/>
              <a:headEnd len="sm" w="sm" type="none"/>
              <a:tailEnd len="sm" w="sm" type="none"/>
            </a:ln>
          </p:spPr>
          <p:txBody>
            <a:bodyPr anchorCtr="0" anchor="ctr" bIns="109700" lIns="109700" spcFirstLastPara="1" rIns="109700" wrap="square" tIns="109700">
              <a:noAutofit/>
            </a:bodyPr>
            <a:lstStyle/>
            <a:p>
              <a:pPr indent="0" lvl="0" marL="0" rtl="0" algn="ctr">
                <a:spcBef>
                  <a:spcPts val="0"/>
                </a:spcBef>
                <a:spcAft>
                  <a:spcPts val="0"/>
                </a:spcAft>
                <a:buNone/>
              </a:pPr>
              <a:r>
                <a:t/>
              </a:r>
              <a:endParaRPr sz="1680"/>
            </a:p>
          </p:txBody>
        </p:sp>
        <p:sp>
          <p:nvSpPr>
            <p:cNvPr id="1187" name="Google Shape;1187;p31"/>
            <p:cNvSpPr txBox="1"/>
            <p:nvPr/>
          </p:nvSpPr>
          <p:spPr>
            <a:xfrm>
              <a:off x="4350694" y="1027113"/>
              <a:ext cx="7959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Input</a:t>
              </a:r>
              <a:endParaRPr b="1" sz="1680">
                <a:solidFill>
                  <a:srgbClr val="FF0000"/>
                </a:solidFill>
                <a:highlight>
                  <a:srgbClr val="FFFFFF"/>
                </a:highlight>
              </a:endParaRPr>
            </a:p>
          </p:txBody>
        </p:sp>
        <p:sp>
          <p:nvSpPr>
            <p:cNvPr id="1188" name="Google Shape;1188;p31"/>
            <p:cNvSpPr txBox="1"/>
            <p:nvPr/>
          </p:nvSpPr>
          <p:spPr>
            <a:xfrm>
              <a:off x="5058900" y="1233350"/>
              <a:ext cx="13380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Preparation</a:t>
              </a:r>
              <a:endParaRPr b="1" sz="1680">
                <a:solidFill>
                  <a:srgbClr val="FF0000"/>
                </a:solidFill>
                <a:highlight>
                  <a:srgbClr val="FFFFFF"/>
                </a:highlight>
              </a:endParaRPr>
            </a:p>
          </p:txBody>
        </p:sp>
        <p:sp>
          <p:nvSpPr>
            <p:cNvPr id="1189" name="Google Shape;1189;p31"/>
            <p:cNvSpPr txBox="1"/>
            <p:nvPr/>
          </p:nvSpPr>
          <p:spPr>
            <a:xfrm>
              <a:off x="6379925" y="2310638"/>
              <a:ext cx="1338000" cy="400200"/>
            </a:xfrm>
            <a:prstGeom prst="rect">
              <a:avLst/>
            </a:prstGeom>
            <a:noFill/>
            <a:ln>
              <a:noFill/>
            </a:ln>
          </p:spPr>
          <p:txBody>
            <a:bodyPr anchorCtr="0" anchor="t" bIns="109700" lIns="109700" spcFirstLastPara="1" rIns="109700" wrap="square" tIns="109700">
              <a:spAutoFit/>
            </a:bodyPr>
            <a:lstStyle/>
            <a:p>
              <a:pPr indent="0" lvl="0" marL="0" rtl="0" algn="l">
                <a:spcBef>
                  <a:spcPts val="0"/>
                </a:spcBef>
                <a:spcAft>
                  <a:spcPts val="0"/>
                </a:spcAft>
                <a:buNone/>
              </a:pPr>
              <a:r>
                <a:rPr b="1" lang="pt-BR" sz="1680">
                  <a:solidFill>
                    <a:srgbClr val="FF0000"/>
                  </a:solidFill>
                  <a:highlight>
                    <a:srgbClr val="FFFFFF"/>
                  </a:highlight>
                </a:rPr>
                <a:t>Interpretation</a:t>
              </a:r>
              <a:endParaRPr b="1" sz="1680">
                <a:solidFill>
                  <a:srgbClr val="FF0000"/>
                </a:solidFill>
                <a:highlight>
                  <a:srgbClr val="FFFFFF"/>
                </a:highlight>
              </a:endParaRPr>
            </a:p>
          </p:txBody>
        </p:sp>
        <p:sp>
          <p:nvSpPr>
            <p:cNvPr id="1190" name="Google Shape;1190;p31"/>
            <p:cNvSpPr txBox="1"/>
            <p:nvPr/>
          </p:nvSpPr>
          <p:spPr>
            <a:xfrm>
              <a:off x="4918500" y="3687288"/>
              <a:ext cx="1338000" cy="400200"/>
            </a:xfrm>
            <a:prstGeom prst="rect">
              <a:avLst/>
            </a:prstGeom>
            <a:noFill/>
            <a:ln>
              <a:noFill/>
            </a:ln>
          </p:spPr>
          <p:txBody>
            <a:bodyPr anchorCtr="0" anchor="t" bIns="109700" lIns="109700" spcFirstLastPara="1" rIns="109700" wrap="square" tIns="109700">
              <a:spAutoFit/>
            </a:bodyPr>
            <a:lstStyle/>
            <a:p>
              <a:pPr indent="0" lvl="0" marL="0" rtl="0" algn="r">
                <a:spcBef>
                  <a:spcPts val="0"/>
                </a:spcBef>
                <a:spcAft>
                  <a:spcPts val="0"/>
                </a:spcAft>
                <a:buNone/>
              </a:pPr>
              <a:r>
                <a:rPr b="1" lang="pt-BR" sz="1680">
                  <a:solidFill>
                    <a:srgbClr val="FF0000"/>
                  </a:solidFill>
                  <a:highlight>
                    <a:srgbClr val="FFFFFF"/>
                  </a:highlight>
                </a:rPr>
                <a:t>Delivery</a:t>
              </a:r>
              <a:endParaRPr b="1" sz="1680">
                <a:solidFill>
                  <a:srgbClr val="FF0000"/>
                </a:solidFill>
                <a:highlight>
                  <a:srgbClr val="FFFFFF"/>
                </a:highlight>
              </a:endParaRPr>
            </a:p>
          </p:txBody>
        </p:sp>
      </p:grpSp>
      <p:sp>
        <p:nvSpPr>
          <p:cNvPr id="1191" name="Google Shape;1191;p31"/>
          <p:cNvSpPr txBox="1"/>
          <p:nvPr/>
        </p:nvSpPr>
        <p:spPr>
          <a:xfrm>
            <a:off x="21225060" y="5930055"/>
            <a:ext cx="4338000" cy="41466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DSM reveals that Sanguine’s main architectural risk is concentrated in the interpretation core. Evidence ranking, AI role orchestration, specialist interpretation, reconciliation, and release control are tightly coupled, making them the key interfaces to monitor for change propagation, clinical accuracy, and reliable physician delivery.</a:t>
            </a:r>
            <a:endParaRPr sz="2040">
              <a:solidFill>
                <a:schemeClr val="dk2"/>
              </a:solidFill>
              <a:latin typeface="Proxima Nova"/>
              <a:ea typeface="Proxima Nova"/>
              <a:cs typeface="Proxima Nova"/>
              <a:sym typeface="Proxima Nova"/>
            </a:endParaRPr>
          </a:p>
        </p:txBody>
      </p:sp>
      <p:sp>
        <p:nvSpPr>
          <p:cNvPr id="1192" name="Google Shape;1192;p31"/>
          <p:cNvSpPr txBox="1"/>
          <p:nvPr/>
        </p:nvSpPr>
        <p:spPr>
          <a:xfrm>
            <a:off x="21349740" y="4586460"/>
            <a:ext cx="112485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5 Architectural hotspots and change propagation</a:t>
            </a:r>
            <a:endParaRPr sz="3640">
              <a:solidFill>
                <a:srgbClr val="67B4D4"/>
              </a:solidFill>
              <a:latin typeface="Proxima Nova"/>
              <a:ea typeface="Proxima Nova"/>
              <a:cs typeface="Proxima Nova"/>
              <a:sym typeface="Proxima Nova"/>
            </a:endParaRPr>
          </a:p>
        </p:txBody>
      </p:sp>
      <p:sp>
        <p:nvSpPr>
          <p:cNvPr id="1193" name="Google Shape;1193;p31"/>
          <p:cNvSpPr txBox="1"/>
          <p:nvPr/>
        </p:nvSpPr>
        <p:spPr>
          <a:xfrm>
            <a:off x="10502640" y="7909343"/>
            <a:ext cx="8298300" cy="996600"/>
          </a:xfrm>
          <a:prstGeom prst="rect">
            <a:avLst/>
          </a:prstGeom>
          <a:noFill/>
          <a:ln>
            <a:noFill/>
          </a:ln>
        </p:spPr>
        <p:txBody>
          <a:bodyPr anchorCtr="0" anchor="t" bIns="216000" lIns="216000" spcFirstLastPara="1" rIns="216000" wrap="square" tIns="216000">
            <a:spAutoFit/>
          </a:bodyPr>
          <a:lstStyle/>
          <a:p>
            <a:pPr indent="0" lvl="0" marL="0" rtl="0" algn="l">
              <a:spcBef>
                <a:spcPts val="0"/>
              </a:spcBef>
              <a:spcAft>
                <a:spcPts val="0"/>
              </a:spcAft>
              <a:buNone/>
            </a:pPr>
            <a:r>
              <a:rPr lang="pt-BR" sz="3640">
                <a:solidFill>
                  <a:srgbClr val="67B4D4"/>
                </a:solidFill>
                <a:latin typeface="Proxima Nova"/>
                <a:ea typeface="Proxima Nova"/>
                <a:cs typeface="Proxima Nova"/>
                <a:sym typeface="Proxima Nova"/>
              </a:rPr>
              <a:t>2 Lab result interpretation workflow</a:t>
            </a:r>
            <a:endParaRPr sz="3640">
              <a:solidFill>
                <a:srgbClr val="67B4D4"/>
              </a:solidFill>
              <a:latin typeface="Proxima Nova"/>
              <a:ea typeface="Proxima Nova"/>
              <a:cs typeface="Proxima Nova"/>
              <a:sym typeface="Proxima Nova"/>
            </a:endParaRPr>
          </a:p>
        </p:txBody>
      </p:sp>
      <p:pic>
        <p:nvPicPr>
          <p:cNvPr id="1194" name="Google Shape;1194;p31"/>
          <p:cNvPicPr preferRelativeResize="0"/>
          <p:nvPr/>
        </p:nvPicPr>
        <p:blipFill rotWithShape="1">
          <a:blip r:embed="rId5">
            <a:alphaModFix/>
          </a:blip>
          <a:srcRect b="0" l="239" r="239" t="0"/>
          <a:stretch/>
        </p:blipFill>
        <p:spPr>
          <a:xfrm>
            <a:off x="11951875" y="2385593"/>
            <a:ext cx="8788320" cy="5740036"/>
          </a:xfrm>
          <a:prstGeom prst="rect">
            <a:avLst/>
          </a:prstGeom>
          <a:noFill/>
          <a:ln>
            <a:noFill/>
          </a:ln>
        </p:spPr>
      </p:pic>
      <p:graphicFrame>
        <p:nvGraphicFramePr>
          <p:cNvPr id="1195" name="Google Shape;1195;p31"/>
          <p:cNvGraphicFramePr/>
          <p:nvPr/>
        </p:nvGraphicFramePr>
        <p:xfrm>
          <a:off x="428580" y="17172420"/>
          <a:ext cx="3000000" cy="3000000"/>
        </p:xfrm>
        <a:graphic>
          <a:graphicData uri="http://schemas.openxmlformats.org/drawingml/2006/table">
            <a:tbl>
              <a:tblPr>
                <a:noFill/>
                <a:tableStyleId>{23E452CD-4AC9-494A-AED8-5A9A6700DAF9}</a:tableStyleId>
              </a:tblPr>
              <a:tblGrid>
                <a:gridCol w="2426700"/>
                <a:gridCol w="6827250"/>
              </a:tblGrid>
              <a:tr h="397925">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Design Decision</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67B4D5"/>
                    </a:solidFill>
                  </a:tcPr>
                </a:tc>
                <a:tc>
                  <a:txBody>
                    <a:bodyPr/>
                    <a:lstStyle/>
                    <a:p>
                      <a:pPr indent="0" lvl="0" marL="0" rtl="0" algn="ctr">
                        <a:spcBef>
                          <a:spcPts val="0"/>
                        </a:spcBef>
                        <a:spcAft>
                          <a:spcPts val="0"/>
                        </a:spcAft>
                        <a:buNone/>
                      </a:pPr>
                      <a:r>
                        <a:rPr b="1" lang="pt-BR" sz="2040">
                          <a:solidFill>
                            <a:schemeClr val="lt1"/>
                          </a:solidFill>
                          <a:latin typeface="Proxima Nova"/>
                          <a:ea typeface="Proxima Nova"/>
                          <a:cs typeface="Proxima Nova"/>
                          <a:sym typeface="Proxima Nova"/>
                        </a:rPr>
                        <a:t>Preferred Choice</a:t>
                      </a:r>
                      <a:endParaRPr b="1" sz="2040">
                        <a:solidFill>
                          <a:schemeClr val="lt1"/>
                        </a:solidFill>
                        <a:latin typeface="Proxima Nova"/>
                        <a:ea typeface="Proxima Nova"/>
                        <a:cs typeface="Proxima Nova"/>
                        <a:sym typeface="Proxima Nova"/>
                      </a:endParaRPr>
                    </a:p>
                  </a:txBody>
                  <a:tcPr marT="0" marB="47525" marR="0" marL="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solidFill>
                      <a:srgbClr val="67B4D5"/>
                    </a:solidFill>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Selected Concept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C1 — Maximalist</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Family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Gemini family only</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Research Paradigm</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RAG + fine-tuning</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AI Role Structure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Large specialized group, approximately 5–10 roles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Clinical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Multiple internal and external sources</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537875">
                <a:tc>
                  <a:txBody>
                    <a:bodyPr/>
                    <a:lstStyle/>
                    <a:p>
                      <a:pPr indent="0" lvl="0" marL="0" rtl="0" algn="l">
                        <a:spcBef>
                          <a:spcPts val="0"/>
                        </a:spcBef>
                        <a:spcAft>
                          <a:spcPts val="0"/>
                        </a:spcAft>
                        <a:buNone/>
                      </a:pPr>
                      <a:r>
                        <a:rPr lang="pt-BR" sz="2040">
                          <a:latin typeface="Proxima Nova"/>
                          <a:ea typeface="Proxima Nova"/>
                          <a:cs typeface="Proxima Nova"/>
                          <a:sym typeface="Proxima Nova"/>
                        </a:rPr>
                        <a:t>Release Control</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Tiered release</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r h="882725">
                <a:tc>
                  <a:txBody>
                    <a:bodyPr/>
                    <a:lstStyle/>
                    <a:p>
                      <a:pPr indent="0" lvl="0" marL="0" rtl="0" algn="l">
                        <a:spcBef>
                          <a:spcPts val="0"/>
                        </a:spcBef>
                        <a:spcAft>
                          <a:spcPts val="0"/>
                        </a:spcAft>
                        <a:buNone/>
                      </a:pPr>
                      <a:r>
                        <a:rPr lang="pt-BR" sz="2040">
                          <a:latin typeface="Proxima Nova"/>
                          <a:ea typeface="Proxima Nova"/>
                          <a:cs typeface="Proxima Nova"/>
                          <a:sym typeface="Proxima Nova"/>
                        </a:rPr>
                        <a:t>Model Specification</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pt-BR" sz="2040">
                          <a:latin typeface="Proxima Nova"/>
                          <a:ea typeface="Proxima Nova"/>
                          <a:cs typeface="Proxima Nova"/>
                          <a:sym typeface="Proxima Nova"/>
                        </a:rPr>
                        <a:t>Multimodal, powerful, higher-cost model, such as Gemini 3 Pro</a:t>
                      </a:r>
                      <a:endParaRPr sz="2040">
                        <a:latin typeface="Proxima Nova"/>
                        <a:ea typeface="Proxima Nova"/>
                        <a:cs typeface="Proxima Nova"/>
                        <a:sym typeface="Proxima Nova"/>
                      </a:endParaRPr>
                    </a:p>
                  </a:txBody>
                  <a:tcPr marT="86400" marB="86400" marR="86400" marL="86400">
                    <a:lnL cap="flat" cmpd="sng" w="11425">
                      <a:solidFill>
                        <a:srgbClr val="000000"/>
                      </a:solidFill>
                      <a:prstDash val="solid"/>
                      <a:round/>
                      <a:headEnd len="sm" w="sm" type="none"/>
                      <a:tailEnd len="sm" w="sm" type="none"/>
                    </a:lnL>
                    <a:lnR cap="flat" cmpd="sng" w="11425">
                      <a:solidFill>
                        <a:srgbClr val="000000"/>
                      </a:solidFill>
                      <a:prstDash val="solid"/>
                      <a:round/>
                      <a:headEnd len="sm" w="sm" type="none"/>
                      <a:tailEnd len="sm" w="sm" type="none"/>
                    </a:lnR>
                    <a:lnT cap="flat" cmpd="sng" w="11425">
                      <a:solidFill>
                        <a:srgbClr val="000000"/>
                      </a:solidFill>
                      <a:prstDash val="solid"/>
                      <a:round/>
                      <a:headEnd len="sm" w="sm" type="none"/>
                      <a:tailEnd len="sm" w="sm" type="none"/>
                    </a:lnT>
                    <a:lnB cap="flat" cmpd="sng" w="11425">
                      <a:solidFill>
                        <a:srgbClr val="000000"/>
                      </a:solidFill>
                      <a:prstDash val="solid"/>
                      <a:round/>
                      <a:headEnd len="sm" w="sm" type="none"/>
                      <a:tailEnd len="sm" w="sm" type="none"/>
                    </a:lnB>
                  </a:tcPr>
                </a:tc>
              </a:tr>
            </a:tbl>
          </a:graphicData>
        </a:graphic>
      </p:graphicFrame>
      <p:sp>
        <p:nvSpPr>
          <p:cNvPr id="1196" name="Google Shape;1196;p31"/>
          <p:cNvSpPr txBox="1"/>
          <p:nvPr/>
        </p:nvSpPr>
        <p:spPr>
          <a:xfrm>
            <a:off x="349200" y="15831450"/>
            <a:ext cx="203910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7 Product &amp; project recommendation</a:t>
            </a:r>
            <a:endParaRPr sz="3640">
              <a:solidFill>
                <a:srgbClr val="67B4D4"/>
              </a:solidFill>
              <a:latin typeface="Proxima Nova"/>
              <a:ea typeface="Proxima Nova"/>
              <a:cs typeface="Proxima Nova"/>
              <a:sym typeface="Proxima Nova"/>
            </a:endParaRPr>
          </a:p>
        </p:txBody>
      </p:sp>
      <p:graphicFrame>
        <p:nvGraphicFramePr>
          <p:cNvPr id="1197" name="Google Shape;1197;p31"/>
          <p:cNvGraphicFramePr/>
          <p:nvPr/>
        </p:nvGraphicFramePr>
        <p:xfrm>
          <a:off x="10374720" y="18300333"/>
          <a:ext cx="3000000" cy="3000000"/>
        </p:xfrm>
        <a:graphic>
          <a:graphicData uri="http://schemas.openxmlformats.org/drawingml/2006/table">
            <a:tbl>
              <a:tblPr>
                <a:noFill/>
                <a:tableStyleId>{9A381E13-A8F7-4022-86C5-07623F0ABA3E}</a:tableStyleId>
              </a:tblPr>
              <a:tblGrid>
                <a:gridCol w="2314650"/>
                <a:gridCol w="8115750"/>
              </a:tblGrid>
              <a:tr h="357025">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Mitigation </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68B4D5"/>
                    </a:solidFill>
                  </a:tcPr>
                </a:tc>
                <a:tc>
                  <a:txBody>
                    <a:bodyPr/>
                    <a:lstStyle/>
                    <a:p>
                      <a:pPr indent="0" lvl="0" marL="0" rtl="0" algn="ctr">
                        <a:lnSpc>
                          <a:spcPct val="115000"/>
                        </a:lnSpc>
                        <a:spcBef>
                          <a:spcPts val="0"/>
                        </a:spcBef>
                        <a:spcAft>
                          <a:spcPts val="0"/>
                        </a:spcAft>
                        <a:buNone/>
                      </a:pPr>
                      <a:r>
                        <a:rPr b="1" lang="pt-BR" sz="2040">
                          <a:solidFill>
                            <a:srgbClr val="FFFFFF"/>
                          </a:solidFill>
                          <a:latin typeface="Proxima Nova"/>
                          <a:ea typeface="Proxima Nova"/>
                          <a:cs typeface="Proxima Nova"/>
                          <a:sym typeface="Proxima Nova"/>
                        </a:rPr>
                        <a:t>Commentary</a:t>
                      </a:r>
                      <a:endParaRPr b="1" sz="2040">
                        <a:solidFill>
                          <a:srgbClr val="FFFFFF"/>
                        </a:solidFill>
                        <a:latin typeface="Proxima Nova"/>
                        <a:ea typeface="Proxima Nova"/>
                        <a:cs typeface="Proxima Nova"/>
                        <a:sym typeface="Proxima Nova"/>
                      </a:endParaRPr>
                    </a:p>
                  </a:txBody>
                  <a:tcPr marT="60950" marB="60950" marR="91450" marL="91450" anchor="ctr">
                    <a:lnL cap="flat" cmpd="sng" w="15250">
                      <a:solidFill>
                        <a:srgbClr val="AAAAAA"/>
                      </a:solidFill>
                      <a:prstDash val="solid"/>
                      <a:round/>
                      <a:headEnd len="sm" w="sm" type="none"/>
                      <a:tailEnd len="sm" w="sm" type="none"/>
                    </a:lnL>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solidFill>
                      <a:srgbClr val="68B4D5"/>
                    </a:solidFill>
                  </a:tcPr>
                </a:tc>
              </a:tr>
              <a:tr h="622675">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Data Integration</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proof-of-concept to expose EHR/lab integration blockers before they cascade. Reduces probability from 50%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Clinical Validation Readiness</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Physician review board before shadow mode to reduce hallucination and clinical accuracy risk. Reduces probability from 40% to 15%.</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r h="888300">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Integration &amp; Interface Testing</a:t>
                      </a:r>
                      <a:endParaRPr sz="2040">
                        <a:latin typeface="Proxima Nova"/>
                        <a:ea typeface="Proxima Nova"/>
                        <a:cs typeface="Proxima Nova"/>
                        <a:sym typeface="Proxima Nova"/>
                      </a:endParaRPr>
                    </a:p>
                  </a:txBody>
                  <a:tcPr marT="60950" marB="60950" marR="91450" marL="91450" anchor="ct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pt-BR" sz="2040">
                          <a:latin typeface="Proxima Nova"/>
                          <a:ea typeface="Proxima Nova"/>
                          <a:cs typeface="Proxima Nova"/>
                          <a:sym typeface="Proxima Nova"/>
                        </a:rPr>
                        <a:t>Early interface testing across the data pipeline, retrieval layer, agentic AI core, physician workflow, and validation workflow. Reduces probability from 40% to 20%.</a:t>
                      </a:r>
                      <a:endParaRPr sz="2040">
                        <a:latin typeface="Proxima Nova"/>
                        <a:ea typeface="Proxima Nova"/>
                        <a:cs typeface="Proxima Nova"/>
                        <a:sym typeface="Proxima Nova"/>
                      </a:endParaRPr>
                    </a:p>
                  </a:txBody>
                  <a:tcPr marT="60950" marB="60950" marR="91450" marL="91450" anchor="ctr">
                    <a:lnR cap="flat" cmpd="sng" w="15250">
                      <a:solidFill>
                        <a:srgbClr val="AAAAAA"/>
                      </a:solidFill>
                      <a:prstDash val="solid"/>
                      <a:round/>
                      <a:headEnd len="sm" w="sm" type="none"/>
                      <a:tailEnd len="sm" w="sm" type="none"/>
                    </a:lnR>
                    <a:lnT cap="flat" cmpd="sng" w="15250">
                      <a:solidFill>
                        <a:srgbClr val="AAAAAA"/>
                      </a:solidFill>
                      <a:prstDash val="solid"/>
                      <a:round/>
                      <a:headEnd len="sm" w="sm" type="none"/>
                      <a:tailEnd len="sm" w="sm" type="none"/>
                    </a:lnT>
                    <a:lnB cap="flat" cmpd="sng" w="15250">
                      <a:solidFill>
                        <a:srgbClr val="AAAAAA"/>
                      </a:solidFill>
                      <a:prstDash val="solid"/>
                      <a:round/>
                      <a:headEnd len="sm" w="sm" type="none"/>
                      <a:tailEnd len="sm" w="sm" type="none"/>
                    </a:lnB>
                  </a:tcPr>
                </a:tc>
              </a:tr>
            </a:tbl>
          </a:graphicData>
        </a:graphic>
      </p:graphicFrame>
      <p:sp>
        <p:nvSpPr>
          <p:cNvPr id="1198" name="Google Shape;1198;p31"/>
          <p:cNvSpPr txBox="1"/>
          <p:nvPr/>
        </p:nvSpPr>
        <p:spPr>
          <a:xfrm>
            <a:off x="10326000" y="16637283"/>
            <a:ext cx="10527900" cy="16188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selected mitigation reduces riskiness from 179 to 102, removing 43% of baseline risk. It increases cost to $6.45M and schedule to 49 weeks, exceeding the $6M target but staying within the 50-week limit. The tradeoff is justified because it targets integration failure, hallucination risk, and late rework before clinical validation.</a:t>
            </a:r>
            <a:endParaRPr sz="2040">
              <a:solidFill>
                <a:schemeClr val="dk2"/>
              </a:solidFill>
              <a:latin typeface="Proxima Nova"/>
              <a:ea typeface="Proxima Nova"/>
              <a:cs typeface="Proxima Nova"/>
              <a:sym typeface="Proxima Nova"/>
            </a:endParaRPr>
          </a:p>
        </p:txBody>
      </p:sp>
      <p:sp>
        <p:nvSpPr>
          <p:cNvPr id="1199" name="Google Shape;1199;p31"/>
          <p:cNvSpPr txBox="1"/>
          <p:nvPr/>
        </p:nvSpPr>
        <p:spPr>
          <a:xfrm>
            <a:off x="21385290" y="10424010"/>
            <a:ext cx="11424000" cy="996600"/>
          </a:xfrm>
          <a:prstGeom prst="rect">
            <a:avLst/>
          </a:prstGeom>
          <a:noFill/>
          <a:ln>
            <a:noFill/>
          </a:ln>
        </p:spPr>
        <p:txBody>
          <a:bodyPr anchorCtr="0" anchor="t" bIns="216000" lIns="216000" spcFirstLastPara="1" rIns="216000" wrap="square" tIns="216000">
            <a:spAutoFit/>
          </a:bodyPr>
          <a:lstStyle/>
          <a:p>
            <a:pPr indent="0" lvl="0" marL="0" rtl="0" algn="ctr">
              <a:spcBef>
                <a:spcPts val="0"/>
              </a:spcBef>
              <a:spcAft>
                <a:spcPts val="0"/>
              </a:spcAft>
              <a:buNone/>
            </a:pPr>
            <a:r>
              <a:rPr lang="pt-BR" sz="3640">
                <a:solidFill>
                  <a:srgbClr val="67B4D4"/>
                </a:solidFill>
                <a:latin typeface="Proxima Nova"/>
                <a:ea typeface="Proxima Nova"/>
                <a:cs typeface="Proxima Nova"/>
                <a:sym typeface="Proxima Nova"/>
              </a:rPr>
              <a:t>6 Risks mitigation design walk</a:t>
            </a:r>
            <a:endParaRPr sz="3640">
              <a:solidFill>
                <a:srgbClr val="67B4D4"/>
              </a:solidFill>
              <a:latin typeface="Proxima Nova"/>
              <a:ea typeface="Proxima Nova"/>
              <a:cs typeface="Proxima Nova"/>
              <a:sym typeface="Proxima Nova"/>
            </a:endParaRPr>
          </a:p>
        </p:txBody>
      </p:sp>
      <p:pic>
        <p:nvPicPr>
          <p:cNvPr id="1200" name="Google Shape;1200;p31"/>
          <p:cNvPicPr preferRelativeResize="0"/>
          <p:nvPr/>
        </p:nvPicPr>
        <p:blipFill>
          <a:blip r:embed="rId6">
            <a:alphaModFix/>
          </a:blip>
          <a:stretch>
            <a:fillRect/>
          </a:stretch>
        </p:blipFill>
        <p:spPr>
          <a:xfrm>
            <a:off x="22441980" y="11431116"/>
            <a:ext cx="8788321" cy="6696320"/>
          </a:xfrm>
          <a:prstGeom prst="rect">
            <a:avLst/>
          </a:prstGeom>
          <a:noFill/>
          <a:ln>
            <a:noFill/>
          </a:ln>
        </p:spPr>
      </p:pic>
      <p:sp>
        <p:nvSpPr>
          <p:cNvPr id="1201" name="Google Shape;1201;p31"/>
          <p:cNvSpPr txBox="1"/>
          <p:nvPr/>
        </p:nvSpPr>
        <p:spPr>
          <a:xfrm>
            <a:off x="21385290" y="18375930"/>
            <a:ext cx="10972800" cy="2341200"/>
          </a:xfrm>
          <a:prstGeom prst="rect">
            <a:avLst/>
          </a:prstGeom>
          <a:noFill/>
          <a:ln>
            <a:noFill/>
          </a:ln>
        </p:spPr>
        <p:txBody>
          <a:bodyPr anchorCtr="0" anchor="t" bIns="109700" lIns="109700" spcFirstLastPara="1" rIns="109700" wrap="square" tIns="109700">
            <a:spAutoFit/>
          </a:bodyPr>
          <a:lstStyle/>
          <a:p>
            <a:pPr indent="0" lvl="0" marL="0" rtl="0" algn="l">
              <a:lnSpc>
                <a:spcPct val="115000"/>
              </a:lnSpc>
              <a:spcBef>
                <a:spcPts val="1440"/>
              </a:spcBef>
              <a:spcAft>
                <a:spcPts val="1440"/>
              </a:spcAft>
              <a:buNone/>
            </a:pPr>
            <a:r>
              <a:rPr lang="pt-BR" sz="2040">
                <a:solidFill>
                  <a:schemeClr val="dk2"/>
                </a:solidFill>
                <a:latin typeface="Proxima Nova"/>
                <a:ea typeface="Proxima Nova"/>
                <a:cs typeface="Proxima Nova"/>
                <a:sym typeface="Proxima Nova"/>
              </a:rPr>
              <a:t>The mitigation walk shows two risk-reduction clusters. The technical feasibility cluster reduces integration and interface risks while staying closer to the original cost and schedule envelope. Adding clinical validation creates a larger risk reduction, but pushes the selected design above the $6M budget target while still remaining inside the 50-week schedule limit. This tradeoff was accepted because hallucination and clinical accuracy risks are more critical to physician trust and safe clinical use.</a:t>
            </a:r>
            <a:endParaRPr sz="2040">
              <a:solidFill>
                <a:schemeClr val="dk2"/>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