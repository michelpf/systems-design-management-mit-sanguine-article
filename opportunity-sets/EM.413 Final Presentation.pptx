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y="5143500" cx="9144000"/>
  <p:notesSz cx="6858000" cy="9144000"/>
  <p:embeddedFontLst>
    <p:embeddedFont>
      <p:font typeface="Proxima Nova"/>
      <p:regular r:id="rId49"/>
      <p:bold r:id="rId50"/>
      <p:italic r:id="rId51"/>
      <p:boldItalic r:id="rId52"/>
    </p:embeddedFont>
    <p:embeddedFont>
      <p:font typeface="Noto Sans Grantha"/>
      <p:regular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David Ricardo"/>
  <p:cmAuthor clrIdx="1" id="1" initials="" lastIdx="5" name="Camden 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DCE8C6-ACF2-41EB-A17D-C00F89CA797A}">
  <a:tblStyle styleId="{55DCE8C6-ACF2-41EB-A17D-C00F89CA797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D4255DE-314D-4A87-883B-22B09B20BF7A}" styleName="Table_1">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FAB9810-40CA-43D7-B2C1-EFE16C8D5BE5}"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2C164A9-D459-4989-9082-E027A9E3C51D}" styleName="Table_3">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font" Target="fonts/ProximaNova-regular.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roximaNova-italic.fntdata"/><Relationship Id="rId50" Type="http://schemas.openxmlformats.org/officeDocument/2006/relationships/font" Target="fonts/ProximaNova-bold.fntdata"/><Relationship Id="rId53" Type="http://schemas.openxmlformats.org/officeDocument/2006/relationships/font" Target="fonts/NotoSansGrantha-regular.fntdata"/><Relationship Id="rId52" Type="http://schemas.openxmlformats.org/officeDocument/2006/relationships/font" Target="fonts/ProximaNova-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11T22:47:58.658">
    <p:pos x="6000" y="0"/>
    <p:text>TODO(David): Time Problem section to 90-120s SHARP.</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5-11T14:29:34.939">
    <p:pos x="6000" y="0"/>
    <p:text>TODO(David): Polish delivery, make faster. Time 2min to this section</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5-12T03:49:12.932">
    <p:pos x="6000" y="0"/>
    <p:text>I am fairly happy with my section from Delivery onward. If you want to review what I plan to say, it is in the speaker notes. Timing wise I am at around 3:30 currently. Removing the Solution Section's  Monte Carlo (to appendix) seems like the right more to leave time to go through the solution.</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5-12T03:50:27.347">
    <p:pos x="278" y="1022"/>
    <p:text>Added this slide and found a more conservative source for TAM</p:text>
  </p:cm>
  <p:cm authorId="1" idx="3" dt="2026-05-12T02:32:13.015">
    <p:pos x="278" y="1022"/>
    <p:text>I changed the context of my slides at the end to address a risk mitigation of failure to integrate AI into our system instead of the "Do No Harm" Slide.</p:text>
  </p:cm>
  <p:cm authorId="1" idx="4" dt="2026-05-12T03:50:27.347">
    <p:pos x="278" y="1022"/>
    <p:text>Please try to not leverage these metrics so I can use them here for my talking points in the speaker notes.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6-05-12T02:11:00.928">
    <p:pos x="196" y="280"/>
    <p:text>Added citations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6c4747412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6c4747412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fb613c45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fb613c45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Motivation, Problem, Solution, Impact</a:t>
            </a:r>
            <a:endParaRPr/>
          </a:p>
          <a:p>
            <a:pPr indent="0" lvl="0" marL="0" rtl="0" algn="l">
              <a:spcBef>
                <a:spcPts val="0"/>
              </a:spcBef>
              <a:spcAft>
                <a:spcPts val="0"/>
              </a:spcAft>
              <a:buNone/>
            </a:pPr>
            <a:r>
              <a:rPr lang="en"/>
              <a:t>Motivation: SA4, SA5, SA3 about motivation/problem/scope, and also PM2 and </a:t>
            </a:r>
            <a:endParaRPr/>
          </a:p>
          <a:p>
            <a:pPr indent="0" lvl="0" marL="0" rtl="0" algn="l">
              <a:spcBef>
                <a:spcPts val="0"/>
              </a:spcBef>
              <a:spcAft>
                <a:spcPts val="0"/>
              </a:spcAft>
              <a:buNone/>
            </a:pPr>
            <a:r>
              <a:rPr lang="en"/>
              <a:t>Solution: SA1, SE1, SE3</a:t>
            </a:r>
            <a:endParaRPr/>
          </a:p>
          <a:p>
            <a:pPr indent="0" lvl="0" marL="0" rtl="0" algn="l">
              <a:spcBef>
                <a:spcPts val="0"/>
              </a:spcBef>
              <a:spcAft>
                <a:spcPts val="0"/>
              </a:spcAft>
              <a:buNone/>
            </a:pPr>
            <a:r>
              <a:rPr lang="en"/>
              <a:t>Stakeholders? SA1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 = problem, big picture</a:t>
            </a:r>
            <a:endParaRPr/>
          </a:p>
          <a:p>
            <a:pPr indent="0" lvl="0" marL="0" rtl="0" algn="l">
              <a:spcBef>
                <a:spcPts val="0"/>
              </a:spcBef>
              <a:spcAft>
                <a:spcPts val="0"/>
              </a:spcAft>
              <a:buNone/>
            </a:pPr>
            <a:r>
              <a:rPr lang="en"/>
              <a:t>Transition = what is the solution</a:t>
            </a:r>
            <a:endParaRPr/>
          </a:p>
          <a:p>
            <a:pPr indent="0" lvl="0" marL="0" rtl="0" algn="l">
              <a:spcBef>
                <a:spcPts val="0"/>
              </a:spcBef>
              <a:spcAft>
                <a:spcPts val="0"/>
              </a:spcAft>
              <a:buNone/>
            </a:pPr>
            <a:r>
              <a:rPr lang="en"/>
              <a:t>Consider funnel process of start with big problem, sharpen it until we downscope to something we can solve</a:t>
            </a:r>
            <a:endParaRPr/>
          </a:p>
          <a:p>
            <a:pPr indent="0" lvl="0" marL="0" rtl="0" algn="l">
              <a:spcBef>
                <a:spcPts val="0"/>
              </a:spcBef>
              <a:spcAft>
                <a:spcPts val="0"/>
              </a:spcAft>
              <a:buNone/>
            </a:pPr>
            <a:r>
              <a:rPr lang="en"/>
              <a:t>SE = How to technically deliver</a:t>
            </a:r>
            <a:endParaRPr/>
          </a:p>
          <a:p>
            <a:pPr indent="0" lvl="0" marL="0" rtl="0" algn="l">
              <a:spcBef>
                <a:spcPts val="0"/>
              </a:spcBef>
              <a:spcAft>
                <a:spcPts val="0"/>
              </a:spcAft>
              <a:buNone/>
            </a:pPr>
            <a:r>
              <a:rPr lang="en"/>
              <a:t>PM = how to land impact on schedule/budget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fb613c45f_1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fb613c45f_1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feeb76bfc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feeb76bfc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fb613c45f_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fb613c45f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many of you have ever gotten a blood test? This is an actual screenshot of a blood test I got. I have no idea what it means to have low chloride. Does that sound like a familiar experience? Fortunately, this is a common blood test, so my doctor was able to interpret it for me. I’m fine. But this happens at the medical level too…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fea69fa9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dfea69fa9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098fced4f_3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098fced4f_3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07fe0d068_14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07fe0d068_14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07fe0d068_14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e07fe0d068_14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the need of a clinical librarian to navigate between an ocean of data and information, in order to get the precise interpretation to the patient.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6c4747412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96c4747412_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need to link the </a:t>
            </a:r>
            <a:r>
              <a:rPr lang="en"/>
              <a:t>"clinical librarian" with the the previous slide which mention the large data Mayo Clinic has.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07fe0d06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07fe0d06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07fe0d06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e07fe0d06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098fced4f_3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098fced4f_3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e07fe0d06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e07fe0d06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07fe0d06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e07fe0d06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07fe0d06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e07fe0d06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4ad4c4833dc5457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4ad4c4833dc5457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0f6e6673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e0f6e6673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e098fced4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e098fced4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07fe0d06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e07fe0d06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have our solution, we can review the delivery of that solution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e07fe0d068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e07fe0d068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began by modeling a tradespace, </a:t>
            </a:r>
            <a:r>
              <a:rPr lang="en"/>
              <a:t>evaluating</a:t>
            </a:r>
            <a:r>
              <a:rPr lang="en"/>
              <a:t> methods to optimize cost and </a:t>
            </a:r>
            <a:r>
              <a:rPr lang="en"/>
              <a:t>schedule. We reviewed outsourcing, parallel paths, shifts in teams, leveraging overtime, expansion, shifting team and work, and finally end with the concept strategic scaling.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along the pareto frontier and reduces both cost and schedule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e07fe0d068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e07fe0d068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landed on strategic scaling as our first preferential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This employs</a:t>
            </a:r>
            <a:r>
              <a:rPr lang="en">
                <a:solidFill>
                  <a:schemeClr val="dk1"/>
                </a:solidFill>
              </a:rPr>
              <a:t> contractors in strategic ways, within the non-key areas of implementation, to reduce cost and accelerate development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are left with ample headroom relative to our targets.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e0be17945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e0be17945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br>
              <a:rPr lang="en">
                <a:solidFill>
                  <a:schemeClr val="dk1"/>
                </a:solidFill>
              </a:rPr>
            </a:br>
            <a:r>
              <a:rPr lang="en">
                <a:solidFill>
                  <a:schemeClr val="dk1"/>
                </a:solidFill>
              </a:rPr>
              <a:t>Zooming out for a moment: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Mayo Clinic handles 40,000 samples from external patients across the globe.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Their Platform_Insights datalake is roughly 26PB, with billions in tests and clinical notes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the US a market size in clinical laboratory tests of 50 billion, with growth over the next decade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Mayo Clinic has a unique opportunity to improve physician empowerment and defend their position within this growing global market</a:t>
            </a:r>
            <a:br>
              <a:rPr lang="en">
                <a:solidFill>
                  <a:schemeClr val="dk1"/>
                </a:solidFill>
              </a:rPr>
            </a:br>
            <a:br>
              <a:rPr lang="en">
                <a:solidFill>
                  <a:schemeClr val="dk1"/>
                </a:solidFill>
              </a:rPr>
            </a:br>
            <a:r>
              <a:rPr lang="en">
                <a:solidFill>
                  <a:schemeClr val="dk1"/>
                </a:solidFill>
              </a:rPr>
              <a:t>But, to step back. RAND analysis found that 80% of AI projects fail to deliver their intended business value. This is echoed elsewhere.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perils of AI pilot project failure are common, and we must ensure we properly manage this immense opportunity to better serve physicians and their patients.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create a shift in understanding</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07fe0d068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e07fe0d068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re-evaluated our tradespace walk, this time comparing cost of the project versus risk exposure,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Focusing on </a:t>
            </a:r>
            <a:r>
              <a:rPr lang="en"/>
              <a:t>reducing</a:t>
            </a:r>
            <a:r>
              <a:rPr lang="en"/>
              <a:t> risk exposure of data integration, clinical and regulatory</a:t>
            </a:r>
            <a:r>
              <a:rPr lang="en"/>
              <a:t> hardening</a:t>
            </a:r>
            <a:r>
              <a:rPr lang="en"/>
              <a:t>, and leveraging early verification &amp; validation of interfaces to significantly reduced risk profile.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end, our full profile more than halved our risk exposure, although at a cost.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e07fe0d068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e07fe0d068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that cost must be compared to the potential cost of failure, and we feel this tradeoff is justified to reduce risk within integrations and the additional cost of rework before </a:t>
            </a:r>
            <a:r>
              <a:rPr lang="en"/>
              <a:t>clinical</a:t>
            </a:r>
            <a:r>
              <a:rPr lang="en"/>
              <a:t> validation.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end we recommend this lower risk profile of “Full” with an expanded cost of $6.46m, which is in excess of our $6m budget.  But still remaining within our 50 week target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07fe0d068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e07fe0d068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return to this first tradespace walk that sets the utopia point at the lower cost and shortest schedule, you can see that this </a:t>
            </a:r>
            <a:r>
              <a:rPr lang="en"/>
              <a:t>model</a:t>
            </a:r>
            <a:r>
              <a:rPr lang="en"/>
              <a:t> no longer aligns with the values of our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Instead when we plot this new “Full” tradespace, we are far from the strategic scaling point that simply prioritised cost and schedule. But the unshown third dimension of risk exposure renders this tradespace only useful for context</a:t>
            </a:r>
            <a:r>
              <a:rPr lang="en"/>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e07fe0d068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e07fe0d068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end, our final product concept leverages Mayo Clinic’s strategic partnership with google and uses the gemini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leverage  the platform_insights </a:t>
            </a:r>
            <a:r>
              <a:rPr lang="en"/>
              <a:t>internal</a:t>
            </a:r>
            <a:r>
              <a:rPr lang="en"/>
              <a:t> sources, </a:t>
            </a:r>
            <a:r>
              <a:rPr lang="en"/>
              <a:t>internal</a:t>
            </a:r>
            <a:r>
              <a:rPr lang="en"/>
              <a:t> </a:t>
            </a:r>
            <a:r>
              <a:rPr lang="en"/>
              <a:t>research</a:t>
            </a:r>
            <a:r>
              <a:rPr lang="en"/>
              <a:t>, along with validated external </a:t>
            </a:r>
            <a:r>
              <a:rPr lang="en"/>
              <a:t>sources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models serve various roles with </a:t>
            </a:r>
            <a:r>
              <a:rPr lang="en"/>
              <a:t>distinct</a:t>
            </a:r>
            <a:r>
              <a:rPr lang="en"/>
              <a:t> specialities, similar to the </a:t>
            </a:r>
            <a:r>
              <a:rPr lang="en"/>
              <a:t>internal</a:t>
            </a:r>
            <a:r>
              <a:rPr lang="en"/>
              <a:t> mayo clinic model of care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we use higher cost </a:t>
            </a:r>
            <a:r>
              <a:rPr lang="en"/>
              <a:t>multimodal</a:t>
            </a:r>
            <a:r>
              <a:rPr lang="en"/>
              <a:t>, with RAG and Fine tuning along with a </a:t>
            </a:r>
            <a:r>
              <a:rPr lang="en"/>
              <a:t>tiered release to ensure reliability and quality.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Clinical excellence is synonymous with Mayo Clinic and our project seeks to follow suit.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098fced4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e098fced4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dce5728f6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ddce5728f6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ddce5728f6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ddce5728f6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e096d4c9e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e096d4c9e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slide focuses on the USING of the SPS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TL,DR: </a:t>
            </a:r>
            <a:br>
              <a:rPr lang="en"/>
            </a:br>
            <a:r>
              <a:rPr lang="en"/>
              <a:t>Split into multiple slides</a:t>
            </a:r>
            <a:endParaRPr/>
          </a:p>
          <a:p>
            <a:pPr indent="0" lvl="0" marL="0" rtl="0" algn="l">
              <a:spcBef>
                <a:spcPts val="0"/>
              </a:spcBef>
              <a:spcAft>
                <a:spcPts val="0"/>
              </a:spcAft>
              <a:buNone/>
            </a:pPr>
            <a:r>
              <a:rPr lang="en"/>
              <a:t>Reduce detail</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e096d4c9e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e096d4c9e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e098fced4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e098fced4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e096d4c9e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e096d4c9e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e096d4c9e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e096d4c9e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e098fced4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e098fced4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e098fced4f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e098fced4f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098fced4f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e098fced4f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 Retrieval-Augmented Generation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e0be17945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e0be17945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96c4747412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96c4747412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dce5728f6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ddce5728f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atin typeface="Noto Sans Grantha"/>
                <a:ea typeface="Noto Sans Grantha"/>
                <a:cs typeface="Noto Sans Grantha"/>
                <a:sym typeface="Noto Sans Grantha"/>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piazza.com/class/ml1c3kpdjrr4bb/post/19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9.png"/><Relationship Id="rId7" Type="http://schemas.openxmlformats.org/officeDocument/2006/relationships/image" Target="../media/image7.png"/><Relationship Id="rId8"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omments" Target="../comments/commen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piazza.com/class/ml1c3kpdjrr4bb/post/6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omments" Target="../comments/comment3.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20.png"/><Relationship Id="rId11" Type="http://schemas.openxmlformats.org/officeDocument/2006/relationships/image" Target="../media/image49.png"/><Relationship Id="rId10" Type="http://schemas.openxmlformats.org/officeDocument/2006/relationships/image" Target="../media/image26.png"/><Relationship Id="rId12" Type="http://schemas.openxmlformats.org/officeDocument/2006/relationships/image" Target="../media/image32.png"/><Relationship Id="rId9"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omments" Target="../comments/comment4.xml"/><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33.png"/><Relationship Id="rId7" Type="http://schemas.openxmlformats.org/officeDocument/2006/relationships/image" Target="../media/image39.png"/><Relationship Id="rId8"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0.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41.png"/><Relationship Id="rId8"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piazza.com/class/ml1c3kpdjrr4bb/post/60"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comments" Target="../comments/comment5.xml"/></Relationships>
</file>

<file path=ppt/slides/_rels/slide40.xml.rels><?xml version="1.0" encoding="UTF-8" standalone="yes"?><Relationships xmlns="http://schemas.openxmlformats.org/package/2006/relationships"><Relationship Id="rId11" Type="http://schemas.openxmlformats.org/officeDocument/2006/relationships/image" Target="../media/image63.png"/><Relationship Id="rId10" Type="http://schemas.openxmlformats.org/officeDocument/2006/relationships/image" Target="../media/image2.png"/><Relationship Id="rId13" Type="http://schemas.openxmlformats.org/officeDocument/2006/relationships/image" Target="../media/image48.png"/><Relationship Id="rId12" Type="http://schemas.openxmlformats.org/officeDocument/2006/relationships/image" Target="../media/image52.png"/><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0.png"/><Relationship Id="rId4" Type="http://schemas.openxmlformats.org/officeDocument/2006/relationships/image" Target="../media/image44.png"/><Relationship Id="rId9" Type="http://schemas.openxmlformats.org/officeDocument/2006/relationships/image" Target="../media/image5.png"/><Relationship Id="rId5" Type="http://schemas.openxmlformats.org/officeDocument/2006/relationships/image" Target="../media/image51.png"/><Relationship Id="rId6" Type="http://schemas.openxmlformats.org/officeDocument/2006/relationships/image" Target="../media/image7.png"/><Relationship Id="rId7" Type="http://schemas.openxmlformats.org/officeDocument/2006/relationships/image" Target="../media/image47.png"/><Relationship Id="rId8" Type="http://schemas.openxmlformats.org/officeDocument/2006/relationships/image" Target="../media/image4.png"/></Relationships>
</file>

<file path=ppt/slides/_rels/slide41.xml.rels><?xml version="1.0" encoding="UTF-8" standalone="yes"?><Relationships xmlns="http://schemas.openxmlformats.org/package/2006/relationships"><Relationship Id="rId11" Type="http://schemas.openxmlformats.org/officeDocument/2006/relationships/image" Target="../media/image56.png"/><Relationship Id="rId10" Type="http://schemas.openxmlformats.org/officeDocument/2006/relationships/image" Target="../media/image60.png"/><Relationship Id="rId13" Type="http://schemas.openxmlformats.org/officeDocument/2006/relationships/image" Target="../media/image62.gif"/><Relationship Id="rId12" Type="http://schemas.openxmlformats.org/officeDocument/2006/relationships/image" Target="../media/image58.gif"/><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7.gif"/><Relationship Id="rId4" Type="http://schemas.openxmlformats.org/officeDocument/2006/relationships/image" Target="../media/image43.png"/><Relationship Id="rId9" Type="http://schemas.openxmlformats.org/officeDocument/2006/relationships/image" Target="../media/image54.png"/><Relationship Id="rId5" Type="http://schemas.openxmlformats.org/officeDocument/2006/relationships/image" Target="../media/image45.png"/><Relationship Id="rId6" Type="http://schemas.openxmlformats.org/officeDocument/2006/relationships/image" Target="../media/image53.png"/><Relationship Id="rId7" Type="http://schemas.openxmlformats.org/officeDocument/2006/relationships/image" Target="../media/image61.gif"/><Relationship Id="rId8"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grainger-family-gives-dollar75m-to-mayo-clinic-in-rochester-4.png"/>
          <p:cNvPicPr preferRelativeResize="0"/>
          <p:nvPr/>
        </p:nvPicPr>
        <p:blipFill>
          <a:blip r:embed="rId3">
            <a:alphaModFix amt="18000"/>
          </a:blip>
          <a:stretch>
            <a:fillRect/>
          </a:stretch>
        </p:blipFill>
        <p:spPr>
          <a:xfrm>
            <a:off x="0" y="0"/>
            <a:ext cx="9144001" cy="5143500"/>
          </a:xfrm>
          <a:prstGeom prst="rect">
            <a:avLst/>
          </a:prstGeom>
          <a:noFill/>
          <a:ln>
            <a:noFill/>
          </a:ln>
        </p:spPr>
      </p:pic>
      <p:pic>
        <p:nvPicPr>
          <p:cNvPr id="55" name="Google Shape;55;p13" title="mit.png"/>
          <p:cNvPicPr preferRelativeResize="0"/>
          <p:nvPr/>
        </p:nvPicPr>
        <p:blipFill>
          <a:blip r:embed="rId4">
            <a:alphaModFix/>
          </a:blip>
          <a:stretch>
            <a:fillRect/>
          </a:stretch>
        </p:blipFill>
        <p:spPr>
          <a:xfrm>
            <a:off x="189751" y="4378569"/>
            <a:ext cx="1639800" cy="618179"/>
          </a:xfrm>
          <a:prstGeom prst="rect">
            <a:avLst/>
          </a:prstGeom>
          <a:noFill/>
          <a:ln>
            <a:noFill/>
          </a:ln>
        </p:spPr>
      </p:pic>
      <p:pic>
        <p:nvPicPr>
          <p:cNvPr id="56" name="Google Shape;56;p13" title="Artboard 1Sanguine_finalcutout.png"/>
          <p:cNvPicPr preferRelativeResize="0"/>
          <p:nvPr/>
        </p:nvPicPr>
        <p:blipFill>
          <a:blip r:embed="rId5">
            <a:alphaModFix/>
          </a:blip>
          <a:stretch>
            <a:fillRect/>
          </a:stretch>
        </p:blipFill>
        <p:spPr>
          <a:xfrm>
            <a:off x="108662" y="1455913"/>
            <a:ext cx="8926676" cy="2231675"/>
          </a:xfrm>
          <a:prstGeom prst="rect">
            <a:avLst/>
          </a:prstGeom>
          <a:noFill/>
          <a:ln>
            <a:noFill/>
          </a:ln>
        </p:spPr>
      </p:pic>
      <p:pic>
        <p:nvPicPr>
          <p:cNvPr id="57" name="Google Shape;57;p13" title="MCL_white.png"/>
          <p:cNvPicPr preferRelativeResize="0"/>
          <p:nvPr/>
        </p:nvPicPr>
        <p:blipFill>
          <a:blip r:embed="rId6">
            <a:alphaModFix/>
          </a:blip>
          <a:stretch>
            <a:fillRect/>
          </a:stretch>
        </p:blipFill>
        <p:spPr>
          <a:xfrm>
            <a:off x="6809769" y="4443762"/>
            <a:ext cx="2077659" cy="487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1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 name="Shape 61"/>
        <p:cNvGrpSpPr/>
        <p:nvPr/>
      </p:nvGrpSpPr>
      <p:grpSpPr>
        <a:xfrm>
          <a:off x="0" y="0"/>
          <a:ext cx="0" cy="0"/>
          <a:chOff x="0" y="0"/>
          <a:chExt cx="0" cy="0"/>
        </a:xfrm>
      </p:grpSpPr>
      <p:graphicFrame>
        <p:nvGraphicFramePr>
          <p:cNvPr id="62" name="Google Shape;62;p14"/>
          <p:cNvGraphicFramePr/>
          <p:nvPr/>
        </p:nvGraphicFramePr>
        <p:xfrm>
          <a:off x="104775" y="30013"/>
          <a:ext cx="3000000" cy="3000000"/>
        </p:xfrm>
        <a:graphic>
          <a:graphicData uri="http://schemas.openxmlformats.org/drawingml/2006/table">
            <a:tbl>
              <a:tblPr>
                <a:noFill/>
                <a:tableStyleId>{55DCE8C6-ACF2-41EB-A17D-C00F89CA797A}</a:tableStyleId>
              </a:tblPr>
              <a:tblGrid>
                <a:gridCol w="564850"/>
                <a:gridCol w="588600"/>
                <a:gridCol w="382850"/>
                <a:gridCol w="7398125"/>
              </a:tblGrid>
              <a:tr h="87850">
                <a:tc>
                  <a:txBody>
                    <a:bodyPr/>
                    <a:lstStyle/>
                    <a:p>
                      <a:pPr indent="0" lvl="0" marL="0" rtl="0" algn="ctr">
                        <a:lnSpc>
                          <a:spcPct val="100000"/>
                        </a:lnSpc>
                        <a:spcBef>
                          <a:spcPts val="0"/>
                        </a:spcBef>
                        <a:spcAft>
                          <a:spcPts val="0"/>
                        </a:spcAft>
                        <a:buNone/>
                      </a:pPr>
                      <a:r>
                        <a:t/>
                      </a:r>
                      <a:endParaRPr b="1"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gridSpan="3">
                  <a:txBody>
                    <a:bodyPr/>
                    <a:lstStyle/>
                    <a:p>
                      <a:pPr indent="0" lvl="0" marL="0" rtl="0" algn="ctr">
                        <a:lnSpc>
                          <a:spcPct val="100000"/>
                        </a:lnSpc>
                        <a:spcBef>
                          <a:spcPts val="0"/>
                        </a:spcBef>
                        <a:spcAft>
                          <a:spcPts val="0"/>
                        </a:spcAft>
                        <a:buNone/>
                      </a:pPr>
                      <a:r>
                        <a:rPr b="1" lang="en" sz="1000">
                          <a:solidFill>
                            <a:schemeClr val="dk2"/>
                          </a:solidFill>
                        </a:rPr>
                        <a:t>Deliverable Checklist / Plan</a:t>
                      </a:r>
                      <a:endParaRPr b="1"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c hMerge="1"/>
              </a:tr>
              <a:tr h="87850">
                <a:tc>
                  <a:txBody>
                    <a:bodyPr/>
                    <a:lstStyle/>
                    <a:p>
                      <a:pPr indent="0" lvl="0" marL="0" rtl="0" algn="ctr">
                        <a:lnSpc>
                          <a:spcPct val="100000"/>
                        </a:lnSpc>
                        <a:spcBef>
                          <a:spcPts val="0"/>
                        </a:spcBef>
                        <a:spcAft>
                          <a:spcPts val="0"/>
                        </a:spcAft>
                        <a:buNone/>
                      </a:pPr>
                      <a:r>
                        <a:rPr b="1" lang="en" sz="1000">
                          <a:solidFill>
                            <a:schemeClr val="dk2"/>
                          </a:solidFill>
                        </a:rPr>
                        <a:t>Minutes</a:t>
                      </a:r>
                      <a:br>
                        <a:rPr b="1" lang="en" sz="1000">
                          <a:solidFill>
                            <a:schemeClr val="dk2"/>
                          </a:solidFill>
                        </a:rPr>
                      </a:br>
                      <a:r>
                        <a:rPr b="1" lang="en" sz="1000">
                          <a:solidFill>
                            <a:schemeClr val="dk2"/>
                          </a:solidFill>
                        </a:rPr>
                        <a:t>(</a:t>
                      </a:r>
                      <a:r>
                        <a:rPr b="1" lang="en" sz="1000" u="sng">
                          <a:solidFill>
                            <a:schemeClr val="hlink"/>
                          </a:solidFill>
                          <a:hlinkClick r:id="rId3"/>
                        </a:rPr>
                        <a:t>8 total</a:t>
                      </a:r>
                      <a:r>
                        <a:rPr b="1" lang="en" sz="1000">
                          <a:solidFill>
                            <a:schemeClr val="dk2"/>
                          </a:solidFill>
                        </a:rPr>
                        <a:t>)</a:t>
                      </a:r>
                      <a:endParaRPr b="1"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2"/>
                          </a:solidFill>
                        </a:rPr>
                        <a:t>Delivered on Slide</a:t>
                      </a:r>
                      <a:endParaRPr b="1" sz="1000">
                        <a:solidFill>
                          <a:schemeClr val="dk2"/>
                        </a:solidFill>
                        <a:latin typeface="Arial"/>
                        <a:ea typeface="Arial"/>
                        <a:cs typeface="Arial"/>
                        <a:sym typeface="Aria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2"/>
                          </a:solidFill>
                        </a:rPr>
                        <a:t>#</a:t>
                      </a:r>
                      <a:endParaRPr b="1"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 sz="1000">
                          <a:solidFill>
                            <a:schemeClr val="dk2"/>
                          </a:solidFill>
                          <a:latin typeface="Arial"/>
                          <a:ea typeface="Arial"/>
                          <a:cs typeface="Arial"/>
                          <a:sym typeface="Arial"/>
                        </a:rPr>
                        <a:t>Deliverable/Aspect</a:t>
                      </a:r>
                      <a:endParaRPr sz="1000">
                        <a:solidFill>
                          <a:schemeClr val="dk2"/>
                        </a:solidFil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90350">
                <a:tc>
                  <a:txBody>
                    <a:bodyPr/>
                    <a:lstStyle/>
                    <a:p>
                      <a:pPr indent="0" lvl="0" marL="0" marR="0" rtl="0" algn="ctr">
                        <a:lnSpc>
                          <a:spcPct val="100000"/>
                        </a:lnSpc>
                        <a:spcBef>
                          <a:spcPts val="0"/>
                        </a:spcBef>
                        <a:spcAft>
                          <a:spcPts val="0"/>
                        </a:spcAft>
                        <a:buNone/>
                      </a:pPr>
                      <a:r>
                        <a:t/>
                      </a:r>
                      <a:endParaRPr b="1" sz="1200">
                        <a:solidFill>
                          <a:srgbClr val="67B4D4"/>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rowSpan="3">
                  <a:txBody>
                    <a:bodyPr/>
                    <a:lstStyle/>
                    <a:p>
                      <a:pPr indent="0" lvl="0" marL="0" rtl="0" algn="ctr">
                        <a:spcBef>
                          <a:spcPts val="0"/>
                        </a:spcBef>
                        <a:spcAft>
                          <a:spcPts val="0"/>
                        </a:spcAft>
                        <a:buNone/>
                      </a:pPr>
                      <a:r>
                        <a:rPr lang="en" sz="800"/>
                        <a:t>This column is blank for now, to be filled in when we’re done</a:t>
                      </a:r>
                      <a:endParaRPr sz="8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67B4D4"/>
                          </a:solidFill>
                        </a:rPr>
                        <a:t>System Architecture</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87850">
                <a:tc rowSpan="2">
                  <a:txBody>
                    <a:bodyPr/>
                    <a:lstStyle/>
                    <a:p>
                      <a:pPr indent="0" lvl="0" marL="0" rtl="0" algn="ctr">
                        <a:spcBef>
                          <a:spcPts val="0"/>
                        </a:spcBef>
                        <a:spcAft>
                          <a:spcPts val="0"/>
                        </a:spcAft>
                        <a:buNone/>
                      </a:pPr>
                      <a:r>
                        <a:rPr lang="en" sz="1000"/>
                        <a:t>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vMerge="1"/>
                <a:tc>
                  <a:txBody>
                    <a:bodyPr/>
                    <a:lstStyle/>
                    <a:p>
                      <a:pPr indent="0" lvl="0" marL="0" rtl="0" algn="ctr">
                        <a:lnSpc>
                          <a:spcPct val="100000"/>
                        </a:lnSpc>
                        <a:spcBef>
                          <a:spcPts val="0"/>
                        </a:spcBef>
                        <a:spcAft>
                          <a:spcPts val="0"/>
                        </a:spcAft>
                        <a:buNone/>
                      </a:pPr>
                      <a:r>
                        <a:rPr lang="en" sz="1000"/>
                        <a:t>SA1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A </a:t>
                      </a:r>
                      <a:r>
                        <a:rPr b="1" lang="en" sz="1000">
                          <a:solidFill>
                            <a:schemeClr val="dk2"/>
                          </a:solidFill>
                        </a:rPr>
                        <a:t>representation of the system architecture</a:t>
                      </a:r>
                      <a:r>
                        <a:rPr lang="en" sz="1000">
                          <a:solidFill>
                            <a:schemeClr val="dk2"/>
                          </a:solidFill>
                          <a:latin typeface="Arial"/>
                          <a:ea typeface="Arial"/>
                          <a:cs typeface="Arial"/>
                          <a:sym typeface="Arial"/>
                        </a:rPr>
                        <a:t>, including the architectural decisions that the team made and why, and potentially functional or form decomposition if relevant.</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6675">
                <a:tc vMerge="1"/>
                <a:tc vMerge="1"/>
                <a:tc>
                  <a:txBody>
                    <a:bodyPr/>
                    <a:lstStyle/>
                    <a:p>
                      <a:pPr indent="0" lvl="0" marL="0" rtl="0" algn="ctr">
                        <a:lnSpc>
                          <a:spcPct val="100000"/>
                        </a:lnSpc>
                        <a:spcBef>
                          <a:spcPts val="0"/>
                        </a:spcBef>
                        <a:spcAft>
                          <a:spcPts val="0"/>
                        </a:spcAft>
                        <a:buNone/>
                      </a:pPr>
                      <a:r>
                        <a:rPr lang="en" sz="1000"/>
                        <a:t>SA2</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An analysis of value delivery and </a:t>
                      </a:r>
                      <a:r>
                        <a:rPr b="1" lang="en" sz="1000">
                          <a:solidFill>
                            <a:schemeClr val="dk2"/>
                          </a:solidFill>
                        </a:rPr>
                        <a:t>prioritization of stakeholders</a:t>
                      </a:r>
                      <a:r>
                        <a:rPr lang="en" sz="1000">
                          <a:solidFill>
                            <a:schemeClr val="dk2"/>
                          </a:solidFill>
                          <a:latin typeface="Arial"/>
                          <a:ea typeface="Arial"/>
                          <a:cs typeface="Arial"/>
                          <a:sym typeface="Arial"/>
                        </a:rPr>
                        <a:t> and / or goals.</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a:txBody>
                    <a:bodyPr/>
                    <a:lstStyle/>
                    <a:p>
                      <a:pPr indent="0" lvl="0" marL="0" rtl="0" algn="ctr">
                        <a:lnSpc>
                          <a:spcPct val="100000"/>
                        </a:lnSpc>
                        <a:spcBef>
                          <a:spcPts val="0"/>
                        </a:spcBef>
                        <a:spcAft>
                          <a:spcPts val="0"/>
                        </a:spcAft>
                        <a:buNone/>
                      </a:pPr>
                      <a:r>
                        <a:rPr lang="en" sz="1000"/>
                        <a:t>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SA3</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A system problem statement and an explicit system boundary.</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rowSpan="2">
                  <a:txBody>
                    <a:bodyPr/>
                    <a:lstStyle/>
                    <a:p>
                      <a:pPr indent="0" lvl="0" marL="0" rtl="0" algn="ctr">
                        <a:lnSpc>
                          <a:spcPct val="100000"/>
                        </a:lnSpc>
                        <a:spcBef>
                          <a:spcPts val="0"/>
                        </a:spcBef>
                        <a:spcAft>
                          <a:spcPts val="0"/>
                        </a:spcAft>
                        <a:buNone/>
                      </a:pPr>
                      <a:r>
                        <a:rPr lang="en" sz="1000"/>
                        <a:t>0.5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SA4</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A description of the broader </a:t>
                      </a:r>
                      <a:r>
                        <a:rPr b="1" lang="en" sz="1000">
                          <a:solidFill>
                            <a:schemeClr val="dk2"/>
                          </a:solidFill>
                        </a:rPr>
                        <a:t>context</a:t>
                      </a:r>
                      <a:r>
                        <a:rPr lang="en" sz="1000">
                          <a:solidFill>
                            <a:schemeClr val="dk2"/>
                          </a:solidFill>
                          <a:latin typeface="Arial"/>
                          <a:ea typeface="Arial"/>
                          <a:cs typeface="Arial"/>
                          <a:sym typeface="Arial"/>
                        </a:rPr>
                        <a:t> in which the system sits, a matched rationale for the </a:t>
                      </a:r>
                      <a:r>
                        <a:rPr b="1" lang="en" sz="1000">
                          <a:solidFill>
                            <a:schemeClr val="dk2"/>
                          </a:solidFill>
                        </a:rPr>
                        <a:t>rate</a:t>
                      </a:r>
                      <a:r>
                        <a:rPr lang="en" sz="1000">
                          <a:solidFill>
                            <a:schemeClr val="dk2"/>
                          </a:solidFill>
                          <a:latin typeface="Arial"/>
                          <a:ea typeface="Arial"/>
                          <a:cs typeface="Arial"/>
                          <a:sym typeface="Arial"/>
                        </a:rPr>
                        <a:t> of architectural change to expect.</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vMerge="1"/>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SA5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An articulation of the competitive </a:t>
                      </a:r>
                      <a:r>
                        <a:rPr b="1" lang="en" sz="1000">
                          <a:solidFill>
                            <a:schemeClr val="dk2"/>
                          </a:solidFill>
                        </a:rPr>
                        <a:t>strategy</a:t>
                      </a:r>
                      <a:r>
                        <a:rPr lang="en" sz="1000">
                          <a:solidFill>
                            <a:schemeClr val="dk2"/>
                          </a:solidFill>
                          <a:latin typeface="Arial"/>
                          <a:ea typeface="Arial"/>
                          <a:cs typeface="Arial"/>
                          <a:sym typeface="Arial"/>
                        </a:rPr>
                        <a:t> to be used in the market with the chosen architecture.</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90350">
                <a:tc>
                  <a:txBody>
                    <a:bodyPr/>
                    <a:lstStyle/>
                    <a:p>
                      <a:pPr indent="0" lvl="0" marL="0" rtl="0" algn="ctr">
                        <a:lnSpc>
                          <a:spcPct val="100000"/>
                        </a:lnSpc>
                        <a:spcBef>
                          <a:spcPts val="0"/>
                        </a:spcBef>
                        <a:spcAft>
                          <a:spcPts val="0"/>
                        </a:spcAft>
                        <a:buNone/>
                      </a:pPr>
                      <a:r>
                        <a:t/>
                      </a:r>
                      <a:endParaRPr b="1" sz="1200">
                        <a:solidFill>
                          <a:srgbClr val="67B4D4"/>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1200">
                          <a:solidFill>
                            <a:srgbClr val="67B4D4"/>
                          </a:solidFill>
                        </a:rPr>
                        <a:t>System Engineering</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00000">
                <a:tc>
                  <a:txBody>
                    <a:bodyPr/>
                    <a:lstStyle/>
                    <a:p>
                      <a:pPr indent="0" lvl="0" marL="0" rtl="0" algn="ctr">
                        <a:lnSpc>
                          <a:spcPct val="100000"/>
                        </a:lnSpc>
                        <a:spcBef>
                          <a:spcPts val="0"/>
                        </a:spcBef>
                        <a:spcAft>
                          <a:spcPts val="0"/>
                        </a:spcAft>
                        <a:buNone/>
                      </a:pPr>
                      <a:r>
                        <a:rPr lang="en" sz="1000"/>
                        <a:t>0.5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SE1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System requirements include traceability from system value and stakeholder needs to subsystem and component requirements.</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a:txBody>
                    <a:bodyPr/>
                    <a:lstStyle/>
                    <a:p>
                      <a:pPr indent="0" lvl="0" marL="0" rtl="0" algn="ctr">
                        <a:lnSpc>
                          <a:spcPct val="100000"/>
                        </a:lnSpc>
                        <a:spcBef>
                          <a:spcPts val="0"/>
                        </a:spcBef>
                        <a:spcAft>
                          <a:spcPts val="0"/>
                        </a:spcAft>
                        <a:buNone/>
                      </a:pPr>
                      <a:r>
                        <a:rPr lang="en" sz="1000"/>
                        <a:t>0.5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SE3</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Different concepts you generated and how you down selected to the preferred system concept.</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rowSpan="2">
                  <a:txBody>
                    <a:bodyPr/>
                    <a:lstStyle/>
                    <a:p>
                      <a:pPr indent="0" lvl="0" marL="0" rtl="0" algn="ctr">
                        <a:spcBef>
                          <a:spcPts val="0"/>
                        </a:spcBef>
                        <a:spcAft>
                          <a:spcPts val="0"/>
                        </a:spcAft>
                        <a:buNone/>
                      </a:pPr>
                      <a:r>
                        <a:rPr lang="en" sz="1000"/>
                        <a:t>0.5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SE4</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Verification and Validation strategy.</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vMerge="1"/>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SE5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Operations and lifecycle considerations.</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rowSpan="2">
                  <a:txBody>
                    <a:bodyPr/>
                    <a:lstStyle/>
                    <a:p>
                      <a:pPr indent="0" lvl="0" marL="0" rtl="0" algn="ctr">
                        <a:lnSpc>
                          <a:spcPct val="100000"/>
                        </a:lnSpc>
                        <a:spcBef>
                          <a:spcPts val="0"/>
                        </a:spcBef>
                        <a:spcAft>
                          <a:spcPts val="0"/>
                        </a:spcAft>
                        <a:buNone/>
                      </a:pPr>
                      <a:r>
                        <a:rPr lang="en" sz="1000"/>
                        <a:t>0.5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SE2</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Systems Engineering methods and tools used – why did you choose them and what methods you considered not to be appropriate for your project. (This is S</a:t>
                      </a:r>
                      <a:r>
                        <a:rPr lang="en" sz="1000">
                          <a:solidFill>
                            <a:schemeClr val="dk2"/>
                          </a:solidFill>
                        </a:rPr>
                        <a:t>E2, out of order, because I reordered the deliverables to discuss this with SE6. –David)</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vMerge="1"/>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SE6</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Reflection on team learning about systems thinking.</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90350">
                <a:tc>
                  <a:txBody>
                    <a:bodyPr/>
                    <a:lstStyle/>
                    <a:p>
                      <a:pPr indent="0" lvl="0" marL="0" rtl="0" algn="ctr">
                        <a:lnSpc>
                          <a:spcPct val="100000"/>
                        </a:lnSpc>
                        <a:spcBef>
                          <a:spcPts val="0"/>
                        </a:spcBef>
                        <a:spcAft>
                          <a:spcPts val="0"/>
                        </a:spcAft>
                        <a:buNone/>
                      </a:pPr>
                      <a:r>
                        <a:t/>
                      </a:r>
                      <a:endParaRPr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solidFill>
                          <a:schemeClr val="dk2"/>
                        </a:solidFill>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67B4D4"/>
                          </a:solidFill>
                        </a:rPr>
                        <a:t>Project Management</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rowSpan="2">
                  <a:txBody>
                    <a:bodyPr/>
                    <a:lstStyle/>
                    <a:p>
                      <a:pPr indent="0" lvl="0" marL="0" rtl="0" algn="ctr">
                        <a:spcBef>
                          <a:spcPts val="0"/>
                        </a:spcBef>
                        <a:spcAft>
                          <a:spcPts val="0"/>
                        </a:spcAft>
                        <a:buNone/>
                      </a:pPr>
                      <a:r>
                        <a:rPr lang="en" sz="1000"/>
                        <a:t>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PM1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Targets (driven by value) and estimates (driven by feasibility) are compared related to scope, cost, and duration.</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vMerge="1"/>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PM2</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The expected scope is clearly described, structured at a level of sustainable granularity, related to the system and its value, and measurable.</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rowSpan="2">
                  <a:txBody>
                    <a:bodyPr/>
                    <a:lstStyle/>
                    <a:p>
                      <a:pPr indent="0" lvl="0" marL="0" rtl="0" algn="ctr">
                        <a:spcBef>
                          <a:spcPts val="0"/>
                        </a:spcBef>
                        <a:spcAft>
                          <a:spcPts val="0"/>
                        </a:spcAft>
                        <a:buNone/>
                      </a:pPr>
                      <a:r>
                        <a:rPr lang="en" sz="1000"/>
                        <a:t>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PM3</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Organization approach is selected. Critical resources and skills are called out.</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75700">
                <a:tc vMerge="1"/>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PM4</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Choices for structuring and integrating the product system, workflow process, and project organization are highlighted, particularly those choices which are exceptions to standards or conventional wisdom.</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rowSpan="3">
                  <a:txBody>
                    <a:bodyPr/>
                    <a:lstStyle/>
                    <a:p>
                      <a:pPr indent="0" lvl="0" marL="0" rtl="0" algn="ctr">
                        <a:lnSpc>
                          <a:spcPct val="100000"/>
                        </a:lnSpc>
                        <a:spcBef>
                          <a:spcPts val="0"/>
                        </a:spcBef>
                        <a:spcAft>
                          <a:spcPts val="0"/>
                        </a:spcAft>
                        <a:buNone/>
                      </a:pPr>
                      <a:r>
                        <a:rPr lang="en" sz="1000"/>
                        <a:t>1</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PM5</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The results of design, prototyping, and validation tasks by the project team to date are reflected in an estimate of future implementation activities.</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40550">
                <a:tc vMerge="1"/>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PM6</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Risks and mitigations are assessed and integrated into the project plan. Uncertain work, re-work, and coordination activities are considered.</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175700">
                <a:tc vMerge="1"/>
                <a:tc>
                  <a:txBody>
                    <a:bodyPr/>
                    <a:lstStyle/>
                    <a:p>
                      <a:pPr indent="0" lvl="0" marL="0" rtl="0" algn="ctr">
                        <a:lnSpc>
                          <a:spcPct val="100000"/>
                        </a:lnSpc>
                        <a:spcBef>
                          <a:spcPts val="0"/>
                        </a:spcBef>
                        <a:spcAft>
                          <a:spcPts val="0"/>
                        </a:spcAft>
                        <a:buNone/>
                      </a:pPr>
                      <a:r>
                        <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lang="en" sz="1000"/>
                        <a:t>PM7</a:t>
                      </a:r>
                      <a:endParaRPr sz="1000"/>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sz="1000">
                          <a:solidFill>
                            <a:schemeClr val="dk2"/>
                          </a:solidFill>
                          <a:latin typeface="Arial"/>
                          <a:ea typeface="Arial"/>
                          <a:cs typeface="Arial"/>
                          <a:sym typeface="Arial"/>
                        </a:rPr>
                        <a:t>Amongst a set of project scenarios, the team proposes a preferred and backup scenarios for system implementation. Concerns from stakeholders are anticipated and addressed.</a:t>
                      </a:r>
                      <a:endParaRPr sz="1000">
                        <a:solidFill>
                          <a:schemeClr val="dk2"/>
                        </a:solidFill>
                        <a:latin typeface="Arial"/>
                        <a:ea typeface="Arial"/>
                        <a:cs typeface="Arial"/>
                        <a:sym typeface="Arial"/>
                      </a:endParaRPr>
                    </a:p>
                  </a:txBody>
                  <a:tcPr marT="0" marB="0" marR="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latin typeface="Noto Sans Grantha"/>
                <a:ea typeface="Noto Sans Grantha"/>
                <a:cs typeface="Noto Sans Grantha"/>
                <a:sym typeface="Noto Sans Grantha"/>
              </a:rPr>
              <a:t>Presentation Evaluation</a:t>
            </a:r>
            <a:endParaRPr/>
          </a:p>
        </p:txBody>
      </p:sp>
      <p:sp>
        <p:nvSpPr>
          <p:cNvPr id="68" name="Google Shape;68;p15"/>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523"/>
              <a:buFont typeface="Arial"/>
              <a:buNone/>
            </a:pPr>
            <a:r>
              <a:rPr lang="en" sz="1255"/>
              <a:t>System Architecture (20%)</a:t>
            </a:r>
            <a:endParaRPr sz="1255"/>
          </a:p>
          <a:p>
            <a:pPr indent="0" lvl="0" marL="0" rtl="0" algn="l">
              <a:lnSpc>
                <a:spcPct val="100000"/>
              </a:lnSpc>
              <a:spcBef>
                <a:spcPts val="0"/>
              </a:spcBef>
              <a:spcAft>
                <a:spcPts val="0"/>
              </a:spcAft>
              <a:buSzPts val="523"/>
              <a:buNone/>
            </a:pPr>
            <a:r>
              <a:rPr lang="en" sz="1255"/>
              <a:t>• Did the team apply relevant analysis and logic to reach conclusions about architecture?</a:t>
            </a:r>
            <a:endParaRPr sz="1255"/>
          </a:p>
          <a:p>
            <a:pPr indent="0" lvl="0" marL="0" rtl="0" algn="l">
              <a:lnSpc>
                <a:spcPct val="100000"/>
              </a:lnSpc>
              <a:spcBef>
                <a:spcPts val="0"/>
              </a:spcBef>
              <a:spcAft>
                <a:spcPts val="0"/>
              </a:spcAft>
              <a:buClr>
                <a:schemeClr val="dk1"/>
              </a:buClr>
              <a:buSzPts val="523"/>
              <a:buFont typeface="Arial"/>
              <a:buNone/>
            </a:pPr>
            <a:r>
              <a:t/>
            </a:r>
            <a:endParaRPr sz="1255"/>
          </a:p>
          <a:p>
            <a:pPr indent="0" lvl="0" marL="0" rtl="0" algn="l">
              <a:lnSpc>
                <a:spcPct val="100000"/>
              </a:lnSpc>
              <a:spcBef>
                <a:spcPts val="0"/>
              </a:spcBef>
              <a:spcAft>
                <a:spcPts val="0"/>
              </a:spcAft>
              <a:buClr>
                <a:schemeClr val="dk1"/>
              </a:buClr>
              <a:buSzPts val="523"/>
              <a:buFont typeface="Arial"/>
              <a:buNone/>
            </a:pPr>
            <a:r>
              <a:rPr lang="en" sz="1255"/>
              <a:t>System Engineering (20%)</a:t>
            </a:r>
            <a:endParaRPr sz="1255"/>
          </a:p>
          <a:p>
            <a:pPr indent="0" lvl="0" marL="0" rtl="0" algn="l">
              <a:lnSpc>
                <a:spcPct val="100000"/>
              </a:lnSpc>
              <a:spcBef>
                <a:spcPts val="0"/>
              </a:spcBef>
              <a:spcAft>
                <a:spcPts val="0"/>
              </a:spcAft>
              <a:buSzPts val="523"/>
              <a:buNone/>
            </a:pPr>
            <a:r>
              <a:rPr lang="en" sz="1255"/>
              <a:t>• Did the team apply relevant methods from SE to produce a credible recommended system solution?</a:t>
            </a:r>
            <a:endParaRPr sz="1255"/>
          </a:p>
          <a:p>
            <a:pPr indent="0" lvl="0" marL="0" rtl="0" algn="l">
              <a:lnSpc>
                <a:spcPct val="100000"/>
              </a:lnSpc>
              <a:spcBef>
                <a:spcPts val="0"/>
              </a:spcBef>
              <a:spcAft>
                <a:spcPts val="0"/>
              </a:spcAft>
              <a:buClr>
                <a:schemeClr val="dk1"/>
              </a:buClr>
              <a:buSzPts val="523"/>
              <a:buFont typeface="Arial"/>
              <a:buNone/>
            </a:pPr>
            <a:r>
              <a:t/>
            </a:r>
            <a:endParaRPr sz="1255"/>
          </a:p>
          <a:p>
            <a:pPr indent="0" lvl="0" marL="0" rtl="0" algn="l">
              <a:lnSpc>
                <a:spcPct val="100000"/>
              </a:lnSpc>
              <a:spcBef>
                <a:spcPts val="0"/>
              </a:spcBef>
              <a:spcAft>
                <a:spcPts val="0"/>
              </a:spcAft>
              <a:buClr>
                <a:schemeClr val="dk1"/>
              </a:buClr>
              <a:buSzPts val="523"/>
              <a:buFont typeface="Arial"/>
              <a:buNone/>
            </a:pPr>
            <a:r>
              <a:rPr lang="en" sz="1255"/>
              <a:t>Project Management (20%)</a:t>
            </a:r>
            <a:endParaRPr sz="1255"/>
          </a:p>
          <a:p>
            <a:pPr indent="0" lvl="0" marL="0" rtl="0" algn="l">
              <a:lnSpc>
                <a:spcPct val="100000"/>
              </a:lnSpc>
              <a:spcBef>
                <a:spcPts val="0"/>
              </a:spcBef>
              <a:spcAft>
                <a:spcPts val="0"/>
              </a:spcAft>
              <a:buClr>
                <a:schemeClr val="dk1"/>
              </a:buClr>
              <a:buSzPts val="523"/>
              <a:buFont typeface="Arial"/>
              <a:buNone/>
            </a:pPr>
            <a:r>
              <a:rPr lang="en" sz="1255"/>
              <a:t>• Did the team design feasible, valuable, and risk mitigation plan(s) for subsequent stages of the project?</a:t>
            </a:r>
            <a:endParaRPr sz="1255"/>
          </a:p>
          <a:p>
            <a:pPr indent="0" lvl="0" marL="0" rtl="0" algn="l">
              <a:lnSpc>
                <a:spcPct val="100000"/>
              </a:lnSpc>
              <a:spcBef>
                <a:spcPts val="0"/>
              </a:spcBef>
              <a:spcAft>
                <a:spcPts val="0"/>
              </a:spcAft>
              <a:buSzPts val="523"/>
              <a:buNone/>
            </a:pPr>
            <a:r>
              <a:t/>
            </a:r>
            <a:endParaRPr sz="1255"/>
          </a:p>
          <a:p>
            <a:pPr indent="0" lvl="0" marL="0" rtl="0" algn="l">
              <a:lnSpc>
                <a:spcPct val="100000"/>
              </a:lnSpc>
              <a:spcBef>
                <a:spcPts val="0"/>
              </a:spcBef>
              <a:spcAft>
                <a:spcPts val="0"/>
              </a:spcAft>
              <a:buClr>
                <a:schemeClr val="dk1"/>
              </a:buClr>
              <a:buSzPts val="523"/>
              <a:buFont typeface="Arial"/>
              <a:buNone/>
            </a:pPr>
            <a:r>
              <a:rPr lang="en" sz="1255"/>
              <a:t>Argument and Communication (20%)</a:t>
            </a:r>
            <a:endParaRPr sz="1255"/>
          </a:p>
          <a:p>
            <a:pPr indent="0" lvl="0" marL="0" rtl="0" algn="l">
              <a:lnSpc>
                <a:spcPct val="100000"/>
              </a:lnSpc>
              <a:spcBef>
                <a:spcPts val="0"/>
              </a:spcBef>
              <a:spcAft>
                <a:spcPts val="0"/>
              </a:spcAft>
              <a:buSzPts val="523"/>
              <a:buNone/>
            </a:pPr>
            <a:r>
              <a:rPr lang="en" sz="1255"/>
              <a:t>Does the recommendation follow from evidence-based motivation and problem framing followed by clear arguments? Does the recommendation deliver value to the most important stakeholders? Is the document effective, persuasive and appropriate for a non SDM executive decision maker?</a:t>
            </a:r>
            <a:endParaRPr sz="1255"/>
          </a:p>
          <a:p>
            <a:pPr indent="0" lvl="0" marL="0" rtl="0" algn="l">
              <a:lnSpc>
                <a:spcPct val="100000"/>
              </a:lnSpc>
              <a:spcBef>
                <a:spcPts val="0"/>
              </a:spcBef>
              <a:spcAft>
                <a:spcPts val="0"/>
              </a:spcAft>
              <a:buClr>
                <a:schemeClr val="dk1"/>
              </a:buClr>
              <a:buSzPts val="523"/>
              <a:buFont typeface="Arial"/>
              <a:buNone/>
            </a:pPr>
            <a:r>
              <a:t/>
            </a:r>
            <a:endParaRPr sz="1255"/>
          </a:p>
          <a:p>
            <a:pPr indent="0" lvl="0" marL="0" rtl="0" algn="l">
              <a:lnSpc>
                <a:spcPct val="100000"/>
              </a:lnSpc>
              <a:spcBef>
                <a:spcPts val="0"/>
              </a:spcBef>
              <a:spcAft>
                <a:spcPts val="0"/>
              </a:spcAft>
              <a:buClr>
                <a:schemeClr val="dk1"/>
              </a:buClr>
              <a:buSzPts val="523"/>
              <a:buFont typeface="Arial"/>
              <a:buNone/>
            </a:pPr>
            <a:r>
              <a:rPr lang="en" sz="1255"/>
              <a:t>Unique Insights (20%)</a:t>
            </a:r>
            <a:endParaRPr sz="1255"/>
          </a:p>
          <a:p>
            <a:pPr indent="0" lvl="0" marL="0" rtl="0" algn="l">
              <a:lnSpc>
                <a:spcPct val="100000"/>
              </a:lnSpc>
              <a:spcBef>
                <a:spcPts val="0"/>
              </a:spcBef>
              <a:spcAft>
                <a:spcPts val="0"/>
              </a:spcAft>
              <a:buSzPts val="523"/>
              <a:buNone/>
            </a:pPr>
            <a:r>
              <a:rPr lang="en" sz="1255"/>
              <a:t>Does the analysis produce non-obvious, interesting results?</a:t>
            </a:r>
            <a:endParaRPr sz="1255"/>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3F3F3"/>
        </a:solidFill>
      </p:bgPr>
    </p:bg>
    <p:spTree>
      <p:nvGrpSpPr>
        <p:cNvPr id="72" name="Shape 72"/>
        <p:cNvGrpSpPr/>
        <p:nvPr/>
      </p:nvGrpSpPr>
      <p:grpSpPr>
        <a:xfrm>
          <a:off x="0" y="0"/>
          <a:ext cx="0" cy="0"/>
          <a:chOff x="0" y="0"/>
          <a:chExt cx="0" cy="0"/>
        </a:xfrm>
      </p:grpSpPr>
      <p:sp>
        <p:nvSpPr>
          <p:cNvPr id="73" name="Google Shape;73;p16"/>
          <p:cNvSpPr txBox="1"/>
          <p:nvPr>
            <p:ph idx="1" type="body"/>
          </p:nvPr>
        </p:nvSpPr>
        <p:spPr>
          <a:xfrm>
            <a:off x="311700" y="500425"/>
            <a:ext cx="8565300" cy="4475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rgbClr val="434343"/>
              </a:buClr>
              <a:buSzPct val="100000"/>
              <a:buChar char="●"/>
            </a:pPr>
            <a:r>
              <a:rPr b="1" lang="en">
                <a:solidFill>
                  <a:srgbClr val="434343"/>
                </a:solidFill>
              </a:rPr>
              <a:t>[1.5-2min] Problem</a:t>
            </a:r>
            <a:r>
              <a:rPr lang="en">
                <a:solidFill>
                  <a:srgbClr val="434343"/>
                </a:solidFill>
              </a:rPr>
              <a:t> (read by David) </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lang="en">
                <a:solidFill>
                  <a:srgbClr val="434343"/>
                </a:solidFill>
              </a:rPr>
              <a:t> Hook</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lang="en">
                <a:solidFill>
                  <a:srgbClr val="434343"/>
                </a:solidFill>
              </a:rPr>
              <a:t> Mayo clinic model of care</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b="1" lang="en">
                <a:solidFill>
                  <a:srgbClr val="FF5252"/>
                </a:solidFill>
              </a:rPr>
              <a:t> </a:t>
            </a:r>
            <a:r>
              <a:rPr lang="en">
                <a:solidFill>
                  <a:srgbClr val="434343"/>
                </a:solidFill>
              </a:rPr>
              <a:t>some visual way to emphasize risk intolerance AND OR physician facing=competitive advantage </a:t>
            </a:r>
            <a:endParaRPr>
              <a:solidFill>
                <a:srgbClr val="434343"/>
              </a:solidFill>
            </a:endParaRPr>
          </a:p>
          <a:p>
            <a:pPr indent="-304165" lvl="2" marL="1371600" rtl="0" algn="l">
              <a:spcBef>
                <a:spcPts val="0"/>
              </a:spcBef>
              <a:spcAft>
                <a:spcPts val="0"/>
              </a:spcAft>
              <a:buClr>
                <a:srgbClr val="434343"/>
              </a:buClr>
              <a:buSzPct val="100000"/>
              <a:buChar char="■"/>
            </a:pPr>
            <a:r>
              <a:rPr lang="en">
                <a:solidFill>
                  <a:srgbClr val="434343"/>
                </a:solidFill>
              </a:rPr>
              <a:t>It might be nice to discuss risk here, but i’m not sure if it’s necessary because the iron triangle slide in the next section hits it </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lang="en">
                <a:solidFill>
                  <a:srgbClr val="434343"/>
                </a:solidFill>
              </a:rPr>
              <a:t> SPS</a:t>
            </a:r>
            <a:endParaRPr>
              <a:solidFill>
                <a:srgbClr val="434343"/>
              </a:solidFill>
            </a:endParaRPr>
          </a:p>
          <a:p>
            <a:pPr indent="-325755" lvl="0" marL="457200" rtl="0" algn="l">
              <a:spcBef>
                <a:spcPts val="0"/>
              </a:spcBef>
              <a:spcAft>
                <a:spcPts val="0"/>
              </a:spcAft>
              <a:buClr>
                <a:srgbClr val="434343"/>
              </a:buClr>
              <a:buSzPct val="100000"/>
              <a:buChar char="●"/>
            </a:pPr>
            <a:r>
              <a:rPr b="1" lang="en">
                <a:solidFill>
                  <a:srgbClr val="434343"/>
                </a:solidFill>
              </a:rPr>
              <a:t>[2min] </a:t>
            </a:r>
            <a:r>
              <a:rPr b="1" lang="en">
                <a:solidFill>
                  <a:srgbClr val="434343"/>
                </a:solidFill>
              </a:rPr>
              <a:t>Concept </a:t>
            </a:r>
            <a:r>
              <a:rPr lang="en">
                <a:solidFill>
                  <a:srgbClr val="434343"/>
                </a:solidFill>
              </a:rPr>
              <a:t>(read by David)</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lang="en">
                <a:solidFill>
                  <a:srgbClr val="434343"/>
                </a:solidFill>
              </a:rPr>
              <a:t> [30sec] Iron triangle priorities, charter targets</a:t>
            </a:r>
            <a:r>
              <a:rPr lang="en">
                <a:solidFill>
                  <a:srgbClr val="434343"/>
                </a:solidFill>
              </a:rPr>
              <a:t>, emphasis on risk intolerance</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lang="en">
                <a:solidFill>
                  <a:srgbClr val="434343"/>
                </a:solidFill>
              </a:rPr>
              <a:t> </a:t>
            </a:r>
            <a:r>
              <a:rPr lang="en">
                <a:solidFill>
                  <a:srgbClr val="434343"/>
                </a:solidFill>
              </a:rPr>
              <a:t>[30sec] stakeholders and how they inform the concept of operations</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lang="en">
                <a:solidFill>
                  <a:srgbClr val="434343"/>
                </a:solidFill>
              </a:rPr>
              <a:t> </a:t>
            </a:r>
            <a:r>
              <a:rPr lang="en">
                <a:solidFill>
                  <a:srgbClr val="434343"/>
                </a:solidFill>
              </a:rPr>
              <a:t>both the old and new sequence diagrams</a:t>
            </a:r>
            <a:endParaRPr>
              <a:solidFill>
                <a:srgbClr val="434343"/>
              </a:solidFill>
            </a:endParaRPr>
          </a:p>
          <a:p>
            <a:pPr indent="-325755" lvl="0" marL="457200" rtl="0" algn="l">
              <a:spcBef>
                <a:spcPts val="0"/>
              </a:spcBef>
              <a:spcAft>
                <a:spcPts val="0"/>
              </a:spcAft>
              <a:buClr>
                <a:srgbClr val="434343"/>
              </a:buClr>
              <a:buSzPct val="100000"/>
              <a:buChar char="●"/>
            </a:pPr>
            <a:r>
              <a:rPr b="1" lang="en">
                <a:solidFill>
                  <a:srgbClr val="434343"/>
                </a:solidFill>
              </a:rPr>
              <a:t>[2min] Solution </a:t>
            </a:r>
            <a:r>
              <a:rPr lang="en">
                <a:solidFill>
                  <a:srgbClr val="434343"/>
                </a:solidFill>
              </a:rPr>
              <a:t>(read by Camden)</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FF9900"/>
                </a:solidFill>
              </a:rPr>
              <a:t>[MVP]</a:t>
            </a:r>
            <a:r>
              <a:rPr b="1" lang="en">
                <a:solidFill>
                  <a:srgbClr val="FF5252"/>
                </a:solidFill>
              </a:rPr>
              <a:t> </a:t>
            </a:r>
            <a:r>
              <a:rPr lang="en">
                <a:solidFill>
                  <a:srgbClr val="434343"/>
                </a:solidFill>
              </a:rPr>
              <a:t>[30sec] </a:t>
            </a:r>
            <a:r>
              <a:rPr lang="en">
                <a:solidFill>
                  <a:srgbClr val="434343"/>
                </a:solidFill>
              </a:rPr>
              <a:t>monte carlo</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FF5252"/>
                </a:solidFill>
              </a:rPr>
              <a:t>[Maybe?] </a:t>
            </a:r>
            <a:r>
              <a:rPr lang="en">
                <a:solidFill>
                  <a:srgbClr val="434343"/>
                </a:solidFill>
              </a:rPr>
              <a:t>[30sec] Our strategy is not a platform and why</a:t>
            </a:r>
            <a:endParaRPr>
              <a:solidFill>
                <a:srgbClr val="434343"/>
              </a:solidFill>
            </a:endParaRPr>
          </a:p>
          <a:p>
            <a:pPr indent="-304165" lvl="2" marL="1371600" rtl="0" algn="l">
              <a:spcBef>
                <a:spcPts val="0"/>
              </a:spcBef>
              <a:spcAft>
                <a:spcPts val="0"/>
              </a:spcAft>
              <a:buClr>
                <a:srgbClr val="434343"/>
              </a:buClr>
              <a:buSzPct val="100000"/>
              <a:buChar char="■"/>
            </a:pPr>
            <a:r>
              <a:rPr lang="en">
                <a:solidFill>
                  <a:srgbClr val="434343"/>
                </a:solidFill>
              </a:rPr>
              <a:t>It’s a nice-to-have but time is </a:t>
            </a:r>
            <a:r>
              <a:rPr i="1" lang="en">
                <a:solidFill>
                  <a:srgbClr val="434343"/>
                </a:solidFill>
              </a:rPr>
              <a:t>really</a:t>
            </a:r>
            <a:r>
              <a:rPr lang="en">
                <a:solidFill>
                  <a:srgbClr val="434343"/>
                </a:solidFill>
              </a:rPr>
              <a:t> tight</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b="1" lang="en">
                <a:solidFill>
                  <a:srgbClr val="FF5252"/>
                </a:solidFill>
              </a:rPr>
              <a:t> </a:t>
            </a:r>
            <a:r>
              <a:rPr lang="en">
                <a:solidFill>
                  <a:srgbClr val="434343"/>
                </a:solidFill>
              </a:rPr>
              <a:t>[1min] DSM</a:t>
            </a:r>
            <a:r>
              <a:rPr lang="en">
                <a:solidFill>
                  <a:srgbClr val="434343"/>
                </a:solidFill>
              </a:rPr>
              <a:t> (read by Norah)</a:t>
            </a:r>
            <a:endParaRPr>
              <a:solidFill>
                <a:srgbClr val="434343"/>
              </a:solidFill>
            </a:endParaRPr>
          </a:p>
          <a:p>
            <a:pPr indent="-325755" lvl="0" marL="457200" rtl="0" algn="l">
              <a:spcBef>
                <a:spcPts val="0"/>
              </a:spcBef>
              <a:spcAft>
                <a:spcPts val="0"/>
              </a:spcAft>
              <a:buClr>
                <a:srgbClr val="434343"/>
              </a:buClr>
              <a:buSzPct val="100000"/>
              <a:buChar char="●"/>
            </a:pPr>
            <a:r>
              <a:rPr b="1" lang="en">
                <a:solidFill>
                  <a:srgbClr val="434343"/>
                </a:solidFill>
              </a:rPr>
              <a:t>[2min] Delivery </a:t>
            </a:r>
            <a:r>
              <a:rPr lang="en">
                <a:solidFill>
                  <a:srgbClr val="434343"/>
                </a:solidFill>
              </a:rPr>
              <a:t>(read by Camden)</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FF9900"/>
                </a:solidFill>
              </a:rPr>
              <a:t>[MVP]</a:t>
            </a:r>
            <a:r>
              <a:rPr b="1" lang="en">
                <a:solidFill>
                  <a:srgbClr val="FF5252"/>
                </a:solidFill>
              </a:rPr>
              <a:t> </a:t>
            </a:r>
            <a:r>
              <a:rPr lang="en">
                <a:solidFill>
                  <a:srgbClr val="434343"/>
                </a:solidFill>
              </a:rPr>
              <a:t>design walk tradespace, de-risking</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FF5252"/>
                </a:solidFill>
              </a:rPr>
              <a:t>[Maybe?] </a:t>
            </a:r>
            <a:r>
              <a:rPr lang="en">
                <a:solidFill>
                  <a:srgbClr val="434343"/>
                </a:solidFill>
              </a:rPr>
              <a:t>David might draft one more slide for you about organization and resources</a:t>
            </a:r>
            <a:endParaRPr>
              <a:solidFill>
                <a:srgbClr val="434343"/>
              </a:solidFill>
            </a:endParaRPr>
          </a:p>
          <a:p>
            <a:pPr indent="-304165" lvl="2" marL="1371600" rtl="0" algn="l">
              <a:spcBef>
                <a:spcPts val="0"/>
              </a:spcBef>
              <a:spcAft>
                <a:spcPts val="0"/>
              </a:spcAft>
              <a:buClr>
                <a:srgbClr val="434343"/>
              </a:buClr>
              <a:buSzPct val="100000"/>
              <a:buChar char="■"/>
            </a:pPr>
            <a:r>
              <a:rPr lang="en">
                <a:solidFill>
                  <a:srgbClr val="434343"/>
                </a:solidFill>
              </a:rPr>
              <a:t>PM wants us to show thinking about that, but time is tight</a:t>
            </a:r>
            <a:endParaRPr>
              <a:solidFill>
                <a:srgbClr val="434343"/>
              </a:solidFill>
            </a:endParaRPr>
          </a:p>
          <a:p>
            <a:pPr indent="-304165" lvl="1" marL="914400" rtl="0" algn="l">
              <a:spcBef>
                <a:spcPts val="0"/>
              </a:spcBef>
              <a:spcAft>
                <a:spcPts val="0"/>
              </a:spcAft>
              <a:buClr>
                <a:srgbClr val="434343"/>
              </a:buClr>
              <a:buSzPct val="100000"/>
              <a:buChar char="○"/>
            </a:pPr>
            <a:r>
              <a:rPr b="1" lang="en">
                <a:solidFill>
                  <a:srgbClr val="67B4D4"/>
                </a:solidFill>
              </a:rPr>
              <a:t>[Done]</a:t>
            </a:r>
            <a:r>
              <a:rPr lang="en">
                <a:solidFill>
                  <a:srgbClr val="434343"/>
                </a:solidFill>
              </a:rPr>
              <a:t> Final solution we prefer</a:t>
            </a:r>
            <a:endParaRPr>
              <a:solidFill>
                <a:srgbClr val="434343"/>
              </a:solidFill>
            </a:endParaRPr>
          </a:p>
          <a:p>
            <a:pPr indent="-304165" lvl="2" marL="1371600" rtl="0" algn="l">
              <a:spcBef>
                <a:spcPts val="0"/>
              </a:spcBef>
              <a:spcAft>
                <a:spcPts val="0"/>
              </a:spcAft>
              <a:buClr>
                <a:srgbClr val="434343"/>
              </a:buClr>
              <a:buSzPct val="100000"/>
              <a:buChar char="■"/>
            </a:pPr>
            <a:r>
              <a:rPr b="1" lang="en">
                <a:solidFill>
                  <a:srgbClr val="FF5252"/>
                </a:solidFill>
              </a:rPr>
              <a:t>[Maybe?]</a:t>
            </a:r>
            <a:r>
              <a:rPr lang="en">
                <a:solidFill>
                  <a:srgbClr val="434343"/>
                </a:solidFill>
              </a:rPr>
              <a:t> Visual for </a:t>
            </a:r>
            <a:r>
              <a:rPr lang="en">
                <a:solidFill>
                  <a:srgbClr val="434343"/>
                </a:solidFill>
              </a:rPr>
              <a:t>talking point about how the maximalist end point reduces rework risk by bolstering v&amp;v</a:t>
            </a:r>
            <a:endParaRPr>
              <a:solidFill>
                <a:srgbClr val="434343"/>
              </a:solidFill>
            </a:endParaRPr>
          </a:p>
        </p:txBody>
      </p:sp>
      <p:sp>
        <p:nvSpPr>
          <p:cNvPr id="74" name="Google Shape;74;p16"/>
          <p:cNvSpPr txBox="1"/>
          <p:nvPr>
            <p:ph type="title"/>
          </p:nvPr>
        </p:nvSpPr>
        <p:spPr>
          <a:xfrm>
            <a:off x="311700" y="2909"/>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rPr>
              <a:t>Outline</a:t>
            </a:r>
            <a:endParaRPr>
              <a:solidFill>
                <a:srgbClr val="43434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p:nvPr/>
        </p:nvSpPr>
        <p:spPr>
          <a:xfrm>
            <a:off x="1839725" y="1154350"/>
            <a:ext cx="4566438" cy="1397768"/>
          </a:xfrm>
          <a:custGeom>
            <a:rect b="b" l="l" r="r" t="t"/>
            <a:pathLst>
              <a:path extrusionOk="0" h="70046" w="163335">
                <a:moveTo>
                  <a:pt x="163335" y="0"/>
                </a:moveTo>
                <a:cubicBezTo>
                  <a:pt x="149410" y="10051"/>
                  <a:pt x="107006" y="48634"/>
                  <a:pt x="79783" y="60308"/>
                </a:cubicBezTo>
                <a:cubicBezTo>
                  <a:pt x="52561" y="71982"/>
                  <a:pt x="13297" y="68423"/>
                  <a:pt x="0" y="70046"/>
                </a:cubicBezTo>
              </a:path>
            </a:pathLst>
          </a:custGeom>
          <a:noFill/>
          <a:ln cap="flat" cmpd="sng" w="114300">
            <a:solidFill>
              <a:srgbClr val="67B4D4"/>
            </a:solidFill>
            <a:prstDash val="solid"/>
            <a:round/>
            <a:headEnd len="med" w="med" type="none"/>
            <a:tailEnd len="med" w="med" type="triangle"/>
          </a:ln>
        </p:spPr>
      </p:sp>
      <p:pic>
        <p:nvPicPr>
          <p:cNvPr id="80" name="Google Shape;80;p17"/>
          <p:cNvPicPr preferRelativeResize="0"/>
          <p:nvPr/>
        </p:nvPicPr>
        <p:blipFill>
          <a:blip r:embed="rId4">
            <a:alphaModFix/>
          </a:blip>
          <a:stretch>
            <a:fillRect/>
          </a:stretch>
        </p:blipFill>
        <p:spPr>
          <a:xfrm>
            <a:off x="6406225" y="152400"/>
            <a:ext cx="2300728" cy="4838701"/>
          </a:xfrm>
          <a:prstGeom prst="rect">
            <a:avLst/>
          </a:prstGeom>
          <a:noFill/>
          <a:ln>
            <a:noFill/>
          </a:ln>
        </p:spPr>
      </p:pic>
      <p:pic>
        <p:nvPicPr>
          <p:cNvPr id="81" name="Google Shape;81;p17" title="patient.png"/>
          <p:cNvPicPr preferRelativeResize="0"/>
          <p:nvPr/>
        </p:nvPicPr>
        <p:blipFill>
          <a:blip r:embed="rId5">
            <a:alphaModFix/>
          </a:blip>
          <a:stretch>
            <a:fillRect/>
          </a:stretch>
        </p:blipFill>
        <p:spPr>
          <a:xfrm>
            <a:off x="710825" y="2076100"/>
            <a:ext cx="991300" cy="991300"/>
          </a:xfrm>
          <a:prstGeom prst="rect">
            <a:avLst/>
          </a:prstGeom>
          <a:noFill/>
          <a:ln>
            <a:noFill/>
          </a:ln>
        </p:spPr>
      </p:pic>
      <p:sp>
        <p:nvSpPr>
          <p:cNvPr id="82" name="Google Shape;82;p17"/>
          <p:cNvSpPr/>
          <p:nvPr/>
        </p:nvSpPr>
        <p:spPr>
          <a:xfrm>
            <a:off x="847723" y="1320097"/>
            <a:ext cx="432494" cy="68150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E65454"/>
                </a:solidFill>
                <a:latin typeface="Arial"/>
              </a:rPr>
              <a:t>?</a:t>
            </a:r>
          </a:p>
        </p:txBody>
      </p:sp>
      <p:sp>
        <p:nvSpPr>
          <p:cNvPr id="83" name="Google Shape;83;p17"/>
          <p:cNvSpPr/>
          <p:nvPr/>
        </p:nvSpPr>
        <p:spPr>
          <a:xfrm rot="-1799999">
            <a:off x="429665" y="1485022"/>
            <a:ext cx="432495" cy="6815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E65454"/>
                </a:solidFill>
                <a:latin typeface="Arial"/>
              </a:rPr>
              <a:t>?</a:t>
            </a:r>
          </a:p>
        </p:txBody>
      </p:sp>
      <p:sp>
        <p:nvSpPr>
          <p:cNvPr id="84" name="Google Shape;84;p17"/>
          <p:cNvSpPr/>
          <p:nvPr/>
        </p:nvSpPr>
        <p:spPr>
          <a:xfrm rot="1799999">
            <a:off x="1265780" y="1485022"/>
            <a:ext cx="432495" cy="6815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E65454"/>
                </a:solidFill>
                <a:latin typeface="Arial"/>
              </a:rPr>
              <a:t>?</a:t>
            </a:r>
          </a:p>
        </p:txBody>
      </p:sp>
      <p:sp>
        <p:nvSpPr>
          <p:cNvPr id="85" name="Google Shape;85;p17"/>
          <p:cNvSpPr/>
          <p:nvPr/>
        </p:nvSpPr>
        <p:spPr>
          <a:xfrm>
            <a:off x="3274575" y="1625500"/>
            <a:ext cx="769500" cy="1602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 name="Google Shape;86;p17" title="user-doctor-hair-long.png"/>
          <p:cNvPicPr preferRelativeResize="0"/>
          <p:nvPr/>
        </p:nvPicPr>
        <p:blipFill>
          <a:blip r:embed="rId6">
            <a:alphaModFix/>
          </a:blip>
          <a:stretch>
            <a:fillRect/>
          </a:stretch>
        </p:blipFill>
        <p:spPr>
          <a:xfrm>
            <a:off x="3154103" y="2076100"/>
            <a:ext cx="991300" cy="991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B4D4"/>
        </a:solidFill>
      </p:bgPr>
    </p:bg>
    <p:spTree>
      <p:nvGrpSpPr>
        <p:cNvPr id="90" name="Shape 90"/>
        <p:cNvGrpSpPr/>
        <p:nvPr/>
      </p:nvGrpSpPr>
      <p:grpSpPr>
        <a:xfrm>
          <a:off x="0" y="0"/>
          <a:ext cx="0" cy="0"/>
          <a:chOff x="0" y="0"/>
          <a:chExt cx="0" cy="0"/>
        </a:xfrm>
      </p:grpSpPr>
      <p:sp>
        <p:nvSpPr>
          <p:cNvPr id="91" name="Google Shape;91;p18"/>
          <p:cNvSpPr txBox="1"/>
          <p:nvPr/>
        </p:nvSpPr>
        <p:spPr>
          <a:xfrm>
            <a:off x="669875" y="1664304"/>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Concept</a:t>
            </a:r>
            <a:endParaRPr b="1" sz="3000">
              <a:solidFill>
                <a:srgbClr val="FFFFFF"/>
              </a:solidFill>
              <a:highlight>
                <a:srgbClr val="67B4D4"/>
              </a:highlight>
              <a:latin typeface="Noto Sans Grantha"/>
              <a:ea typeface="Noto Sans Grantha"/>
              <a:cs typeface="Noto Sans Grantha"/>
              <a:sym typeface="Noto Sans Grantha"/>
            </a:endParaRPr>
          </a:p>
        </p:txBody>
      </p:sp>
      <p:pic>
        <p:nvPicPr>
          <p:cNvPr id="92" name="Google Shape;92;p18" title="vial_large.png"/>
          <p:cNvPicPr preferRelativeResize="0"/>
          <p:nvPr/>
        </p:nvPicPr>
        <p:blipFill>
          <a:blip r:embed="rId3">
            <a:alphaModFix/>
          </a:blip>
          <a:stretch>
            <a:fillRect/>
          </a:stretch>
        </p:blipFill>
        <p:spPr>
          <a:xfrm>
            <a:off x="7380575" y="-4872"/>
            <a:ext cx="1668176" cy="5153223"/>
          </a:xfrm>
          <a:prstGeom prst="rect">
            <a:avLst/>
          </a:prstGeom>
          <a:noFill/>
          <a:ln>
            <a:noFill/>
          </a:ln>
        </p:spPr>
      </p:pic>
      <p:sp>
        <p:nvSpPr>
          <p:cNvPr id="93" name="Google Shape;93;p18"/>
          <p:cNvSpPr txBox="1"/>
          <p:nvPr/>
        </p:nvSpPr>
        <p:spPr>
          <a:xfrm>
            <a:off x="669875" y="3816288"/>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Delivery</a:t>
            </a:r>
            <a:endParaRPr sz="2600">
              <a:solidFill>
                <a:srgbClr val="D0E0E3"/>
              </a:solidFill>
              <a:latin typeface="Noto Sans Grantha"/>
              <a:ea typeface="Noto Sans Grantha"/>
              <a:cs typeface="Noto Sans Grantha"/>
              <a:sym typeface="Noto Sans Grantha"/>
            </a:endParaRPr>
          </a:p>
        </p:txBody>
      </p:sp>
      <p:sp>
        <p:nvSpPr>
          <p:cNvPr id="94" name="Google Shape;94;p18"/>
          <p:cNvSpPr txBox="1"/>
          <p:nvPr/>
        </p:nvSpPr>
        <p:spPr>
          <a:xfrm>
            <a:off x="669875" y="588313"/>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3000">
                <a:solidFill>
                  <a:srgbClr val="FFFFFF"/>
                </a:solidFill>
                <a:highlight>
                  <a:srgbClr val="67B4D4"/>
                </a:highlight>
                <a:latin typeface="Noto Sans Grantha"/>
                <a:ea typeface="Noto Sans Grantha"/>
                <a:cs typeface="Noto Sans Grantha"/>
                <a:sym typeface="Noto Sans Grantha"/>
              </a:rPr>
              <a:t>Problem</a:t>
            </a:r>
            <a:endParaRPr sz="2600">
              <a:solidFill>
                <a:srgbClr val="83CAEB"/>
              </a:solidFill>
              <a:latin typeface="Noto Sans Grantha"/>
              <a:ea typeface="Noto Sans Grantha"/>
              <a:cs typeface="Noto Sans Grantha"/>
              <a:sym typeface="Noto Sans Grantha"/>
            </a:endParaRPr>
          </a:p>
        </p:txBody>
      </p:sp>
      <p:sp>
        <p:nvSpPr>
          <p:cNvPr id="95" name="Google Shape;95;p18"/>
          <p:cNvSpPr/>
          <p:nvPr/>
        </p:nvSpPr>
        <p:spPr>
          <a:xfrm>
            <a:off x="0" y="0"/>
            <a:ext cx="452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96" name="Google Shape;96;p18"/>
          <p:cNvSpPr txBox="1"/>
          <p:nvPr/>
        </p:nvSpPr>
        <p:spPr>
          <a:xfrm>
            <a:off x="669875" y="2740296"/>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Solution</a:t>
            </a:r>
            <a:endParaRPr sz="2600">
              <a:solidFill>
                <a:srgbClr val="D0E0E3"/>
              </a:solidFill>
              <a:latin typeface="Noto Sans Grantha"/>
              <a:ea typeface="Noto Sans Grantha"/>
              <a:cs typeface="Noto Sans Grantha"/>
              <a:sym typeface="Noto Sans Granth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cxnSp>
        <p:nvCxnSpPr>
          <p:cNvPr id="101" name="Google Shape;101;p19"/>
          <p:cNvCxnSpPr>
            <a:stCxn id="102" idx="0"/>
            <a:endCxn id="103" idx="0"/>
          </p:cNvCxnSpPr>
          <p:nvPr/>
        </p:nvCxnSpPr>
        <p:spPr>
          <a:xfrm flipH="1" rot="-5400000">
            <a:off x="7169465" y="1365704"/>
            <a:ext cx="600" cy="2094300"/>
          </a:xfrm>
          <a:prstGeom prst="curvedConnector3">
            <a:avLst>
              <a:gd fmla="val -17280199" name="adj1"/>
            </a:avLst>
          </a:prstGeom>
          <a:noFill/>
          <a:ln cap="flat" cmpd="sng" w="19050">
            <a:solidFill>
              <a:srgbClr val="67B4D4"/>
            </a:solidFill>
            <a:prstDash val="solid"/>
            <a:round/>
            <a:headEnd len="med" w="med" type="none"/>
            <a:tailEnd len="med" w="med" type="none"/>
          </a:ln>
        </p:spPr>
      </p:cxnSp>
      <p:cxnSp>
        <p:nvCxnSpPr>
          <p:cNvPr id="104" name="Google Shape;104;p19"/>
          <p:cNvCxnSpPr>
            <a:stCxn id="105" idx="3"/>
            <a:endCxn id="106" idx="0"/>
          </p:cNvCxnSpPr>
          <p:nvPr/>
        </p:nvCxnSpPr>
        <p:spPr>
          <a:xfrm>
            <a:off x="7433587" y="1933939"/>
            <a:ext cx="354600" cy="1711500"/>
          </a:xfrm>
          <a:prstGeom prst="curvedConnector2">
            <a:avLst/>
          </a:prstGeom>
          <a:noFill/>
          <a:ln cap="flat" cmpd="sng" w="19050">
            <a:solidFill>
              <a:srgbClr val="67B4D4"/>
            </a:solidFill>
            <a:prstDash val="solid"/>
            <a:round/>
            <a:headEnd len="med" w="med" type="none"/>
            <a:tailEnd len="med" w="med" type="none"/>
          </a:ln>
        </p:spPr>
      </p:cxnSp>
      <p:cxnSp>
        <p:nvCxnSpPr>
          <p:cNvPr id="107" name="Google Shape;107;p19"/>
          <p:cNvCxnSpPr>
            <a:stCxn id="105" idx="1"/>
            <a:endCxn id="108" idx="0"/>
          </p:cNvCxnSpPr>
          <p:nvPr/>
        </p:nvCxnSpPr>
        <p:spPr>
          <a:xfrm flipH="1">
            <a:off x="6547123" y="1933939"/>
            <a:ext cx="319800" cy="1711500"/>
          </a:xfrm>
          <a:prstGeom prst="curvedConnector2">
            <a:avLst/>
          </a:prstGeom>
          <a:noFill/>
          <a:ln cap="flat" cmpd="sng" w="19050">
            <a:solidFill>
              <a:srgbClr val="67B4D4"/>
            </a:solidFill>
            <a:prstDash val="solid"/>
            <a:round/>
            <a:headEnd len="med" w="med" type="none"/>
            <a:tailEnd len="med" w="med" type="none"/>
          </a:ln>
        </p:spPr>
      </p:cxnSp>
      <p:cxnSp>
        <p:nvCxnSpPr>
          <p:cNvPr id="109" name="Google Shape;109;p19"/>
          <p:cNvCxnSpPr>
            <a:stCxn id="102" idx="3"/>
            <a:endCxn id="106" idx="1"/>
          </p:cNvCxnSpPr>
          <p:nvPr/>
        </p:nvCxnSpPr>
        <p:spPr>
          <a:xfrm>
            <a:off x="6405946" y="2695885"/>
            <a:ext cx="1098900" cy="1233000"/>
          </a:xfrm>
          <a:prstGeom prst="curvedConnector3">
            <a:avLst>
              <a:gd fmla="val 49998" name="adj1"/>
            </a:avLst>
          </a:prstGeom>
          <a:noFill/>
          <a:ln cap="flat" cmpd="sng" w="19050">
            <a:solidFill>
              <a:srgbClr val="67B4D4"/>
            </a:solidFill>
            <a:prstDash val="solid"/>
            <a:round/>
            <a:headEnd len="med" w="med" type="none"/>
            <a:tailEnd len="med" w="med" type="none"/>
          </a:ln>
        </p:spPr>
      </p:cxnSp>
      <p:cxnSp>
        <p:nvCxnSpPr>
          <p:cNvPr id="110" name="Google Shape;110;p19"/>
          <p:cNvCxnSpPr>
            <a:stCxn id="103" idx="1"/>
            <a:endCxn id="108" idx="3"/>
          </p:cNvCxnSpPr>
          <p:nvPr/>
        </p:nvCxnSpPr>
        <p:spPr>
          <a:xfrm flipH="1">
            <a:off x="6830292" y="2695885"/>
            <a:ext cx="1103400" cy="1233000"/>
          </a:xfrm>
          <a:prstGeom prst="curvedConnector3">
            <a:avLst>
              <a:gd fmla="val 49997" name="adj1"/>
            </a:avLst>
          </a:prstGeom>
          <a:noFill/>
          <a:ln cap="flat" cmpd="sng" w="19050">
            <a:solidFill>
              <a:srgbClr val="67B4D4"/>
            </a:solidFill>
            <a:prstDash val="solid"/>
            <a:round/>
            <a:headEnd len="med" w="med" type="none"/>
            <a:tailEnd len="med" w="med" type="none"/>
          </a:ln>
        </p:spPr>
      </p:cxnSp>
      <p:sp>
        <p:nvSpPr>
          <p:cNvPr id="111" name="Google Shape;111;p19"/>
          <p:cNvSpPr/>
          <p:nvPr/>
        </p:nvSpPr>
        <p:spPr>
          <a:xfrm>
            <a:off x="7933695" y="2412547"/>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12" name="Google Shape;112;p19"/>
          <p:cNvSpPr/>
          <p:nvPr/>
        </p:nvSpPr>
        <p:spPr>
          <a:xfrm>
            <a:off x="7504808" y="3645411"/>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13" name="Google Shape;113;p19"/>
          <p:cNvSpPr/>
          <p:nvPr/>
        </p:nvSpPr>
        <p:spPr>
          <a:xfrm>
            <a:off x="6263704" y="3645411"/>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14" name="Google Shape;114;p19"/>
          <p:cNvSpPr/>
          <p:nvPr/>
        </p:nvSpPr>
        <p:spPr>
          <a:xfrm>
            <a:off x="5839311" y="2412547"/>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15" name="Google Shape;115;p19"/>
          <p:cNvSpPr/>
          <p:nvPr/>
        </p:nvSpPr>
        <p:spPr>
          <a:xfrm>
            <a:off x="6866926" y="1650600"/>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pic>
        <p:nvPicPr>
          <p:cNvPr id="103" name="Google Shape;103;p19"/>
          <p:cNvPicPr preferRelativeResize="0"/>
          <p:nvPr/>
        </p:nvPicPr>
        <p:blipFill>
          <a:blip r:embed="rId3">
            <a:alphaModFix/>
          </a:blip>
          <a:stretch>
            <a:fillRect/>
          </a:stretch>
        </p:blipFill>
        <p:spPr>
          <a:xfrm>
            <a:off x="7933692" y="2412554"/>
            <a:ext cx="566664" cy="566664"/>
          </a:xfrm>
          <a:prstGeom prst="rect">
            <a:avLst/>
          </a:prstGeom>
          <a:noFill/>
          <a:ln>
            <a:noFill/>
          </a:ln>
        </p:spPr>
      </p:pic>
      <p:pic>
        <p:nvPicPr>
          <p:cNvPr id="106" name="Google Shape;106;p19"/>
          <p:cNvPicPr preferRelativeResize="0"/>
          <p:nvPr/>
        </p:nvPicPr>
        <p:blipFill>
          <a:blip r:embed="rId3">
            <a:alphaModFix/>
          </a:blip>
          <a:stretch>
            <a:fillRect/>
          </a:stretch>
        </p:blipFill>
        <p:spPr>
          <a:xfrm>
            <a:off x="7504805" y="3645418"/>
            <a:ext cx="566664" cy="566664"/>
          </a:xfrm>
          <a:prstGeom prst="rect">
            <a:avLst/>
          </a:prstGeom>
          <a:noFill/>
          <a:ln>
            <a:noFill/>
          </a:ln>
        </p:spPr>
      </p:pic>
      <p:pic>
        <p:nvPicPr>
          <p:cNvPr id="108" name="Google Shape;108;p19"/>
          <p:cNvPicPr preferRelativeResize="0"/>
          <p:nvPr/>
        </p:nvPicPr>
        <p:blipFill>
          <a:blip r:embed="rId3">
            <a:alphaModFix/>
          </a:blip>
          <a:stretch>
            <a:fillRect/>
          </a:stretch>
        </p:blipFill>
        <p:spPr>
          <a:xfrm>
            <a:off x="6263701" y="3645418"/>
            <a:ext cx="566664" cy="566664"/>
          </a:xfrm>
          <a:prstGeom prst="rect">
            <a:avLst/>
          </a:prstGeom>
          <a:noFill/>
          <a:ln>
            <a:noFill/>
          </a:ln>
        </p:spPr>
      </p:pic>
      <p:pic>
        <p:nvPicPr>
          <p:cNvPr id="102" name="Google Shape;102;p19"/>
          <p:cNvPicPr preferRelativeResize="0"/>
          <p:nvPr/>
        </p:nvPicPr>
        <p:blipFill>
          <a:blip r:embed="rId3">
            <a:alphaModFix/>
          </a:blip>
          <a:stretch>
            <a:fillRect/>
          </a:stretch>
        </p:blipFill>
        <p:spPr>
          <a:xfrm>
            <a:off x="5839283" y="2412554"/>
            <a:ext cx="566664" cy="566664"/>
          </a:xfrm>
          <a:prstGeom prst="rect">
            <a:avLst/>
          </a:prstGeom>
          <a:noFill/>
          <a:ln>
            <a:noFill/>
          </a:ln>
        </p:spPr>
      </p:pic>
      <p:pic>
        <p:nvPicPr>
          <p:cNvPr id="105" name="Google Shape;105;p19"/>
          <p:cNvPicPr preferRelativeResize="0"/>
          <p:nvPr/>
        </p:nvPicPr>
        <p:blipFill>
          <a:blip r:embed="rId3">
            <a:alphaModFix/>
          </a:blip>
          <a:stretch>
            <a:fillRect/>
          </a:stretch>
        </p:blipFill>
        <p:spPr>
          <a:xfrm>
            <a:off x="6866923" y="1650607"/>
            <a:ext cx="566664" cy="566664"/>
          </a:xfrm>
          <a:prstGeom prst="rect">
            <a:avLst/>
          </a:prstGeom>
          <a:noFill/>
          <a:ln>
            <a:noFill/>
          </a:ln>
        </p:spPr>
      </p:pic>
      <p:pic>
        <p:nvPicPr>
          <p:cNvPr id="116" name="Google Shape;116;p19" title="patient.png"/>
          <p:cNvPicPr preferRelativeResize="0"/>
          <p:nvPr/>
        </p:nvPicPr>
        <p:blipFill>
          <a:blip r:embed="rId4">
            <a:alphaModFix/>
          </a:blip>
          <a:stretch>
            <a:fillRect/>
          </a:stretch>
        </p:blipFill>
        <p:spPr>
          <a:xfrm>
            <a:off x="6916924" y="2494890"/>
            <a:ext cx="535974" cy="535974"/>
          </a:xfrm>
          <a:prstGeom prst="rect">
            <a:avLst/>
          </a:prstGeom>
          <a:noFill/>
          <a:ln>
            <a:noFill/>
          </a:ln>
        </p:spPr>
      </p:pic>
      <p:pic>
        <p:nvPicPr>
          <p:cNvPr id="117" name="Google Shape;117;p19"/>
          <p:cNvPicPr preferRelativeResize="0"/>
          <p:nvPr/>
        </p:nvPicPr>
        <p:blipFill rotWithShape="1">
          <a:blip r:embed="rId5">
            <a:alphaModFix/>
          </a:blip>
          <a:srcRect b="60229" l="16076" r="17633" t="0"/>
          <a:stretch/>
        </p:blipFill>
        <p:spPr>
          <a:xfrm>
            <a:off x="6607000" y="740664"/>
            <a:ext cx="2016850" cy="806449"/>
          </a:xfrm>
          <a:prstGeom prst="rect">
            <a:avLst/>
          </a:prstGeom>
          <a:noFill/>
          <a:ln>
            <a:noFill/>
          </a:ln>
        </p:spPr>
      </p:pic>
      <p:pic>
        <p:nvPicPr>
          <p:cNvPr id="118" name="Google Shape;118;p19"/>
          <p:cNvPicPr preferRelativeResize="0"/>
          <p:nvPr/>
        </p:nvPicPr>
        <p:blipFill rotWithShape="1">
          <a:blip r:embed="rId5">
            <a:alphaModFix/>
          </a:blip>
          <a:srcRect b="0" l="24407" r="28711" t="43640"/>
          <a:stretch/>
        </p:blipFill>
        <p:spPr>
          <a:xfrm>
            <a:off x="5724578" y="740664"/>
            <a:ext cx="1006423" cy="8064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cxnSp>
        <p:nvCxnSpPr>
          <p:cNvPr id="123" name="Google Shape;123;p20"/>
          <p:cNvCxnSpPr>
            <a:stCxn id="124" idx="1"/>
            <a:endCxn id="125" idx="3"/>
          </p:cNvCxnSpPr>
          <p:nvPr/>
        </p:nvCxnSpPr>
        <p:spPr>
          <a:xfrm flipH="1">
            <a:off x="4145323" y="1933948"/>
            <a:ext cx="2721600" cy="20100"/>
          </a:xfrm>
          <a:prstGeom prst="straightConnector1">
            <a:avLst/>
          </a:prstGeom>
          <a:noFill/>
          <a:ln cap="flat" cmpd="sng" w="19050">
            <a:solidFill>
              <a:srgbClr val="67B4D4"/>
            </a:solidFill>
            <a:prstDash val="solid"/>
            <a:round/>
            <a:headEnd len="med" w="med" type="triangle"/>
            <a:tailEnd len="med" w="med" type="none"/>
          </a:ln>
        </p:spPr>
      </p:cxnSp>
      <p:cxnSp>
        <p:nvCxnSpPr>
          <p:cNvPr id="126" name="Google Shape;126;p20"/>
          <p:cNvCxnSpPr>
            <a:stCxn id="124" idx="1"/>
            <a:endCxn id="125" idx="3"/>
          </p:cNvCxnSpPr>
          <p:nvPr/>
        </p:nvCxnSpPr>
        <p:spPr>
          <a:xfrm flipH="1">
            <a:off x="4145323" y="1933948"/>
            <a:ext cx="2721600" cy="20100"/>
          </a:xfrm>
          <a:prstGeom prst="straightConnector1">
            <a:avLst/>
          </a:prstGeom>
          <a:noFill/>
          <a:ln cap="flat" cmpd="sng" w="114300">
            <a:solidFill>
              <a:srgbClr val="67B4D4"/>
            </a:solidFill>
            <a:prstDash val="solid"/>
            <a:round/>
            <a:headEnd len="med" w="med" type="none"/>
            <a:tailEnd len="med" w="med" type="triangle"/>
          </a:ln>
        </p:spPr>
      </p:cxnSp>
      <p:cxnSp>
        <p:nvCxnSpPr>
          <p:cNvPr id="127" name="Google Shape;127;p20"/>
          <p:cNvCxnSpPr>
            <a:stCxn id="128" idx="0"/>
            <a:endCxn id="125" idx="3"/>
          </p:cNvCxnSpPr>
          <p:nvPr/>
        </p:nvCxnSpPr>
        <p:spPr>
          <a:xfrm flipH="1" rot="5400000">
            <a:off x="4500583" y="1598977"/>
            <a:ext cx="1691400" cy="2401500"/>
          </a:xfrm>
          <a:prstGeom prst="curvedConnector2">
            <a:avLst/>
          </a:prstGeom>
          <a:noFill/>
          <a:ln cap="flat" cmpd="sng" w="38100">
            <a:solidFill>
              <a:srgbClr val="E65454"/>
            </a:solidFill>
            <a:prstDash val="solid"/>
            <a:round/>
            <a:headEnd len="med" w="med" type="none"/>
            <a:tailEnd len="med" w="med" type="none"/>
          </a:ln>
        </p:spPr>
      </p:cxnSp>
      <p:pic>
        <p:nvPicPr>
          <p:cNvPr id="129" name="Google Shape;129;p20" title="patient.png"/>
          <p:cNvPicPr preferRelativeResize="0"/>
          <p:nvPr/>
        </p:nvPicPr>
        <p:blipFill>
          <a:blip r:embed="rId3">
            <a:alphaModFix/>
          </a:blip>
          <a:stretch>
            <a:fillRect/>
          </a:stretch>
        </p:blipFill>
        <p:spPr>
          <a:xfrm>
            <a:off x="710825" y="1458307"/>
            <a:ext cx="991300" cy="991300"/>
          </a:xfrm>
          <a:prstGeom prst="rect">
            <a:avLst/>
          </a:prstGeom>
          <a:noFill/>
          <a:ln>
            <a:noFill/>
          </a:ln>
        </p:spPr>
      </p:pic>
      <p:pic>
        <p:nvPicPr>
          <p:cNvPr id="125" name="Google Shape;125;p20" title="user-doctor-hair-long.png"/>
          <p:cNvPicPr preferRelativeResize="0"/>
          <p:nvPr/>
        </p:nvPicPr>
        <p:blipFill>
          <a:blip r:embed="rId4">
            <a:alphaModFix/>
          </a:blip>
          <a:stretch>
            <a:fillRect/>
          </a:stretch>
        </p:blipFill>
        <p:spPr>
          <a:xfrm>
            <a:off x="3154103" y="1458307"/>
            <a:ext cx="991300" cy="991300"/>
          </a:xfrm>
          <a:prstGeom prst="rect">
            <a:avLst/>
          </a:prstGeom>
          <a:noFill/>
          <a:ln>
            <a:noFill/>
          </a:ln>
        </p:spPr>
      </p:pic>
      <p:sp>
        <p:nvSpPr>
          <p:cNvPr id="130" name="Google Shape;130;p20"/>
          <p:cNvSpPr/>
          <p:nvPr/>
        </p:nvSpPr>
        <p:spPr>
          <a:xfrm>
            <a:off x="7933695" y="2412556"/>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31" name="Google Shape;131;p20"/>
          <p:cNvSpPr/>
          <p:nvPr/>
        </p:nvSpPr>
        <p:spPr>
          <a:xfrm>
            <a:off x="7504808" y="3645420"/>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32" name="Google Shape;132;p20"/>
          <p:cNvSpPr/>
          <p:nvPr/>
        </p:nvSpPr>
        <p:spPr>
          <a:xfrm>
            <a:off x="6263704" y="3645420"/>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33" name="Google Shape;133;p20"/>
          <p:cNvSpPr/>
          <p:nvPr/>
        </p:nvSpPr>
        <p:spPr>
          <a:xfrm>
            <a:off x="5839311" y="2412556"/>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pic>
        <p:nvPicPr>
          <p:cNvPr id="134" name="Google Shape;134;p20"/>
          <p:cNvPicPr preferRelativeResize="0"/>
          <p:nvPr/>
        </p:nvPicPr>
        <p:blipFill>
          <a:blip r:embed="rId5">
            <a:alphaModFix/>
          </a:blip>
          <a:stretch>
            <a:fillRect/>
          </a:stretch>
        </p:blipFill>
        <p:spPr>
          <a:xfrm>
            <a:off x="7933692" y="2412563"/>
            <a:ext cx="566664" cy="566664"/>
          </a:xfrm>
          <a:prstGeom prst="rect">
            <a:avLst/>
          </a:prstGeom>
          <a:noFill/>
          <a:ln>
            <a:noFill/>
          </a:ln>
        </p:spPr>
      </p:pic>
      <p:pic>
        <p:nvPicPr>
          <p:cNvPr id="135" name="Google Shape;135;p20"/>
          <p:cNvPicPr preferRelativeResize="0"/>
          <p:nvPr/>
        </p:nvPicPr>
        <p:blipFill>
          <a:blip r:embed="rId5">
            <a:alphaModFix/>
          </a:blip>
          <a:stretch>
            <a:fillRect/>
          </a:stretch>
        </p:blipFill>
        <p:spPr>
          <a:xfrm>
            <a:off x="7504805" y="3645427"/>
            <a:ext cx="566664" cy="566664"/>
          </a:xfrm>
          <a:prstGeom prst="rect">
            <a:avLst/>
          </a:prstGeom>
          <a:noFill/>
          <a:ln>
            <a:noFill/>
          </a:ln>
        </p:spPr>
      </p:pic>
      <p:pic>
        <p:nvPicPr>
          <p:cNvPr id="128" name="Google Shape;128;p20"/>
          <p:cNvPicPr preferRelativeResize="0"/>
          <p:nvPr/>
        </p:nvPicPr>
        <p:blipFill>
          <a:blip r:embed="rId5">
            <a:alphaModFix/>
          </a:blip>
          <a:stretch>
            <a:fillRect/>
          </a:stretch>
        </p:blipFill>
        <p:spPr>
          <a:xfrm>
            <a:off x="6263701" y="3645427"/>
            <a:ext cx="566664" cy="566664"/>
          </a:xfrm>
          <a:prstGeom prst="rect">
            <a:avLst/>
          </a:prstGeom>
          <a:noFill/>
          <a:ln>
            <a:noFill/>
          </a:ln>
        </p:spPr>
      </p:pic>
      <p:pic>
        <p:nvPicPr>
          <p:cNvPr id="136" name="Google Shape;136;p20"/>
          <p:cNvPicPr preferRelativeResize="0"/>
          <p:nvPr/>
        </p:nvPicPr>
        <p:blipFill>
          <a:blip r:embed="rId5">
            <a:alphaModFix/>
          </a:blip>
          <a:stretch>
            <a:fillRect/>
          </a:stretch>
        </p:blipFill>
        <p:spPr>
          <a:xfrm>
            <a:off x="5839308" y="2412563"/>
            <a:ext cx="566664" cy="566664"/>
          </a:xfrm>
          <a:prstGeom prst="rect">
            <a:avLst/>
          </a:prstGeom>
          <a:noFill/>
          <a:ln>
            <a:noFill/>
          </a:ln>
        </p:spPr>
      </p:pic>
      <p:pic>
        <p:nvPicPr>
          <p:cNvPr id="137" name="Google Shape;137;p20"/>
          <p:cNvPicPr preferRelativeResize="0"/>
          <p:nvPr/>
        </p:nvPicPr>
        <p:blipFill rotWithShape="1">
          <a:blip r:embed="rId6">
            <a:alphaModFix/>
          </a:blip>
          <a:srcRect b="60229" l="16076" r="17633" t="0"/>
          <a:stretch/>
        </p:blipFill>
        <p:spPr>
          <a:xfrm>
            <a:off x="6607000" y="740673"/>
            <a:ext cx="2016850" cy="806449"/>
          </a:xfrm>
          <a:prstGeom prst="rect">
            <a:avLst/>
          </a:prstGeom>
          <a:noFill/>
          <a:ln>
            <a:noFill/>
          </a:ln>
        </p:spPr>
      </p:pic>
      <p:pic>
        <p:nvPicPr>
          <p:cNvPr id="138" name="Google Shape;138;p20"/>
          <p:cNvPicPr preferRelativeResize="0"/>
          <p:nvPr/>
        </p:nvPicPr>
        <p:blipFill rotWithShape="1">
          <a:blip r:embed="rId6">
            <a:alphaModFix/>
          </a:blip>
          <a:srcRect b="0" l="24407" r="28711" t="43640"/>
          <a:stretch/>
        </p:blipFill>
        <p:spPr>
          <a:xfrm>
            <a:off x="5724578" y="740673"/>
            <a:ext cx="1006423" cy="806449"/>
          </a:xfrm>
          <a:prstGeom prst="rect">
            <a:avLst/>
          </a:prstGeom>
          <a:noFill/>
          <a:ln>
            <a:noFill/>
          </a:ln>
        </p:spPr>
      </p:pic>
      <p:sp>
        <p:nvSpPr>
          <p:cNvPr id="139" name="Google Shape;139;p20"/>
          <p:cNvSpPr/>
          <p:nvPr/>
        </p:nvSpPr>
        <p:spPr>
          <a:xfrm>
            <a:off x="3433498" y="702303"/>
            <a:ext cx="432494" cy="681501"/>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E65454"/>
                </a:solidFill>
                <a:latin typeface="Arial"/>
              </a:rPr>
              <a:t>?</a:t>
            </a:r>
          </a:p>
        </p:txBody>
      </p:sp>
      <p:sp>
        <p:nvSpPr>
          <p:cNvPr id="140" name="Google Shape;140;p20"/>
          <p:cNvSpPr/>
          <p:nvPr/>
        </p:nvSpPr>
        <p:spPr>
          <a:xfrm rot="-1799999">
            <a:off x="3015440" y="867228"/>
            <a:ext cx="432495" cy="6815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E65454"/>
                </a:solidFill>
                <a:latin typeface="Arial"/>
              </a:rPr>
              <a:t>?</a:t>
            </a:r>
          </a:p>
        </p:txBody>
      </p:sp>
      <p:sp>
        <p:nvSpPr>
          <p:cNvPr id="141" name="Google Shape;141;p20"/>
          <p:cNvSpPr/>
          <p:nvPr/>
        </p:nvSpPr>
        <p:spPr>
          <a:xfrm rot="1799999">
            <a:off x="3851555" y="867228"/>
            <a:ext cx="432495" cy="6815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rgbClr val="E65454"/>
                </a:solidFill>
                <a:latin typeface="Arial"/>
              </a:rPr>
              <a:t>?</a:t>
            </a:r>
          </a:p>
        </p:txBody>
      </p:sp>
      <p:cxnSp>
        <p:nvCxnSpPr>
          <p:cNvPr id="142" name="Google Shape;142;p20"/>
          <p:cNvCxnSpPr>
            <a:stCxn id="134" idx="0"/>
            <a:endCxn id="125" idx="3"/>
          </p:cNvCxnSpPr>
          <p:nvPr/>
        </p:nvCxnSpPr>
        <p:spPr>
          <a:xfrm flipH="1" rot="5400000">
            <a:off x="5951873" y="147413"/>
            <a:ext cx="458700" cy="4071600"/>
          </a:xfrm>
          <a:prstGeom prst="curvedConnector2">
            <a:avLst/>
          </a:prstGeom>
          <a:noFill/>
          <a:ln cap="flat" cmpd="sng" w="38100">
            <a:solidFill>
              <a:srgbClr val="E65454"/>
            </a:solidFill>
            <a:prstDash val="solid"/>
            <a:round/>
            <a:headEnd len="med" w="med" type="none"/>
            <a:tailEnd len="med" w="med" type="none"/>
          </a:ln>
        </p:spPr>
      </p:cxnSp>
      <p:cxnSp>
        <p:nvCxnSpPr>
          <p:cNvPr id="143" name="Google Shape;143;p20"/>
          <p:cNvCxnSpPr>
            <a:stCxn id="135" idx="0"/>
            <a:endCxn id="125" idx="3"/>
          </p:cNvCxnSpPr>
          <p:nvPr/>
        </p:nvCxnSpPr>
        <p:spPr>
          <a:xfrm flipH="1" rot="5400000">
            <a:off x="5121137" y="978427"/>
            <a:ext cx="1691400" cy="3642600"/>
          </a:xfrm>
          <a:prstGeom prst="curvedConnector2">
            <a:avLst/>
          </a:prstGeom>
          <a:noFill/>
          <a:ln cap="flat" cmpd="sng" w="38100">
            <a:solidFill>
              <a:srgbClr val="E65454"/>
            </a:solidFill>
            <a:prstDash val="solid"/>
            <a:round/>
            <a:headEnd len="med" w="med" type="none"/>
            <a:tailEnd len="med" w="med" type="none"/>
          </a:ln>
        </p:spPr>
      </p:cxnSp>
      <p:cxnSp>
        <p:nvCxnSpPr>
          <p:cNvPr id="144" name="Google Shape;144;p20"/>
          <p:cNvCxnSpPr>
            <a:stCxn id="136" idx="0"/>
            <a:endCxn id="125" idx="3"/>
          </p:cNvCxnSpPr>
          <p:nvPr/>
        </p:nvCxnSpPr>
        <p:spPr>
          <a:xfrm flipH="1" rot="5400000">
            <a:off x="4904640" y="1194563"/>
            <a:ext cx="458700" cy="1977300"/>
          </a:xfrm>
          <a:prstGeom prst="curvedConnector2">
            <a:avLst/>
          </a:prstGeom>
          <a:noFill/>
          <a:ln cap="flat" cmpd="sng" w="38100">
            <a:solidFill>
              <a:srgbClr val="E65454"/>
            </a:solidFill>
            <a:prstDash val="solid"/>
            <a:round/>
            <a:headEnd len="med" w="med" type="none"/>
            <a:tailEnd len="med" w="med" type="none"/>
          </a:ln>
        </p:spPr>
      </p:cxnSp>
      <p:sp>
        <p:nvSpPr>
          <p:cNvPr id="145" name="Google Shape;145;p20"/>
          <p:cNvSpPr/>
          <p:nvPr/>
        </p:nvSpPr>
        <p:spPr>
          <a:xfrm>
            <a:off x="6866926" y="1650609"/>
            <a:ext cx="566700" cy="566700"/>
          </a:xfrm>
          <a:prstGeom prst="rect">
            <a:avLst/>
          </a:prstGeom>
          <a:solidFill>
            <a:srgbClr val="FFFFFF"/>
          </a:solidFill>
          <a:ln cap="flat" cmpd="sng" w="8650">
            <a:solidFill>
              <a:srgbClr val="FFFFFF"/>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pic>
        <p:nvPicPr>
          <p:cNvPr id="124" name="Google Shape;124;p20"/>
          <p:cNvPicPr preferRelativeResize="0"/>
          <p:nvPr/>
        </p:nvPicPr>
        <p:blipFill>
          <a:blip r:embed="rId5">
            <a:alphaModFix/>
          </a:blip>
          <a:stretch>
            <a:fillRect/>
          </a:stretch>
        </p:blipFill>
        <p:spPr>
          <a:xfrm>
            <a:off x="6866923" y="1650616"/>
            <a:ext cx="566664" cy="5666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cxnSp>
        <p:nvCxnSpPr>
          <p:cNvPr id="150" name="Google Shape;150;p21"/>
          <p:cNvCxnSpPr>
            <a:stCxn id="151" idx="1"/>
            <a:endCxn id="152" idx="3"/>
          </p:cNvCxnSpPr>
          <p:nvPr/>
        </p:nvCxnSpPr>
        <p:spPr>
          <a:xfrm flipH="1">
            <a:off x="4145323" y="1935033"/>
            <a:ext cx="2721600" cy="20100"/>
          </a:xfrm>
          <a:prstGeom prst="straightConnector1">
            <a:avLst/>
          </a:prstGeom>
          <a:noFill/>
          <a:ln cap="flat" cmpd="sng" w="114300">
            <a:solidFill>
              <a:srgbClr val="67B4D4"/>
            </a:solidFill>
            <a:prstDash val="solid"/>
            <a:round/>
            <a:headEnd len="med" w="med" type="none"/>
            <a:tailEnd len="med" w="med" type="triangle"/>
          </a:ln>
        </p:spPr>
      </p:cxnSp>
      <p:pic>
        <p:nvPicPr>
          <p:cNvPr id="153" name="Google Shape;153;p21" title="patient.png"/>
          <p:cNvPicPr preferRelativeResize="0"/>
          <p:nvPr/>
        </p:nvPicPr>
        <p:blipFill>
          <a:blip r:embed="rId3">
            <a:alphaModFix/>
          </a:blip>
          <a:stretch>
            <a:fillRect/>
          </a:stretch>
        </p:blipFill>
        <p:spPr>
          <a:xfrm>
            <a:off x="710825" y="1459392"/>
            <a:ext cx="991300" cy="991300"/>
          </a:xfrm>
          <a:prstGeom prst="rect">
            <a:avLst/>
          </a:prstGeom>
          <a:noFill/>
          <a:ln>
            <a:noFill/>
          </a:ln>
        </p:spPr>
      </p:pic>
      <p:pic>
        <p:nvPicPr>
          <p:cNvPr id="152" name="Google Shape;152;p21" title="user-doctor-hair-long.png"/>
          <p:cNvPicPr preferRelativeResize="0"/>
          <p:nvPr/>
        </p:nvPicPr>
        <p:blipFill>
          <a:blip r:embed="rId4">
            <a:alphaModFix/>
          </a:blip>
          <a:stretch>
            <a:fillRect/>
          </a:stretch>
        </p:blipFill>
        <p:spPr>
          <a:xfrm>
            <a:off x="3154103" y="1459392"/>
            <a:ext cx="991300" cy="991300"/>
          </a:xfrm>
          <a:prstGeom prst="rect">
            <a:avLst/>
          </a:prstGeom>
          <a:noFill/>
          <a:ln>
            <a:noFill/>
          </a:ln>
        </p:spPr>
      </p:pic>
      <p:pic>
        <p:nvPicPr>
          <p:cNvPr id="151" name="Google Shape;151;p21"/>
          <p:cNvPicPr preferRelativeResize="0"/>
          <p:nvPr/>
        </p:nvPicPr>
        <p:blipFill>
          <a:blip r:embed="rId5">
            <a:alphaModFix/>
          </a:blip>
          <a:stretch>
            <a:fillRect/>
          </a:stretch>
        </p:blipFill>
        <p:spPr>
          <a:xfrm>
            <a:off x="6866923" y="1651701"/>
            <a:ext cx="566664" cy="566664"/>
          </a:xfrm>
          <a:prstGeom prst="rect">
            <a:avLst/>
          </a:prstGeom>
          <a:noFill/>
          <a:ln>
            <a:noFill/>
          </a:ln>
        </p:spPr>
      </p:pic>
      <p:cxnSp>
        <p:nvCxnSpPr>
          <p:cNvPr id="154" name="Google Shape;154;p21"/>
          <p:cNvCxnSpPr/>
          <p:nvPr/>
        </p:nvCxnSpPr>
        <p:spPr>
          <a:xfrm flipH="1">
            <a:off x="4145323" y="1935033"/>
            <a:ext cx="2721600" cy="20100"/>
          </a:xfrm>
          <a:prstGeom prst="straightConnector1">
            <a:avLst/>
          </a:prstGeom>
          <a:noFill/>
          <a:ln cap="flat" cmpd="sng" w="19050">
            <a:solidFill>
              <a:srgbClr val="67B4D4"/>
            </a:solidFill>
            <a:prstDash val="solid"/>
            <a:round/>
            <a:headEnd len="med" w="med" type="triangle"/>
            <a:tailEnd len="med" w="med" type="none"/>
          </a:ln>
        </p:spPr>
      </p:cxnSp>
      <p:cxnSp>
        <p:nvCxnSpPr>
          <p:cNvPr id="155" name="Google Shape;155;p21"/>
          <p:cNvCxnSpPr/>
          <p:nvPr/>
        </p:nvCxnSpPr>
        <p:spPr>
          <a:xfrm flipH="1">
            <a:off x="4145323" y="1935033"/>
            <a:ext cx="2721600" cy="20100"/>
          </a:xfrm>
          <a:prstGeom prst="straightConnector1">
            <a:avLst/>
          </a:prstGeom>
          <a:noFill/>
          <a:ln cap="flat" cmpd="sng" w="114300">
            <a:solidFill>
              <a:srgbClr val="67B4D4"/>
            </a:solidFill>
            <a:prstDash val="solid"/>
            <a:round/>
            <a:headEnd len="med" w="med" type="none"/>
            <a:tailEnd len="med" w="med" type="triangle"/>
          </a:ln>
        </p:spPr>
      </p:cxnSp>
      <p:sp>
        <p:nvSpPr>
          <p:cNvPr id="156" name="Google Shape;156;p21"/>
          <p:cNvSpPr/>
          <p:nvPr/>
        </p:nvSpPr>
        <p:spPr>
          <a:xfrm>
            <a:off x="7933695" y="2413641"/>
            <a:ext cx="566700" cy="566700"/>
          </a:xfrm>
          <a:prstGeom prst="rect">
            <a:avLst/>
          </a:prstGeom>
          <a:solidFill>
            <a:srgbClr val="FFFFFF"/>
          </a:solidFill>
          <a:ln>
            <a:noFill/>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57" name="Google Shape;157;p21"/>
          <p:cNvSpPr/>
          <p:nvPr/>
        </p:nvSpPr>
        <p:spPr>
          <a:xfrm>
            <a:off x="7504808" y="3646505"/>
            <a:ext cx="566700" cy="566700"/>
          </a:xfrm>
          <a:prstGeom prst="rect">
            <a:avLst/>
          </a:prstGeom>
          <a:solidFill>
            <a:srgbClr val="FFFFFF"/>
          </a:solidFill>
          <a:ln>
            <a:noFill/>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58" name="Google Shape;158;p21"/>
          <p:cNvSpPr/>
          <p:nvPr/>
        </p:nvSpPr>
        <p:spPr>
          <a:xfrm>
            <a:off x="6263704" y="3646505"/>
            <a:ext cx="566700" cy="566700"/>
          </a:xfrm>
          <a:prstGeom prst="rect">
            <a:avLst/>
          </a:prstGeom>
          <a:solidFill>
            <a:srgbClr val="FFFFFF"/>
          </a:solidFill>
          <a:ln>
            <a:noFill/>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59" name="Google Shape;159;p21"/>
          <p:cNvSpPr/>
          <p:nvPr/>
        </p:nvSpPr>
        <p:spPr>
          <a:xfrm>
            <a:off x="5839311" y="2413641"/>
            <a:ext cx="566700" cy="566700"/>
          </a:xfrm>
          <a:prstGeom prst="rect">
            <a:avLst/>
          </a:prstGeom>
          <a:solidFill>
            <a:srgbClr val="FFFFFF"/>
          </a:solidFill>
          <a:ln>
            <a:noFill/>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sp>
        <p:nvSpPr>
          <p:cNvPr id="160" name="Google Shape;160;p21"/>
          <p:cNvSpPr/>
          <p:nvPr/>
        </p:nvSpPr>
        <p:spPr>
          <a:xfrm>
            <a:off x="6866926" y="1651694"/>
            <a:ext cx="566700" cy="566700"/>
          </a:xfrm>
          <a:prstGeom prst="rect">
            <a:avLst/>
          </a:prstGeom>
          <a:solidFill>
            <a:srgbClr val="FFFFFF"/>
          </a:solidFill>
          <a:ln>
            <a:noFill/>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4"/>
          </a:p>
        </p:txBody>
      </p:sp>
      <p:pic>
        <p:nvPicPr>
          <p:cNvPr id="161" name="Google Shape;161;p21" title="system-cloud.png"/>
          <p:cNvPicPr preferRelativeResize="0"/>
          <p:nvPr/>
        </p:nvPicPr>
        <p:blipFill>
          <a:blip r:embed="rId6">
            <a:alphaModFix/>
          </a:blip>
          <a:stretch>
            <a:fillRect/>
          </a:stretch>
        </p:blipFill>
        <p:spPr>
          <a:xfrm>
            <a:off x="7504800" y="3646517"/>
            <a:ext cx="566700" cy="566700"/>
          </a:xfrm>
          <a:prstGeom prst="rect">
            <a:avLst/>
          </a:prstGeom>
          <a:noFill/>
          <a:ln>
            <a:noFill/>
          </a:ln>
        </p:spPr>
      </p:pic>
      <p:pic>
        <p:nvPicPr>
          <p:cNvPr id="162" name="Google Shape;162;p21" title="system-cloud.png"/>
          <p:cNvPicPr preferRelativeResize="0"/>
          <p:nvPr/>
        </p:nvPicPr>
        <p:blipFill>
          <a:blip r:embed="rId6">
            <a:alphaModFix/>
          </a:blip>
          <a:stretch>
            <a:fillRect/>
          </a:stretch>
        </p:blipFill>
        <p:spPr>
          <a:xfrm>
            <a:off x="7933700" y="2413642"/>
            <a:ext cx="566700" cy="566700"/>
          </a:xfrm>
          <a:prstGeom prst="rect">
            <a:avLst/>
          </a:prstGeom>
          <a:noFill/>
          <a:ln>
            <a:noFill/>
          </a:ln>
        </p:spPr>
      </p:pic>
      <p:pic>
        <p:nvPicPr>
          <p:cNvPr id="163" name="Google Shape;163;p21" title="system-cloud.png"/>
          <p:cNvPicPr preferRelativeResize="0"/>
          <p:nvPr/>
        </p:nvPicPr>
        <p:blipFill>
          <a:blip r:embed="rId6">
            <a:alphaModFix/>
          </a:blip>
          <a:stretch>
            <a:fillRect/>
          </a:stretch>
        </p:blipFill>
        <p:spPr>
          <a:xfrm>
            <a:off x="6263700" y="3646517"/>
            <a:ext cx="566700" cy="566700"/>
          </a:xfrm>
          <a:prstGeom prst="rect">
            <a:avLst/>
          </a:prstGeom>
          <a:noFill/>
          <a:ln>
            <a:noFill/>
          </a:ln>
        </p:spPr>
      </p:pic>
      <p:pic>
        <p:nvPicPr>
          <p:cNvPr id="164" name="Google Shape;164;p21"/>
          <p:cNvPicPr preferRelativeResize="0"/>
          <p:nvPr/>
        </p:nvPicPr>
        <p:blipFill>
          <a:blip r:embed="rId5">
            <a:alphaModFix/>
          </a:blip>
          <a:stretch>
            <a:fillRect/>
          </a:stretch>
        </p:blipFill>
        <p:spPr>
          <a:xfrm>
            <a:off x="6866923" y="1651701"/>
            <a:ext cx="566664" cy="566664"/>
          </a:xfrm>
          <a:prstGeom prst="rect">
            <a:avLst/>
          </a:prstGeom>
          <a:noFill/>
          <a:ln>
            <a:noFill/>
          </a:ln>
        </p:spPr>
      </p:pic>
      <p:pic>
        <p:nvPicPr>
          <p:cNvPr id="165" name="Google Shape;165;p21" title="system-cloud.png"/>
          <p:cNvPicPr preferRelativeResize="0"/>
          <p:nvPr/>
        </p:nvPicPr>
        <p:blipFill>
          <a:blip r:embed="rId6">
            <a:alphaModFix/>
          </a:blip>
          <a:stretch>
            <a:fillRect/>
          </a:stretch>
        </p:blipFill>
        <p:spPr>
          <a:xfrm>
            <a:off x="5839300" y="2413642"/>
            <a:ext cx="566700" cy="566700"/>
          </a:xfrm>
          <a:prstGeom prst="rect">
            <a:avLst/>
          </a:prstGeom>
          <a:noFill/>
          <a:ln>
            <a:noFill/>
          </a:ln>
        </p:spPr>
      </p:pic>
      <p:pic>
        <p:nvPicPr>
          <p:cNvPr id="166" name="Google Shape;166;p21" title="Artboard 1Sanguine_finalcutout.png"/>
          <p:cNvPicPr preferRelativeResize="0"/>
          <p:nvPr/>
        </p:nvPicPr>
        <p:blipFill rotWithShape="1">
          <a:blip r:embed="rId7">
            <a:alphaModFix/>
          </a:blip>
          <a:srcRect b="0" l="0" r="0" t="8801"/>
          <a:stretch/>
        </p:blipFill>
        <p:spPr>
          <a:xfrm>
            <a:off x="6461050" y="2944963"/>
            <a:ext cx="1417600" cy="323200"/>
          </a:xfrm>
          <a:prstGeom prst="rect">
            <a:avLst/>
          </a:prstGeom>
          <a:noFill/>
          <a:ln>
            <a:noFill/>
          </a:ln>
        </p:spPr>
      </p:pic>
      <p:cxnSp>
        <p:nvCxnSpPr>
          <p:cNvPr id="167" name="Google Shape;167;p21"/>
          <p:cNvCxnSpPr>
            <a:stCxn id="166" idx="0"/>
            <a:endCxn id="152" idx="3"/>
          </p:cNvCxnSpPr>
          <p:nvPr/>
        </p:nvCxnSpPr>
        <p:spPr>
          <a:xfrm flipH="1" rot="5400000">
            <a:off x="5162700" y="937813"/>
            <a:ext cx="990000" cy="3024300"/>
          </a:xfrm>
          <a:prstGeom prst="curvedConnector2">
            <a:avLst/>
          </a:prstGeom>
          <a:noFill/>
          <a:ln cap="flat" cmpd="sng" w="114300">
            <a:solidFill>
              <a:srgbClr val="67B4D4"/>
            </a:solidFill>
            <a:prstDash val="solid"/>
            <a:round/>
            <a:headEnd len="med" w="med" type="none"/>
            <a:tailEnd len="med" w="med" type="triangle"/>
          </a:ln>
        </p:spPr>
      </p:cxnSp>
      <p:pic>
        <p:nvPicPr>
          <p:cNvPr id="168" name="Google Shape;168;p21"/>
          <p:cNvPicPr preferRelativeResize="0"/>
          <p:nvPr/>
        </p:nvPicPr>
        <p:blipFill rotWithShape="1">
          <a:blip r:embed="rId8">
            <a:alphaModFix/>
          </a:blip>
          <a:srcRect b="60229" l="16076" r="17633" t="0"/>
          <a:stretch/>
        </p:blipFill>
        <p:spPr>
          <a:xfrm>
            <a:off x="6607000" y="741758"/>
            <a:ext cx="2016850" cy="806449"/>
          </a:xfrm>
          <a:prstGeom prst="rect">
            <a:avLst/>
          </a:prstGeom>
          <a:noFill/>
          <a:ln>
            <a:noFill/>
          </a:ln>
        </p:spPr>
      </p:pic>
      <p:pic>
        <p:nvPicPr>
          <p:cNvPr id="169" name="Google Shape;169;p21"/>
          <p:cNvPicPr preferRelativeResize="0"/>
          <p:nvPr/>
        </p:nvPicPr>
        <p:blipFill rotWithShape="1">
          <a:blip r:embed="rId8">
            <a:alphaModFix/>
          </a:blip>
          <a:srcRect b="0" l="24407" r="28711" t="43640"/>
          <a:stretch/>
        </p:blipFill>
        <p:spPr>
          <a:xfrm>
            <a:off x="5724578" y="741758"/>
            <a:ext cx="1006423" cy="806449"/>
          </a:xfrm>
          <a:prstGeom prst="rect">
            <a:avLst/>
          </a:prstGeom>
          <a:noFill/>
          <a:ln>
            <a:noFill/>
          </a:ln>
        </p:spPr>
      </p:pic>
      <p:cxnSp>
        <p:nvCxnSpPr>
          <p:cNvPr id="170" name="Google Shape;170;p21"/>
          <p:cNvCxnSpPr>
            <a:stCxn id="165" idx="2"/>
            <a:endCxn id="166" idx="1"/>
          </p:cNvCxnSpPr>
          <p:nvPr/>
        </p:nvCxnSpPr>
        <p:spPr>
          <a:xfrm flipH="1" rot="-5400000">
            <a:off x="6228700" y="2874291"/>
            <a:ext cx="126300" cy="338400"/>
          </a:xfrm>
          <a:prstGeom prst="curvedConnector2">
            <a:avLst/>
          </a:prstGeom>
          <a:noFill/>
          <a:ln cap="flat" cmpd="sng" w="9525">
            <a:solidFill>
              <a:srgbClr val="67B4D4"/>
            </a:solidFill>
            <a:prstDash val="solid"/>
            <a:round/>
            <a:headEnd len="med" w="med" type="none"/>
            <a:tailEnd len="med" w="med" type="triangle"/>
          </a:ln>
        </p:spPr>
      </p:cxnSp>
      <p:cxnSp>
        <p:nvCxnSpPr>
          <p:cNvPr id="171" name="Google Shape;171;p21"/>
          <p:cNvCxnSpPr>
            <a:stCxn id="163" idx="3"/>
            <a:endCxn id="166" idx="2"/>
          </p:cNvCxnSpPr>
          <p:nvPr/>
        </p:nvCxnSpPr>
        <p:spPr>
          <a:xfrm flipH="1" rot="10800000">
            <a:off x="6830400" y="3268066"/>
            <a:ext cx="339600" cy="661800"/>
          </a:xfrm>
          <a:prstGeom prst="curvedConnector2">
            <a:avLst/>
          </a:prstGeom>
          <a:noFill/>
          <a:ln cap="flat" cmpd="sng" w="9525">
            <a:solidFill>
              <a:srgbClr val="67B4D4"/>
            </a:solidFill>
            <a:prstDash val="solid"/>
            <a:round/>
            <a:headEnd len="med" w="med" type="none"/>
            <a:tailEnd len="med" w="med" type="triangle"/>
          </a:ln>
        </p:spPr>
      </p:cxnSp>
      <p:cxnSp>
        <p:nvCxnSpPr>
          <p:cNvPr id="172" name="Google Shape;172;p21"/>
          <p:cNvCxnSpPr>
            <a:stCxn id="161" idx="1"/>
            <a:endCxn id="166" idx="2"/>
          </p:cNvCxnSpPr>
          <p:nvPr/>
        </p:nvCxnSpPr>
        <p:spPr>
          <a:xfrm rot="10800000">
            <a:off x="7169700" y="3268066"/>
            <a:ext cx="335100" cy="661800"/>
          </a:xfrm>
          <a:prstGeom prst="curvedConnector2">
            <a:avLst/>
          </a:prstGeom>
          <a:noFill/>
          <a:ln cap="flat" cmpd="sng" w="9525">
            <a:solidFill>
              <a:srgbClr val="67B4D4"/>
            </a:solidFill>
            <a:prstDash val="solid"/>
            <a:round/>
            <a:headEnd len="med" w="med" type="none"/>
            <a:tailEnd len="med" w="med" type="triangle"/>
          </a:ln>
        </p:spPr>
      </p:cxnSp>
      <p:cxnSp>
        <p:nvCxnSpPr>
          <p:cNvPr id="173" name="Google Shape;173;p21"/>
          <p:cNvCxnSpPr>
            <a:stCxn id="162" idx="2"/>
            <a:endCxn id="166" idx="3"/>
          </p:cNvCxnSpPr>
          <p:nvPr/>
        </p:nvCxnSpPr>
        <p:spPr>
          <a:xfrm rot="5400000">
            <a:off x="7984700" y="2874291"/>
            <a:ext cx="126300" cy="338400"/>
          </a:xfrm>
          <a:prstGeom prst="curvedConnector2">
            <a:avLst/>
          </a:prstGeom>
          <a:noFill/>
          <a:ln cap="flat" cmpd="sng" w="9525">
            <a:solidFill>
              <a:srgbClr val="67B4D4"/>
            </a:solidFill>
            <a:prstDash val="solid"/>
            <a:round/>
            <a:headEnd len="med" w="med" type="none"/>
            <a:tailEnd len="med" w="med" type="triangle"/>
          </a:ln>
        </p:spPr>
      </p:cxnSp>
      <p:cxnSp>
        <p:nvCxnSpPr>
          <p:cNvPr id="174" name="Google Shape;174;p21"/>
          <p:cNvCxnSpPr>
            <a:stCxn id="152" idx="1"/>
            <a:endCxn id="153" idx="3"/>
          </p:cNvCxnSpPr>
          <p:nvPr/>
        </p:nvCxnSpPr>
        <p:spPr>
          <a:xfrm rot="10800000">
            <a:off x="1702103" y="1955042"/>
            <a:ext cx="1452000" cy="0"/>
          </a:xfrm>
          <a:prstGeom prst="straightConnector1">
            <a:avLst/>
          </a:prstGeom>
          <a:noFill/>
          <a:ln cap="flat" cmpd="sng" w="114300">
            <a:solidFill>
              <a:srgbClr val="67B4D4"/>
            </a:solidFill>
            <a:prstDash val="solid"/>
            <a:round/>
            <a:headEnd len="med" w="med" type="none"/>
            <a:tailEnd len="med" w="med" type="triangle"/>
          </a:ln>
        </p:spPr>
      </p:cxnSp>
      <p:cxnSp>
        <p:nvCxnSpPr>
          <p:cNvPr id="175" name="Google Shape;175;p21"/>
          <p:cNvCxnSpPr>
            <a:stCxn id="166" idx="2"/>
            <a:endCxn id="153" idx="2"/>
          </p:cNvCxnSpPr>
          <p:nvPr/>
        </p:nvCxnSpPr>
        <p:spPr>
          <a:xfrm flipH="1" rot="5400000">
            <a:off x="3779400" y="-122287"/>
            <a:ext cx="817500" cy="5963400"/>
          </a:xfrm>
          <a:prstGeom prst="curvedConnector3">
            <a:avLst>
              <a:gd fmla="val -29128" name="adj1"/>
            </a:avLst>
          </a:prstGeom>
          <a:noFill/>
          <a:ln cap="flat" cmpd="sng" w="28575">
            <a:solidFill>
              <a:srgbClr val="B7B7B7"/>
            </a:solidFill>
            <a:prstDash val="dash"/>
            <a:round/>
            <a:headEnd len="med" w="med" type="none"/>
            <a:tailEnd len="med" w="med" type="none"/>
          </a:ln>
        </p:spPr>
      </p:cxnSp>
      <p:sp>
        <p:nvSpPr>
          <p:cNvPr id="176" name="Google Shape;176;p21"/>
          <p:cNvSpPr txBox="1"/>
          <p:nvPr/>
        </p:nvSpPr>
        <p:spPr>
          <a:xfrm>
            <a:off x="1702125" y="3385942"/>
            <a:ext cx="26112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Avoid Competitors</a:t>
            </a:r>
            <a:endParaRPr sz="1800">
              <a:solidFill>
                <a:schemeClr val="dk2"/>
              </a:solidFill>
            </a:endParaRPr>
          </a:p>
          <a:p>
            <a:pPr indent="0" lvl="0" marL="0" rtl="0" algn="ctr">
              <a:spcBef>
                <a:spcPts val="0"/>
              </a:spcBef>
              <a:spcAft>
                <a:spcPts val="0"/>
              </a:spcAft>
              <a:buNone/>
            </a:pPr>
            <a:r>
              <a:rPr lang="en" sz="1800">
                <a:solidFill>
                  <a:schemeClr val="dk2"/>
                </a:solidFill>
              </a:rPr>
              <a:t>Mitigate Hallucinations</a:t>
            </a:r>
            <a:endParaRPr sz="1800">
              <a:solidFill>
                <a:schemeClr val="dk2"/>
              </a:solidFill>
            </a:endParaRPr>
          </a:p>
          <a:p>
            <a:pPr indent="0" lvl="0" marL="0" rtl="0" algn="ctr">
              <a:spcBef>
                <a:spcPts val="0"/>
              </a:spcBef>
              <a:spcAft>
                <a:spcPts val="0"/>
              </a:spcAft>
              <a:buNone/>
            </a:pPr>
            <a:r>
              <a:rPr lang="en" sz="1800">
                <a:solidFill>
                  <a:schemeClr val="dk2"/>
                </a:solidFill>
              </a:rPr>
              <a:t>Customer Focus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8B4D4"/>
        </a:solidFill>
      </p:bgPr>
    </p:bg>
    <p:spTree>
      <p:nvGrpSpPr>
        <p:cNvPr id="180" name="Shape 180"/>
        <p:cNvGrpSpPr/>
        <p:nvPr/>
      </p:nvGrpSpPr>
      <p:grpSpPr>
        <a:xfrm>
          <a:off x="0" y="0"/>
          <a:ext cx="0" cy="0"/>
          <a:chOff x="0" y="0"/>
          <a:chExt cx="0" cy="0"/>
        </a:xfrm>
      </p:grpSpPr>
      <p:sp>
        <p:nvSpPr>
          <p:cNvPr id="181" name="Google Shape;181;p22"/>
          <p:cNvSpPr txBox="1"/>
          <p:nvPr>
            <p:ph idx="4294967295" type="title"/>
          </p:nvPr>
        </p:nvSpPr>
        <p:spPr>
          <a:xfrm>
            <a:off x="539000" y="2458150"/>
            <a:ext cx="2144700" cy="17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00">
                <a:solidFill>
                  <a:srgbClr val="F16562"/>
                </a:solidFill>
                <a:latin typeface="Noto Sans Grantha"/>
                <a:ea typeface="Noto Sans Grantha"/>
                <a:cs typeface="Noto Sans Grantha"/>
                <a:sym typeface="Noto Sans Grantha"/>
              </a:rPr>
              <a:t>To</a:t>
            </a:r>
            <a:r>
              <a:rPr lang="en" sz="2020">
                <a:solidFill>
                  <a:schemeClr val="lt1"/>
                </a:solidFill>
                <a:latin typeface="Noto Sans Grantha"/>
                <a:ea typeface="Noto Sans Grantha"/>
                <a:cs typeface="Noto Sans Grantha"/>
                <a:sym typeface="Noto Sans Grantha"/>
              </a:rPr>
              <a:t> improve Mayo Clinic lab patient care outcomes at scale</a:t>
            </a:r>
            <a:endParaRPr sz="2020">
              <a:solidFill>
                <a:schemeClr val="lt1"/>
              </a:solidFill>
              <a:latin typeface="Noto Sans Grantha"/>
              <a:ea typeface="Noto Sans Grantha"/>
              <a:cs typeface="Noto Sans Grantha"/>
              <a:sym typeface="Noto Sans Grantha"/>
            </a:endParaRPr>
          </a:p>
        </p:txBody>
      </p:sp>
      <p:sp>
        <p:nvSpPr>
          <p:cNvPr id="182" name="Google Shape;182;p22"/>
          <p:cNvSpPr txBox="1"/>
          <p:nvPr>
            <p:ph idx="4294967295" type="title"/>
          </p:nvPr>
        </p:nvSpPr>
        <p:spPr>
          <a:xfrm>
            <a:off x="2663653" y="2458150"/>
            <a:ext cx="2457900" cy="191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00">
                <a:solidFill>
                  <a:srgbClr val="F16562"/>
                </a:solidFill>
                <a:latin typeface="Noto Sans Grantha"/>
                <a:ea typeface="Noto Sans Grantha"/>
                <a:cs typeface="Noto Sans Grantha"/>
                <a:sym typeface="Noto Sans Grantha"/>
              </a:rPr>
              <a:t>By</a:t>
            </a:r>
            <a:r>
              <a:rPr lang="en" sz="2020">
                <a:latin typeface="Noto Sans Grantha"/>
                <a:ea typeface="Noto Sans Grantha"/>
                <a:cs typeface="Noto Sans Grantha"/>
                <a:sym typeface="Noto Sans Grantha"/>
              </a:rPr>
              <a:t> </a:t>
            </a:r>
            <a:r>
              <a:rPr lang="en" sz="2020">
                <a:solidFill>
                  <a:schemeClr val="lt1"/>
                </a:solidFill>
                <a:latin typeface="Noto Sans Grantha"/>
                <a:ea typeface="Noto Sans Grantha"/>
                <a:cs typeface="Noto Sans Grantha"/>
                <a:sym typeface="Noto Sans Grantha"/>
              </a:rPr>
              <a:t>a</a:t>
            </a:r>
            <a:r>
              <a:rPr lang="en" sz="2020">
                <a:solidFill>
                  <a:schemeClr val="lt1"/>
                </a:solidFill>
                <a:latin typeface="Noto Sans Grantha"/>
                <a:ea typeface="Noto Sans Grantha"/>
                <a:cs typeface="Noto Sans Grantha"/>
                <a:sym typeface="Noto Sans Grantha"/>
              </a:rPr>
              <a:t>ugmenting </a:t>
            </a:r>
            <a:r>
              <a:rPr lang="en" sz="2020">
                <a:solidFill>
                  <a:schemeClr val="lt1"/>
                </a:solidFill>
                <a:latin typeface="Noto Sans Grantha"/>
                <a:ea typeface="Noto Sans Grantha"/>
                <a:cs typeface="Noto Sans Grantha"/>
                <a:sym typeface="Noto Sans Grantha"/>
              </a:rPr>
              <a:t>physician-facing test results</a:t>
            </a:r>
            <a:r>
              <a:rPr lang="en" sz="2020">
                <a:solidFill>
                  <a:schemeClr val="lt1"/>
                </a:solidFill>
                <a:latin typeface="Noto Sans Grantha"/>
                <a:ea typeface="Noto Sans Grantha"/>
                <a:cs typeface="Noto Sans Grantha"/>
                <a:sym typeface="Noto Sans Grantha"/>
              </a:rPr>
              <a:t> with relevant research</a:t>
            </a:r>
            <a:endParaRPr sz="2020">
              <a:solidFill>
                <a:schemeClr val="lt1"/>
              </a:solidFill>
              <a:latin typeface="Noto Sans Grantha"/>
              <a:ea typeface="Noto Sans Grantha"/>
              <a:cs typeface="Noto Sans Grantha"/>
              <a:sym typeface="Noto Sans Grantha"/>
            </a:endParaRPr>
          </a:p>
        </p:txBody>
      </p:sp>
      <p:sp>
        <p:nvSpPr>
          <p:cNvPr id="183" name="Google Shape;183;p22"/>
          <p:cNvSpPr txBox="1"/>
          <p:nvPr>
            <p:ph idx="4294967295" type="title"/>
          </p:nvPr>
        </p:nvSpPr>
        <p:spPr>
          <a:xfrm>
            <a:off x="5017850" y="2458150"/>
            <a:ext cx="2286300" cy="17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00">
                <a:solidFill>
                  <a:srgbClr val="F16562"/>
                </a:solidFill>
                <a:latin typeface="Noto Sans Grantha"/>
                <a:ea typeface="Noto Sans Grantha"/>
                <a:cs typeface="Noto Sans Grantha"/>
                <a:sym typeface="Noto Sans Grantha"/>
              </a:rPr>
              <a:t>Using</a:t>
            </a:r>
            <a:r>
              <a:rPr lang="en" sz="2020">
                <a:latin typeface="Noto Sans Grantha"/>
                <a:ea typeface="Noto Sans Grantha"/>
                <a:cs typeface="Noto Sans Grantha"/>
                <a:sym typeface="Noto Sans Grantha"/>
              </a:rPr>
              <a:t> </a:t>
            </a:r>
            <a:r>
              <a:rPr lang="en" sz="2020">
                <a:solidFill>
                  <a:schemeClr val="lt1"/>
                </a:solidFill>
                <a:latin typeface="Noto Sans Grantha"/>
                <a:ea typeface="Noto Sans Grantha"/>
                <a:cs typeface="Noto Sans Grantha"/>
                <a:sym typeface="Noto Sans Grantha"/>
              </a:rPr>
              <a:t>an agentic AI clinical librarian</a:t>
            </a:r>
            <a:endParaRPr sz="2020">
              <a:solidFill>
                <a:schemeClr val="lt1"/>
              </a:solidFill>
              <a:latin typeface="Noto Sans Grantha"/>
              <a:ea typeface="Noto Sans Grantha"/>
              <a:cs typeface="Noto Sans Grantha"/>
              <a:sym typeface="Noto Sans Grantha"/>
            </a:endParaRPr>
          </a:p>
        </p:txBody>
      </p:sp>
      <p:pic>
        <p:nvPicPr>
          <p:cNvPr id="184" name="Google Shape;184;p22" title="vial_large.png"/>
          <p:cNvPicPr preferRelativeResize="0"/>
          <p:nvPr/>
        </p:nvPicPr>
        <p:blipFill>
          <a:blip r:embed="rId3">
            <a:alphaModFix/>
          </a:blip>
          <a:stretch>
            <a:fillRect/>
          </a:stretch>
        </p:blipFill>
        <p:spPr>
          <a:xfrm>
            <a:off x="7380575" y="-4860"/>
            <a:ext cx="1668176" cy="5153223"/>
          </a:xfrm>
          <a:prstGeom prst="rect">
            <a:avLst/>
          </a:prstGeom>
          <a:noFill/>
          <a:ln>
            <a:noFill/>
          </a:ln>
        </p:spPr>
      </p:pic>
      <p:pic>
        <p:nvPicPr>
          <p:cNvPr id="185" name="Google Shape;185;p22" title="patient.png"/>
          <p:cNvPicPr preferRelativeResize="0"/>
          <p:nvPr/>
        </p:nvPicPr>
        <p:blipFill>
          <a:blip r:embed="rId4">
            <a:alphaModFix/>
          </a:blip>
          <a:stretch>
            <a:fillRect/>
          </a:stretch>
        </p:blipFill>
        <p:spPr>
          <a:xfrm>
            <a:off x="836425" y="1466850"/>
            <a:ext cx="991300" cy="991300"/>
          </a:xfrm>
          <a:prstGeom prst="rect">
            <a:avLst/>
          </a:prstGeom>
          <a:noFill/>
          <a:ln>
            <a:noFill/>
          </a:ln>
        </p:spPr>
      </p:pic>
      <p:pic>
        <p:nvPicPr>
          <p:cNvPr id="186" name="Google Shape;186;p22" title="user-doctor-hair-long.png"/>
          <p:cNvPicPr preferRelativeResize="0"/>
          <p:nvPr/>
        </p:nvPicPr>
        <p:blipFill>
          <a:blip r:embed="rId5">
            <a:alphaModFix/>
          </a:blip>
          <a:stretch>
            <a:fillRect/>
          </a:stretch>
        </p:blipFill>
        <p:spPr>
          <a:xfrm>
            <a:off x="3311153" y="1466850"/>
            <a:ext cx="991300" cy="991300"/>
          </a:xfrm>
          <a:prstGeom prst="rect">
            <a:avLst/>
          </a:prstGeom>
          <a:noFill/>
          <a:ln>
            <a:noFill/>
          </a:ln>
        </p:spPr>
      </p:pic>
      <p:pic>
        <p:nvPicPr>
          <p:cNvPr id="187" name="Google Shape;187;p22" title="system-cloud.png"/>
          <p:cNvPicPr preferRelativeResize="0"/>
          <p:nvPr/>
        </p:nvPicPr>
        <p:blipFill>
          <a:blip r:embed="rId6">
            <a:alphaModFix/>
          </a:blip>
          <a:stretch>
            <a:fillRect/>
          </a:stretch>
        </p:blipFill>
        <p:spPr>
          <a:xfrm>
            <a:off x="5578337" y="1466850"/>
            <a:ext cx="991300" cy="991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B4D4"/>
        </a:solidFill>
      </p:bgPr>
    </p:bg>
    <p:spTree>
      <p:nvGrpSpPr>
        <p:cNvPr id="191" name="Shape 191"/>
        <p:cNvGrpSpPr/>
        <p:nvPr/>
      </p:nvGrpSpPr>
      <p:grpSpPr>
        <a:xfrm>
          <a:off x="0" y="0"/>
          <a:ext cx="0" cy="0"/>
          <a:chOff x="0" y="0"/>
          <a:chExt cx="0" cy="0"/>
        </a:xfrm>
      </p:grpSpPr>
      <p:pic>
        <p:nvPicPr>
          <p:cNvPr id="192" name="Google Shape;192;p23" title="vial_large.png"/>
          <p:cNvPicPr preferRelativeResize="0"/>
          <p:nvPr/>
        </p:nvPicPr>
        <p:blipFill>
          <a:blip r:embed="rId3">
            <a:alphaModFix/>
          </a:blip>
          <a:stretch>
            <a:fillRect/>
          </a:stretch>
        </p:blipFill>
        <p:spPr>
          <a:xfrm>
            <a:off x="7380575" y="-4860"/>
            <a:ext cx="1668176" cy="5153223"/>
          </a:xfrm>
          <a:prstGeom prst="rect">
            <a:avLst/>
          </a:prstGeom>
          <a:noFill/>
          <a:ln>
            <a:noFill/>
          </a:ln>
        </p:spPr>
      </p:pic>
      <p:sp>
        <p:nvSpPr>
          <p:cNvPr id="193" name="Google Shape;193;p23"/>
          <p:cNvSpPr txBox="1"/>
          <p:nvPr/>
        </p:nvSpPr>
        <p:spPr>
          <a:xfrm>
            <a:off x="669875" y="1664304"/>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3000">
                <a:solidFill>
                  <a:srgbClr val="FFFFFF"/>
                </a:solidFill>
                <a:highlight>
                  <a:srgbClr val="67B4D4"/>
                </a:highlight>
                <a:latin typeface="Noto Sans Grantha"/>
                <a:ea typeface="Noto Sans Grantha"/>
                <a:cs typeface="Noto Sans Grantha"/>
                <a:sym typeface="Noto Sans Grantha"/>
              </a:rPr>
              <a:t>Concept</a:t>
            </a:r>
            <a:endParaRPr b="1" sz="3000">
              <a:solidFill>
                <a:srgbClr val="FFFFFF"/>
              </a:solidFill>
              <a:highlight>
                <a:srgbClr val="67B4D4"/>
              </a:highlight>
              <a:latin typeface="Noto Sans Grantha"/>
              <a:ea typeface="Noto Sans Grantha"/>
              <a:cs typeface="Noto Sans Grantha"/>
              <a:sym typeface="Noto Sans Grantha"/>
            </a:endParaRPr>
          </a:p>
        </p:txBody>
      </p:sp>
      <p:sp>
        <p:nvSpPr>
          <p:cNvPr id="194" name="Google Shape;194;p23"/>
          <p:cNvSpPr txBox="1"/>
          <p:nvPr/>
        </p:nvSpPr>
        <p:spPr>
          <a:xfrm>
            <a:off x="669875" y="3816288"/>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Delivery</a:t>
            </a:r>
            <a:endParaRPr sz="2600">
              <a:solidFill>
                <a:srgbClr val="D0E0E3"/>
              </a:solidFill>
              <a:latin typeface="Noto Sans Grantha"/>
              <a:ea typeface="Noto Sans Grantha"/>
              <a:cs typeface="Noto Sans Grantha"/>
              <a:sym typeface="Noto Sans Grantha"/>
            </a:endParaRPr>
          </a:p>
        </p:txBody>
      </p:sp>
      <p:sp>
        <p:nvSpPr>
          <p:cNvPr id="195" name="Google Shape;195;p23"/>
          <p:cNvSpPr txBox="1"/>
          <p:nvPr/>
        </p:nvSpPr>
        <p:spPr>
          <a:xfrm>
            <a:off x="669875" y="588313"/>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Problem</a:t>
            </a:r>
            <a:endParaRPr sz="2600">
              <a:solidFill>
                <a:srgbClr val="83CAEB"/>
              </a:solidFill>
              <a:latin typeface="Noto Sans Grantha"/>
              <a:ea typeface="Noto Sans Grantha"/>
              <a:cs typeface="Noto Sans Grantha"/>
              <a:sym typeface="Noto Sans Grantha"/>
            </a:endParaRPr>
          </a:p>
        </p:txBody>
      </p:sp>
      <p:sp>
        <p:nvSpPr>
          <p:cNvPr id="196" name="Google Shape;196;p23"/>
          <p:cNvSpPr txBox="1"/>
          <p:nvPr/>
        </p:nvSpPr>
        <p:spPr>
          <a:xfrm>
            <a:off x="669875" y="2740296"/>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Solution</a:t>
            </a:r>
            <a:endParaRPr sz="2600">
              <a:solidFill>
                <a:srgbClr val="D0E0E3"/>
              </a:solidFill>
              <a:latin typeface="Noto Sans Grantha"/>
              <a:ea typeface="Noto Sans Grantha"/>
              <a:cs typeface="Noto Sans Grantha"/>
              <a:sym typeface="Noto Sans Grantha"/>
            </a:endParaRPr>
          </a:p>
        </p:txBody>
      </p:sp>
      <p:sp>
        <p:nvSpPr>
          <p:cNvPr id="197" name="Google Shape;197;p23"/>
          <p:cNvSpPr/>
          <p:nvPr/>
        </p:nvSpPr>
        <p:spPr>
          <a:xfrm>
            <a:off x="0" y="0"/>
            <a:ext cx="452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585288" y="14867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420">
                <a:latin typeface="Calibri"/>
                <a:ea typeface="Calibri"/>
                <a:cs typeface="Calibri"/>
                <a:sym typeface="Calibri"/>
              </a:rPr>
              <a:t>Top Stakeholders, Top Needs</a:t>
            </a:r>
            <a:endParaRPr sz="2420">
              <a:latin typeface="Calibri"/>
              <a:ea typeface="Calibri"/>
              <a:cs typeface="Calibri"/>
              <a:sym typeface="Calibri"/>
            </a:endParaRPr>
          </a:p>
        </p:txBody>
      </p:sp>
      <p:sp>
        <p:nvSpPr>
          <p:cNvPr id="203" name="Google Shape;203;p24"/>
          <p:cNvSpPr txBox="1"/>
          <p:nvPr/>
        </p:nvSpPr>
        <p:spPr>
          <a:xfrm>
            <a:off x="1873713"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External Laboratory</a:t>
            </a:r>
            <a:endParaRPr sz="1200">
              <a:solidFill>
                <a:srgbClr val="000000"/>
              </a:solidFill>
              <a:latin typeface="Proxima Nova"/>
              <a:ea typeface="Proxima Nova"/>
              <a:cs typeface="Proxima Nova"/>
              <a:sym typeface="Proxima Nova"/>
            </a:endParaRPr>
          </a:p>
        </p:txBody>
      </p:sp>
      <p:sp>
        <p:nvSpPr>
          <p:cNvPr id="204" name="Google Shape;204;p24"/>
          <p:cNvSpPr txBox="1"/>
          <p:nvPr/>
        </p:nvSpPr>
        <p:spPr>
          <a:xfrm>
            <a:off x="3185768"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Mayo Clinic Labs</a:t>
            </a:r>
            <a:endParaRPr sz="1200">
              <a:solidFill>
                <a:srgbClr val="000000"/>
              </a:solidFill>
              <a:latin typeface="Proxima Nova"/>
              <a:ea typeface="Proxima Nova"/>
              <a:cs typeface="Proxima Nova"/>
              <a:sym typeface="Proxima Nova"/>
            </a:endParaRPr>
          </a:p>
        </p:txBody>
      </p:sp>
      <p:sp>
        <p:nvSpPr>
          <p:cNvPr id="205" name="Google Shape;205;p24"/>
          <p:cNvSpPr txBox="1"/>
          <p:nvPr/>
        </p:nvSpPr>
        <p:spPr>
          <a:xfrm>
            <a:off x="234252" y="700733"/>
            <a:ext cx="7428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latin typeface="Proxima Nova"/>
                <a:ea typeface="Proxima Nova"/>
                <a:cs typeface="Proxima Nova"/>
                <a:sym typeface="Proxima Nova"/>
              </a:rPr>
              <a:t>External </a:t>
            </a:r>
            <a:r>
              <a:rPr lang="en" sz="1200">
                <a:solidFill>
                  <a:srgbClr val="000000"/>
                </a:solidFill>
                <a:latin typeface="Proxima Nova"/>
                <a:ea typeface="Proxima Nova"/>
                <a:cs typeface="Proxima Nova"/>
                <a:sym typeface="Proxima Nova"/>
              </a:rPr>
              <a:t>Patient</a:t>
            </a:r>
            <a:endParaRPr sz="1200">
              <a:solidFill>
                <a:srgbClr val="000000"/>
              </a:solidFill>
              <a:latin typeface="Proxima Nova"/>
              <a:ea typeface="Proxima Nova"/>
              <a:cs typeface="Proxima Nova"/>
              <a:sym typeface="Proxima Nova"/>
            </a:endParaRPr>
          </a:p>
        </p:txBody>
      </p:sp>
      <p:sp>
        <p:nvSpPr>
          <p:cNvPr id="206" name="Google Shape;206;p24"/>
          <p:cNvSpPr txBox="1"/>
          <p:nvPr/>
        </p:nvSpPr>
        <p:spPr>
          <a:xfrm>
            <a:off x="1167563" y="700733"/>
            <a:ext cx="7956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latin typeface="Proxima Nova"/>
                <a:ea typeface="Proxima Nova"/>
                <a:cs typeface="Proxima Nova"/>
                <a:sym typeface="Proxima Nova"/>
              </a:rPr>
              <a:t>External </a:t>
            </a:r>
            <a:r>
              <a:rPr lang="en" sz="1200">
                <a:solidFill>
                  <a:srgbClr val="000000"/>
                </a:solidFill>
                <a:latin typeface="Proxima Nova"/>
                <a:ea typeface="Proxima Nova"/>
                <a:cs typeface="Proxima Nova"/>
                <a:sym typeface="Proxima Nova"/>
              </a:rPr>
              <a:t>Physician</a:t>
            </a:r>
            <a:endParaRPr sz="1200">
              <a:solidFill>
                <a:srgbClr val="000000"/>
              </a:solidFill>
              <a:latin typeface="Proxima Nova"/>
              <a:ea typeface="Proxima Nova"/>
              <a:cs typeface="Proxima Nova"/>
              <a:sym typeface="Proxima Nova"/>
            </a:endParaRPr>
          </a:p>
        </p:txBody>
      </p:sp>
      <p:sp>
        <p:nvSpPr>
          <p:cNvPr id="207" name="Google Shape;207;p24"/>
          <p:cNvSpPr/>
          <p:nvPr/>
        </p:nvSpPr>
        <p:spPr>
          <a:xfrm>
            <a:off x="8691600" y="0"/>
            <a:ext cx="452400" cy="5143500"/>
          </a:xfrm>
          <a:prstGeom prst="rect">
            <a:avLst/>
          </a:prstGeom>
          <a:solidFill>
            <a:srgbClr val="68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208" name="Google Shape;208;p24"/>
          <p:cNvSpPr/>
          <p:nvPr/>
        </p:nvSpPr>
        <p:spPr>
          <a:xfrm>
            <a:off x="138100" y="1450700"/>
            <a:ext cx="935100" cy="558000"/>
          </a:xfrm>
          <a:prstGeom prst="wedgeEllipseCallout">
            <a:avLst>
              <a:gd fmla="val 1516" name="adj1"/>
              <a:gd fmla="val -106765" name="adj2"/>
            </a:avLst>
          </a:prstGeom>
          <a:noFill/>
          <a:ln cap="flat" cmpd="sng" w="9525">
            <a:solidFill>
              <a:srgbClr val="67B4D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rPr lang="en" sz="1200">
                <a:latin typeface="Proxima Nova"/>
                <a:ea typeface="Proxima Nova"/>
                <a:cs typeface="Proxima Nova"/>
                <a:sym typeface="Proxima Nova"/>
              </a:rPr>
              <a:t>Care</a:t>
            </a:r>
            <a:endParaRPr sz="1200">
              <a:latin typeface="Proxima Nova"/>
              <a:ea typeface="Proxima Nova"/>
              <a:cs typeface="Proxima Nova"/>
              <a:sym typeface="Proxima Nova"/>
            </a:endParaRPr>
          </a:p>
        </p:txBody>
      </p:sp>
      <p:sp>
        <p:nvSpPr>
          <p:cNvPr id="209" name="Google Shape;209;p24"/>
          <p:cNvSpPr/>
          <p:nvPr/>
        </p:nvSpPr>
        <p:spPr>
          <a:xfrm>
            <a:off x="585300" y="1948450"/>
            <a:ext cx="1383600" cy="558000"/>
          </a:xfrm>
          <a:prstGeom prst="wedgeEllipseCallout">
            <a:avLst>
              <a:gd fmla="val 22266" name="adj1"/>
              <a:gd fmla="val -188660" name="adj2"/>
            </a:avLst>
          </a:prstGeom>
          <a:noFill/>
          <a:ln cap="flat" cmpd="sng" w="9525">
            <a:solidFill>
              <a:srgbClr val="67B4D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Test Results</a:t>
            </a:r>
            <a:endParaRPr sz="1200">
              <a:latin typeface="Proxima Nova"/>
              <a:ea typeface="Proxima Nova"/>
              <a:cs typeface="Proxima Nova"/>
              <a:sym typeface="Proxima Nova"/>
            </a:endParaRPr>
          </a:p>
        </p:txBody>
      </p:sp>
      <p:sp>
        <p:nvSpPr>
          <p:cNvPr id="210" name="Google Shape;210;p24"/>
          <p:cNvSpPr/>
          <p:nvPr/>
        </p:nvSpPr>
        <p:spPr>
          <a:xfrm>
            <a:off x="2164775" y="1603100"/>
            <a:ext cx="1383600" cy="558000"/>
          </a:xfrm>
          <a:prstGeom prst="wedgeEllipseCallout">
            <a:avLst>
              <a:gd fmla="val -73903" name="adj1"/>
              <a:gd fmla="val -129471" name="adj2"/>
            </a:avLst>
          </a:prstGeom>
          <a:noFill/>
          <a:ln cap="flat" cmpd="sng" w="9525">
            <a:solidFill>
              <a:srgbClr val="67B4D4"/>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Interpretation</a:t>
            </a:r>
            <a:endParaRPr sz="1200">
              <a:latin typeface="Proxima Nova"/>
              <a:ea typeface="Proxima Nova"/>
              <a:cs typeface="Proxima Nova"/>
              <a:sym typeface="Proxima Nova"/>
            </a:endParaRPr>
          </a:p>
        </p:txBody>
      </p:sp>
      <p:sp>
        <p:nvSpPr>
          <p:cNvPr id="211" name="Google Shape;211;p24"/>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Stakeholder needs</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cxnSp>
        <p:nvCxnSpPr>
          <p:cNvPr id="216" name="Google Shape;216;p25"/>
          <p:cNvCxnSpPr/>
          <p:nvPr/>
        </p:nvCxnSpPr>
        <p:spPr>
          <a:xfrm>
            <a:off x="2395182" y="1284451"/>
            <a:ext cx="0" cy="2399100"/>
          </a:xfrm>
          <a:prstGeom prst="straightConnector1">
            <a:avLst/>
          </a:prstGeom>
          <a:noFill/>
          <a:ln cap="flat" cmpd="sng" w="13025">
            <a:solidFill>
              <a:srgbClr val="7F7F7F"/>
            </a:solidFill>
            <a:prstDash val="dash"/>
            <a:miter lim="800000"/>
            <a:headEnd len="sm" w="sm" type="none"/>
            <a:tailEnd len="sm" w="sm" type="none"/>
          </a:ln>
        </p:spPr>
      </p:cxnSp>
      <p:cxnSp>
        <p:nvCxnSpPr>
          <p:cNvPr id="217" name="Google Shape;217;p25"/>
          <p:cNvCxnSpPr/>
          <p:nvPr/>
        </p:nvCxnSpPr>
        <p:spPr>
          <a:xfrm>
            <a:off x="3707235" y="1284451"/>
            <a:ext cx="0" cy="2399100"/>
          </a:xfrm>
          <a:prstGeom prst="straightConnector1">
            <a:avLst/>
          </a:prstGeom>
          <a:noFill/>
          <a:ln cap="flat" cmpd="sng" w="13025">
            <a:solidFill>
              <a:srgbClr val="7F7F7F"/>
            </a:solidFill>
            <a:prstDash val="dash"/>
            <a:miter lim="800000"/>
            <a:headEnd len="sm" w="sm" type="none"/>
            <a:tailEnd len="sm" w="sm" type="none"/>
          </a:ln>
        </p:spPr>
      </p:cxnSp>
      <p:cxnSp>
        <p:nvCxnSpPr>
          <p:cNvPr id="218" name="Google Shape;218;p25"/>
          <p:cNvCxnSpPr/>
          <p:nvPr/>
        </p:nvCxnSpPr>
        <p:spPr>
          <a:xfrm>
            <a:off x="605625" y="1284451"/>
            <a:ext cx="0" cy="2399100"/>
          </a:xfrm>
          <a:prstGeom prst="straightConnector1">
            <a:avLst/>
          </a:prstGeom>
          <a:noFill/>
          <a:ln cap="flat" cmpd="sng" w="13025">
            <a:solidFill>
              <a:srgbClr val="7F7F7F"/>
            </a:solidFill>
            <a:prstDash val="dash"/>
            <a:miter lim="800000"/>
            <a:headEnd len="sm" w="sm" type="none"/>
            <a:tailEnd len="sm" w="sm" type="none"/>
          </a:ln>
        </p:spPr>
      </p:cxnSp>
      <p:cxnSp>
        <p:nvCxnSpPr>
          <p:cNvPr id="219" name="Google Shape;219;p25"/>
          <p:cNvCxnSpPr/>
          <p:nvPr/>
        </p:nvCxnSpPr>
        <p:spPr>
          <a:xfrm>
            <a:off x="1565212" y="1284451"/>
            <a:ext cx="0" cy="2399100"/>
          </a:xfrm>
          <a:prstGeom prst="straightConnector1">
            <a:avLst/>
          </a:prstGeom>
          <a:noFill/>
          <a:ln cap="flat" cmpd="sng" w="13025">
            <a:solidFill>
              <a:srgbClr val="7F7F7F"/>
            </a:solidFill>
            <a:prstDash val="dash"/>
            <a:miter lim="800000"/>
            <a:headEnd len="sm" w="sm" type="none"/>
            <a:tailEnd len="sm" w="sm" type="none"/>
          </a:ln>
        </p:spPr>
      </p:cxnSp>
      <p:grpSp>
        <p:nvGrpSpPr>
          <p:cNvPr id="220" name="Google Shape;220;p25"/>
          <p:cNvGrpSpPr/>
          <p:nvPr/>
        </p:nvGrpSpPr>
        <p:grpSpPr>
          <a:xfrm>
            <a:off x="512384" y="1113230"/>
            <a:ext cx="1780560" cy="1048589"/>
            <a:chOff x="1274384" y="1113230"/>
            <a:chExt cx="1780560" cy="1048589"/>
          </a:xfrm>
        </p:grpSpPr>
        <p:sp>
          <p:nvSpPr>
            <p:cNvPr id="221" name="Google Shape;221;p25"/>
            <p:cNvSpPr/>
            <p:nvPr/>
          </p:nvSpPr>
          <p:spPr>
            <a:xfrm>
              <a:off x="1274384" y="1253136"/>
              <a:ext cx="191100" cy="903000"/>
            </a:xfrm>
            <a:prstGeom prst="roundRect">
              <a:avLst>
                <a:gd fmla="val 16667" name="adj"/>
              </a:avLst>
            </a:prstGeom>
            <a:solidFill>
              <a:srgbClr val="15608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22" name="Google Shape;222;p25"/>
            <p:cNvCxnSpPr/>
            <p:nvPr/>
          </p:nvCxnSpPr>
          <p:spPr>
            <a:xfrm rot="10800000">
              <a:off x="1467595" y="1728414"/>
              <a:ext cx="764100" cy="0"/>
            </a:xfrm>
            <a:prstGeom prst="straightConnector1">
              <a:avLst/>
            </a:prstGeom>
            <a:noFill/>
            <a:ln cap="flat" cmpd="sng" w="19475">
              <a:solidFill>
                <a:srgbClr val="7F7F7F"/>
              </a:solidFill>
              <a:prstDash val="solid"/>
              <a:miter lim="800000"/>
              <a:headEnd len="sm" w="sm" type="none"/>
              <a:tailEnd len="med" w="med" type="triangle"/>
            </a:ln>
          </p:spPr>
        </p:cxnSp>
        <p:sp>
          <p:nvSpPr>
            <p:cNvPr id="223" name="Google Shape;223;p25"/>
            <p:cNvSpPr/>
            <p:nvPr/>
          </p:nvSpPr>
          <p:spPr>
            <a:xfrm>
              <a:off x="2231695" y="1274941"/>
              <a:ext cx="191100" cy="544500"/>
            </a:xfrm>
            <a:prstGeom prst="roundRect">
              <a:avLst>
                <a:gd fmla="val 16667" name="adj"/>
              </a:avLst>
            </a:prstGeom>
            <a:solidFill>
              <a:srgbClr val="A02B93">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24" name="Google Shape;224;p25"/>
            <p:cNvCxnSpPr/>
            <p:nvPr/>
          </p:nvCxnSpPr>
          <p:spPr>
            <a:xfrm>
              <a:off x="1436142" y="1358264"/>
              <a:ext cx="795600" cy="0"/>
            </a:xfrm>
            <a:prstGeom prst="straightConnector1">
              <a:avLst/>
            </a:prstGeom>
            <a:noFill/>
            <a:ln cap="flat" cmpd="sng" w="19475">
              <a:solidFill>
                <a:srgbClr val="7F7F7F"/>
              </a:solidFill>
              <a:prstDash val="solid"/>
              <a:miter lim="800000"/>
              <a:headEnd len="sm" w="sm" type="none"/>
              <a:tailEnd len="med" w="med" type="triangle"/>
            </a:ln>
          </p:spPr>
        </p:cxnSp>
        <p:sp>
          <p:nvSpPr>
            <p:cNvPr id="225" name="Google Shape;225;p25"/>
            <p:cNvSpPr txBox="1"/>
            <p:nvPr/>
          </p:nvSpPr>
          <p:spPr>
            <a:xfrm>
              <a:off x="1457759" y="1113230"/>
              <a:ext cx="12756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Medical consultation</a:t>
              </a:r>
              <a:endParaRPr sz="818">
                <a:solidFill>
                  <a:srgbClr val="000000"/>
                </a:solidFill>
                <a:latin typeface="Proxima Nova"/>
                <a:ea typeface="Proxima Nova"/>
                <a:cs typeface="Proxima Nova"/>
                <a:sym typeface="Proxima Nova"/>
              </a:endParaRPr>
            </a:p>
          </p:txBody>
        </p:sp>
        <p:sp>
          <p:nvSpPr>
            <p:cNvPr id="226" name="Google Shape;226;p25"/>
            <p:cNvSpPr txBox="1"/>
            <p:nvPr/>
          </p:nvSpPr>
          <p:spPr>
            <a:xfrm>
              <a:off x="1479940" y="1751030"/>
              <a:ext cx="12084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Exam request</a:t>
              </a:r>
              <a:endParaRPr sz="818">
                <a:solidFill>
                  <a:srgbClr val="000000"/>
                </a:solidFill>
                <a:latin typeface="Proxima Nova"/>
                <a:ea typeface="Proxima Nova"/>
                <a:cs typeface="Proxima Nova"/>
                <a:sym typeface="Proxima Nova"/>
              </a:endParaRPr>
            </a:p>
          </p:txBody>
        </p:sp>
        <p:cxnSp>
          <p:nvCxnSpPr>
            <p:cNvPr id="227" name="Google Shape;227;p25"/>
            <p:cNvCxnSpPr/>
            <p:nvPr/>
          </p:nvCxnSpPr>
          <p:spPr>
            <a:xfrm>
              <a:off x="1473644" y="1957052"/>
              <a:ext cx="1581300" cy="0"/>
            </a:xfrm>
            <a:prstGeom prst="straightConnector1">
              <a:avLst/>
            </a:prstGeom>
            <a:noFill/>
            <a:ln cap="flat" cmpd="sng" w="19475">
              <a:solidFill>
                <a:srgbClr val="7F7F7F"/>
              </a:solidFill>
              <a:prstDash val="solid"/>
              <a:miter lim="800000"/>
              <a:headEnd len="sm" w="sm" type="none"/>
              <a:tailEnd len="med" w="med" type="triangle"/>
            </a:ln>
          </p:spPr>
        </p:cxnSp>
        <p:sp>
          <p:nvSpPr>
            <p:cNvPr id="228" name="Google Shape;228;p25"/>
            <p:cNvSpPr txBox="1"/>
            <p:nvPr/>
          </p:nvSpPr>
          <p:spPr>
            <a:xfrm>
              <a:off x="1453892" y="1973119"/>
              <a:ext cx="11811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Exam schedule</a:t>
              </a:r>
              <a:endParaRPr sz="818">
                <a:solidFill>
                  <a:srgbClr val="000000"/>
                </a:solidFill>
                <a:latin typeface="Proxima Nova"/>
                <a:ea typeface="Proxima Nova"/>
                <a:cs typeface="Proxima Nova"/>
                <a:sym typeface="Proxima Nova"/>
              </a:endParaRPr>
            </a:p>
          </p:txBody>
        </p:sp>
      </p:grpSp>
      <p:sp>
        <p:nvSpPr>
          <p:cNvPr id="229" name="Google Shape;229;p25"/>
          <p:cNvSpPr txBox="1"/>
          <p:nvPr>
            <p:ph type="title"/>
          </p:nvPr>
        </p:nvSpPr>
        <p:spPr>
          <a:xfrm>
            <a:off x="585288" y="14867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420">
                <a:latin typeface="Calibri"/>
                <a:ea typeface="Calibri"/>
                <a:cs typeface="Calibri"/>
                <a:sym typeface="Calibri"/>
              </a:rPr>
              <a:t>Lab interpretation workflow - Current</a:t>
            </a:r>
            <a:endParaRPr sz="2420">
              <a:latin typeface="Calibri"/>
              <a:ea typeface="Calibri"/>
              <a:cs typeface="Calibri"/>
              <a:sym typeface="Calibri"/>
            </a:endParaRPr>
          </a:p>
        </p:txBody>
      </p:sp>
      <p:grpSp>
        <p:nvGrpSpPr>
          <p:cNvPr id="230" name="Google Shape;230;p25"/>
          <p:cNvGrpSpPr/>
          <p:nvPr/>
        </p:nvGrpSpPr>
        <p:grpSpPr>
          <a:xfrm>
            <a:off x="505925" y="2852600"/>
            <a:ext cx="4414825" cy="724041"/>
            <a:chOff x="1267925" y="2852600"/>
            <a:chExt cx="4414825" cy="724041"/>
          </a:xfrm>
        </p:grpSpPr>
        <p:sp>
          <p:nvSpPr>
            <p:cNvPr id="231" name="Google Shape;231;p25"/>
            <p:cNvSpPr/>
            <p:nvPr/>
          </p:nvSpPr>
          <p:spPr>
            <a:xfrm>
              <a:off x="2224745" y="3149172"/>
              <a:ext cx="191100" cy="300000"/>
            </a:xfrm>
            <a:prstGeom prst="roundRect">
              <a:avLst>
                <a:gd fmla="val 16667" name="adj"/>
              </a:avLst>
            </a:prstGeom>
            <a:solidFill>
              <a:srgbClr val="A02B93">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32" name="Google Shape;232;p25"/>
            <p:cNvCxnSpPr/>
            <p:nvPr/>
          </p:nvCxnSpPr>
          <p:spPr>
            <a:xfrm rot="10800000">
              <a:off x="1439250" y="3018575"/>
              <a:ext cx="4243500" cy="0"/>
            </a:xfrm>
            <a:prstGeom prst="straightConnector1">
              <a:avLst/>
            </a:prstGeom>
            <a:noFill/>
            <a:ln cap="flat" cmpd="sng" w="19475">
              <a:solidFill>
                <a:srgbClr val="7F7F7F"/>
              </a:solidFill>
              <a:prstDash val="solid"/>
              <a:miter lim="800000"/>
              <a:headEnd len="sm" w="sm" type="none"/>
              <a:tailEnd len="med" w="med" type="triangle"/>
            </a:ln>
          </p:spPr>
        </p:cxnSp>
        <p:sp>
          <p:nvSpPr>
            <p:cNvPr id="233" name="Google Shape;233;p25"/>
            <p:cNvSpPr/>
            <p:nvPr/>
          </p:nvSpPr>
          <p:spPr>
            <a:xfrm>
              <a:off x="1267925" y="2876605"/>
              <a:ext cx="191100" cy="615900"/>
            </a:xfrm>
            <a:prstGeom prst="roundRect">
              <a:avLst>
                <a:gd fmla="val 16667" name="adj"/>
              </a:avLst>
            </a:prstGeom>
            <a:solidFill>
              <a:srgbClr val="15608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34" name="Google Shape;234;p25"/>
            <p:cNvCxnSpPr/>
            <p:nvPr/>
          </p:nvCxnSpPr>
          <p:spPr>
            <a:xfrm rot="10800000">
              <a:off x="2405750" y="3261950"/>
              <a:ext cx="3260400" cy="0"/>
            </a:xfrm>
            <a:prstGeom prst="straightConnector1">
              <a:avLst/>
            </a:prstGeom>
            <a:noFill/>
            <a:ln cap="flat" cmpd="sng" w="19475">
              <a:solidFill>
                <a:srgbClr val="7F7F7F"/>
              </a:solidFill>
              <a:prstDash val="solid"/>
              <a:miter lim="800000"/>
              <a:headEnd len="sm" w="sm" type="none"/>
              <a:tailEnd len="med" w="med" type="triangle"/>
            </a:ln>
          </p:spPr>
        </p:cxnSp>
        <p:sp>
          <p:nvSpPr>
            <p:cNvPr id="235" name="Google Shape;235;p25"/>
            <p:cNvSpPr txBox="1"/>
            <p:nvPr/>
          </p:nvSpPr>
          <p:spPr>
            <a:xfrm>
              <a:off x="3199506" y="2852600"/>
              <a:ext cx="11811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i="0" lang="en" sz="818">
                  <a:solidFill>
                    <a:srgbClr val="000000"/>
                  </a:solidFill>
                  <a:latin typeface="Proxima Nova"/>
                  <a:ea typeface="Proxima Nova"/>
                  <a:cs typeface="Proxima Nova"/>
                  <a:sym typeface="Proxima Nova"/>
                </a:rPr>
                <a:t>Notification of results</a:t>
              </a:r>
              <a:endParaRPr sz="955">
                <a:latin typeface="Proxima Nova"/>
                <a:ea typeface="Proxima Nova"/>
                <a:cs typeface="Proxima Nova"/>
                <a:sym typeface="Proxima Nova"/>
              </a:endParaRPr>
            </a:p>
          </p:txBody>
        </p:sp>
        <p:sp>
          <p:nvSpPr>
            <p:cNvPr id="236" name="Google Shape;236;p25"/>
            <p:cNvSpPr txBox="1"/>
            <p:nvPr/>
          </p:nvSpPr>
          <p:spPr>
            <a:xfrm>
              <a:off x="3222681" y="3264800"/>
              <a:ext cx="11811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i="0" lang="en" sz="818">
                  <a:solidFill>
                    <a:srgbClr val="000000"/>
                  </a:solidFill>
                  <a:latin typeface="Proxima Nova"/>
                  <a:ea typeface="Proxima Nova"/>
                  <a:cs typeface="Proxima Nova"/>
                  <a:sym typeface="Proxima Nova"/>
                </a:rPr>
                <a:t>Notification of results</a:t>
              </a:r>
              <a:endParaRPr sz="955">
                <a:latin typeface="Proxima Nova"/>
                <a:ea typeface="Proxima Nova"/>
                <a:cs typeface="Proxima Nova"/>
                <a:sym typeface="Proxima Nova"/>
              </a:endParaRPr>
            </a:p>
          </p:txBody>
        </p:sp>
        <p:cxnSp>
          <p:nvCxnSpPr>
            <p:cNvPr id="237" name="Google Shape;237;p25"/>
            <p:cNvCxnSpPr/>
            <p:nvPr/>
          </p:nvCxnSpPr>
          <p:spPr>
            <a:xfrm rot="10800000">
              <a:off x="1459445" y="3264214"/>
              <a:ext cx="764100" cy="0"/>
            </a:xfrm>
            <a:prstGeom prst="straightConnector1">
              <a:avLst/>
            </a:prstGeom>
            <a:noFill/>
            <a:ln cap="flat" cmpd="sng" w="19475">
              <a:solidFill>
                <a:srgbClr val="7F7F7F"/>
              </a:solidFill>
              <a:prstDash val="solid"/>
              <a:miter lim="800000"/>
              <a:headEnd len="sm" w="sm" type="none"/>
              <a:tailEnd len="med" w="med" type="triangle"/>
            </a:ln>
          </p:spPr>
        </p:cxnSp>
        <p:sp>
          <p:nvSpPr>
            <p:cNvPr id="238" name="Google Shape;238;p25"/>
            <p:cNvSpPr txBox="1"/>
            <p:nvPr/>
          </p:nvSpPr>
          <p:spPr>
            <a:xfrm>
              <a:off x="1491301" y="3261942"/>
              <a:ext cx="6918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latin typeface="Proxima Nova"/>
                  <a:ea typeface="Proxima Nova"/>
                  <a:cs typeface="Proxima Nova"/>
                  <a:sym typeface="Proxima Nova"/>
                </a:rPr>
                <a:t>Result explanation</a:t>
              </a:r>
              <a:endParaRPr sz="818">
                <a:solidFill>
                  <a:srgbClr val="000000"/>
                </a:solidFill>
                <a:latin typeface="Proxima Nova"/>
                <a:ea typeface="Proxima Nova"/>
                <a:cs typeface="Proxima Nova"/>
                <a:sym typeface="Proxima Nova"/>
              </a:endParaRPr>
            </a:p>
          </p:txBody>
        </p:sp>
      </p:grpSp>
      <p:cxnSp>
        <p:nvCxnSpPr>
          <p:cNvPr id="239" name="Google Shape;239;p25"/>
          <p:cNvCxnSpPr/>
          <p:nvPr/>
        </p:nvCxnSpPr>
        <p:spPr>
          <a:xfrm>
            <a:off x="5019300" y="1284451"/>
            <a:ext cx="0" cy="2399100"/>
          </a:xfrm>
          <a:prstGeom prst="straightConnector1">
            <a:avLst/>
          </a:prstGeom>
          <a:noFill/>
          <a:ln cap="flat" cmpd="sng" w="13025">
            <a:solidFill>
              <a:srgbClr val="7F7F7F"/>
            </a:solidFill>
            <a:prstDash val="dash"/>
            <a:miter lim="800000"/>
            <a:headEnd len="sm" w="sm" type="none"/>
            <a:tailEnd len="sm" w="sm" type="none"/>
          </a:ln>
        </p:spPr>
      </p:cxnSp>
      <p:grpSp>
        <p:nvGrpSpPr>
          <p:cNvPr id="240" name="Google Shape;240;p25"/>
          <p:cNvGrpSpPr/>
          <p:nvPr/>
        </p:nvGrpSpPr>
        <p:grpSpPr>
          <a:xfrm>
            <a:off x="2293076" y="1880151"/>
            <a:ext cx="3824626" cy="1567500"/>
            <a:chOff x="3055076" y="1880151"/>
            <a:chExt cx="3824626" cy="1567500"/>
          </a:xfrm>
        </p:grpSpPr>
        <p:sp>
          <p:nvSpPr>
            <p:cNvPr id="241" name="Google Shape;241;p25"/>
            <p:cNvSpPr/>
            <p:nvPr/>
          </p:nvSpPr>
          <p:spPr>
            <a:xfrm>
              <a:off x="3055076" y="1880155"/>
              <a:ext cx="191100" cy="561300"/>
            </a:xfrm>
            <a:prstGeom prst="roundRect">
              <a:avLst>
                <a:gd fmla="val 16667" name="adj"/>
              </a:avLst>
            </a:prstGeom>
            <a:solidFill>
              <a:srgbClr val="0F9ED5">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242" name="Google Shape;242;p25"/>
            <p:cNvSpPr/>
            <p:nvPr/>
          </p:nvSpPr>
          <p:spPr>
            <a:xfrm>
              <a:off x="4373720" y="1880155"/>
              <a:ext cx="191100" cy="547200"/>
            </a:xfrm>
            <a:prstGeom prst="roundRect">
              <a:avLst>
                <a:gd fmla="val 16667" name="adj"/>
              </a:avLst>
            </a:prstGeom>
            <a:solidFill>
              <a:srgbClr val="4EA72E">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43" name="Google Shape;243;p25"/>
            <p:cNvCxnSpPr/>
            <p:nvPr/>
          </p:nvCxnSpPr>
          <p:spPr>
            <a:xfrm>
              <a:off x="3246129" y="1957052"/>
              <a:ext cx="1114200" cy="0"/>
            </a:xfrm>
            <a:prstGeom prst="straightConnector1">
              <a:avLst/>
            </a:prstGeom>
            <a:noFill/>
            <a:ln cap="flat" cmpd="sng" w="19475">
              <a:solidFill>
                <a:srgbClr val="7F7F7F"/>
              </a:solidFill>
              <a:prstDash val="solid"/>
              <a:miter lim="800000"/>
              <a:headEnd len="sm" w="sm" type="none"/>
              <a:tailEnd len="med" w="med" type="triangle"/>
            </a:ln>
          </p:spPr>
        </p:cxnSp>
        <p:cxnSp>
          <p:nvCxnSpPr>
            <p:cNvPr id="244" name="Google Shape;244;p25"/>
            <p:cNvCxnSpPr/>
            <p:nvPr/>
          </p:nvCxnSpPr>
          <p:spPr>
            <a:xfrm>
              <a:off x="4564774" y="1945020"/>
              <a:ext cx="1117200" cy="0"/>
            </a:xfrm>
            <a:prstGeom prst="straightConnector1">
              <a:avLst/>
            </a:prstGeom>
            <a:noFill/>
            <a:ln cap="flat" cmpd="sng" w="19475">
              <a:solidFill>
                <a:srgbClr val="7F7F7F"/>
              </a:solidFill>
              <a:prstDash val="solid"/>
              <a:miter lim="800000"/>
              <a:headEnd len="sm" w="sm" type="none"/>
              <a:tailEnd len="med" w="med" type="triangle"/>
            </a:ln>
          </p:spPr>
        </p:cxnSp>
        <p:sp>
          <p:nvSpPr>
            <p:cNvPr id="245" name="Google Shape;245;p25"/>
            <p:cNvSpPr txBox="1"/>
            <p:nvPr/>
          </p:nvSpPr>
          <p:spPr>
            <a:xfrm>
              <a:off x="3282624" y="2004307"/>
              <a:ext cx="9573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Collects and send samples</a:t>
              </a:r>
              <a:endParaRPr sz="818">
                <a:solidFill>
                  <a:srgbClr val="000000"/>
                </a:solidFill>
                <a:latin typeface="Proxima Nova"/>
                <a:ea typeface="Proxima Nova"/>
                <a:cs typeface="Proxima Nova"/>
                <a:sym typeface="Proxima Nova"/>
              </a:endParaRPr>
            </a:p>
          </p:txBody>
        </p:sp>
        <p:sp>
          <p:nvSpPr>
            <p:cNvPr id="246" name="Google Shape;246;p25"/>
            <p:cNvSpPr txBox="1"/>
            <p:nvPr/>
          </p:nvSpPr>
          <p:spPr>
            <a:xfrm>
              <a:off x="4595435" y="2004307"/>
              <a:ext cx="9573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Analyses and store results</a:t>
              </a:r>
              <a:endParaRPr sz="818">
                <a:solidFill>
                  <a:srgbClr val="000000"/>
                </a:solidFill>
                <a:latin typeface="Proxima Nova"/>
                <a:ea typeface="Proxima Nova"/>
                <a:cs typeface="Proxima Nova"/>
                <a:sym typeface="Proxima Nova"/>
              </a:endParaRPr>
            </a:p>
          </p:txBody>
        </p:sp>
        <p:sp>
          <p:nvSpPr>
            <p:cNvPr id="247" name="Google Shape;247;p25"/>
            <p:cNvSpPr txBox="1"/>
            <p:nvPr/>
          </p:nvSpPr>
          <p:spPr>
            <a:xfrm>
              <a:off x="5922401" y="2527557"/>
              <a:ext cx="9573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latin typeface="Proxima Nova"/>
                  <a:ea typeface="Proxima Nova"/>
                  <a:cs typeface="Proxima Nova"/>
                  <a:sym typeface="Proxima Nova"/>
                </a:rPr>
                <a:t>Raw t</a:t>
              </a:r>
              <a:r>
                <a:rPr lang="en" sz="818">
                  <a:solidFill>
                    <a:srgbClr val="000000"/>
                  </a:solidFill>
                  <a:latin typeface="Proxima Nova"/>
                  <a:ea typeface="Proxima Nova"/>
                  <a:cs typeface="Proxima Nova"/>
                  <a:sym typeface="Proxima Nova"/>
                </a:rPr>
                <a:t>est results</a:t>
              </a:r>
              <a:endParaRPr sz="818">
                <a:solidFill>
                  <a:srgbClr val="000000"/>
                </a:solidFill>
                <a:latin typeface="Proxima Nova"/>
                <a:ea typeface="Proxima Nova"/>
                <a:cs typeface="Proxima Nova"/>
                <a:sym typeface="Proxima Nova"/>
              </a:endParaRPr>
            </a:p>
          </p:txBody>
        </p:sp>
        <p:sp>
          <p:nvSpPr>
            <p:cNvPr id="248" name="Google Shape;248;p25"/>
            <p:cNvSpPr/>
            <p:nvPr/>
          </p:nvSpPr>
          <p:spPr>
            <a:xfrm>
              <a:off x="5675625" y="1880151"/>
              <a:ext cx="191100" cy="1567500"/>
            </a:xfrm>
            <a:prstGeom prst="roundRect">
              <a:avLst>
                <a:gd fmla="val 16667" name="adj"/>
              </a:avLst>
            </a:prstGeom>
            <a:solidFill>
              <a:srgbClr val="E9713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grpSp>
      <p:sp>
        <p:nvSpPr>
          <p:cNvPr id="249" name="Google Shape;249;p25"/>
          <p:cNvSpPr txBox="1"/>
          <p:nvPr/>
        </p:nvSpPr>
        <p:spPr>
          <a:xfrm>
            <a:off x="1873713"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External Laboratory</a:t>
            </a:r>
            <a:endParaRPr sz="1200">
              <a:solidFill>
                <a:srgbClr val="000000"/>
              </a:solidFill>
              <a:latin typeface="Proxima Nova"/>
              <a:ea typeface="Proxima Nova"/>
              <a:cs typeface="Proxima Nova"/>
              <a:sym typeface="Proxima Nova"/>
            </a:endParaRPr>
          </a:p>
        </p:txBody>
      </p:sp>
      <p:sp>
        <p:nvSpPr>
          <p:cNvPr id="250" name="Google Shape;250;p25"/>
          <p:cNvSpPr txBox="1"/>
          <p:nvPr/>
        </p:nvSpPr>
        <p:spPr>
          <a:xfrm>
            <a:off x="3185768"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Mayo Clinic Labs</a:t>
            </a:r>
            <a:endParaRPr sz="1200">
              <a:solidFill>
                <a:srgbClr val="000000"/>
              </a:solidFill>
              <a:latin typeface="Proxima Nova"/>
              <a:ea typeface="Proxima Nova"/>
              <a:cs typeface="Proxima Nova"/>
              <a:sym typeface="Proxima Nova"/>
            </a:endParaRPr>
          </a:p>
        </p:txBody>
      </p:sp>
      <p:sp>
        <p:nvSpPr>
          <p:cNvPr id="251" name="Google Shape;251;p25"/>
          <p:cNvSpPr txBox="1"/>
          <p:nvPr/>
        </p:nvSpPr>
        <p:spPr>
          <a:xfrm>
            <a:off x="4497825"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Patient Record</a:t>
            </a:r>
            <a:endParaRPr sz="1200">
              <a:latin typeface="Proxima Nova"/>
              <a:ea typeface="Proxima Nova"/>
              <a:cs typeface="Proxima Nova"/>
              <a:sym typeface="Proxima Nova"/>
            </a:endParaRPr>
          </a:p>
        </p:txBody>
      </p:sp>
      <p:sp>
        <p:nvSpPr>
          <p:cNvPr id="252" name="Google Shape;252;p25"/>
          <p:cNvSpPr txBox="1"/>
          <p:nvPr/>
        </p:nvSpPr>
        <p:spPr>
          <a:xfrm>
            <a:off x="234252" y="700733"/>
            <a:ext cx="7428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latin typeface="Proxima Nova"/>
                <a:ea typeface="Proxima Nova"/>
                <a:cs typeface="Proxima Nova"/>
                <a:sym typeface="Proxima Nova"/>
              </a:rPr>
              <a:t>External </a:t>
            </a:r>
            <a:r>
              <a:rPr lang="en" sz="1200">
                <a:solidFill>
                  <a:srgbClr val="000000"/>
                </a:solidFill>
                <a:latin typeface="Proxima Nova"/>
                <a:ea typeface="Proxima Nova"/>
                <a:cs typeface="Proxima Nova"/>
                <a:sym typeface="Proxima Nova"/>
              </a:rPr>
              <a:t>Patient</a:t>
            </a:r>
            <a:endParaRPr sz="1200">
              <a:solidFill>
                <a:srgbClr val="000000"/>
              </a:solidFill>
              <a:latin typeface="Proxima Nova"/>
              <a:ea typeface="Proxima Nova"/>
              <a:cs typeface="Proxima Nova"/>
              <a:sym typeface="Proxima Nova"/>
            </a:endParaRPr>
          </a:p>
        </p:txBody>
      </p:sp>
      <p:sp>
        <p:nvSpPr>
          <p:cNvPr id="253" name="Google Shape;253;p25"/>
          <p:cNvSpPr txBox="1"/>
          <p:nvPr/>
        </p:nvSpPr>
        <p:spPr>
          <a:xfrm>
            <a:off x="1167563" y="700733"/>
            <a:ext cx="7956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latin typeface="Proxima Nova"/>
                <a:ea typeface="Proxima Nova"/>
                <a:cs typeface="Proxima Nova"/>
                <a:sym typeface="Proxima Nova"/>
              </a:rPr>
              <a:t>External </a:t>
            </a:r>
            <a:r>
              <a:rPr lang="en" sz="1200">
                <a:solidFill>
                  <a:srgbClr val="000000"/>
                </a:solidFill>
                <a:latin typeface="Proxima Nova"/>
                <a:ea typeface="Proxima Nova"/>
                <a:cs typeface="Proxima Nova"/>
                <a:sym typeface="Proxima Nova"/>
              </a:rPr>
              <a:t>Physician</a:t>
            </a:r>
            <a:endParaRPr sz="1200">
              <a:solidFill>
                <a:srgbClr val="000000"/>
              </a:solidFill>
              <a:latin typeface="Proxima Nova"/>
              <a:ea typeface="Proxima Nova"/>
              <a:cs typeface="Proxima Nova"/>
              <a:sym typeface="Proxima Nova"/>
            </a:endParaRPr>
          </a:p>
        </p:txBody>
      </p:sp>
      <p:sp>
        <p:nvSpPr>
          <p:cNvPr id="254" name="Google Shape;254;p25"/>
          <p:cNvSpPr/>
          <p:nvPr/>
        </p:nvSpPr>
        <p:spPr>
          <a:xfrm>
            <a:off x="8691600" y="0"/>
            <a:ext cx="452400" cy="5143500"/>
          </a:xfrm>
          <a:prstGeom prst="rect">
            <a:avLst/>
          </a:prstGeom>
          <a:solidFill>
            <a:srgbClr val="68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255" name="Google Shape;255;p25"/>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Lab Workflow Current</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3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cxnSp>
        <p:nvCxnSpPr>
          <p:cNvPr id="260" name="Google Shape;260;p26"/>
          <p:cNvCxnSpPr/>
          <p:nvPr/>
        </p:nvCxnSpPr>
        <p:spPr>
          <a:xfrm>
            <a:off x="2395190" y="1284452"/>
            <a:ext cx="0" cy="3733500"/>
          </a:xfrm>
          <a:prstGeom prst="straightConnector1">
            <a:avLst/>
          </a:prstGeom>
          <a:noFill/>
          <a:ln cap="flat" cmpd="sng" w="13025">
            <a:solidFill>
              <a:srgbClr val="7F7F7F"/>
            </a:solidFill>
            <a:prstDash val="dash"/>
            <a:miter lim="800000"/>
            <a:headEnd len="sm" w="sm" type="none"/>
            <a:tailEnd len="sm" w="sm" type="none"/>
          </a:ln>
        </p:spPr>
      </p:cxnSp>
      <p:cxnSp>
        <p:nvCxnSpPr>
          <p:cNvPr id="261" name="Google Shape;261;p26"/>
          <p:cNvCxnSpPr/>
          <p:nvPr/>
        </p:nvCxnSpPr>
        <p:spPr>
          <a:xfrm>
            <a:off x="3707241" y="1284452"/>
            <a:ext cx="0" cy="3733500"/>
          </a:xfrm>
          <a:prstGeom prst="straightConnector1">
            <a:avLst/>
          </a:prstGeom>
          <a:noFill/>
          <a:ln cap="flat" cmpd="sng" w="13025">
            <a:solidFill>
              <a:srgbClr val="7F7F7F"/>
            </a:solidFill>
            <a:prstDash val="dash"/>
            <a:miter lim="800000"/>
            <a:headEnd len="sm" w="sm" type="none"/>
            <a:tailEnd len="sm" w="sm" type="none"/>
          </a:ln>
        </p:spPr>
      </p:cxnSp>
      <p:cxnSp>
        <p:nvCxnSpPr>
          <p:cNvPr id="262" name="Google Shape;262;p26"/>
          <p:cNvCxnSpPr/>
          <p:nvPr/>
        </p:nvCxnSpPr>
        <p:spPr>
          <a:xfrm>
            <a:off x="5019303" y="1284452"/>
            <a:ext cx="0" cy="3733500"/>
          </a:xfrm>
          <a:prstGeom prst="straightConnector1">
            <a:avLst/>
          </a:prstGeom>
          <a:noFill/>
          <a:ln cap="flat" cmpd="sng" w="13025">
            <a:solidFill>
              <a:srgbClr val="7F7F7F"/>
            </a:solidFill>
            <a:prstDash val="dash"/>
            <a:miter lim="800000"/>
            <a:headEnd len="sm" w="sm" type="none"/>
            <a:tailEnd len="sm" w="sm" type="none"/>
          </a:ln>
        </p:spPr>
      </p:cxnSp>
      <p:cxnSp>
        <p:nvCxnSpPr>
          <p:cNvPr id="263" name="Google Shape;263;p26"/>
          <p:cNvCxnSpPr/>
          <p:nvPr/>
        </p:nvCxnSpPr>
        <p:spPr>
          <a:xfrm>
            <a:off x="6331359" y="1284452"/>
            <a:ext cx="0" cy="3733500"/>
          </a:xfrm>
          <a:prstGeom prst="straightConnector1">
            <a:avLst/>
          </a:prstGeom>
          <a:noFill/>
          <a:ln cap="flat" cmpd="sng" w="13025">
            <a:solidFill>
              <a:srgbClr val="7F7F7F"/>
            </a:solidFill>
            <a:prstDash val="dash"/>
            <a:miter lim="800000"/>
            <a:headEnd len="sm" w="sm" type="none"/>
            <a:tailEnd len="sm" w="sm" type="none"/>
          </a:ln>
        </p:spPr>
      </p:cxnSp>
      <p:grpSp>
        <p:nvGrpSpPr>
          <p:cNvPr id="264" name="Google Shape;264;p26"/>
          <p:cNvGrpSpPr/>
          <p:nvPr/>
        </p:nvGrpSpPr>
        <p:grpSpPr>
          <a:xfrm>
            <a:off x="2293076" y="1880155"/>
            <a:ext cx="3799726" cy="561300"/>
            <a:chOff x="3055076" y="1880155"/>
            <a:chExt cx="3799726" cy="561300"/>
          </a:xfrm>
        </p:grpSpPr>
        <p:sp>
          <p:nvSpPr>
            <p:cNvPr id="265" name="Google Shape;265;p26"/>
            <p:cNvSpPr/>
            <p:nvPr/>
          </p:nvSpPr>
          <p:spPr>
            <a:xfrm>
              <a:off x="5675617" y="1880155"/>
              <a:ext cx="191100" cy="537600"/>
            </a:xfrm>
            <a:prstGeom prst="roundRect">
              <a:avLst>
                <a:gd fmla="val 16667" name="adj"/>
              </a:avLst>
            </a:prstGeom>
            <a:solidFill>
              <a:srgbClr val="E9713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266" name="Google Shape;266;p26"/>
            <p:cNvSpPr/>
            <p:nvPr/>
          </p:nvSpPr>
          <p:spPr>
            <a:xfrm>
              <a:off x="3055076" y="1880155"/>
              <a:ext cx="191100" cy="561300"/>
            </a:xfrm>
            <a:prstGeom prst="roundRect">
              <a:avLst>
                <a:gd fmla="val 16667" name="adj"/>
              </a:avLst>
            </a:prstGeom>
            <a:solidFill>
              <a:srgbClr val="0F9ED5">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267" name="Google Shape;267;p26"/>
            <p:cNvSpPr/>
            <p:nvPr/>
          </p:nvSpPr>
          <p:spPr>
            <a:xfrm>
              <a:off x="4373720" y="1880155"/>
              <a:ext cx="191100" cy="547200"/>
            </a:xfrm>
            <a:prstGeom prst="roundRect">
              <a:avLst>
                <a:gd fmla="val 16667" name="adj"/>
              </a:avLst>
            </a:prstGeom>
            <a:solidFill>
              <a:srgbClr val="4EA72E">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68" name="Google Shape;268;p26"/>
            <p:cNvCxnSpPr/>
            <p:nvPr/>
          </p:nvCxnSpPr>
          <p:spPr>
            <a:xfrm>
              <a:off x="3246129" y="1957052"/>
              <a:ext cx="1114200" cy="0"/>
            </a:xfrm>
            <a:prstGeom prst="straightConnector1">
              <a:avLst/>
            </a:prstGeom>
            <a:noFill/>
            <a:ln cap="flat" cmpd="sng" w="19475">
              <a:solidFill>
                <a:srgbClr val="7F7F7F"/>
              </a:solidFill>
              <a:prstDash val="solid"/>
              <a:miter lim="800000"/>
              <a:headEnd len="sm" w="sm" type="none"/>
              <a:tailEnd len="med" w="med" type="triangle"/>
            </a:ln>
          </p:spPr>
        </p:cxnSp>
        <p:cxnSp>
          <p:nvCxnSpPr>
            <p:cNvPr id="269" name="Google Shape;269;p26"/>
            <p:cNvCxnSpPr/>
            <p:nvPr/>
          </p:nvCxnSpPr>
          <p:spPr>
            <a:xfrm>
              <a:off x="4564774" y="1945020"/>
              <a:ext cx="1117200" cy="0"/>
            </a:xfrm>
            <a:prstGeom prst="straightConnector1">
              <a:avLst/>
            </a:prstGeom>
            <a:noFill/>
            <a:ln cap="flat" cmpd="sng" w="19475">
              <a:solidFill>
                <a:srgbClr val="7F7F7F"/>
              </a:solidFill>
              <a:prstDash val="solid"/>
              <a:miter lim="800000"/>
              <a:headEnd len="sm" w="sm" type="none"/>
              <a:tailEnd len="med" w="med" type="triangle"/>
            </a:ln>
          </p:spPr>
        </p:cxnSp>
        <p:sp>
          <p:nvSpPr>
            <p:cNvPr id="270" name="Google Shape;270;p26"/>
            <p:cNvSpPr txBox="1"/>
            <p:nvPr/>
          </p:nvSpPr>
          <p:spPr>
            <a:xfrm>
              <a:off x="3282624" y="2004307"/>
              <a:ext cx="9573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Collects and send samples</a:t>
              </a:r>
              <a:endParaRPr sz="818">
                <a:solidFill>
                  <a:srgbClr val="000000"/>
                </a:solidFill>
                <a:latin typeface="Proxima Nova"/>
                <a:ea typeface="Proxima Nova"/>
                <a:cs typeface="Proxima Nova"/>
                <a:sym typeface="Proxima Nova"/>
              </a:endParaRPr>
            </a:p>
          </p:txBody>
        </p:sp>
        <p:sp>
          <p:nvSpPr>
            <p:cNvPr id="271" name="Google Shape;271;p26"/>
            <p:cNvSpPr txBox="1"/>
            <p:nvPr/>
          </p:nvSpPr>
          <p:spPr>
            <a:xfrm>
              <a:off x="4595435" y="2004307"/>
              <a:ext cx="9573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Analys</a:t>
              </a:r>
              <a:r>
                <a:rPr lang="en" sz="818">
                  <a:latin typeface="Proxima Nova"/>
                  <a:ea typeface="Proxima Nova"/>
                  <a:cs typeface="Proxima Nova"/>
                  <a:sym typeface="Proxima Nova"/>
                </a:rPr>
                <a:t>e</a:t>
              </a:r>
              <a:r>
                <a:rPr lang="en" sz="818">
                  <a:solidFill>
                    <a:srgbClr val="000000"/>
                  </a:solidFill>
                  <a:latin typeface="Proxima Nova"/>
                  <a:ea typeface="Proxima Nova"/>
                  <a:cs typeface="Proxima Nova"/>
                  <a:sym typeface="Proxima Nova"/>
                </a:rPr>
                <a:t>s and store results</a:t>
              </a:r>
              <a:endParaRPr sz="818">
                <a:solidFill>
                  <a:srgbClr val="000000"/>
                </a:solidFill>
                <a:latin typeface="Proxima Nova"/>
                <a:ea typeface="Proxima Nova"/>
                <a:cs typeface="Proxima Nova"/>
                <a:sym typeface="Proxima Nova"/>
              </a:endParaRPr>
            </a:p>
          </p:txBody>
        </p:sp>
        <p:sp>
          <p:nvSpPr>
            <p:cNvPr id="272" name="Google Shape;272;p26"/>
            <p:cNvSpPr txBox="1"/>
            <p:nvPr/>
          </p:nvSpPr>
          <p:spPr>
            <a:xfrm>
              <a:off x="5897501" y="2004307"/>
              <a:ext cx="9573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Test raw results</a:t>
              </a:r>
              <a:endParaRPr sz="818">
                <a:solidFill>
                  <a:srgbClr val="000000"/>
                </a:solidFill>
                <a:latin typeface="Proxima Nova"/>
                <a:ea typeface="Proxima Nova"/>
                <a:cs typeface="Proxima Nova"/>
                <a:sym typeface="Proxima Nova"/>
              </a:endParaRPr>
            </a:p>
          </p:txBody>
        </p:sp>
      </p:grpSp>
      <p:cxnSp>
        <p:nvCxnSpPr>
          <p:cNvPr id="273" name="Google Shape;273;p26"/>
          <p:cNvCxnSpPr/>
          <p:nvPr/>
        </p:nvCxnSpPr>
        <p:spPr>
          <a:xfrm>
            <a:off x="605636" y="1284452"/>
            <a:ext cx="0" cy="3733500"/>
          </a:xfrm>
          <a:prstGeom prst="straightConnector1">
            <a:avLst/>
          </a:prstGeom>
          <a:noFill/>
          <a:ln cap="flat" cmpd="sng" w="13025">
            <a:solidFill>
              <a:srgbClr val="7F7F7F"/>
            </a:solidFill>
            <a:prstDash val="dash"/>
            <a:miter lim="800000"/>
            <a:headEnd len="sm" w="sm" type="none"/>
            <a:tailEnd len="sm" w="sm" type="none"/>
          </a:ln>
        </p:spPr>
      </p:cxnSp>
      <p:cxnSp>
        <p:nvCxnSpPr>
          <p:cNvPr id="274" name="Google Shape;274;p26"/>
          <p:cNvCxnSpPr/>
          <p:nvPr/>
        </p:nvCxnSpPr>
        <p:spPr>
          <a:xfrm>
            <a:off x="1565222" y="1284452"/>
            <a:ext cx="0" cy="3733500"/>
          </a:xfrm>
          <a:prstGeom prst="straightConnector1">
            <a:avLst/>
          </a:prstGeom>
          <a:noFill/>
          <a:ln cap="flat" cmpd="sng" w="13025">
            <a:solidFill>
              <a:srgbClr val="7F7F7F"/>
            </a:solidFill>
            <a:prstDash val="dash"/>
            <a:miter lim="800000"/>
            <a:headEnd len="sm" w="sm" type="none"/>
            <a:tailEnd len="sm" w="sm" type="none"/>
          </a:ln>
        </p:spPr>
      </p:cxnSp>
      <p:grpSp>
        <p:nvGrpSpPr>
          <p:cNvPr id="275" name="Google Shape;275;p26"/>
          <p:cNvGrpSpPr/>
          <p:nvPr/>
        </p:nvGrpSpPr>
        <p:grpSpPr>
          <a:xfrm>
            <a:off x="512384" y="1113230"/>
            <a:ext cx="1780560" cy="1048589"/>
            <a:chOff x="1274384" y="1113230"/>
            <a:chExt cx="1780560" cy="1048589"/>
          </a:xfrm>
        </p:grpSpPr>
        <p:cxnSp>
          <p:nvCxnSpPr>
            <p:cNvPr id="276" name="Google Shape;276;p26"/>
            <p:cNvCxnSpPr/>
            <p:nvPr/>
          </p:nvCxnSpPr>
          <p:spPr>
            <a:xfrm rot="10800000">
              <a:off x="1467595" y="1728414"/>
              <a:ext cx="764100" cy="0"/>
            </a:xfrm>
            <a:prstGeom prst="straightConnector1">
              <a:avLst/>
            </a:prstGeom>
            <a:noFill/>
            <a:ln cap="flat" cmpd="sng" w="19475">
              <a:solidFill>
                <a:srgbClr val="7F7F7F"/>
              </a:solidFill>
              <a:prstDash val="solid"/>
              <a:miter lim="800000"/>
              <a:headEnd len="sm" w="sm" type="none"/>
              <a:tailEnd len="med" w="med" type="triangle"/>
            </a:ln>
          </p:spPr>
        </p:cxnSp>
        <p:sp>
          <p:nvSpPr>
            <p:cNvPr id="277" name="Google Shape;277;p26"/>
            <p:cNvSpPr/>
            <p:nvPr/>
          </p:nvSpPr>
          <p:spPr>
            <a:xfrm>
              <a:off x="1274384" y="1253136"/>
              <a:ext cx="191100" cy="903000"/>
            </a:xfrm>
            <a:prstGeom prst="roundRect">
              <a:avLst>
                <a:gd fmla="val 16667" name="adj"/>
              </a:avLst>
            </a:prstGeom>
            <a:solidFill>
              <a:srgbClr val="15608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278" name="Google Shape;278;p26"/>
            <p:cNvSpPr/>
            <p:nvPr/>
          </p:nvSpPr>
          <p:spPr>
            <a:xfrm>
              <a:off x="2231695" y="1274941"/>
              <a:ext cx="191100" cy="544500"/>
            </a:xfrm>
            <a:prstGeom prst="roundRect">
              <a:avLst>
                <a:gd fmla="val 16667" name="adj"/>
              </a:avLst>
            </a:prstGeom>
            <a:solidFill>
              <a:srgbClr val="A02B93">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79" name="Google Shape;279;p26"/>
            <p:cNvCxnSpPr/>
            <p:nvPr/>
          </p:nvCxnSpPr>
          <p:spPr>
            <a:xfrm>
              <a:off x="1436142" y="1358264"/>
              <a:ext cx="795600" cy="0"/>
            </a:xfrm>
            <a:prstGeom prst="straightConnector1">
              <a:avLst/>
            </a:prstGeom>
            <a:noFill/>
            <a:ln cap="flat" cmpd="sng" w="19475">
              <a:solidFill>
                <a:srgbClr val="7F7F7F"/>
              </a:solidFill>
              <a:prstDash val="solid"/>
              <a:miter lim="800000"/>
              <a:headEnd len="sm" w="sm" type="none"/>
              <a:tailEnd len="med" w="med" type="triangle"/>
            </a:ln>
          </p:spPr>
        </p:cxnSp>
        <p:sp>
          <p:nvSpPr>
            <p:cNvPr id="280" name="Google Shape;280;p26"/>
            <p:cNvSpPr txBox="1"/>
            <p:nvPr/>
          </p:nvSpPr>
          <p:spPr>
            <a:xfrm>
              <a:off x="1457759" y="1113230"/>
              <a:ext cx="12756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Medical consultation</a:t>
              </a:r>
              <a:endParaRPr sz="818">
                <a:solidFill>
                  <a:srgbClr val="000000"/>
                </a:solidFill>
                <a:latin typeface="Proxima Nova"/>
                <a:ea typeface="Proxima Nova"/>
                <a:cs typeface="Proxima Nova"/>
                <a:sym typeface="Proxima Nova"/>
              </a:endParaRPr>
            </a:p>
          </p:txBody>
        </p:sp>
        <p:sp>
          <p:nvSpPr>
            <p:cNvPr id="281" name="Google Shape;281;p26"/>
            <p:cNvSpPr txBox="1"/>
            <p:nvPr/>
          </p:nvSpPr>
          <p:spPr>
            <a:xfrm>
              <a:off x="1479940" y="1751030"/>
              <a:ext cx="12084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Exam request</a:t>
              </a:r>
              <a:endParaRPr sz="818">
                <a:solidFill>
                  <a:srgbClr val="000000"/>
                </a:solidFill>
                <a:latin typeface="Proxima Nova"/>
                <a:ea typeface="Proxima Nova"/>
                <a:cs typeface="Proxima Nova"/>
                <a:sym typeface="Proxima Nova"/>
              </a:endParaRPr>
            </a:p>
          </p:txBody>
        </p:sp>
        <p:cxnSp>
          <p:nvCxnSpPr>
            <p:cNvPr id="282" name="Google Shape;282;p26"/>
            <p:cNvCxnSpPr/>
            <p:nvPr/>
          </p:nvCxnSpPr>
          <p:spPr>
            <a:xfrm>
              <a:off x="1473644" y="1957052"/>
              <a:ext cx="1581300" cy="0"/>
            </a:xfrm>
            <a:prstGeom prst="straightConnector1">
              <a:avLst/>
            </a:prstGeom>
            <a:noFill/>
            <a:ln cap="flat" cmpd="sng" w="19475">
              <a:solidFill>
                <a:srgbClr val="7F7F7F"/>
              </a:solidFill>
              <a:prstDash val="solid"/>
              <a:miter lim="800000"/>
              <a:headEnd len="sm" w="sm" type="none"/>
              <a:tailEnd len="med" w="med" type="triangle"/>
            </a:ln>
          </p:spPr>
        </p:cxnSp>
        <p:sp>
          <p:nvSpPr>
            <p:cNvPr id="283" name="Google Shape;283;p26"/>
            <p:cNvSpPr txBox="1"/>
            <p:nvPr/>
          </p:nvSpPr>
          <p:spPr>
            <a:xfrm>
              <a:off x="1453892" y="1973119"/>
              <a:ext cx="11811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Exam schedule</a:t>
              </a:r>
              <a:endParaRPr sz="818">
                <a:solidFill>
                  <a:srgbClr val="000000"/>
                </a:solidFill>
                <a:latin typeface="Proxima Nova"/>
                <a:ea typeface="Proxima Nova"/>
                <a:cs typeface="Proxima Nova"/>
                <a:sym typeface="Proxima Nova"/>
              </a:endParaRPr>
            </a:p>
          </p:txBody>
        </p:sp>
      </p:grpSp>
      <p:grpSp>
        <p:nvGrpSpPr>
          <p:cNvPr id="284" name="Google Shape;284;p26"/>
          <p:cNvGrpSpPr/>
          <p:nvPr/>
        </p:nvGrpSpPr>
        <p:grpSpPr>
          <a:xfrm>
            <a:off x="4920134" y="770945"/>
            <a:ext cx="3343916" cy="4247007"/>
            <a:chOff x="5682134" y="770945"/>
            <a:chExt cx="3343916" cy="4247007"/>
          </a:xfrm>
        </p:grpSpPr>
        <p:sp>
          <p:nvSpPr>
            <p:cNvPr id="285" name="Google Shape;285;p26"/>
            <p:cNvSpPr/>
            <p:nvPr/>
          </p:nvSpPr>
          <p:spPr>
            <a:xfrm>
              <a:off x="7623250" y="788104"/>
              <a:ext cx="1402800" cy="290400"/>
            </a:xfrm>
            <a:prstGeom prst="roundRect">
              <a:avLst>
                <a:gd fmla="val 16667" name="adj"/>
              </a:avLst>
            </a:prstGeom>
            <a:solidFill>
              <a:srgbClr val="E6545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txBox="1"/>
            <p:nvPr/>
          </p:nvSpPr>
          <p:spPr>
            <a:xfrm>
              <a:off x="7724823" y="770945"/>
              <a:ext cx="1208400" cy="309000"/>
            </a:xfrm>
            <a:prstGeom prst="rect">
              <a:avLst/>
            </a:prstGeom>
            <a:no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rPr lang="en" sz="1600">
                  <a:solidFill>
                    <a:schemeClr val="lt1"/>
                  </a:solidFill>
                  <a:latin typeface="Proxima Nova"/>
                  <a:ea typeface="Proxima Nova"/>
                  <a:cs typeface="Proxima Nova"/>
                  <a:sym typeface="Proxima Nova"/>
                </a:rPr>
                <a:t>Sanguine</a:t>
              </a:r>
              <a:endParaRPr sz="1600">
                <a:solidFill>
                  <a:schemeClr val="lt1"/>
                </a:solidFill>
                <a:latin typeface="Proxima Nova"/>
                <a:ea typeface="Proxima Nova"/>
                <a:cs typeface="Proxima Nova"/>
                <a:sym typeface="Proxima Nova"/>
              </a:endParaRPr>
            </a:p>
          </p:txBody>
        </p:sp>
        <p:cxnSp>
          <p:nvCxnSpPr>
            <p:cNvPr id="287" name="Google Shape;287;p26"/>
            <p:cNvCxnSpPr/>
            <p:nvPr/>
          </p:nvCxnSpPr>
          <p:spPr>
            <a:xfrm rot="10800000">
              <a:off x="7183605" y="3114338"/>
              <a:ext cx="1038900" cy="0"/>
            </a:xfrm>
            <a:prstGeom prst="straightConnector1">
              <a:avLst/>
            </a:prstGeom>
            <a:noFill/>
            <a:ln cap="flat" cmpd="sng" w="19475">
              <a:solidFill>
                <a:srgbClr val="7F7F7F"/>
              </a:solidFill>
              <a:prstDash val="solid"/>
              <a:miter lim="800000"/>
              <a:headEnd len="sm" w="sm" type="none"/>
              <a:tailEnd len="med" w="med" type="triangle"/>
            </a:ln>
          </p:spPr>
        </p:cxnSp>
        <p:sp>
          <p:nvSpPr>
            <p:cNvPr id="288" name="Google Shape;288;p26"/>
            <p:cNvSpPr txBox="1"/>
            <p:nvPr/>
          </p:nvSpPr>
          <p:spPr>
            <a:xfrm>
              <a:off x="6185889" y="2620480"/>
              <a:ext cx="23400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Request patient context</a:t>
              </a:r>
              <a:endParaRPr sz="818">
                <a:solidFill>
                  <a:srgbClr val="000000"/>
                </a:solidFill>
                <a:latin typeface="Proxima Nova"/>
                <a:ea typeface="Proxima Nova"/>
                <a:cs typeface="Proxima Nova"/>
                <a:sym typeface="Proxima Nova"/>
              </a:endParaRPr>
            </a:p>
          </p:txBody>
        </p:sp>
        <p:sp>
          <p:nvSpPr>
            <p:cNvPr id="289" name="Google Shape;289;p26"/>
            <p:cNvSpPr txBox="1"/>
            <p:nvPr/>
          </p:nvSpPr>
          <p:spPr>
            <a:xfrm>
              <a:off x="7230399" y="3142827"/>
              <a:ext cx="9807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Request clinical references</a:t>
              </a:r>
              <a:endParaRPr sz="818">
                <a:solidFill>
                  <a:srgbClr val="000000"/>
                </a:solidFill>
                <a:latin typeface="Proxima Nova"/>
                <a:ea typeface="Proxima Nova"/>
                <a:cs typeface="Proxima Nova"/>
                <a:sym typeface="Proxima Nova"/>
              </a:endParaRPr>
            </a:p>
          </p:txBody>
        </p:sp>
        <p:cxnSp>
          <p:nvCxnSpPr>
            <p:cNvPr id="290" name="Google Shape;290;p26"/>
            <p:cNvCxnSpPr/>
            <p:nvPr/>
          </p:nvCxnSpPr>
          <p:spPr>
            <a:xfrm>
              <a:off x="8329036" y="1284452"/>
              <a:ext cx="0" cy="3733500"/>
            </a:xfrm>
            <a:prstGeom prst="straightConnector1">
              <a:avLst/>
            </a:prstGeom>
            <a:noFill/>
            <a:ln cap="flat" cmpd="sng" w="13025">
              <a:solidFill>
                <a:srgbClr val="7F7F7F"/>
              </a:solidFill>
              <a:prstDash val="dash"/>
              <a:miter lim="800000"/>
              <a:headEnd len="sm" w="sm" type="none"/>
              <a:tailEnd len="sm" w="sm" type="none"/>
            </a:ln>
          </p:spPr>
        </p:cxnSp>
        <p:sp>
          <p:nvSpPr>
            <p:cNvPr id="291" name="Google Shape;291;p26"/>
            <p:cNvSpPr/>
            <p:nvPr/>
          </p:nvSpPr>
          <p:spPr>
            <a:xfrm>
              <a:off x="8227811" y="1880155"/>
              <a:ext cx="191100" cy="2381400"/>
            </a:xfrm>
            <a:prstGeom prst="roundRect">
              <a:avLst>
                <a:gd fmla="val 16667" name="adj"/>
              </a:avLst>
            </a:prstGeom>
            <a:solidFill>
              <a:srgbClr val="FF0000">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292" name="Google Shape;292;p26"/>
            <p:cNvSpPr/>
            <p:nvPr/>
          </p:nvSpPr>
          <p:spPr>
            <a:xfrm>
              <a:off x="6992560" y="3029605"/>
              <a:ext cx="191100" cy="537600"/>
            </a:xfrm>
            <a:prstGeom prst="roundRect">
              <a:avLst>
                <a:gd fmla="val 16667" name="adj"/>
              </a:avLst>
            </a:prstGeom>
            <a:solidFill>
              <a:srgbClr val="AEAEAE">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293" name="Google Shape;293;p26"/>
            <p:cNvSpPr/>
            <p:nvPr/>
          </p:nvSpPr>
          <p:spPr>
            <a:xfrm>
              <a:off x="5682134" y="2488778"/>
              <a:ext cx="191100" cy="441600"/>
            </a:xfrm>
            <a:prstGeom prst="roundRect">
              <a:avLst>
                <a:gd fmla="val 16667" name="adj"/>
              </a:avLst>
            </a:prstGeom>
            <a:solidFill>
              <a:srgbClr val="E9713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294" name="Google Shape;294;p26"/>
            <p:cNvCxnSpPr/>
            <p:nvPr/>
          </p:nvCxnSpPr>
          <p:spPr>
            <a:xfrm>
              <a:off x="5859616" y="1957052"/>
              <a:ext cx="2381100" cy="0"/>
            </a:xfrm>
            <a:prstGeom prst="straightConnector1">
              <a:avLst/>
            </a:prstGeom>
            <a:noFill/>
            <a:ln cap="flat" cmpd="sng" w="19475">
              <a:solidFill>
                <a:srgbClr val="7F7F7F"/>
              </a:solidFill>
              <a:prstDash val="solid"/>
              <a:miter lim="800000"/>
              <a:headEnd len="sm" w="sm" type="none"/>
              <a:tailEnd len="med" w="med" type="triangle"/>
            </a:ln>
          </p:spPr>
        </p:cxnSp>
        <p:sp>
          <p:nvSpPr>
            <p:cNvPr id="295" name="Google Shape;295;p26"/>
            <p:cNvSpPr txBox="1"/>
            <p:nvPr/>
          </p:nvSpPr>
          <p:spPr>
            <a:xfrm>
              <a:off x="5859616" y="2859308"/>
              <a:ext cx="12756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Send patient clinical context</a:t>
              </a:r>
              <a:endParaRPr sz="818">
                <a:solidFill>
                  <a:srgbClr val="000000"/>
                </a:solidFill>
                <a:latin typeface="Proxima Nova"/>
                <a:ea typeface="Proxima Nova"/>
                <a:cs typeface="Proxima Nova"/>
                <a:sym typeface="Proxima Nova"/>
              </a:endParaRPr>
            </a:p>
          </p:txBody>
        </p:sp>
        <p:cxnSp>
          <p:nvCxnSpPr>
            <p:cNvPr id="296" name="Google Shape;296;p26"/>
            <p:cNvCxnSpPr/>
            <p:nvPr/>
          </p:nvCxnSpPr>
          <p:spPr>
            <a:xfrm>
              <a:off x="7173631" y="3457814"/>
              <a:ext cx="1047600" cy="0"/>
            </a:xfrm>
            <a:prstGeom prst="straightConnector1">
              <a:avLst/>
            </a:prstGeom>
            <a:noFill/>
            <a:ln cap="flat" cmpd="sng" w="19475">
              <a:solidFill>
                <a:srgbClr val="7F7F7F"/>
              </a:solidFill>
              <a:prstDash val="solid"/>
              <a:miter lim="800000"/>
              <a:headEnd len="sm" w="sm" type="none"/>
              <a:tailEnd len="med" w="med" type="triangle"/>
            </a:ln>
          </p:spPr>
        </p:cxnSp>
        <p:sp>
          <p:nvSpPr>
            <p:cNvPr id="297" name="Google Shape;297;p26"/>
            <p:cNvSpPr txBox="1"/>
            <p:nvPr/>
          </p:nvSpPr>
          <p:spPr>
            <a:xfrm>
              <a:off x="7206815" y="3463459"/>
              <a:ext cx="819000" cy="314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Send clinical references</a:t>
              </a:r>
              <a:endParaRPr sz="818">
                <a:solidFill>
                  <a:srgbClr val="000000"/>
                </a:solidFill>
                <a:latin typeface="Proxima Nova"/>
                <a:ea typeface="Proxima Nova"/>
                <a:cs typeface="Proxima Nova"/>
                <a:sym typeface="Proxima Nova"/>
              </a:endParaRPr>
            </a:p>
          </p:txBody>
        </p:sp>
        <p:cxnSp>
          <p:nvCxnSpPr>
            <p:cNvPr id="298" name="Google Shape;298;p26"/>
            <p:cNvCxnSpPr/>
            <p:nvPr/>
          </p:nvCxnSpPr>
          <p:spPr>
            <a:xfrm rot="10800000">
              <a:off x="5859776" y="2582260"/>
              <a:ext cx="2340000" cy="0"/>
            </a:xfrm>
            <a:prstGeom prst="straightConnector1">
              <a:avLst/>
            </a:prstGeom>
            <a:noFill/>
            <a:ln cap="flat" cmpd="sng" w="19475">
              <a:solidFill>
                <a:srgbClr val="7F7F7F"/>
              </a:solidFill>
              <a:prstDash val="solid"/>
              <a:miter lim="800000"/>
              <a:headEnd len="sm" w="sm" type="none"/>
              <a:tailEnd len="med" w="med" type="triangle"/>
            </a:ln>
          </p:spPr>
        </p:cxnSp>
        <p:cxnSp>
          <p:nvCxnSpPr>
            <p:cNvPr id="299" name="Google Shape;299;p26"/>
            <p:cNvCxnSpPr/>
            <p:nvPr/>
          </p:nvCxnSpPr>
          <p:spPr>
            <a:xfrm>
              <a:off x="5881166" y="2826614"/>
              <a:ext cx="2346600" cy="0"/>
            </a:xfrm>
            <a:prstGeom prst="straightConnector1">
              <a:avLst/>
            </a:prstGeom>
            <a:noFill/>
            <a:ln cap="flat" cmpd="sng" w="19475">
              <a:solidFill>
                <a:srgbClr val="7F7F7F"/>
              </a:solidFill>
              <a:prstDash val="solid"/>
              <a:miter lim="800000"/>
              <a:headEnd len="sm" w="sm" type="none"/>
              <a:tailEnd len="med" w="med" type="triangle"/>
            </a:ln>
          </p:spPr>
        </p:cxnSp>
      </p:grpSp>
      <p:grpSp>
        <p:nvGrpSpPr>
          <p:cNvPr id="300" name="Google Shape;300;p26"/>
          <p:cNvGrpSpPr/>
          <p:nvPr/>
        </p:nvGrpSpPr>
        <p:grpSpPr>
          <a:xfrm>
            <a:off x="511174" y="3748472"/>
            <a:ext cx="6961814" cy="703477"/>
            <a:chOff x="1273174" y="3748472"/>
            <a:chExt cx="6961814" cy="703477"/>
          </a:xfrm>
        </p:grpSpPr>
        <p:cxnSp>
          <p:nvCxnSpPr>
            <p:cNvPr id="301" name="Google Shape;301;p26"/>
            <p:cNvCxnSpPr/>
            <p:nvPr/>
          </p:nvCxnSpPr>
          <p:spPr>
            <a:xfrm rot="10800000">
              <a:off x="3241676" y="3796392"/>
              <a:ext cx="4958100" cy="0"/>
            </a:xfrm>
            <a:prstGeom prst="straightConnector1">
              <a:avLst/>
            </a:prstGeom>
            <a:noFill/>
            <a:ln cap="flat" cmpd="sng" w="19475">
              <a:solidFill>
                <a:srgbClr val="7F7F7F"/>
              </a:solidFill>
              <a:prstDash val="solid"/>
              <a:miter lim="800000"/>
              <a:headEnd len="sm" w="sm" type="none"/>
              <a:tailEnd len="med" w="med" type="triangle"/>
            </a:ln>
          </p:spPr>
        </p:cxnSp>
        <p:sp>
          <p:nvSpPr>
            <p:cNvPr id="302" name="Google Shape;302;p26"/>
            <p:cNvSpPr txBox="1"/>
            <p:nvPr/>
          </p:nvSpPr>
          <p:spPr>
            <a:xfrm>
              <a:off x="7187389" y="3826500"/>
              <a:ext cx="1047600" cy="566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i="0" lang="en" sz="818">
                  <a:solidFill>
                    <a:srgbClr val="000000"/>
                  </a:solidFill>
                  <a:latin typeface="Proxima Nova"/>
                  <a:ea typeface="Proxima Nova"/>
                  <a:cs typeface="Proxima Nova"/>
                  <a:sym typeface="Proxima Nova"/>
                </a:rPr>
                <a:t>Notification of results interpretation complete</a:t>
              </a:r>
              <a:endParaRPr sz="955">
                <a:latin typeface="Proxima Nova"/>
                <a:ea typeface="Proxima Nova"/>
                <a:cs typeface="Proxima Nova"/>
                <a:sym typeface="Proxima Nova"/>
              </a:endParaRPr>
            </a:p>
          </p:txBody>
        </p:sp>
        <p:sp>
          <p:nvSpPr>
            <p:cNvPr id="303" name="Google Shape;303;p26"/>
            <p:cNvSpPr/>
            <p:nvPr/>
          </p:nvSpPr>
          <p:spPr>
            <a:xfrm>
              <a:off x="3050657" y="3753250"/>
              <a:ext cx="191100" cy="698700"/>
            </a:xfrm>
            <a:prstGeom prst="roundRect">
              <a:avLst>
                <a:gd fmla="val 16667" name="adj"/>
              </a:avLst>
            </a:prstGeom>
            <a:solidFill>
              <a:srgbClr val="0F9ED5">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304" name="Google Shape;304;p26"/>
            <p:cNvSpPr/>
            <p:nvPr/>
          </p:nvSpPr>
          <p:spPr>
            <a:xfrm>
              <a:off x="1273174" y="4097132"/>
              <a:ext cx="191100" cy="300000"/>
            </a:xfrm>
            <a:prstGeom prst="roundRect">
              <a:avLst>
                <a:gd fmla="val 16667" name="adj"/>
              </a:avLst>
            </a:prstGeom>
            <a:solidFill>
              <a:srgbClr val="15608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305" name="Google Shape;305;p26"/>
            <p:cNvSpPr/>
            <p:nvPr/>
          </p:nvSpPr>
          <p:spPr>
            <a:xfrm>
              <a:off x="2231695" y="3748472"/>
              <a:ext cx="191100" cy="300000"/>
            </a:xfrm>
            <a:prstGeom prst="roundRect">
              <a:avLst>
                <a:gd fmla="val 16667" name="adj"/>
              </a:avLst>
            </a:prstGeom>
            <a:solidFill>
              <a:srgbClr val="A02B93">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306" name="Google Shape;306;p26"/>
            <p:cNvSpPr txBox="1"/>
            <p:nvPr/>
          </p:nvSpPr>
          <p:spPr>
            <a:xfrm>
              <a:off x="2401214" y="3873084"/>
              <a:ext cx="7620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i="0" lang="en" sz="818">
                  <a:solidFill>
                    <a:srgbClr val="000000"/>
                  </a:solidFill>
                  <a:latin typeface="Proxima Nova"/>
                  <a:ea typeface="Proxima Nova"/>
                  <a:cs typeface="Proxima Nova"/>
                  <a:sym typeface="Proxima Nova"/>
                </a:rPr>
                <a:t>Notification</a:t>
              </a:r>
              <a:endParaRPr sz="955">
                <a:latin typeface="Proxima Nova"/>
                <a:ea typeface="Proxima Nova"/>
                <a:cs typeface="Proxima Nova"/>
                <a:sym typeface="Proxima Nova"/>
              </a:endParaRPr>
            </a:p>
          </p:txBody>
        </p:sp>
        <p:cxnSp>
          <p:nvCxnSpPr>
            <p:cNvPr id="307" name="Google Shape;307;p26"/>
            <p:cNvCxnSpPr/>
            <p:nvPr/>
          </p:nvCxnSpPr>
          <p:spPr>
            <a:xfrm rot="10800000">
              <a:off x="2414876" y="3823747"/>
              <a:ext cx="634200" cy="0"/>
            </a:xfrm>
            <a:prstGeom prst="straightConnector1">
              <a:avLst/>
            </a:prstGeom>
            <a:noFill/>
            <a:ln cap="flat" cmpd="sng" w="19475">
              <a:solidFill>
                <a:srgbClr val="7F7F7F"/>
              </a:solidFill>
              <a:prstDash val="solid"/>
              <a:miter lim="800000"/>
              <a:headEnd len="sm" w="sm" type="none"/>
              <a:tailEnd len="med" w="med" type="triangle"/>
            </a:ln>
          </p:spPr>
        </p:cxnSp>
        <p:sp>
          <p:nvSpPr>
            <p:cNvPr id="308" name="Google Shape;308;p26"/>
            <p:cNvSpPr txBox="1"/>
            <p:nvPr/>
          </p:nvSpPr>
          <p:spPr>
            <a:xfrm>
              <a:off x="2384202" y="4186688"/>
              <a:ext cx="7620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i="0" lang="en" sz="818">
                  <a:solidFill>
                    <a:srgbClr val="000000"/>
                  </a:solidFill>
                  <a:latin typeface="Proxima Nova"/>
                  <a:ea typeface="Proxima Nova"/>
                  <a:cs typeface="Proxima Nova"/>
                  <a:sym typeface="Proxima Nova"/>
                </a:rPr>
                <a:t>Notification</a:t>
              </a:r>
              <a:endParaRPr sz="955">
                <a:latin typeface="Proxima Nova"/>
                <a:ea typeface="Proxima Nova"/>
                <a:cs typeface="Proxima Nova"/>
                <a:sym typeface="Proxima Nova"/>
              </a:endParaRPr>
            </a:p>
          </p:txBody>
        </p:sp>
        <p:cxnSp>
          <p:nvCxnSpPr>
            <p:cNvPr id="309" name="Google Shape;309;p26"/>
            <p:cNvCxnSpPr/>
            <p:nvPr/>
          </p:nvCxnSpPr>
          <p:spPr>
            <a:xfrm rot="10800000">
              <a:off x="1464218" y="4156746"/>
              <a:ext cx="1576200" cy="0"/>
            </a:xfrm>
            <a:prstGeom prst="straightConnector1">
              <a:avLst/>
            </a:prstGeom>
            <a:noFill/>
            <a:ln cap="flat" cmpd="sng" w="19475">
              <a:solidFill>
                <a:srgbClr val="7F7F7F"/>
              </a:solidFill>
              <a:prstDash val="solid"/>
              <a:miter lim="800000"/>
              <a:headEnd len="sm" w="sm" type="none"/>
              <a:tailEnd len="med" w="med" type="triangle"/>
            </a:ln>
          </p:spPr>
        </p:cxnSp>
      </p:grpSp>
      <p:grpSp>
        <p:nvGrpSpPr>
          <p:cNvPr id="310" name="Google Shape;310;p26"/>
          <p:cNvGrpSpPr/>
          <p:nvPr/>
        </p:nvGrpSpPr>
        <p:grpSpPr>
          <a:xfrm>
            <a:off x="511176" y="4423264"/>
            <a:ext cx="7137537" cy="639884"/>
            <a:chOff x="1273176" y="4423264"/>
            <a:chExt cx="7137537" cy="639884"/>
          </a:xfrm>
        </p:grpSpPr>
        <p:sp>
          <p:nvSpPr>
            <p:cNvPr id="311" name="Google Shape;311;p26"/>
            <p:cNvSpPr/>
            <p:nvPr/>
          </p:nvSpPr>
          <p:spPr>
            <a:xfrm>
              <a:off x="8219613" y="4423264"/>
              <a:ext cx="191100" cy="578700"/>
            </a:xfrm>
            <a:prstGeom prst="roundRect">
              <a:avLst>
                <a:gd fmla="val 16667" name="adj"/>
              </a:avLst>
            </a:prstGeom>
            <a:solidFill>
              <a:srgbClr val="FF0000">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312" name="Google Shape;312;p26"/>
            <p:cNvCxnSpPr/>
            <p:nvPr/>
          </p:nvCxnSpPr>
          <p:spPr>
            <a:xfrm>
              <a:off x="2439025" y="4523550"/>
              <a:ext cx="5770500" cy="0"/>
            </a:xfrm>
            <a:prstGeom prst="straightConnector1">
              <a:avLst/>
            </a:prstGeom>
            <a:noFill/>
            <a:ln cap="flat" cmpd="sng" w="19475">
              <a:solidFill>
                <a:srgbClr val="7F7F7F"/>
              </a:solidFill>
              <a:prstDash val="solid"/>
              <a:miter lim="800000"/>
              <a:headEnd len="sm" w="sm" type="none"/>
              <a:tailEnd len="med" w="med" type="triangle"/>
            </a:ln>
          </p:spPr>
        </p:cxnSp>
        <p:sp>
          <p:nvSpPr>
            <p:cNvPr id="313" name="Google Shape;313;p26"/>
            <p:cNvSpPr/>
            <p:nvPr/>
          </p:nvSpPr>
          <p:spPr>
            <a:xfrm>
              <a:off x="2223998" y="4484447"/>
              <a:ext cx="191100" cy="578700"/>
            </a:xfrm>
            <a:prstGeom prst="roundRect">
              <a:avLst>
                <a:gd fmla="val 16667" name="adj"/>
              </a:avLst>
            </a:prstGeom>
            <a:solidFill>
              <a:srgbClr val="A02B93">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sp>
          <p:nvSpPr>
            <p:cNvPr id="314" name="Google Shape;314;p26"/>
            <p:cNvSpPr txBox="1"/>
            <p:nvPr/>
          </p:nvSpPr>
          <p:spPr>
            <a:xfrm>
              <a:off x="2383267" y="4549375"/>
              <a:ext cx="2340000" cy="188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i="0" lang="en" sz="818">
                  <a:solidFill>
                    <a:srgbClr val="000000"/>
                  </a:solidFill>
                  <a:latin typeface="Proxima Nova"/>
                  <a:ea typeface="Proxima Nova"/>
                  <a:cs typeface="Proxima Nova"/>
                  <a:sym typeface="Proxima Nova"/>
                </a:rPr>
                <a:t>Access test interpretation</a:t>
              </a:r>
              <a:r>
                <a:rPr lang="en" sz="818">
                  <a:latin typeface="Proxima Nova"/>
                  <a:ea typeface="Proxima Nova"/>
                  <a:cs typeface="Proxima Nova"/>
                  <a:sym typeface="Proxima Nova"/>
                </a:rPr>
                <a:t> and provide feedback</a:t>
              </a:r>
              <a:endParaRPr i="0" sz="818">
                <a:solidFill>
                  <a:srgbClr val="000000"/>
                </a:solidFill>
                <a:latin typeface="Proxima Nova"/>
                <a:ea typeface="Proxima Nova"/>
                <a:cs typeface="Proxima Nova"/>
                <a:sym typeface="Proxima Nova"/>
              </a:endParaRPr>
            </a:p>
          </p:txBody>
        </p:sp>
        <p:sp>
          <p:nvSpPr>
            <p:cNvPr id="315" name="Google Shape;315;p26"/>
            <p:cNvSpPr/>
            <p:nvPr/>
          </p:nvSpPr>
          <p:spPr>
            <a:xfrm>
              <a:off x="1273176" y="4662260"/>
              <a:ext cx="191100" cy="400800"/>
            </a:xfrm>
            <a:prstGeom prst="roundRect">
              <a:avLst>
                <a:gd fmla="val 16667" name="adj"/>
              </a:avLst>
            </a:prstGeom>
            <a:solidFill>
              <a:srgbClr val="156082">
                <a:alpha val="49800"/>
              </a:srgbClr>
            </a:solidFill>
            <a:ln>
              <a:noFill/>
            </a:ln>
          </p:spPr>
          <p:txBody>
            <a:bodyPr anchorCtr="0" anchor="ctr" bIns="31075" lIns="62425" spcFirstLastPara="1" rIns="62425" wrap="square" tIns="31075">
              <a:noAutofit/>
            </a:bodyPr>
            <a:lstStyle/>
            <a:p>
              <a:pPr indent="0" lvl="0" marL="0" marR="0" rtl="0" algn="ctr">
                <a:spcBef>
                  <a:spcPts val="0"/>
                </a:spcBef>
                <a:spcAft>
                  <a:spcPts val="0"/>
                </a:spcAft>
                <a:buNone/>
              </a:pPr>
              <a:r>
                <a:t/>
              </a:r>
              <a:endParaRPr sz="818">
                <a:solidFill>
                  <a:srgbClr val="FFFFFF"/>
                </a:solidFill>
                <a:latin typeface="Arial"/>
                <a:ea typeface="Arial"/>
                <a:cs typeface="Arial"/>
                <a:sym typeface="Arial"/>
              </a:endParaRPr>
            </a:p>
          </p:txBody>
        </p:sp>
        <p:cxnSp>
          <p:nvCxnSpPr>
            <p:cNvPr id="316" name="Google Shape;316;p26"/>
            <p:cNvCxnSpPr/>
            <p:nvPr/>
          </p:nvCxnSpPr>
          <p:spPr>
            <a:xfrm flipH="1">
              <a:off x="1474382" y="4916630"/>
              <a:ext cx="742800" cy="3000"/>
            </a:xfrm>
            <a:prstGeom prst="straightConnector1">
              <a:avLst/>
            </a:prstGeom>
            <a:noFill/>
            <a:ln cap="flat" cmpd="sng" w="19475">
              <a:solidFill>
                <a:srgbClr val="7F7F7F"/>
              </a:solidFill>
              <a:prstDash val="solid"/>
              <a:miter lim="800000"/>
              <a:headEnd len="sm" w="sm" type="none"/>
              <a:tailEnd len="med" w="med" type="triangle"/>
            </a:ln>
          </p:spPr>
        </p:cxnSp>
        <p:sp>
          <p:nvSpPr>
            <p:cNvPr id="317" name="Google Shape;317;p26"/>
            <p:cNvSpPr txBox="1"/>
            <p:nvPr/>
          </p:nvSpPr>
          <p:spPr>
            <a:xfrm>
              <a:off x="1426052" y="4436367"/>
              <a:ext cx="908400" cy="440700"/>
            </a:xfrm>
            <a:prstGeom prst="rect">
              <a:avLst/>
            </a:prstGeom>
            <a:noFill/>
            <a:ln>
              <a:noFill/>
            </a:ln>
          </p:spPr>
          <p:txBody>
            <a:bodyPr anchorCtr="0" anchor="t" bIns="31075" lIns="62425" spcFirstLastPara="1" rIns="62425" wrap="square" tIns="31075">
              <a:spAutoFit/>
            </a:bodyPr>
            <a:lstStyle/>
            <a:p>
              <a:pPr indent="0" lvl="0" marL="0" marR="0" rtl="0" algn="l">
                <a:spcBef>
                  <a:spcPts val="0"/>
                </a:spcBef>
                <a:spcAft>
                  <a:spcPts val="0"/>
                </a:spcAft>
                <a:buNone/>
              </a:pPr>
              <a:r>
                <a:rPr lang="en" sz="818">
                  <a:solidFill>
                    <a:srgbClr val="000000"/>
                  </a:solidFill>
                  <a:latin typeface="Proxima Nova"/>
                  <a:ea typeface="Proxima Nova"/>
                  <a:cs typeface="Proxima Nova"/>
                  <a:sym typeface="Proxima Nova"/>
                </a:rPr>
                <a:t>Deliver personalized interpretation</a:t>
              </a:r>
              <a:endParaRPr i="0" sz="818">
                <a:solidFill>
                  <a:srgbClr val="000000"/>
                </a:solidFill>
                <a:latin typeface="Proxima Nova"/>
                <a:ea typeface="Proxima Nova"/>
                <a:cs typeface="Proxima Nova"/>
                <a:sym typeface="Proxima Nova"/>
              </a:endParaRPr>
            </a:p>
          </p:txBody>
        </p:sp>
      </p:grpSp>
      <p:sp>
        <p:nvSpPr>
          <p:cNvPr id="318" name="Google Shape;318;p26"/>
          <p:cNvSpPr txBox="1"/>
          <p:nvPr>
            <p:ph type="title"/>
          </p:nvPr>
        </p:nvSpPr>
        <p:spPr>
          <a:xfrm>
            <a:off x="585288" y="14867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420">
                <a:latin typeface="Calibri"/>
                <a:ea typeface="Calibri"/>
                <a:cs typeface="Calibri"/>
                <a:sym typeface="Calibri"/>
              </a:rPr>
              <a:t>Lab interpretation workflow - Proposed</a:t>
            </a:r>
            <a:endParaRPr sz="2420">
              <a:latin typeface="Calibri"/>
              <a:ea typeface="Calibri"/>
              <a:cs typeface="Calibri"/>
              <a:sym typeface="Calibri"/>
            </a:endParaRPr>
          </a:p>
        </p:txBody>
      </p:sp>
      <p:grpSp>
        <p:nvGrpSpPr>
          <p:cNvPr id="319" name="Google Shape;319;p26"/>
          <p:cNvGrpSpPr/>
          <p:nvPr/>
        </p:nvGrpSpPr>
        <p:grpSpPr>
          <a:xfrm>
            <a:off x="7229447" y="1284450"/>
            <a:ext cx="1034553" cy="3807900"/>
            <a:chOff x="5930447" y="1284450"/>
            <a:chExt cx="3095610" cy="3807900"/>
          </a:xfrm>
        </p:grpSpPr>
        <p:sp>
          <p:nvSpPr>
            <p:cNvPr id="320" name="Google Shape;320;p26"/>
            <p:cNvSpPr/>
            <p:nvPr/>
          </p:nvSpPr>
          <p:spPr>
            <a:xfrm>
              <a:off x="5930447" y="1284450"/>
              <a:ext cx="2078400" cy="3807900"/>
            </a:xfrm>
            <a:prstGeom prst="roundRect">
              <a:avLst>
                <a:gd fmla="val 16667" name="adj"/>
              </a:avLst>
            </a:prstGeom>
            <a:noFill/>
            <a:ln cap="flat" cmpd="sng" w="19050">
              <a:solidFill>
                <a:srgbClr val="E6545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26"/>
            <p:cNvSpPr txBox="1"/>
            <p:nvPr/>
          </p:nvSpPr>
          <p:spPr>
            <a:xfrm rot="5400000">
              <a:off x="6946158" y="2911549"/>
              <a:ext cx="3318600" cy="8412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418">
                  <a:solidFill>
                    <a:srgbClr val="E65454"/>
                  </a:solidFill>
                  <a:latin typeface="Proxima Nova"/>
                  <a:ea typeface="Proxima Nova"/>
                  <a:cs typeface="Proxima Nova"/>
                  <a:sym typeface="Proxima Nova"/>
                </a:rPr>
                <a:t>System Boundary</a:t>
              </a:r>
              <a:endParaRPr sz="1418">
                <a:solidFill>
                  <a:srgbClr val="E65454"/>
                </a:solidFill>
                <a:latin typeface="Proxima Nova"/>
                <a:ea typeface="Proxima Nova"/>
                <a:cs typeface="Proxima Nova"/>
                <a:sym typeface="Proxima Nova"/>
              </a:endParaRPr>
            </a:p>
          </p:txBody>
        </p:sp>
      </p:grpSp>
      <p:sp>
        <p:nvSpPr>
          <p:cNvPr id="322" name="Google Shape;322;p26"/>
          <p:cNvSpPr/>
          <p:nvPr/>
        </p:nvSpPr>
        <p:spPr>
          <a:xfrm>
            <a:off x="8691600" y="0"/>
            <a:ext cx="452400" cy="5143500"/>
          </a:xfrm>
          <a:prstGeom prst="rect">
            <a:avLst/>
          </a:prstGeom>
          <a:solidFill>
            <a:srgbClr val="68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323" name="Google Shape;323;p26"/>
          <p:cNvSpPr txBox="1"/>
          <p:nvPr/>
        </p:nvSpPr>
        <p:spPr>
          <a:xfrm>
            <a:off x="1873713"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External Laboratory</a:t>
            </a:r>
            <a:endParaRPr sz="1200">
              <a:solidFill>
                <a:srgbClr val="000000"/>
              </a:solidFill>
              <a:latin typeface="Proxima Nova"/>
              <a:ea typeface="Proxima Nova"/>
              <a:cs typeface="Proxima Nova"/>
              <a:sym typeface="Proxima Nova"/>
            </a:endParaRPr>
          </a:p>
        </p:txBody>
      </p:sp>
      <p:sp>
        <p:nvSpPr>
          <p:cNvPr id="324" name="Google Shape;324;p26"/>
          <p:cNvSpPr txBox="1"/>
          <p:nvPr/>
        </p:nvSpPr>
        <p:spPr>
          <a:xfrm>
            <a:off x="3185768"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Mayo Clinic Labs</a:t>
            </a:r>
            <a:endParaRPr sz="1200">
              <a:solidFill>
                <a:srgbClr val="000000"/>
              </a:solidFill>
              <a:latin typeface="Proxima Nova"/>
              <a:ea typeface="Proxima Nova"/>
              <a:cs typeface="Proxima Nova"/>
              <a:sym typeface="Proxima Nova"/>
            </a:endParaRPr>
          </a:p>
        </p:txBody>
      </p:sp>
      <p:sp>
        <p:nvSpPr>
          <p:cNvPr id="325" name="Google Shape;325;p26"/>
          <p:cNvSpPr txBox="1"/>
          <p:nvPr/>
        </p:nvSpPr>
        <p:spPr>
          <a:xfrm>
            <a:off x="4497825" y="70073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solidFill>
                  <a:srgbClr val="000000"/>
                </a:solidFill>
                <a:latin typeface="Proxima Nova"/>
                <a:ea typeface="Proxima Nova"/>
                <a:cs typeface="Proxima Nova"/>
                <a:sym typeface="Proxima Nova"/>
              </a:rPr>
              <a:t>Patient Record</a:t>
            </a:r>
            <a:endParaRPr sz="1200">
              <a:latin typeface="Proxima Nova"/>
              <a:ea typeface="Proxima Nova"/>
              <a:cs typeface="Proxima Nova"/>
              <a:sym typeface="Proxima Nova"/>
            </a:endParaRPr>
          </a:p>
        </p:txBody>
      </p:sp>
      <p:sp>
        <p:nvSpPr>
          <p:cNvPr id="326" name="Google Shape;326;p26"/>
          <p:cNvSpPr txBox="1"/>
          <p:nvPr/>
        </p:nvSpPr>
        <p:spPr>
          <a:xfrm>
            <a:off x="234252" y="700733"/>
            <a:ext cx="7428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latin typeface="Proxima Nova"/>
                <a:ea typeface="Proxima Nova"/>
                <a:cs typeface="Proxima Nova"/>
                <a:sym typeface="Proxima Nova"/>
              </a:rPr>
              <a:t>External </a:t>
            </a:r>
            <a:r>
              <a:rPr lang="en" sz="1200">
                <a:solidFill>
                  <a:srgbClr val="000000"/>
                </a:solidFill>
                <a:latin typeface="Proxima Nova"/>
                <a:ea typeface="Proxima Nova"/>
                <a:cs typeface="Proxima Nova"/>
                <a:sym typeface="Proxima Nova"/>
              </a:rPr>
              <a:t>Patient</a:t>
            </a:r>
            <a:endParaRPr sz="1200">
              <a:solidFill>
                <a:srgbClr val="000000"/>
              </a:solidFill>
              <a:latin typeface="Proxima Nova"/>
              <a:ea typeface="Proxima Nova"/>
              <a:cs typeface="Proxima Nova"/>
              <a:sym typeface="Proxima Nova"/>
            </a:endParaRPr>
          </a:p>
        </p:txBody>
      </p:sp>
      <p:sp>
        <p:nvSpPr>
          <p:cNvPr id="327" name="Google Shape;327;p26"/>
          <p:cNvSpPr txBox="1"/>
          <p:nvPr/>
        </p:nvSpPr>
        <p:spPr>
          <a:xfrm>
            <a:off x="1167563" y="700733"/>
            <a:ext cx="7956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latin typeface="Proxima Nova"/>
                <a:ea typeface="Proxima Nova"/>
                <a:cs typeface="Proxima Nova"/>
                <a:sym typeface="Proxima Nova"/>
              </a:rPr>
              <a:t>External </a:t>
            </a:r>
            <a:r>
              <a:rPr lang="en" sz="1200">
                <a:solidFill>
                  <a:srgbClr val="000000"/>
                </a:solidFill>
                <a:latin typeface="Proxima Nova"/>
                <a:ea typeface="Proxima Nova"/>
                <a:cs typeface="Proxima Nova"/>
                <a:sym typeface="Proxima Nova"/>
              </a:rPr>
              <a:t>Physician</a:t>
            </a:r>
            <a:endParaRPr sz="1200">
              <a:solidFill>
                <a:srgbClr val="000000"/>
              </a:solidFill>
              <a:latin typeface="Proxima Nova"/>
              <a:ea typeface="Proxima Nova"/>
              <a:cs typeface="Proxima Nova"/>
              <a:sym typeface="Proxima Nova"/>
            </a:endParaRPr>
          </a:p>
        </p:txBody>
      </p:sp>
      <p:sp>
        <p:nvSpPr>
          <p:cNvPr id="328" name="Google Shape;328;p26"/>
          <p:cNvSpPr txBox="1"/>
          <p:nvPr/>
        </p:nvSpPr>
        <p:spPr>
          <a:xfrm>
            <a:off x="5809875" y="721383"/>
            <a:ext cx="1043100" cy="432300"/>
          </a:xfrm>
          <a:prstGeom prst="rect">
            <a:avLst/>
          </a:prstGeom>
          <a:noFill/>
          <a:ln>
            <a:noFill/>
          </a:ln>
        </p:spPr>
        <p:txBody>
          <a:bodyPr anchorCtr="0" anchor="t" bIns="31075" lIns="62425" spcFirstLastPara="1" rIns="62425" wrap="square" tIns="31075">
            <a:spAutoFit/>
          </a:bodyPr>
          <a:lstStyle/>
          <a:p>
            <a:pPr indent="0" lvl="0" marL="0" marR="0" rtl="0" algn="ctr">
              <a:spcBef>
                <a:spcPts val="0"/>
              </a:spcBef>
              <a:spcAft>
                <a:spcPts val="0"/>
              </a:spcAft>
              <a:buNone/>
            </a:pPr>
            <a:r>
              <a:rPr lang="en" sz="1200">
                <a:latin typeface="Proxima Nova"/>
                <a:ea typeface="Proxima Nova"/>
                <a:cs typeface="Proxima Nova"/>
                <a:sym typeface="Proxima Nova"/>
              </a:rPr>
              <a:t>Mayo Clinic Knowledge</a:t>
            </a:r>
            <a:endParaRPr sz="1200">
              <a:latin typeface="Proxima Nova"/>
              <a:ea typeface="Proxima Nova"/>
              <a:cs typeface="Proxima Nova"/>
              <a:sym typeface="Proxima Nova"/>
            </a:endParaRPr>
          </a:p>
        </p:txBody>
      </p:sp>
      <p:sp>
        <p:nvSpPr>
          <p:cNvPr id="329" name="Google Shape;329;p26"/>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Lab Workflow</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
                                        <p:tgtEl>
                                          <p:spTgt spid="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7"/>
          <p:cNvSpPr/>
          <p:nvPr/>
        </p:nvSpPr>
        <p:spPr>
          <a:xfrm>
            <a:off x="8691600" y="0"/>
            <a:ext cx="452400" cy="5143500"/>
          </a:xfrm>
          <a:prstGeom prst="rect">
            <a:avLst/>
          </a:prstGeom>
          <a:solidFill>
            <a:srgbClr val="68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335" name="Google Shape;335;p27"/>
          <p:cNvSpPr/>
          <p:nvPr/>
        </p:nvSpPr>
        <p:spPr>
          <a:xfrm>
            <a:off x="3572550" y="2034359"/>
            <a:ext cx="1998900" cy="1728900"/>
          </a:xfrm>
          <a:prstGeom prst="triangle">
            <a:avLst>
              <a:gd fmla="val 50000" name="adj"/>
            </a:avLst>
          </a:prstGeom>
          <a:gradFill>
            <a:gsLst>
              <a:gs pos="0">
                <a:srgbClr val="FFFFFF">
                  <a:alpha val="0"/>
                </a:srgbClr>
              </a:gs>
              <a:gs pos="100000">
                <a:srgbClr val="67B4D4"/>
              </a:gs>
            </a:gsLst>
            <a:lin ang="16200038" scaled="0"/>
          </a:gradFill>
          <a:ln cap="flat" cmpd="sng" w="76200">
            <a:solidFill>
              <a:srgbClr val="67B4D4"/>
            </a:solidFill>
            <a:prstDash val="solid"/>
            <a:round/>
            <a:headEnd len="sm" w="sm" type="none"/>
            <a:tailEnd len="sm" w="sm" type="none"/>
          </a:ln>
        </p:spPr>
        <p:txBody>
          <a:bodyPr anchorCtr="0" anchor="ctr" bIns="55675" lIns="55675" spcFirstLastPara="1" rIns="55675" wrap="square" tIns="55675">
            <a:noAutofit/>
          </a:bodyPr>
          <a:lstStyle/>
          <a:p>
            <a:pPr indent="0" lvl="0" marL="0" rtl="0" algn="ctr">
              <a:spcBef>
                <a:spcPts val="0"/>
              </a:spcBef>
              <a:spcAft>
                <a:spcPts val="0"/>
              </a:spcAft>
              <a:buNone/>
            </a:pPr>
            <a:r>
              <a:t/>
            </a:r>
            <a:endParaRPr sz="853"/>
          </a:p>
        </p:txBody>
      </p:sp>
      <p:sp>
        <p:nvSpPr>
          <p:cNvPr id="336" name="Google Shape;336;p27"/>
          <p:cNvSpPr txBox="1"/>
          <p:nvPr/>
        </p:nvSpPr>
        <p:spPr>
          <a:xfrm>
            <a:off x="3711000" y="1550592"/>
            <a:ext cx="1722000" cy="595800"/>
          </a:xfrm>
          <a:prstGeom prst="rect">
            <a:avLst/>
          </a:prstGeom>
          <a:noFill/>
          <a:ln>
            <a:noFill/>
          </a:ln>
        </p:spPr>
        <p:txBody>
          <a:bodyPr anchorCtr="0" anchor="t" bIns="109675" lIns="109675" spcFirstLastPara="1" rIns="109675" wrap="square" tIns="109675">
            <a:spAutoFit/>
          </a:bodyPr>
          <a:lstStyle/>
          <a:p>
            <a:pPr indent="0" lvl="0" marL="0" rtl="0" algn="ctr">
              <a:spcBef>
                <a:spcPts val="0"/>
              </a:spcBef>
              <a:spcAft>
                <a:spcPts val="0"/>
              </a:spcAft>
              <a:buNone/>
            </a:pPr>
            <a:r>
              <a:rPr lang="en" sz="2432">
                <a:solidFill>
                  <a:srgbClr val="0B5394"/>
                </a:solidFill>
                <a:latin typeface="Proxima Nova"/>
                <a:ea typeface="Proxima Nova"/>
                <a:cs typeface="Proxima Nova"/>
                <a:sym typeface="Proxima Nova"/>
              </a:rPr>
              <a:t>Scope</a:t>
            </a:r>
            <a:endParaRPr sz="2432">
              <a:solidFill>
                <a:srgbClr val="0B5394"/>
              </a:solidFill>
              <a:latin typeface="Proxima Nova"/>
              <a:ea typeface="Proxima Nova"/>
              <a:cs typeface="Proxima Nova"/>
              <a:sym typeface="Proxima Nova"/>
            </a:endParaRPr>
          </a:p>
        </p:txBody>
      </p:sp>
      <p:sp>
        <p:nvSpPr>
          <p:cNvPr id="337" name="Google Shape;337;p27"/>
          <p:cNvSpPr txBox="1"/>
          <p:nvPr/>
        </p:nvSpPr>
        <p:spPr>
          <a:xfrm>
            <a:off x="2549688" y="3723366"/>
            <a:ext cx="1722000" cy="459600"/>
          </a:xfrm>
          <a:prstGeom prst="rect">
            <a:avLst/>
          </a:prstGeom>
          <a:noFill/>
          <a:ln>
            <a:noFill/>
          </a:ln>
        </p:spPr>
        <p:txBody>
          <a:bodyPr anchorCtr="0" anchor="ctr" bIns="109675" lIns="109675" spcFirstLastPara="1" rIns="109675" wrap="square" tIns="109675">
            <a:noAutofit/>
          </a:bodyPr>
          <a:lstStyle/>
          <a:p>
            <a:pPr indent="0" lvl="0" marL="0" rtl="0" algn="ctr">
              <a:spcBef>
                <a:spcPts val="0"/>
              </a:spcBef>
              <a:spcAft>
                <a:spcPts val="0"/>
              </a:spcAft>
              <a:buNone/>
            </a:pPr>
            <a:r>
              <a:rPr lang="en" sz="2432">
                <a:solidFill>
                  <a:srgbClr val="0B5394"/>
                </a:solidFill>
                <a:latin typeface="Proxima Nova"/>
                <a:ea typeface="Proxima Nova"/>
                <a:cs typeface="Proxima Nova"/>
                <a:sym typeface="Proxima Nova"/>
              </a:rPr>
              <a:t>Schedule</a:t>
            </a:r>
            <a:endParaRPr sz="2432">
              <a:solidFill>
                <a:srgbClr val="0B5394"/>
              </a:solidFill>
              <a:latin typeface="Proxima Nova"/>
              <a:ea typeface="Proxima Nova"/>
              <a:cs typeface="Proxima Nova"/>
              <a:sym typeface="Proxima Nova"/>
            </a:endParaRPr>
          </a:p>
        </p:txBody>
      </p:sp>
      <p:sp>
        <p:nvSpPr>
          <p:cNvPr id="338" name="Google Shape;338;p27"/>
          <p:cNvSpPr txBox="1"/>
          <p:nvPr/>
        </p:nvSpPr>
        <p:spPr>
          <a:xfrm>
            <a:off x="4917750" y="3723366"/>
            <a:ext cx="1722000" cy="459600"/>
          </a:xfrm>
          <a:prstGeom prst="rect">
            <a:avLst/>
          </a:prstGeom>
          <a:noFill/>
          <a:ln>
            <a:noFill/>
          </a:ln>
        </p:spPr>
        <p:txBody>
          <a:bodyPr anchorCtr="0" anchor="ctr" bIns="109675" lIns="109675" spcFirstLastPara="1" rIns="109675" wrap="square" tIns="109675">
            <a:noAutofit/>
          </a:bodyPr>
          <a:lstStyle/>
          <a:p>
            <a:pPr indent="0" lvl="0" marL="0" rtl="0" algn="ctr">
              <a:spcBef>
                <a:spcPts val="0"/>
              </a:spcBef>
              <a:spcAft>
                <a:spcPts val="0"/>
              </a:spcAft>
              <a:buNone/>
            </a:pPr>
            <a:r>
              <a:rPr lang="en" sz="2432">
                <a:solidFill>
                  <a:srgbClr val="0B5394"/>
                </a:solidFill>
                <a:latin typeface="Proxima Nova"/>
                <a:ea typeface="Proxima Nova"/>
                <a:cs typeface="Proxima Nova"/>
                <a:sym typeface="Proxima Nova"/>
              </a:rPr>
              <a:t>Cost</a:t>
            </a:r>
            <a:endParaRPr sz="2432">
              <a:solidFill>
                <a:srgbClr val="0B5394"/>
              </a:solidFill>
              <a:latin typeface="Proxima Nova"/>
              <a:ea typeface="Proxima Nova"/>
              <a:cs typeface="Proxima Nova"/>
              <a:sym typeface="Proxima Nova"/>
            </a:endParaRPr>
          </a:p>
        </p:txBody>
      </p:sp>
      <p:sp>
        <p:nvSpPr>
          <p:cNvPr id="339" name="Google Shape;339;p27"/>
          <p:cNvSpPr/>
          <p:nvPr/>
        </p:nvSpPr>
        <p:spPr>
          <a:xfrm rot="-5400000">
            <a:off x="4342200" y="-1412216"/>
            <a:ext cx="459600" cy="5706000"/>
          </a:xfrm>
          <a:prstGeom prst="leftBrace">
            <a:avLst>
              <a:gd fmla="val 50000" name="adj1"/>
              <a:gd fmla="val 50000" name="adj2"/>
            </a:avLst>
          </a:prstGeom>
          <a:noFill/>
          <a:ln cap="flat" cmpd="sng" w="76200">
            <a:solidFill>
              <a:srgbClr val="67B4D4"/>
            </a:solidFill>
            <a:prstDash val="solid"/>
            <a:round/>
            <a:headEnd len="sm" w="sm" type="none"/>
            <a:tailEnd len="sm" w="sm" type="none"/>
          </a:ln>
        </p:spPr>
        <p:txBody>
          <a:bodyPr anchorCtr="0" anchor="ctr" bIns="114675" lIns="114675" spcFirstLastPara="1" rIns="114675" wrap="square" tIns="114675">
            <a:noAutofit/>
          </a:bodyPr>
          <a:lstStyle/>
          <a:p>
            <a:pPr indent="0" lvl="0" marL="0" rtl="0" algn="ctr">
              <a:spcBef>
                <a:spcPts val="0"/>
              </a:spcBef>
              <a:spcAft>
                <a:spcPts val="0"/>
              </a:spcAft>
              <a:buNone/>
            </a:pPr>
            <a:r>
              <a:t/>
            </a:r>
            <a:endParaRPr sz="1756"/>
          </a:p>
        </p:txBody>
      </p:sp>
      <p:sp>
        <p:nvSpPr>
          <p:cNvPr id="340" name="Google Shape;340;p27"/>
          <p:cNvSpPr txBox="1"/>
          <p:nvPr/>
        </p:nvSpPr>
        <p:spPr>
          <a:xfrm>
            <a:off x="1720925" y="489859"/>
            <a:ext cx="2850900" cy="402600"/>
          </a:xfrm>
          <a:prstGeom prst="rect">
            <a:avLst/>
          </a:prstGeom>
          <a:noFill/>
          <a:ln>
            <a:noFill/>
          </a:ln>
        </p:spPr>
        <p:txBody>
          <a:bodyPr anchorCtr="0" anchor="ctr" bIns="109675" lIns="109675" spcFirstLastPara="1" rIns="109675" wrap="square" tIns="109675">
            <a:noAutofit/>
          </a:bodyPr>
          <a:lstStyle/>
          <a:p>
            <a:pPr indent="0" lvl="0" marL="0" rtl="0" algn="l">
              <a:spcBef>
                <a:spcPts val="0"/>
              </a:spcBef>
              <a:spcAft>
                <a:spcPts val="0"/>
              </a:spcAft>
              <a:buNone/>
            </a:pPr>
            <a:r>
              <a:rPr lang="en" sz="2432">
                <a:solidFill>
                  <a:srgbClr val="0B5394"/>
                </a:solidFill>
                <a:latin typeface="Proxima Nova"/>
                <a:ea typeface="Proxima Nova"/>
                <a:cs typeface="Proxima Nova"/>
                <a:sym typeface="Proxima Nova"/>
              </a:rPr>
              <a:t>3 test types</a:t>
            </a:r>
            <a:endParaRPr sz="2432">
              <a:solidFill>
                <a:srgbClr val="0B5394"/>
              </a:solidFill>
              <a:latin typeface="Proxima Nova"/>
              <a:ea typeface="Proxima Nova"/>
              <a:cs typeface="Proxima Nova"/>
              <a:sym typeface="Proxima Nova"/>
            </a:endParaRPr>
          </a:p>
        </p:txBody>
      </p:sp>
      <p:sp>
        <p:nvSpPr>
          <p:cNvPr id="341" name="Google Shape;341;p27"/>
          <p:cNvSpPr txBox="1"/>
          <p:nvPr/>
        </p:nvSpPr>
        <p:spPr>
          <a:xfrm>
            <a:off x="3252900" y="808484"/>
            <a:ext cx="2638200" cy="595800"/>
          </a:xfrm>
          <a:prstGeom prst="rect">
            <a:avLst/>
          </a:prstGeom>
          <a:noFill/>
          <a:ln>
            <a:noFill/>
          </a:ln>
        </p:spPr>
        <p:txBody>
          <a:bodyPr anchorCtr="0" anchor="ctr" bIns="109675" lIns="109675" spcFirstLastPara="1" rIns="109675" wrap="square" tIns="109675">
            <a:noAutofit/>
          </a:bodyPr>
          <a:lstStyle/>
          <a:p>
            <a:pPr indent="0" lvl="0" marL="0" rtl="0" algn="ctr">
              <a:spcBef>
                <a:spcPts val="0"/>
              </a:spcBef>
              <a:spcAft>
                <a:spcPts val="0"/>
              </a:spcAft>
              <a:buNone/>
            </a:pPr>
            <a:r>
              <a:rPr b="1" lang="en" sz="2432">
                <a:solidFill>
                  <a:srgbClr val="E65454"/>
                </a:solidFill>
                <a:latin typeface="Proxima Nova"/>
                <a:ea typeface="Proxima Nova"/>
                <a:cs typeface="Proxima Nova"/>
                <a:sym typeface="Proxima Nova"/>
              </a:rPr>
              <a:t>96% accuracy!</a:t>
            </a:r>
            <a:endParaRPr b="1" sz="2432">
              <a:solidFill>
                <a:srgbClr val="E65454"/>
              </a:solidFill>
              <a:latin typeface="Proxima Nova"/>
              <a:ea typeface="Proxima Nova"/>
              <a:cs typeface="Proxima Nova"/>
              <a:sym typeface="Proxima Nova"/>
            </a:endParaRPr>
          </a:p>
        </p:txBody>
      </p:sp>
      <p:sp>
        <p:nvSpPr>
          <p:cNvPr id="342" name="Google Shape;342;p27"/>
          <p:cNvSpPr txBox="1"/>
          <p:nvPr/>
        </p:nvSpPr>
        <p:spPr>
          <a:xfrm>
            <a:off x="4571825" y="489859"/>
            <a:ext cx="2850900" cy="402600"/>
          </a:xfrm>
          <a:prstGeom prst="rect">
            <a:avLst/>
          </a:prstGeom>
          <a:noFill/>
          <a:ln>
            <a:noFill/>
          </a:ln>
        </p:spPr>
        <p:txBody>
          <a:bodyPr anchorCtr="0" anchor="ctr" bIns="109675" lIns="109675" spcFirstLastPara="1" rIns="109675" wrap="square" tIns="109675">
            <a:noAutofit/>
          </a:bodyPr>
          <a:lstStyle/>
          <a:p>
            <a:pPr indent="0" lvl="0" marL="0" rtl="0" algn="r">
              <a:spcBef>
                <a:spcPts val="0"/>
              </a:spcBef>
              <a:spcAft>
                <a:spcPts val="0"/>
              </a:spcAft>
              <a:buNone/>
            </a:pPr>
            <a:r>
              <a:rPr lang="en" sz="2432">
                <a:solidFill>
                  <a:srgbClr val="0B5394"/>
                </a:solidFill>
                <a:latin typeface="Proxima Nova"/>
                <a:ea typeface="Proxima Nova"/>
                <a:cs typeface="Proxima Nova"/>
                <a:sym typeface="Proxima Nova"/>
              </a:rPr>
              <a:t>1 hour latency</a:t>
            </a:r>
            <a:endParaRPr sz="2432">
              <a:solidFill>
                <a:srgbClr val="0B5394"/>
              </a:solidFill>
              <a:latin typeface="Proxima Nova"/>
              <a:ea typeface="Proxima Nova"/>
              <a:cs typeface="Proxima Nova"/>
              <a:sym typeface="Proxima Nova"/>
            </a:endParaRPr>
          </a:p>
        </p:txBody>
      </p:sp>
      <p:sp>
        <p:nvSpPr>
          <p:cNvPr id="343" name="Google Shape;343;p27"/>
          <p:cNvSpPr/>
          <p:nvPr/>
        </p:nvSpPr>
        <p:spPr>
          <a:xfrm rot="10800000">
            <a:off x="2284788" y="3574541"/>
            <a:ext cx="264900" cy="1079100"/>
          </a:xfrm>
          <a:prstGeom prst="leftBrace">
            <a:avLst>
              <a:gd fmla="val 50000" name="adj1"/>
              <a:gd fmla="val 50000" name="adj2"/>
            </a:avLst>
          </a:prstGeom>
          <a:noFill/>
          <a:ln cap="flat" cmpd="sng" w="76200">
            <a:solidFill>
              <a:srgbClr val="67B4D4"/>
            </a:solidFill>
            <a:prstDash val="solid"/>
            <a:round/>
            <a:headEnd len="sm" w="sm" type="none"/>
            <a:tailEnd len="sm" w="sm" type="none"/>
          </a:ln>
        </p:spPr>
        <p:txBody>
          <a:bodyPr anchorCtr="0" anchor="ctr" bIns="114675" lIns="114675" spcFirstLastPara="1" rIns="114675" wrap="square" tIns="114675">
            <a:noAutofit/>
          </a:bodyPr>
          <a:lstStyle/>
          <a:p>
            <a:pPr indent="0" lvl="0" marL="0" rtl="0" algn="ctr">
              <a:spcBef>
                <a:spcPts val="0"/>
              </a:spcBef>
              <a:spcAft>
                <a:spcPts val="0"/>
              </a:spcAft>
              <a:buNone/>
            </a:pPr>
            <a:r>
              <a:t/>
            </a:r>
            <a:endParaRPr sz="1756"/>
          </a:p>
        </p:txBody>
      </p:sp>
      <p:sp>
        <p:nvSpPr>
          <p:cNvPr id="344" name="Google Shape;344;p27"/>
          <p:cNvSpPr txBox="1"/>
          <p:nvPr/>
        </p:nvSpPr>
        <p:spPr>
          <a:xfrm>
            <a:off x="562788" y="3574541"/>
            <a:ext cx="1722000" cy="1079100"/>
          </a:xfrm>
          <a:prstGeom prst="rect">
            <a:avLst/>
          </a:prstGeom>
          <a:noFill/>
          <a:ln>
            <a:noFill/>
          </a:ln>
        </p:spPr>
        <p:txBody>
          <a:bodyPr anchorCtr="0" anchor="ctr" bIns="109675" lIns="109675" spcFirstLastPara="1" rIns="109675" wrap="square" tIns="109675">
            <a:noAutofit/>
          </a:bodyPr>
          <a:lstStyle/>
          <a:p>
            <a:pPr indent="0" lvl="0" marL="0" rtl="0" algn="r">
              <a:spcBef>
                <a:spcPts val="0"/>
              </a:spcBef>
              <a:spcAft>
                <a:spcPts val="0"/>
              </a:spcAft>
              <a:buNone/>
            </a:pPr>
            <a:r>
              <a:rPr lang="en" sz="2432">
                <a:solidFill>
                  <a:srgbClr val="0B5394"/>
                </a:solidFill>
                <a:latin typeface="Proxima Nova"/>
                <a:ea typeface="Proxima Nova"/>
                <a:cs typeface="Proxima Nova"/>
                <a:sym typeface="Proxima Nova"/>
              </a:rPr>
              <a:t>12 months</a:t>
            </a:r>
            <a:endParaRPr sz="2432">
              <a:solidFill>
                <a:srgbClr val="0B5394"/>
              </a:solidFill>
              <a:latin typeface="Proxima Nova"/>
              <a:ea typeface="Proxima Nova"/>
              <a:cs typeface="Proxima Nova"/>
              <a:sym typeface="Proxima Nova"/>
            </a:endParaRPr>
          </a:p>
          <a:p>
            <a:pPr indent="0" lvl="0" marL="0" rtl="0" algn="r">
              <a:spcBef>
                <a:spcPts val="0"/>
              </a:spcBef>
              <a:spcAft>
                <a:spcPts val="0"/>
              </a:spcAft>
              <a:buNone/>
            </a:pPr>
            <a:r>
              <a:rPr lang="en" sz="2432">
                <a:solidFill>
                  <a:srgbClr val="0B5394"/>
                </a:solidFill>
                <a:latin typeface="Proxima Nova"/>
                <a:ea typeface="Proxima Nova"/>
                <a:cs typeface="Proxima Nova"/>
                <a:sym typeface="Proxima Nova"/>
              </a:rPr>
              <a:t>…</a:t>
            </a:r>
            <a:endParaRPr sz="2432">
              <a:solidFill>
                <a:srgbClr val="0B5394"/>
              </a:solidFill>
              <a:latin typeface="Proxima Nova"/>
              <a:ea typeface="Proxima Nova"/>
              <a:cs typeface="Proxima Nova"/>
              <a:sym typeface="Proxima Nova"/>
            </a:endParaRPr>
          </a:p>
          <a:p>
            <a:pPr indent="0" lvl="0" marL="0" rtl="0" algn="r">
              <a:spcBef>
                <a:spcPts val="0"/>
              </a:spcBef>
              <a:spcAft>
                <a:spcPts val="0"/>
              </a:spcAft>
              <a:buNone/>
            </a:pPr>
            <a:r>
              <a:rPr lang="en" sz="2432">
                <a:solidFill>
                  <a:srgbClr val="0B5394"/>
                </a:solidFill>
                <a:latin typeface="Proxima Nova"/>
                <a:ea typeface="Proxima Nova"/>
                <a:cs typeface="Proxima Nova"/>
                <a:sym typeface="Proxima Nova"/>
              </a:rPr>
              <a:t>…</a:t>
            </a:r>
            <a:endParaRPr sz="2432">
              <a:solidFill>
                <a:srgbClr val="0B5394"/>
              </a:solidFill>
              <a:latin typeface="Proxima Nova"/>
              <a:ea typeface="Proxima Nova"/>
              <a:cs typeface="Proxima Nova"/>
              <a:sym typeface="Proxima Nova"/>
            </a:endParaRPr>
          </a:p>
        </p:txBody>
      </p:sp>
      <p:sp>
        <p:nvSpPr>
          <p:cNvPr id="345" name="Google Shape;345;p27"/>
          <p:cNvSpPr/>
          <p:nvPr/>
        </p:nvSpPr>
        <p:spPr>
          <a:xfrm>
            <a:off x="6407481" y="3574541"/>
            <a:ext cx="264900" cy="1079100"/>
          </a:xfrm>
          <a:prstGeom prst="leftBrace">
            <a:avLst>
              <a:gd fmla="val 50000" name="adj1"/>
              <a:gd fmla="val 50000" name="adj2"/>
            </a:avLst>
          </a:prstGeom>
          <a:noFill/>
          <a:ln cap="flat" cmpd="sng" w="76200">
            <a:solidFill>
              <a:srgbClr val="67B4D4"/>
            </a:solidFill>
            <a:prstDash val="solid"/>
            <a:round/>
            <a:headEnd len="sm" w="sm" type="none"/>
            <a:tailEnd len="sm" w="sm" type="none"/>
          </a:ln>
        </p:spPr>
        <p:txBody>
          <a:bodyPr anchorCtr="0" anchor="ctr" bIns="114675" lIns="114675" spcFirstLastPara="1" rIns="114675" wrap="square" tIns="114675">
            <a:noAutofit/>
          </a:bodyPr>
          <a:lstStyle/>
          <a:p>
            <a:pPr indent="0" lvl="0" marL="0" rtl="0" algn="ctr">
              <a:spcBef>
                <a:spcPts val="0"/>
              </a:spcBef>
              <a:spcAft>
                <a:spcPts val="0"/>
              </a:spcAft>
              <a:buNone/>
            </a:pPr>
            <a:r>
              <a:t/>
            </a:r>
            <a:endParaRPr sz="1756"/>
          </a:p>
        </p:txBody>
      </p:sp>
      <p:sp>
        <p:nvSpPr>
          <p:cNvPr id="346" name="Google Shape;346;p27"/>
          <p:cNvSpPr txBox="1"/>
          <p:nvPr/>
        </p:nvSpPr>
        <p:spPr>
          <a:xfrm>
            <a:off x="6680731" y="3574541"/>
            <a:ext cx="1722000" cy="1079100"/>
          </a:xfrm>
          <a:prstGeom prst="rect">
            <a:avLst/>
          </a:prstGeom>
          <a:noFill/>
          <a:ln>
            <a:noFill/>
          </a:ln>
        </p:spPr>
        <p:txBody>
          <a:bodyPr anchorCtr="0" anchor="ctr" bIns="109675" lIns="109675" spcFirstLastPara="1" rIns="109675" wrap="square" tIns="109675">
            <a:noAutofit/>
          </a:bodyPr>
          <a:lstStyle/>
          <a:p>
            <a:pPr indent="0" lvl="0" marL="0" rtl="0" algn="l">
              <a:spcBef>
                <a:spcPts val="0"/>
              </a:spcBef>
              <a:spcAft>
                <a:spcPts val="0"/>
              </a:spcAft>
              <a:buNone/>
            </a:pPr>
            <a:r>
              <a:rPr lang="en" sz="2432">
                <a:solidFill>
                  <a:srgbClr val="0B5394"/>
                </a:solidFill>
                <a:latin typeface="Proxima Nova"/>
                <a:ea typeface="Proxima Nova"/>
                <a:cs typeface="Proxima Nova"/>
                <a:sym typeface="Proxima Nova"/>
              </a:rPr>
              <a:t>$6M setup</a:t>
            </a:r>
            <a:endParaRPr sz="2432">
              <a:solidFill>
                <a:srgbClr val="0B5394"/>
              </a:solidFill>
              <a:latin typeface="Proxima Nova"/>
              <a:ea typeface="Proxima Nova"/>
              <a:cs typeface="Proxima Nova"/>
              <a:sym typeface="Proxima Nova"/>
            </a:endParaRPr>
          </a:p>
          <a:p>
            <a:pPr indent="0" lvl="0" marL="0" rtl="0" algn="l">
              <a:spcBef>
                <a:spcPts val="0"/>
              </a:spcBef>
              <a:spcAft>
                <a:spcPts val="0"/>
              </a:spcAft>
              <a:buNone/>
            </a:pPr>
            <a:r>
              <a:rPr lang="en" sz="2432">
                <a:solidFill>
                  <a:srgbClr val="0B5394"/>
                </a:solidFill>
                <a:latin typeface="Proxima Nova"/>
                <a:ea typeface="Proxima Nova"/>
                <a:cs typeface="Proxima Nova"/>
                <a:sym typeface="Proxima Nova"/>
              </a:rPr>
              <a:t>$20 / test</a:t>
            </a:r>
            <a:endParaRPr sz="2432">
              <a:solidFill>
                <a:srgbClr val="0B5394"/>
              </a:solidFill>
              <a:latin typeface="Proxima Nova"/>
              <a:ea typeface="Proxima Nova"/>
              <a:cs typeface="Proxima Nova"/>
              <a:sym typeface="Proxima Nova"/>
            </a:endParaRPr>
          </a:p>
          <a:p>
            <a:pPr indent="0" lvl="0" marL="0" rtl="0" algn="l">
              <a:spcBef>
                <a:spcPts val="0"/>
              </a:spcBef>
              <a:spcAft>
                <a:spcPts val="0"/>
              </a:spcAft>
              <a:buNone/>
            </a:pPr>
            <a:r>
              <a:rPr lang="en" sz="2432">
                <a:solidFill>
                  <a:srgbClr val="0B5394"/>
                </a:solidFill>
                <a:latin typeface="Proxima Nova"/>
                <a:ea typeface="Proxima Nova"/>
                <a:cs typeface="Proxima Nova"/>
                <a:sym typeface="Proxima Nova"/>
              </a:rPr>
              <a:t>…</a:t>
            </a:r>
            <a:endParaRPr sz="2432">
              <a:solidFill>
                <a:srgbClr val="0B5394"/>
              </a:solidFill>
              <a:latin typeface="Proxima Nova"/>
              <a:ea typeface="Proxima Nova"/>
              <a:cs typeface="Proxima Nova"/>
              <a:sym typeface="Proxima Nova"/>
            </a:endParaRPr>
          </a:p>
        </p:txBody>
      </p:sp>
      <p:sp>
        <p:nvSpPr>
          <p:cNvPr id="347" name="Google Shape;347;p27"/>
          <p:cNvSpPr/>
          <p:nvPr/>
        </p:nvSpPr>
        <p:spPr>
          <a:xfrm>
            <a:off x="0" y="0"/>
            <a:ext cx="452400" cy="5143500"/>
          </a:xfrm>
          <a:prstGeom prst="rect">
            <a:avLst/>
          </a:prstGeom>
          <a:solidFill>
            <a:srgbClr val="68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348" name="Google Shape;348;p27"/>
          <p:cNvSpPr txBox="1"/>
          <p:nvPr>
            <p:ph idx="4294967295"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Iron Triangle </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B4D4"/>
        </a:solidFill>
      </p:bgPr>
    </p:bg>
    <p:spTree>
      <p:nvGrpSpPr>
        <p:cNvPr id="352" name="Shape 352"/>
        <p:cNvGrpSpPr/>
        <p:nvPr/>
      </p:nvGrpSpPr>
      <p:grpSpPr>
        <a:xfrm>
          <a:off x="0" y="0"/>
          <a:ext cx="0" cy="0"/>
          <a:chOff x="0" y="0"/>
          <a:chExt cx="0" cy="0"/>
        </a:xfrm>
      </p:grpSpPr>
      <p:pic>
        <p:nvPicPr>
          <p:cNvPr id="353" name="Google Shape;353;p28" title="vial_large.png"/>
          <p:cNvPicPr preferRelativeResize="0"/>
          <p:nvPr/>
        </p:nvPicPr>
        <p:blipFill>
          <a:blip r:embed="rId3">
            <a:alphaModFix/>
          </a:blip>
          <a:stretch>
            <a:fillRect/>
          </a:stretch>
        </p:blipFill>
        <p:spPr>
          <a:xfrm>
            <a:off x="7380575" y="-4860"/>
            <a:ext cx="1668176" cy="5148073"/>
          </a:xfrm>
          <a:prstGeom prst="rect">
            <a:avLst/>
          </a:prstGeom>
          <a:noFill/>
          <a:ln>
            <a:noFill/>
          </a:ln>
        </p:spPr>
      </p:pic>
      <p:sp>
        <p:nvSpPr>
          <p:cNvPr id="354" name="Google Shape;354;p28"/>
          <p:cNvSpPr txBox="1"/>
          <p:nvPr/>
        </p:nvSpPr>
        <p:spPr>
          <a:xfrm>
            <a:off x="669875" y="1664304"/>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Concept</a:t>
            </a:r>
            <a:endParaRPr sz="2600">
              <a:solidFill>
                <a:srgbClr val="D0E0E3"/>
              </a:solidFill>
              <a:latin typeface="Noto Sans Grantha"/>
              <a:ea typeface="Noto Sans Grantha"/>
              <a:cs typeface="Noto Sans Grantha"/>
              <a:sym typeface="Noto Sans Grantha"/>
            </a:endParaRPr>
          </a:p>
        </p:txBody>
      </p:sp>
      <p:sp>
        <p:nvSpPr>
          <p:cNvPr id="355" name="Google Shape;355;p28"/>
          <p:cNvSpPr txBox="1"/>
          <p:nvPr/>
        </p:nvSpPr>
        <p:spPr>
          <a:xfrm>
            <a:off x="669875" y="3816288"/>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Delivery</a:t>
            </a:r>
            <a:endParaRPr sz="2600">
              <a:solidFill>
                <a:srgbClr val="D0E0E3"/>
              </a:solidFill>
              <a:latin typeface="Noto Sans Grantha"/>
              <a:ea typeface="Noto Sans Grantha"/>
              <a:cs typeface="Noto Sans Grantha"/>
              <a:sym typeface="Noto Sans Grantha"/>
            </a:endParaRPr>
          </a:p>
        </p:txBody>
      </p:sp>
      <p:sp>
        <p:nvSpPr>
          <p:cNvPr id="356" name="Google Shape;356;p28"/>
          <p:cNvSpPr txBox="1"/>
          <p:nvPr/>
        </p:nvSpPr>
        <p:spPr>
          <a:xfrm>
            <a:off x="669875" y="588313"/>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Problem</a:t>
            </a:r>
            <a:endParaRPr sz="2600">
              <a:solidFill>
                <a:srgbClr val="83CAEB"/>
              </a:solidFill>
              <a:latin typeface="Noto Sans Grantha"/>
              <a:ea typeface="Noto Sans Grantha"/>
              <a:cs typeface="Noto Sans Grantha"/>
              <a:sym typeface="Noto Sans Grantha"/>
            </a:endParaRPr>
          </a:p>
        </p:txBody>
      </p:sp>
      <p:sp>
        <p:nvSpPr>
          <p:cNvPr id="357" name="Google Shape;357;p28"/>
          <p:cNvSpPr txBox="1"/>
          <p:nvPr/>
        </p:nvSpPr>
        <p:spPr>
          <a:xfrm>
            <a:off x="669875" y="2740296"/>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3000">
                <a:solidFill>
                  <a:srgbClr val="FFFFFF"/>
                </a:solidFill>
                <a:highlight>
                  <a:srgbClr val="67B4D4"/>
                </a:highlight>
                <a:latin typeface="Noto Sans Grantha"/>
                <a:ea typeface="Noto Sans Grantha"/>
                <a:cs typeface="Noto Sans Grantha"/>
                <a:sym typeface="Noto Sans Grantha"/>
              </a:rPr>
              <a:t>Solution</a:t>
            </a:r>
            <a:endParaRPr sz="2600">
              <a:solidFill>
                <a:srgbClr val="D0E0E3"/>
              </a:solidFill>
              <a:latin typeface="Noto Sans Grantha"/>
              <a:ea typeface="Noto Sans Grantha"/>
              <a:cs typeface="Noto Sans Grantha"/>
              <a:sym typeface="Noto Sans Grantha"/>
            </a:endParaRPr>
          </a:p>
        </p:txBody>
      </p:sp>
      <p:sp>
        <p:nvSpPr>
          <p:cNvPr id="358" name="Google Shape;358;p28"/>
          <p:cNvSpPr/>
          <p:nvPr/>
        </p:nvSpPr>
        <p:spPr>
          <a:xfrm>
            <a:off x="0" y="0"/>
            <a:ext cx="452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29" title="download.png"/>
          <p:cNvPicPr preferRelativeResize="0"/>
          <p:nvPr/>
        </p:nvPicPr>
        <p:blipFill rotWithShape="1">
          <a:blip r:embed="rId3">
            <a:alphaModFix/>
          </a:blip>
          <a:srcRect b="330" l="0" r="0" t="5526"/>
          <a:stretch/>
        </p:blipFill>
        <p:spPr>
          <a:xfrm>
            <a:off x="143938" y="123460"/>
            <a:ext cx="8246525" cy="5020041"/>
          </a:xfrm>
          <a:prstGeom prst="rect">
            <a:avLst/>
          </a:prstGeom>
          <a:noFill/>
          <a:ln>
            <a:noFill/>
          </a:ln>
        </p:spPr>
      </p:pic>
      <p:sp>
        <p:nvSpPr>
          <p:cNvPr id="364" name="Google Shape;364;p29"/>
          <p:cNvSpPr/>
          <p:nvPr/>
        </p:nvSpPr>
        <p:spPr>
          <a:xfrm>
            <a:off x="3158275" y="2943967"/>
            <a:ext cx="2541600" cy="16290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70">
                <a:solidFill>
                  <a:srgbClr val="FF5252"/>
                </a:solidFill>
                <a:highlight>
                  <a:schemeClr val="lt1"/>
                </a:highlight>
              </a:rPr>
              <a:t>Decisions:</a:t>
            </a:r>
            <a:endParaRPr>
              <a:solidFill>
                <a:schemeClr val="dk1"/>
              </a:solidFill>
            </a:endParaRPr>
          </a:p>
        </p:txBody>
      </p:sp>
      <p:sp>
        <p:nvSpPr>
          <p:cNvPr id="365" name="Google Shape;365;p29"/>
          <p:cNvSpPr/>
          <p:nvPr/>
        </p:nvSpPr>
        <p:spPr>
          <a:xfrm rot="10800000">
            <a:off x="1437469" y="1871302"/>
            <a:ext cx="281763" cy="2173368"/>
          </a:xfrm>
          <a:custGeom>
            <a:rect b="b" l="l" r="r" t="t"/>
            <a:pathLst>
              <a:path extrusionOk="0" h="51036" w="12725">
                <a:moveTo>
                  <a:pt x="11803" y="0"/>
                </a:moveTo>
                <a:cubicBezTo>
                  <a:pt x="11803" y="5370"/>
                  <a:pt x="13770" y="23711"/>
                  <a:pt x="11803" y="32217"/>
                </a:cubicBezTo>
                <a:cubicBezTo>
                  <a:pt x="9836" y="40723"/>
                  <a:pt x="1967" y="47900"/>
                  <a:pt x="0" y="51036"/>
                </a:cubicBezTo>
              </a:path>
            </a:pathLst>
          </a:custGeom>
          <a:noFill/>
          <a:ln cap="flat" cmpd="sng" w="82150">
            <a:solidFill>
              <a:srgbClr val="FF5252"/>
            </a:solidFill>
            <a:prstDash val="solid"/>
            <a:round/>
            <a:headEnd len="med" w="med" type="none"/>
            <a:tailEnd len="med" w="med" type="triangle"/>
          </a:ln>
        </p:spPr>
      </p:sp>
      <p:sp>
        <p:nvSpPr>
          <p:cNvPr id="366" name="Google Shape;366;p29"/>
          <p:cNvSpPr txBox="1"/>
          <p:nvPr/>
        </p:nvSpPr>
        <p:spPr>
          <a:xfrm>
            <a:off x="1437447" y="2804084"/>
            <a:ext cx="1983000" cy="836400"/>
          </a:xfrm>
          <a:prstGeom prst="rect">
            <a:avLst/>
          </a:prstGeom>
          <a:noFill/>
          <a:ln>
            <a:noFill/>
          </a:ln>
        </p:spPr>
        <p:txBody>
          <a:bodyPr anchorCtr="0" anchor="t" bIns="98575" lIns="98575" spcFirstLastPara="1" rIns="98575" wrap="square" tIns="98575">
            <a:spAutoFit/>
          </a:bodyPr>
          <a:lstStyle/>
          <a:p>
            <a:pPr indent="0" lvl="0" marL="0" marR="0" rtl="0" algn="l">
              <a:lnSpc>
                <a:spcPct val="100000"/>
              </a:lnSpc>
              <a:spcBef>
                <a:spcPts val="0"/>
              </a:spcBef>
              <a:spcAft>
                <a:spcPts val="0"/>
              </a:spcAft>
              <a:buNone/>
            </a:pPr>
            <a:r>
              <a:rPr b="1" lang="en" sz="2070">
                <a:solidFill>
                  <a:srgbClr val="FF5252"/>
                </a:solidFill>
                <a:highlight>
                  <a:srgbClr val="FFFFFF"/>
                </a:highlight>
              </a:rPr>
              <a:t>Group Size: Increasing</a:t>
            </a:r>
            <a:endParaRPr b="1" sz="2070">
              <a:solidFill>
                <a:srgbClr val="FF5252"/>
              </a:solidFill>
              <a:highlight>
                <a:srgbClr val="FFFFFF"/>
              </a:highlight>
            </a:endParaRPr>
          </a:p>
        </p:txBody>
      </p:sp>
      <p:sp>
        <p:nvSpPr>
          <p:cNvPr id="367" name="Google Shape;367;p29"/>
          <p:cNvSpPr txBox="1"/>
          <p:nvPr/>
        </p:nvSpPr>
        <p:spPr>
          <a:xfrm>
            <a:off x="1872700" y="1141125"/>
            <a:ext cx="2110200" cy="836400"/>
          </a:xfrm>
          <a:prstGeom prst="rect">
            <a:avLst/>
          </a:prstGeom>
          <a:noFill/>
          <a:ln>
            <a:noFill/>
          </a:ln>
        </p:spPr>
        <p:txBody>
          <a:bodyPr anchorCtr="0" anchor="t" bIns="98575" lIns="98575" spcFirstLastPara="1" rIns="98575" wrap="square" tIns="98575">
            <a:spAutoFit/>
          </a:bodyPr>
          <a:lstStyle/>
          <a:p>
            <a:pPr indent="0" lvl="0" marL="0" marR="0" rtl="0" algn="l">
              <a:lnSpc>
                <a:spcPct val="100000"/>
              </a:lnSpc>
              <a:spcBef>
                <a:spcPts val="0"/>
              </a:spcBef>
              <a:spcAft>
                <a:spcPts val="0"/>
              </a:spcAft>
              <a:buNone/>
            </a:pPr>
            <a:r>
              <a:rPr b="1" lang="en" sz="2070">
                <a:solidFill>
                  <a:srgbClr val="FF5252"/>
                </a:solidFill>
                <a:highlight>
                  <a:srgbClr val="FFFFFF"/>
                </a:highlight>
              </a:rPr>
              <a:t>Review Model: </a:t>
            </a:r>
            <a:endParaRPr b="1" sz="2070">
              <a:solidFill>
                <a:srgbClr val="FF5252"/>
              </a:solidFill>
              <a:highlight>
                <a:srgbClr val="FFFFFF"/>
              </a:highlight>
            </a:endParaRPr>
          </a:p>
          <a:p>
            <a:pPr indent="0" lvl="0" marL="0" marR="0" rtl="0" algn="l">
              <a:lnSpc>
                <a:spcPct val="100000"/>
              </a:lnSpc>
              <a:spcBef>
                <a:spcPts val="0"/>
              </a:spcBef>
              <a:spcAft>
                <a:spcPts val="0"/>
              </a:spcAft>
              <a:buNone/>
            </a:pPr>
            <a:r>
              <a:rPr b="1" lang="en" sz="2070">
                <a:solidFill>
                  <a:srgbClr val="FF5252"/>
                </a:solidFill>
                <a:highlight>
                  <a:srgbClr val="FFFFFF"/>
                </a:highlight>
              </a:rPr>
              <a:t>Partial Review</a:t>
            </a:r>
            <a:endParaRPr b="1" sz="2070">
              <a:solidFill>
                <a:srgbClr val="FF5252"/>
              </a:solidFill>
              <a:highlight>
                <a:srgbClr val="FFFFFF"/>
              </a:highlight>
            </a:endParaRPr>
          </a:p>
        </p:txBody>
      </p:sp>
      <p:cxnSp>
        <p:nvCxnSpPr>
          <p:cNvPr id="368" name="Google Shape;368;p29"/>
          <p:cNvCxnSpPr/>
          <p:nvPr/>
        </p:nvCxnSpPr>
        <p:spPr>
          <a:xfrm flipH="1" rot="10800000">
            <a:off x="1678607" y="871416"/>
            <a:ext cx="118800" cy="891300"/>
          </a:xfrm>
          <a:prstGeom prst="straightConnector1">
            <a:avLst/>
          </a:prstGeom>
          <a:noFill/>
          <a:ln cap="flat" cmpd="sng" w="82150">
            <a:solidFill>
              <a:srgbClr val="FF5252"/>
            </a:solidFill>
            <a:prstDash val="solid"/>
            <a:round/>
            <a:headEnd len="med" w="med" type="none"/>
            <a:tailEnd len="med" w="med" type="triangle"/>
          </a:ln>
        </p:spPr>
      </p:cxnSp>
      <p:sp>
        <p:nvSpPr>
          <p:cNvPr id="369" name="Google Shape;369;p29"/>
          <p:cNvSpPr txBox="1"/>
          <p:nvPr/>
        </p:nvSpPr>
        <p:spPr>
          <a:xfrm>
            <a:off x="5252824" y="1088125"/>
            <a:ext cx="2541600" cy="836400"/>
          </a:xfrm>
          <a:prstGeom prst="rect">
            <a:avLst/>
          </a:prstGeom>
          <a:noFill/>
          <a:ln>
            <a:noFill/>
          </a:ln>
        </p:spPr>
        <p:txBody>
          <a:bodyPr anchorCtr="0" anchor="t" bIns="98575" lIns="98575" spcFirstLastPara="1" rIns="98575" wrap="square" tIns="98575">
            <a:spAutoFit/>
          </a:bodyPr>
          <a:lstStyle/>
          <a:p>
            <a:pPr indent="0" lvl="0" marL="0" marR="0" rtl="0" algn="l">
              <a:lnSpc>
                <a:spcPct val="100000"/>
              </a:lnSpc>
              <a:spcBef>
                <a:spcPts val="0"/>
              </a:spcBef>
              <a:spcAft>
                <a:spcPts val="0"/>
              </a:spcAft>
              <a:buNone/>
            </a:pPr>
            <a:r>
              <a:rPr b="1" lang="en" sz="2070">
                <a:solidFill>
                  <a:srgbClr val="FF5252"/>
                </a:solidFill>
                <a:highlight>
                  <a:srgbClr val="FFFFFF"/>
                </a:highlight>
              </a:rPr>
              <a:t>Review Model: Fully Autonomous</a:t>
            </a:r>
            <a:endParaRPr b="1" sz="2070">
              <a:solidFill>
                <a:srgbClr val="FF5252"/>
              </a:solidFill>
              <a:highlight>
                <a:srgbClr val="FFFFFF"/>
              </a:highlight>
            </a:endParaRPr>
          </a:p>
        </p:txBody>
      </p:sp>
      <p:cxnSp>
        <p:nvCxnSpPr>
          <p:cNvPr id="370" name="Google Shape;370;p29"/>
          <p:cNvCxnSpPr/>
          <p:nvPr/>
        </p:nvCxnSpPr>
        <p:spPr>
          <a:xfrm>
            <a:off x="1982651" y="872601"/>
            <a:ext cx="2952600" cy="483000"/>
          </a:xfrm>
          <a:prstGeom prst="straightConnector1">
            <a:avLst/>
          </a:prstGeom>
          <a:noFill/>
          <a:ln cap="flat" cmpd="sng" w="82150">
            <a:solidFill>
              <a:srgbClr val="FF5252"/>
            </a:solidFill>
            <a:prstDash val="solid"/>
            <a:round/>
            <a:headEnd len="med" w="med" type="none"/>
            <a:tailEnd len="med" w="med" type="triangle"/>
          </a:ln>
        </p:spPr>
      </p:cxnSp>
      <p:sp>
        <p:nvSpPr>
          <p:cNvPr id="371" name="Google Shape;371;p29"/>
          <p:cNvSpPr txBox="1"/>
          <p:nvPr/>
        </p:nvSpPr>
        <p:spPr>
          <a:xfrm>
            <a:off x="3185116" y="3342242"/>
            <a:ext cx="2452200" cy="531000"/>
          </a:xfrm>
          <a:prstGeom prst="rect">
            <a:avLst/>
          </a:prstGeom>
          <a:noFill/>
          <a:ln>
            <a:noFill/>
          </a:ln>
        </p:spPr>
        <p:txBody>
          <a:bodyPr anchorCtr="0" anchor="t" bIns="105125" lIns="105125" spcFirstLastPara="1" rIns="105125" wrap="square" tIns="105125">
            <a:spAutoFit/>
          </a:bodyPr>
          <a:lstStyle/>
          <a:p>
            <a:pPr indent="0" lvl="0" marL="0" rtl="0" algn="ctr">
              <a:spcBef>
                <a:spcPts val="0"/>
              </a:spcBef>
              <a:spcAft>
                <a:spcPts val="0"/>
              </a:spcAft>
              <a:buNone/>
            </a:pPr>
            <a:r>
              <a:rPr b="1" lang="en" sz="2070">
                <a:solidFill>
                  <a:srgbClr val="FF5252"/>
                </a:solidFill>
                <a:highlight>
                  <a:srgbClr val="FFFFFF"/>
                </a:highlight>
              </a:rPr>
              <a:t>Agent group size</a:t>
            </a:r>
            <a:endParaRPr b="1" sz="2070">
              <a:solidFill>
                <a:srgbClr val="FF5252"/>
              </a:solidFill>
              <a:highlight>
                <a:srgbClr val="FFFFFF"/>
              </a:highlight>
            </a:endParaRPr>
          </a:p>
        </p:txBody>
      </p:sp>
      <p:sp>
        <p:nvSpPr>
          <p:cNvPr id="372" name="Google Shape;372;p29"/>
          <p:cNvSpPr txBox="1"/>
          <p:nvPr/>
        </p:nvSpPr>
        <p:spPr>
          <a:xfrm>
            <a:off x="3185116" y="3756501"/>
            <a:ext cx="2452200" cy="531000"/>
          </a:xfrm>
          <a:prstGeom prst="rect">
            <a:avLst/>
          </a:prstGeom>
          <a:noFill/>
          <a:ln>
            <a:noFill/>
          </a:ln>
        </p:spPr>
        <p:txBody>
          <a:bodyPr anchorCtr="0" anchor="t" bIns="105125" lIns="105125" spcFirstLastPara="1" rIns="105125" wrap="square" tIns="105125">
            <a:spAutoFit/>
          </a:bodyPr>
          <a:lstStyle/>
          <a:p>
            <a:pPr indent="0" lvl="0" marL="0" rtl="0" algn="ctr">
              <a:spcBef>
                <a:spcPts val="0"/>
              </a:spcBef>
              <a:spcAft>
                <a:spcPts val="0"/>
              </a:spcAft>
              <a:buNone/>
            </a:pPr>
            <a:r>
              <a:rPr b="1" lang="en" sz="2070">
                <a:solidFill>
                  <a:srgbClr val="FF5252"/>
                </a:solidFill>
                <a:highlight>
                  <a:srgbClr val="FFFFFF"/>
                </a:highlight>
              </a:rPr>
              <a:t>Review model</a:t>
            </a:r>
            <a:endParaRPr b="1" sz="2070">
              <a:solidFill>
                <a:srgbClr val="FF5252"/>
              </a:solidFill>
              <a:highlight>
                <a:srgbClr val="FFFFFF"/>
              </a:highlight>
            </a:endParaRPr>
          </a:p>
        </p:txBody>
      </p:sp>
      <p:sp>
        <p:nvSpPr>
          <p:cNvPr id="373" name="Google Shape;373;p29"/>
          <p:cNvSpPr txBox="1"/>
          <p:nvPr/>
        </p:nvSpPr>
        <p:spPr>
          <a:xfrm>
            <a:off x="3591322" y="4094550"/>
            <a:ext cx="1639800" cy="531000"/>
          </a:xfrm>
          <a:prstGeom prst="rect">
            <a:avLst/>
          </a:prstGeom>
          <a:noFill/>
          <a:ln>
            <a:noFill/>
          </a:ln>
        </p:spPr>
        <p:txBody>
          <a:bodyPr anchorCtr="0" anchor="t" bIns="105125" lIns="105125" spcFirstLastPara="1" rIns="105125" wrap="square" tIns="105125">
            <a:spAutoFit/>
          </a:bodyPr>
          <a:lstStyle/>
          <a:p>
            <a:pPr indent="0" lvl="0" marL="0" rtl="0" algn="ctr">
              <a:spcBef>
                <a:spcPts val="0"/>
              </a:spcBef>
              <a:spcAft>
                <a:spcPts val="0"/>
              </a:spcAft>
              <a:buNone/>
            </a:pPr>
            <a:r>
              <a:rPr b="1" lang="en" sz="2070">
                <a:solidFill>
                  <a:srgbClr val="FF5252"/>
                </a:solidFill>
                <a:highlight>
                  <a:srgbClr val="FFFFFF"/>
                </a:highlight>
              </a:rPr>
              <a:t>…</a:t>
            </a:r>
            <a:endParaRPr b="1" sz="2070">
              <a:solidFill>
                <a:srgbClr val="FF5252"/>
              </a:solidFill>
              <a:highlight>
                <a:srgbClr val="FFFFFF"/>
              </a:highlight>
            </a:endParaRPr>
          </a:p>
        </p:txBody>
      </p:sp>
      <p:pic>
        <p:nvPicPr>
          <p:cNvPr id="374" name="Google Shape;374;p29"/>
          <p:cNvPicPr preferRelativeResize="0"/>
          <p:nvPr/>
        </p:nvPicPr>
        <p:blipFill rotWithShape="1">
          <a:blip r:embed="rId4">
            <a:alphaModFix/>
          </a:blip>
          <a:srcRect b="60229" l="16076" r="17633" t="0"/>
          <a:stretch/>
        </p:blipFill>
        <p:spPr>
          <a:xfrm>
            <a:off x="7869368" y="198578"/>
            <a:ext cx="1199560" cy="479651"/>
          </a:xfrm>
          <a:prstGeom prst="rect">
            <a:avLst/>
          </a:prstGeom>
          <a:noFill/>
          <a:ln>
            <a:noFill/>
          </a:ln>
        </p:spPr>
      </p:pic>
      <p:pic>
        <p:nvPicPr>
          <p:cNvPr id="375" name="Google Shape;375;p29"/>
          <p:cNvPicPr preferRelativeResize="0"/>
          <p:nvPr/>
        </p:nvPicPr>
        <p:blipFill rotWithShape="1">
          <a:blip r:embed="rId4">
            <a:alphaModFix/>
          </a:blip>
          <a:srcRect b="0" l="24407" r="28711" t="43640"/>
          <a:stretch/>
        </p:blipFill>
        <p:spPr>
          <a:xfrm>
            <a:off x="7344530" y="198578"/>
            <a:ext cx="598589" cy="4796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graphicFrame>
        <p:nvGraphicFramePr>
          <p:cNvPr id="380" name="Google Shape;380;p30"/>
          <p:cNvGraphicFramePr/>
          <p:nvPr/>
        </p:nvGraphicFramePr>
        <p:xfrm>
          <a:off x="386200" y="1012150"/>
          <a:ext cx="3000000" cy="3000000"/>
        </p:xfrm>
        <a:graphic>
          <a:graphicData uri="http://schemas.openxmlformats.org/drawingml/2006/table">
            <a:tbl>
              <a:tblPr>
                <a:noFill/>
                <a:tableStyleId>{5D4255DE-314D-4A87-883B-22B09B20BF7A}</a:tableStyleId>
              </a:tblPr>
              <a:tblGrid>
                <a:gridCol w="342900"/>
                <a:gridCol w="1162050"/>
                <a:gridCol w="3571875"/>
                <a:gridCol w="771525"/>
                <a:gridCol w="904875"/>
                <a:gridCol w="1038225"/>
                <a:gridCol w="752475"/>
              </a:tblGrid>
              <a:tr h="342650">
                <a:tc>
                  <a:txBody>
                    <a:bodyPr/>
                    <a:lstStyle/>
                    <a:p>
                      <a:pPr indent="0" lvl="0" marL="0" rtl="0" algn="ctr">
                        <a:lnSpc>
                          <a:spcPct val="105000"/>
                        </a:lnSpc>
                        <a:spcBef>
                          <a:spcPts val="0"/>
                        </a:spcBef>
                        <a:spcAft>
                          <a:spcPts val="0"/>
                        </a:spcAft>
                        <a:buNone/>
                      </a:pPr>
                      <a:r>
                        <a:rPr b="1" lang="en" sz="1000">
                          <a:solidFill>
                            <a:srgbClr val="FFFFFF"/>
                          </a:solidFill>
                        </a:rPr>
                        <a:t>ID</a:t>
                      </a:r>
                      <a:endParaRPr sz="11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1000">
                          <a:solidFill>
                            <a:srgbClr val="FFFFFF"/>
                          </a:solidFill>
                        </a:rPr>
                        <a:t>Decision name</a:t>
                      </a:r>
                      <a:endParaRPr sz="11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1000">
                          <a:solidFill>
                            <a:srgbClr val="FFFFFF"/>
                          </a:solidFill>
                        </a:rPr>
                        <a:t>Rationale</a:t>
                      </a:r>
                      <a:endParaRPr sz="11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1000">
                          <a:solidFill>
                            <a:srgbClr val="FFFFFF"/>
                          </a:solidFill>
                        </a:rPr>
                        <a:t>Option 1</a:t>
                      </a:r>
                      <a:endParaRPr sz="11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1000">
                          <a:solidFill>
                            <a:srgbClr val="FFFFFF"/>
                          </a:solidFill>
                        </a:rPr>
                        <a:t>Option 2</a:t>
                      </a:r>
                      <a:endParaRPr sz="11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1000">
                          <a:solidFill>
                            <a:srgbClr val="FFFFFF"/>
                          </a:solidFill>
                        </a:rPr>
                        <a:t>Option 3</a:t>
                      </a:r>
                      <a:endParaRPr sz="11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1000">
                          <a:solidFill>
                            <a:srgbClr val="FFFFFF"/>
                          </a:solidFill>
                        </a:rPr>
                        <a:t>Option 4</a:t>
                      </a:r>
                      <a:endParaRPr sz="11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r>
              <a:tr h="506325">
                <a:tc>
                  <a:txBody>
                    <a:bodyPr/>
                    <a:lstStyle/>
                    <a:p>
                      <a:pPr indent="0" lvl="0" marL="0" rtl="0" algn="l">
                        <a:lnSpc>
                          <a:spcPct val="105000"/>
                        </a:lnSpc>
                        <a:spcBef>
                          <a:spcPts val="0"/>
                        </a:spcBef>
                        <a:spcAft>
                          <a:spcPts val="0"/>
                        </a:spcAft>
                        <a:buNone/>
                      </a:pPr>
                      <a:r>
                        <a:rPr lang="en" sz="1000"/>
                        <a:t>D2</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Model Origin</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On GCP, Gemini models are discounted</a:t>
                      </a:r>
                      <a:r>
                        <a:rPr baseline="-25000" lang="en" sz="1000"/>
                        <a:t>[2]</a:t>
                      </a:r>
                      <a:r>
                        <a:rPr lang="en" sz="1000"/>
                        <a:t>. Specialized alternatives may be slightly more performant, but more expensive. We added D11 to choose the model type.</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Gemini family only</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Other closed source</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Train our own</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Open source</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337550">
                <a:tc>
                  <a:txBody>
                    <a:bodyPr/>
                    <a:lstStyle/>
                    <a:p>
                      <a:pPr indent="0" lvl="0" marL="0" rtl="0" algn="l">
                        <a:lnSpc>
                          <a:spcPct val="105000"/>
                        </a:lnSpc>
                        <a:spcBef>
                          <a:spcPts val="0"/>
                        </a:spcBef>
                        <a:spcAft>
                          <a:spcPts val="0"/>
                        </a:spcAft>
                        <a:buNone/>
                      </a:pPr>
                      <a:r>
                        <a:rPr lang="en" sz="1000"/>
                        <a:t>D3</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Research paradigm</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This was the second-most architectural decision in OS11. We added a new option RAG + Fine-Tuning (</a:t>
                      </a:r>
                      <a:r>
                        <a:rPr lang="en" sz="1000" u="sng">
                          <a:solidFill>
                            <a:srgbClr val="1155CC"/>
                          </a:solidFill>
                          <a:hlinkClick r:id="rId3">
                            <a:extLst>
                              <a:ext uri="{A12FA001-AC4F-418D-AE19-62706E023703}">
                                <ahyp:hlinkClr val="tx"/>
                              </a:ext>
                            </a:extLst>
                          </a:hlinkClick>
                        </a:rPr>
                        <a:t>Piazza @60</a:t>
                      </a:r>
                      <a:r>
                        <a:rPr lang="en" sz="1000"/>
                        <a:t>).</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RAG</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Fine - tuning</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Rely on pre - training</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RAG + Fine-Tuning</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337550">
                <a:tc>
                  <a:txBody>
                    <a:bodyPr/>
                    <a:lstStyle/>
                    <a:p>
                      <a:pPr indent="0" lvl="0" marL="0" rtl="0" algn="l">
                        <a:lnSpc>
                          <a:spcPct val="105000"/>
                        </a:lnSpc>
                        <a:spcBef>
                          <a:spcPts val="0"/>
                        </a:spcBef>
                        <a:spcAft>
                          <a:spcPts val="0"/>
                        </a:spcAft>
                        <a:buNone/>
                      </a:pPr>
                      <a:r>
                        <a:rPr lang="en" sz="1000"/>
                        <a:t>D5</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Number of AI roles per test result</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This is architectural, but we reoriented the bucket names and renamed the non-agentic option to be “no AI”,  but then removed it because it's outside our SPS.</a:t>
                      </a:r>
                      <a:endParaRPr sz="10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0 (no AI)</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1000"/>
                        <a:t>1 (single agent)</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Small group (2-5)</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Large group (5 - 10)</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225425">
                <a:tc>
                  <a:txBody>
                    <a:bodyPr/>
                    <a:lstStyle/>
                    <a:p>
                      <a:pPr indent="0" lvl="0" marL="0" rtl="0" algn="l">
                        <a:lnSpc>
                          <a:spcPct val="105000"/>
                        </a:lnSpc>
                        <a:spcBef>
                          <a:spcPts val="0"/>
                        </a:spcBef>
                        <a:spcAft>
                          <a:spcPts val="0"/>
                        </a:spcAft>
                        <a:buNone/>
                      </a:pPr>
                      <a:r>
                        <a:rPr lang="en" sz="1000"/>
                        <a:t>D6</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Data sources</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OS11 showed this is architectural, but we're renaming the options per OS11 feedback to be more strategic.</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Mayo internal only</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Mayo + single external source</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Multiple internal+ external sources</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Open Internet only</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218075">
                <a:tc>
                  <a:txBody>
                    <a:bodyPr/>
                    <a:lstStyle/>
                    <a:p>
                      <a:pPr indent="0" lvl="0" marL="0" rtl="0" algn="l">
                        <a:lnSpc>
                          <a:spcPct val="105000"/>
                        </a:lnSpc>
                        <a:spcBef>
                          <a:spcPts val="0"/>
                        </a:spcBef>
                        <a:spcAft>
                          <a:spcPts val="0"/>
                        </a:spcAft>
                        <a:buNone/>
                      </a:pPr>
                      <a:r>
                        <a:rPr lang="en" sz="1000"/>
                        <a:t>D9</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Clinical validation and release control</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This was the single most architectural decision in OS11. We searched for more options, but these are the main ones.</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Rule-based condition</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Human - in - the - loop</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Tiered release</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ctr">
                        <a:lnSpc>
                          <a:spcPct val="105000"/>
                        </a:lnSpc>
                        <a:spcBef>
                          <a:spcPts val="0"/>
                        </a:spcBef>
                        <a:spcAft>
                          <a:spcPts val="0"/>
                        </a:spcAft>
                        <a:buNone/>
                      </a:pPr>
                      <a:r>
                        <a:rPr i="1" lang="en" sz="1000">
                          <a:solidFill>
                            <a:srgbClr val="999999"/>
                          </a:solidFill>
                        </a:rPr>
                        <a:t>N/A</a:t>
                      </a:r>
                      <a:endParaRPr i="1"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r>
              <a:tr h="337550">
                <a:tc>
                  <a:txBody>
                    <a:bodyPr/>
                    <a:lstStyle/>
                    <a:p>
                      <a:pPr indent="0" lvl="0" marL="0" rtl="0" algn="l">
                        <a:lnSpc>
                          <a:spcPct val="105000"/>
                        </a:lnSpc>
                        <a:spcBef>
                          <a:spcPts val="0"/>
                        </a:spcBef>
                        <a:spcAft>
                          <a:spcPts val="0"/>
                        </a:spcAft>
                        <a:buNone/>
                      </a:pPr>
                      <a:r>
                        <a:rPr lang="en" sz="1000"/>
                        <a:t>D10</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Private information handling</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It's best to maximize integration, within compliance constraints. That makes this a constraint, not a decision.</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No private exposure</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1000"/>
                        <a:t>Scoped PHI</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1000"/>
                        <a:t>No patient - identifiable PHI</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ctr">
                        <a:lnSpc>
                          <a:spcPct val="105000"/>
                        </a:lnSpc>
                        <a:spcBef>
                          <a:spcPts val="0"/>
                        </a:spcBef>
                        <a:spcAft>
                          <a:spcPts val="0"/>
                        </a:spcAft>
                        <a:buNone/>
                      </a:pPr>
                      <a:r>
                        <a:rPr i="1" lang="en" sz="1000">
                          <a:solidFill>
                            <a:srgbClr val="999999"/>
                          </a:solidFill>
                        </a:rPr>
                        <a:t>N/A</a:t>
                      </a:r>
                      <a:endParaRPr i="1"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r>
              <a:tr h="506325">
                <a:tc>
                  <a:txBody>
                    <a:bodyPr/>
                    <a:lstStyle/>
                    <a:p>
                      <a:pPr indent="0" lvl="0" marL="0" rtl="0" algn="l">
                        <a:lnSpc>
                          <a:spcPct val="105000"/>
                        </a:lnSpc>
                        <a:spcBef>
                          <a:spcPts val="0"/>
                        </a:spcBef>
                        <a:spcAft>
                          <a:spcPts val="0"/>
                        </a:spcAft>
                        <a:buNone/>
                      </a:pPr>
                      <a:r>
                        <a:rPr lang="en" sz="1000"/>
                        <a:t>D11</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Model Specification</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This is a subset of D2, but still architectural because it's sensitive to metrics (M1, M4, M6, and M8) and connected to other decisions (D3, D5, and D10)</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1000"/>
                        <a:t>Efficient, Text-Only (Flash)</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Reasoning, Medium price (2.5 pro)</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Multimodal, powerful (3 Pro)</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1000"/>
                        <a:t>Mix multiple models</a:t>
                      </a:r>
                      <a:endParaRPr sz="11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graphicFrame>
        <p:nvGraphicFramePr>
          <p:cNvPr id="385" name="Google Shape;385;p31"/>
          <p:cNvGraphicFramePr/>
          <p:nvPr/>
        </p:nvGraphicFramePr>
        <p:xfrm>
          <a:off x="2555096" y="477816"/>
          <a:ext cx="3000000" cy="3000000"/>
        </p:xfrm>
        <a:graphic>
          <a:graphicData uri="http://schemas.openxmlformats.org/drawingml/2006/table">
            <a:tbl>
              <a:tblPr>
                <a:noFill/>
                <a:tableStyleId>{3FAB9810-40CA-43D7-B2C1-EFE16C8D5BE5}</a:tableStyleId>
              </a:tblPr>
              <a:tblGrid>
                <a:gridCol w="242150"/>
                <a:gridCol w="242150"/>
                <a:gridCol w="242150"/>
                <a:gridCol w="242150"/>
                <a:gridCol w="242150"/>
                <a:gridCol w="242150"/>
                <a:gridCol w="242150"/>
                <a:gridCol w="242150"/>
                <a:gridCol w="242150"/>
                <a:gridCol w="242150"/>
                <a:gridCol w="242150"/>
                <a:gridCol w="242150"/>
                <a:gridCol w="242150"/>
                <a:gridCol w="242150"/>
                <a:gridCol w="242150"/>
                <a:gridCol w="242150"/>
                <a:gridCol w="242150"/>
                <a:gridCol w="242150"/>
                <a:gridCol w="242150"/>
                <a:gridCol w="242150"/>
                <a:gridCol w="242150"/>
                <a:gridCol w="242150"/>
              </a:tblGrid>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6</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3</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3</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3</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9</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5</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1</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4</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4</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4</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8</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5</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en" sz="1200">
                          <a:latin typeface="Proxima Nova"/>
                          <a:ea typeface="Proxima Nova"/>
                          <a:cs typeface="Proxima Nova"/>
                          <a:sym typeface="Proxima Nova"/>
                        </a:rPr>
                        <a:t>5</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X</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120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2</a:t>
                      </a:r>
                      <a:endParaRPr sz="1200">
                        <a:latin typeface="Proxima Nova"/>
                        <a:ea typeface="Proxima Nova"/>
                        <a:cs typeface="Proxima Nova"/>
                        <a:sym typeface="Proxima Nova"/>
                      </a:endParaRPr>
                    </a:p>
                  </a:txBody>
                  <a:tcPr marT="0" marB="0" marR="0" marL="0" anchor="ctr">
                    <a:solidFill>
                      <a:srgbClr val="FFFFFF"/>
                    </a:solidFill>
                  </a:tcPr>
                </a:tc>
              </a:tr>
              <a:tr h="196600">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6</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3</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3</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3</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9</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5</a:t>
                      </a:r>
                      <a:endParaRPr sz="120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1</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4</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7</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4</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4</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8</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5</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5</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en" sz="1200">
                          <a:latin typeface="Proxima Nova"/>
                          <a:ea typeface="Proxima Nova"/>
                          <a:cs typeface="Proxima Nova"/>
                          <a:sym typeface="Proxima Nova"/>
                        </a:rPr>
                        <a:t>2</a:t>
                      </a:r>
                      <a:endParaRPr sz="120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b="1" sz="1200">
                        <a:highlight>
                          <a:srgbClr val="202729"/>
                        </a:highlight>
                        <a:latin typeface="Proxima Nova"/>
                        <a:ea typeface="Proxima Nova"/>
                        <a:cs typeface="Proxima Nova"/>
                        <a:sym typeface="Proxima Nova"/>
                      </a:endParaRPr>
                    </a:p>
                  </a:txBody>
                  <a:tcPr marT="0" marB="0" marR="0" marL="0" anchor="ctr">
                    <a:solidFill>
                      <a:srgbClr val="83CAEB"/>
                    </a:solidFill>
                  </a:tcPr>
                </a:tc>
              </a:tr>
            </a:tbl>
          </a:graphicData>
        </a:graphic>
      </p:graphicFrame>
      <p:sp>
        <p:nvSpPr>
          <p:cNvPr id="386" name="Google Shape;386;p31"/>
          <p:cNvSpPr txBox="1"/>
          <p:nvPr/>
        </p:nvSpPr>
        <p:spPr>
          <a:xfrm>
            <a:off x="309700" y="477800"/>
            <a:ext cx="2245200" cy="1998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lang="en" sz="1200">
                <a:latin typeface="Proxima Nova"/>
                <a:ea typeface="Proxima Nova"/>
                <a:cs typeface="Proxima Nova"/>
                <a:sym typeface="Proxima Nova"/>
              </a:rPr>
              <a:t>1 Identity and access manager</a:t>
            </a:r>
            <a:endParaRPr sz="1200">
              <a:latin typeface="Proxima Nova"/>
              <a:ea typeface="Proxima Nova"/>
              <a:cs typeface="Proxima Nova"/>
              <a:sym typeface="Proxima Nova"/>
            </a:endParaRPr>
          </a:p>
        </p:txBody>
      </p:sp>
      <p:sp>
        <p:nvSpPr>
          <p:cNvPr id="387" name="Google Shape;387;p31"/>
          <p:cNvSpPr txBox="1"/>
          <p:nvPr/>
        </p:nvSpPr>
        <p:spPr>
          <a:xfrm>
            <a:off x="309700" y="674245"/>
            <a:ext cx="2245200" cy="1998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lang="en" sz="1200">
                <a:latin typeface="Proxima Nova"/>
                <a:ea typeface="Proxima Nova"/>
                <a:cs typeface="Proxima Nova"/>
                <a:sym typeface="Proxima Nova"/>
              </a:rPr>
              <a:t>2 Privacy and access control</a:t>
            </a:r>
            <a:endParaRPr sz="1200">
              <a:latin typeface="Proxima Nova"/>
              <a:ea typeface="Proxima Nova"/>
              <a:cs typeface="Proxima Nova"/>
              <a:sym typeface="Proxima Nova"/>
            </a:endParaRPr>
          </a:p>
        </p:txBody>
      </p:sp>
      <p:sp>
        <p:nvSpPr>
          <p:cNvPr id="388" name="Google Shape;388;p31"/>
          <p:cNvSpPr txBox="1"/>
          <p:nvPr/>
        </p:nvSpPr>
        <p:spPr>
          <a:xfrm>
            <a:off x="309700" y="870690"/>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3 Lab results ingress</a:t>
            </a:r>
            <a:endParaRPr sz="1200">
              <a:latin typeface="Proxima Nova"/>
              <a:ea typeface="Proxima Nova"/>
              <a:cs typeface="Proxima Nova"/>
              <a:sym typeface="Proxima Nova"/>
            </a:endParaRPr>
          </a:p>
        </p:txBody>
      </p:sp>
      <p:sp>
        <p:nvSpPr>
          <p:cNvPr id="389" name="Google Shape;389;p31"/>
          <p:cNvSpPr txBox="1"/>
          <p:nvPr/>
        </p:nvSpPr>
        <p:spPr>
          <a:xfrm>
            <a:off x="309864" y="1067116"/>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4 Results normalization engine</a:t>
            </a:r>
            <a:endParaRPr sz="1200">
              <a:latin typeface="Proxima Nova"/>
              <a:ea typeface="Proxima Nova"/>
              <a:cs typeface="Proxima Nova"/>
              <a:sym typeface="Proxima Nova"/>
            </a:endParaRPr>
          </a:p>
        </p:txBody>
      </p:sp>
      <p:sp>
        <p:nvSpPr>
          <p:cNvPr id="390" name="Google Shape;390;p31"/>
          <p:cNvSpPr txBox="1"/>
          <p:nvPr/>
        </p:nvSpPr>
        <p:spPr>
          <a:xfrm>
            <a:off x="309700" y="1263581"/>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5 Patient context repository</a:t>
            </a:r>
            <a:endParaRPr sz="1200">
              <a:latin typeface="Proxima Nova"/>
              <a:ea typeface="Proxima Nova"/>
              <a:cs typeface="Proxima Nova"/>
              <a:sym typeface="Proxima Nova"/>
            </a:endParaRPr>
          </a:p>
        </p:txBody>
      </p:sp>
      <p:sp>
        <p:nvSpPr>
          <p:cNvPr id="391" name="Google Shape;391;p31"/>
          <p:cNvSpPr txBox="1"/>
          <p:nvPr/>
        </p:nvSpPr>
        <p:spPr>
          <a:xfrm>
            <a:off x="309700" y="1460026"/>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6 Case context builder</a:t>
            </a:r>
            <a:endParaRPr sz="1200">
              <a:latin typeface="Proxima Nova"/>
              <a:ea typeface="Proxima Nova"/>
              <a:cs typeface="Proxima Nova"/>
              <a:sym typeface="Proxima Nova"/>
            </a:endParaRPr>
          </a:p>
        </p:txBody>
      </p:sp>
      <p:sp>
        <p:nvSpPr>
          <p:cNvPr id="392" name="Google Shape;392;p31"/>
          <p:cNvSpPr txBox="1"/>
          <p:nvPr/>
        </p:nvSpPr>
        <p:spPr>
          <a:xfrm>
            <a:off x="309700" y="1656471"/>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7 Internal evidence access API</a:t>
            </a:r>
            <a:endParaRPr sz="1200">
              <a:latin typeface="Proxima Nova"/>
              <a:ea typeface="Proxima Nova"/>
              <a:cs typeface="Proxima Nova"/>
              <a:sym typeface="Proxima Nova"/>
            </a:endParaRPr>
          </a:p>
        </p:txBody>
      </p:sp>
      <p:sp>
        <p:nvSpPr>
          <p:cNvPr id="393" name="Google Shape;393;p31"/>
          <p:cNvSpPr txBox="1"/>
          <p:nvPr/>
        </p:nvSpPr>
        <p:spPr>
          <a:xfrm>
            <a:off x="309700" y="1852917"/>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8 External evidence API</a:t>
            </a:r>
            <a:endParaRPr sz="1200">
              <a:latin typeface="Proxima Nova"/>
              <a:ea typeface="Proxima Nova"/>
              <a:cs typeface="Proxima Nova"/>
              <a:sym typeface="Proxima Nova"/>
            </a:endParaRPr>
          </a:p>
        </p:txBody>
      </p:sp>
      <p:sp>
        <p:nvSpPr>
          <p:cNvPr id="394" name="Google Shape;394;p31"/>
          <p:cNvSpPr txBox="1"/>
          <p:nvPr/>
        </p:nvSpPr>
        <p:spPr>
          <a:xfrm>
            <a:off x="309700" y="2049362"/>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9 Evidence consolidation</a:t>
            </a:r>
            <a:endParaRPr sz="1200">
              <a:latin typeface="Proxima Nova"/>
              <a:ea typeface="Proxima Nova"/>
              <a:cs typeface="Proxima Nova"/>
              <a:sym typeface="Proxima Nova"/>
            </a:endParaRPr>
          </a:p>
        </p:txBody>
      </p:sp>
      <p:sp>
        <p:nvSpPr>
          <p:cNvPr id="395" name="Google Shape;395;p31"/>
          <p:cNvSpPr txBox="1"/>
          <p:nvPr/>
        </p:nvSpPr>
        <p:spPr>
          <a:xfrm>
            <a:off x="309700" y="2245807"/>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10 Evidence ranking module</a:t>
            </a:r>
            <a:endParaRPr sz="1200">
              <a:latin typeface="Proxima Nova"/>
              <a:ea typeface="Proxima Nova"/>
              <a:cs typeface="Proxima Nova"/>
              <a:sym typeface="Proxima Nova"/>
            </a:endParaRPr>
          </a:p>
        </p:txBody>
      </p:sp>
      <p:sp>
        <p:nvSpPr>
          <p:cNvPr id="396" name="Google Shape;396;p31"/>
          <p:cNvSpPr txBox="1"/>
          <p:nvPr/>
        </p:nvSpPr>
        <p:spPr>
          <a:xfrm>
            <a:off x="309700" y="4603150"/>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Total (# Related)</a:t>
            </a:r>
            <a:endParaRPr sz="1200">
              <a:latin typeface="Proxima Nova"/>
              <a:ea typeface="Proxima Nova"/>
              <a:cs typeface="Proxima Nova"/>
              <a:sym typeface="Proxima Nova"/>
            </a:endParaRPr>
          </a:p>
        </p:txBody>
      </p:sp>
      <p:sp>
        <p:nvSpPr>
          <p:cNvPr id="397" name="Google Shape;397;p31"/>
          <p:cNvSpPr txBox="1"/>
          <p:nvPr/>
        </p:nvSpPr>
        <p:spPr>
          <a:xfrm>
            <a:off x="309700" y="2442252"/>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11 AI role catalog</a:t>
            </a:r>
            <a:endParaRPr sz="1200">
              <a:latin typeface="Proxima Nova"/>
              <a:ea typeface="Proxima Nova"/>
              <a:cs typeface="Proxima Nova"/>
              <a:sym typeface="Proxima Nova"/>
            </a:endParaRPr>
          </a:p>
        </p:txBody>
      </p:sp>
      <p:sp>
        <p:nvSpPr>
          <p:cNvPr id="398" name="Google Shape;398;p31"/>
          <p:cNvSpPr txBox="1"/>
          <p:nvPr/>
        </p:nvSpPr>
        <p:spPr>
          <a:xfrm>
            <a:off x="309700" y="2638698"/>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12 AI role orchestrator</a:t>
            </a:r>
            <a:endParaRPr sz="1200">
              <a:latin typeface="Proxima Nova"/>
              <a:ea typeface="Proxima Nova"/>
              <a:cs typeface="Proxima Nova"/>
              <a:sym typeface="Proxima Nova"/>
            </a:endParaRPr>
          </a:p>
        </p:txBody>
      </p:sp>
      <p:sp>
        <p:nvSpPr>
          <p:cNvPr id="399" name="Google Shape;399;p31"/>
          <p:cNvSpPr txBox="1"/>
          <p:nvPr/>
        </p:nvSpPr>
        <p:spPr>
          <a:xfrm>
            <a:off x="309700" y="2835143"/>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13 Specialist interpreter</a:t>
            </a:r>
            <a:endParaRPr sz="1200">
              <a:latin typeface="Proxima Nova"/>
              <a:ea typeface="Proxima Nova"/>
              <a:cs typeface="Proxima Nova"/>
              <a:sym typeface="Proxima Nova"/>
            </a:endParaRPr>
          </a:p>
        </p:txBody>
      </p:sp>
      <p:sp>
        <p:nvSpPr>
          <p:cNvPr id="400" name="Google Shape;400;p31"/>
          <p:cNvSpPr txBox="1"/>
          <p:nvPr/>
        </p:nvSpPr>
        <p:spPr>
          <a:xfrm>
            <a:off x="309700" y="3031588"/>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14 Cross-role reconcilier</a:t>
            </a:r>
            <a:endParaRPr sz="1200">
              <a:latin typeface="Proxima Nova"/>
              <a:ea typeface="Proxima Nova"/>
              <a:cs typeface="Proxima Nova"/>
              <a:sym typeface="Proxima Nova"/>
            </a:endParaRPr>
          </a:p>
        </p:txBody>
      </p:sp>
      <p:sp>
        <p:nvSpPr>
          <p:cNvPr id="401" name="Google Shape;401;p31"/>
          <p:cNvSpPr txBox="1"/>
          <p:nvPr/>
        </p:nvSpPr>
        <p:spPr>
          <a:xfrm>
            <a:off x="309700" y="3228033"/>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15 Interpretation composer</a:t>
            </a:r>
            <a:endParaRPr sz="1200">
              <a:latin typeface="Proxima Nova"/>
              <a:ea typeface="Proxima Nova"/>
              <a:cs typeface="Proxima Nova"/>
              <a:sym typeface="Proxima Nova"/>
            </a:endParaRPr>
          </a:p>
        </p:txBody>
      </p:sp>
      <p:sp>
        <p:nvSpPr>
          <p:cNvPr id="402" name="Google Shape;402;p31"/>
          <p:cNvSpPr txBox="1"/>
          <p:nvPr/>
        </p:nvSpPr>
        <p:spPr>
          <a:xfrm>
            <a:off x="309700" y="3424479"/>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16 Review gateway</a:t>
            </a:r>
            <a:endParaRPr sz="1200">
              <a:latin typeface="Proxima Nova"/>
              <a:ea typeface="Proxima Nova"/>
              <a:cs typeface="Proxima Nova"/>
              <a:sym typeface="Proxima Nova"/>
            </a:endParaRPr>
          </a:p>
        </p:txBody>
      </p:sp>
      <p:sp>
        <p:nvSpPr>
          <p:cNvPr id="403" name="Google Shape;403;p31"/>
          <p:cNvSpPr txBox="1"/>
          <p:nvPr/>
        </p:nvSpPr>
        <p:spPr>
          <a:xfrm>
            <a:off x="309700" y="3620924"/>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17 Release controller</a:t>
            </a:r>
            <a:endParaRPr sz="1200">
              <a:latin typeface="Proxima Nova"/>
              <a:ea typeface="Proxima Nova"/>
              <a:cs typeface="Proxima Nova"/>
              <a:sym typeface="Proxima Nova"/>
            </a:endParaRPr>
          </a:p>
        </p:txBody>
      </p:sp>
      <p:sp>
        <p:nvSpPr>
          <p:cNvPr id="404" name="Google Shape;404;p31"/>
          <p:cNvSpPr txBox="1"/>
          <p:nvPr/>
        </p:nvSpPr>
        <p:spPr>
          <a:xfrm>
            <a:off x="309700" y="4406705"/>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21 Outcome feedback registry</a:t>
            </a:r>
            <a:endParaRPr sz="1200">
              <a:latin typeface="Proxima Nova"/>
              <a:ea typeface="Proxima Nova"/>
              <a:cs typeface="Proxima Nova"/>
              <a:sym typeface="Proxima Nova"/>
            </a:endParaRPr>
          </a:p>
        </p:txBody>
      </p:sp>
      <p:sp>
        <p:nvSpPr>
          <p:cNvPr id="405" name="Google Shape;405;p31"/>
          <p:cNvSpPr txBox="1"/>
          <p:nvPr/>
        </p:nvSpPr>
        <p:spPr>
          <a:xfrm>
            <a:off x="309700" y="3817369"/>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18 Evidence trace store</a:t>
            </a:r>
            <a:endParaRPr sz="1200">
              <a:latin typeface="Proxima Nova"/>
              <a:ea typeface="Proxima Nova"/>
              <a:cs typeface="Proxima Nova"/>
              <a:sym typeface="Proxima Nova"/>
            </a:endParaRPr>
          </a:p>
        </p:txBody>
      </p:sp>
      <p:sp>
        <p:nvSpPr>
          <p:cNvPr id="406" name="Google Shape;406;p31"/>
          <p:cNvSpPr txBox="1"/>
          <p:nvPr/>
        </p:nvSpPr>
        <p:spPr>
          <a:xfrm>
            <a:off x="309700" y="4013814"/>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19 Decision audit store</a:t>
            </a:r>
            <a:endParaRPr sz="1200">
              <a:latin typeface="Proxima Nova"/>
              <a:ea typeface="Proxima Nova"/>
              <a:cs typeface="Proxima Nova"/>
              <a:sym typeface="Proxima Nova"/>
            </a:endParaRPr>
          </a:p>
        </p:txBody>
      </p:sp>
      <p:sp>
        <p:nvSpPr>
          <p:cNvPr id="407" name="Google Shape;407;p31"/>
          <p:cNvSpPr txBox="1"/>
          <p:nvPr/>
        </p:nvSpPr>
        <p:spPr>
          <a:xfrm>
            <a:off x="309700" y="4210260"/>
            <a:ext cx="2245200" cy="199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latin typeface="Proxima Nova"/>
                <a:ea typeface="Proxima Nova"/>
                <a:cs typeface="Proxima Nova"/>
                <a:sym typeface="Proxima Nova"/>
              </a:rPr>
              <a:t>20 Physician delivery channel</a:t>
            </a:r>
            <a:endParaRPr sz="1200">
              <a:latin typeface="Proxima Nova"/>
              <a:ea typeface="Proxima Nova"/>
              <a:cs typeface="Proxima Nova"/>
              <a:sym typeface="Proxima Nova"/>
            </a:endParaRPr>
          </a:p>
        </p:txBody>
      </p:sp>
      <p:sp>
        <p:nvSpPr>
          <p:cNvPr id="408" name="Google Shape;408;p31"/>
          <p:cNvSpPr txBox="1"/>
          <p:nvPr/>
        </p:nvSpPr>
        <p:spPr>
          <a:xfrm rot="-5400000">
            <a:off x="2459150"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a:t>
            </a:r>
            <a:endParaRPr sz="1200">
              <a:latin typeface="Proxima Nova"/>
              <a:ea typeface="Proxima Nova"/>
              <a:cs typeface="Proxima Nova"/>
              <a:sym typeface="Proxima Nova"/>
            </a:endParaRPr>
          </a:p>
        </p:txBody>
      </p:sp>
      <p:sp>
        <p:nvSpPr>
          <p:cNvPr id="409" name="Google Shape;409;p31"/>
          <p:cNvSpPr txBox="1"/>
          <p:nvPr/>
        </p:nvSpPr>
        <p:spPr>
          <a:xfrm rot="-5400000">
            <a:off x="2703202"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2</a:t>
            </a:r>
            <a:endParaRPr sz="1200">
              <a:latin typeface="Proxima Nova"/>
              <a:ea typeface="Proxima Nova"/>
              <a:cs typeface="Proxima Nova"/>
              <a:sym typeface="Proxima Nova"/>
            </a:endParaRPr>
          </a:p>
        </p:txBody>
      </p:sp>
      <p:sp>
        <p:nvSpPr>
          <p:cNvPr id="410" name="Google Shape;410;p31"/>
          <p:cNvSpPr txBox="1"/>
          <p:nvPr/>
        </p:nvSpPr>
        <p:spPr>
          <a:xfrm rot="-5400000">
            <a:off x="2947255"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3</a:t>
            </a:r>
            <a:endParaRPr sz="1200">
              <a:latin typeface="Proxima Nova"/>
              <a:ea typeface="Proxima Nova"/>
              <a:cs typeface="Proxima Nova"/>
              <a:sym typeface="Proxima Nova"/>
            </a:endParaRPr>
          </a:p>
        </p:txBody>
      </p:sp>
      <p:sp>
        <p:nvSpPr>
          <p:cNvPr id="411" name="Google Shape;411;p31"/>
          <p:cNvSpPr txBox="1"/>
          <p:nvPr/>
        </p:nvSpPr>
        <p:spPr>
          <a:xfrm rot="-5400000">
            <a:off x="3191307"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4</a:t>
            </a:r>
            <a:endParaRPr sz="1200">
              <a:latin typeface="Proxima Nova"/>
              <a:ea typeface="Proxima Nova"/>
              <a:cs typeface="Proxima Nova"/>
              <a:sym typeface="Proxima Nova"/>
            </a:endParaRPr>
          </a:p>
        </p:txBody>
      </p:sp>
      <p:sp>
        <p:nvSpPr>
          <p:cNvPr id="412" name="Google Shape;412;p31"/>
          <p:cNvSpPr txBox="1"/>
          <p:nvPr/>
        </p:nvSpPr>
        <p:spPr>
          <a:xfrm rot="-5400000">
            <a:off x="3435359"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5</a:t>
            </a:r>
            <a:endParaRPr sz="1200">
              <a:latin typeface="Proxima Nova"/>
              <a:ea typeface="Proxima Nova"/>
              <a:cs typeface="Proxima Nova"/>
              <a:sym typeface="Proxima Nova"/>
            </a:endParaRPr>
          </a:p>
        </p:txBody>
      </p:sp>
      <p:sp>
        <p:nvSpPr>
          <p:cNvPr id="413" name="Google Shape;413;p31"/>
          <p:cNvSpPr txBox="1"/>
          <p:nvPr/>
        </p:nvSpPr>
        <p:spPr>
          <a:xfrm rot="-5400000">
            <a:off x="3679411"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6</a:t>
            </a:r>
            <a:endParaRPr sz="1200">
              <a:latin typeface="Proxima Nova"/>
              <a:ea typeface="Proxima Nova"/>
              <a:cs typeface="Proxima Nova"/>
              <a:sym typeface="Proxima Nova"/>
            </a:endParaRPr>
          </a:p>
        </p:txBody>
      </p:sp>
      <p:sp>
        <p:nvSpPr>
          <p:cNvPr id="414" name="Google Shape;414;p31"/>
          <p:cNvSpPr txBox="1"/>
          <p:nvPr/>
        </p:nvSpPr>
        <p:spPr>
          <a:xfrm rot="-5400000">
            <a:off x="3923464"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7</a:t>
            </a:r>
            <a:endParaRPr sz="1200">
              <a:latin typeface="Proxima Nova"/>
              <a:ea typeface="Proxima Nova"/>
              <a:cs typeface="Proxima Nova"/>
              <a:sym typeface="Proxima Nova"/>
            </a:endParaRPr>
          </a:p>
        </p:txBody>
      </p:sp>
      <p:sp>
        <p:nvSpPr>
          <p:cNvPr id="415" name="Google Shape;415;p31"/>
          <p:cNvSpPr txBox="1"/>
          <p:nvPr/>
        </p:nvSpPr>
        <p:spPr>
          <a:xfrm rot="-5400000">
            <a:off x="4161066" y="176825"/>
            <a:ext cx="4065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8</a:t>
            </a:r>
            <a:endParaRPr sz="1200">
              <a:latin typeface="Proxima Nova"/>
              <a:ea typeface="Proxima Nova"/>
              <a:cs typeface="Proxima Nova"/>
              <a:sym typeface="Proxima Nova"/>
            </a:endParaRPr>
          </a:p>
        </p:txBody>
      </p:sp>
      <p:sp>
        <p:nvSpPr>
          <p:cNvPr id="416" name="Google Shape;416;p31"/>
          <p:cNvSpPr txBox="1"/>
          <p:nvPr/>
        </p:nvSpPr>
        <p:spPr>
          <a:xfrm rot="-5400000">
            <a:off x="4411568"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9</a:t>
            </a:r>
            <a:endParaRPr sz="1200">
              <a:latin typeface="Proxima Nova"/>
              <a:ea typeface="Proxima Nova"/>
              <a:cs typeface="Proxima Nova"/>
              <a:sym typeface="Proxima Nova"/>
            </a:endParaRPr>
          </a:p>
        </p:txBody>
      </p:sp>
      <p:sp>
        <p:nvSpPr>
          <p:cNvPr id="417" name="Google Shape;417;p31"/>
          <p:cNvSpPr txBox="1"/>
          <p:nvPr/>
        </p:nvSpPr>
        <p:spPr>
          <a:xfrm rot="-5400000">
            <a:off x="4655620"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10</a:t>
            </a:r>
            <a:endParaRPr sz="1200">
              <a:latin typeface="Proxima Nova"/>
              <a:ea typeface="Proxima Nova"/>
              <a:cs typeface="Proxima Nova"/>
              <a:sym typeface="Proxima Nova"/>
            </a:endParaRPr>
          </a:p>
        </p:txBody>
      </p:sp>
      <p:sp>
        <p:nvSpPr>
          <p:cNvPr id="418" name="Google Shape;418;p31"/>
          <p:cNvSpPr txBox="1"/>
          <p:nvPr/>
        </p:nvSpPr>
        <p:spPr>
          <a:xfrm rot="-5400000">
            <a:off x="7549750" y="148775"/>
            <a:ext cx="462600" cy="202200"/>
          </a:xfrm>
          <a:prstGeom prst="rect">
            <a:avLst/>
          </a:prstGeom>
          <a:noFill/>
          <a:ln>
            <a:noFill/>
          </a:ln>
        </p:spPr>
        <p:txBody>
          <a:bodyPr anchorCtr="0" anchor="ctr" bIns="91425" lIns="91425" spcFirstLastPara="1" rIns="0" wrap="square" tIns="91425">
            <a:noAutofit/>
          </a:bodyPr>
          <a:lstStyle/>
          <a:p>
            <a:pPr indent="0" lvl="0" marL="0" rtl="0" algn="l">
              <a:spcBef>
                <a:spcPts val="0"/>
              </a:spcBef>
              <a:spcAft>
                <a:spcPts val="0"/>
              </a:spcAft>
              <a:buNone/>
            </a:pPr>
            <a:r>
              <a:rPr lang="en" sz="1200">
                <a:latin typeface="Proxima Nova"/>
                <a:ea typeface="Proxima Nova"/>
                <a:cs typeface="Proxima Nova"/>
                <a:sym typeface="Proxima Nova"/>
              </a:rPr>
              <a:t>Total</a:t>
            </a:r>
            <a:endParaRPr sz="1200">
              <a:latin typeface="Proxima Nova"/>
              <a:ea typeface="Proxima Nova"/>
              <a:cs typeface="Proxima Nova"/>
              <a:sym typeface="Proxima Nova"/>
            </a:endParaRPr>
          </a:p>
        </p:txBody>
      </p:sp>
      <p:sp>
        <p:nvSpPr>
          <p:cNvPr id="419" name="Google Shape;419;p31"/>
          <p:cNvSpPr txBox="1"/>
          <p:nvPr/>
        </p:nvSpPr>
        <p:spPr>
          <a:xfrm rot="-5400000">
            <a:off x="5387777"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13</a:t>
            </a:r>
            <a:endParaRPr sz="1200">
              <a:latin typeface="Proxima Nova"/>
              <a:ea typeface="Proxima Nova"/>
              <a:cs typeface="Proxima Nova"/>
              <a:sym typeface="Proxima Nova"/>
            </a:endParaRPr>
          </a:p>
        </p:txBody>
      </p:sp>
      <p:sp>
        <p:nvSpPr>
          <p:cNvPr id="420" name="Google Shape;420;p31"/>
          <p:cNvSpPr txBox="1"/>
          <p:nvPr/>
        </p:nvSpPr>
        <p:spPr>
          <a:xfrm rot="-5400000">
            <a:off x="5143725"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12</a:t>
            </a:r>
            <a:endParaRPr sz="1200">
              <a:latin typeface="Proxima Nova"/>
              <a:ea typeface="Proxima Nova"/>
              <a:cs typeface="Proxima Nova"/>
              <a:sym typeface="Proxima Nova"/>
            </a:endParaRPr>
          </a:p>
        </p:txBody>
      </p:sp>
      <p:sp>
        <p:nvSpPr>
          <p:cNvPr id="421" name="Google Shape;421;p31"/>
          <p:cNvSpPr txBox="1"/>
          <p:nvPr/>
        </p:nvSpPr>
        <p:spPr>
          <a:xfrm rot="-5400000">
            <a:off x="5875882"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15</a:t>
            </a:r>
            <a:endParaRPr sz="1200">
              <a:latin typeface="Proxima Nova"/>
              <a:ea typeface="Proxima Nova"/>
              <a:cs typeface="Proxima Nova"/>
              <a:sym typeface="Proxima Nova"/>
            </a:endParaRPr>
          </a:p>
        </p:txBody>
      </p:sp>
      <p:sp>
        <p:nvSpPr>
          <p:cNvPr id="422" name="Google Shape;422;p31"/>
          <p:cNvSpPr txBox="1"/>
          <p:nvPr/>
        </p:nvSpPr>
        <p:spPr>
          <a:xfrm rot="-5400000">
            <a:off x="5631829"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14</a:t>
            </a:r>
            <a:endParaRPr sz="1200">
              <a:latin typeface="Proxima Nova"/>
              <a:ea typeface="Proxima Nova"/>
              <a:cs typeface="Proxima Nova"/>
              <a:sym typeface="Proxima Nova"/>
            </a:endParaRPr>
          </a:p>
        </p:txBody>
      </p:sp>
      <p:sp>
        <p:nvSpPr>
          <p:cNvPr id="423" name="Google Shape;423;p31"/>
          <p:cNvSpPr txBox="1"/>
          <p:nvPr/>
        </p:nvSpPr>
        <p:spPr>
          <a:xfrm rot="-5400000">
            <a:off x="6363986"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17</a:t>
            </a:r>
            <a:endParaRPr sz="1200">
              <a:latin typeface="Proxima Nova"/>
              <a:ea typeface="Proxima Nova"/>
              <a:cs typeface="Proxima Nova"/>
              <a:sym typeface="Proxima Nova"/>
            </a:endParaRPr>
          </a:p>
        </p:txBody>
      </p:sp>
      <p:sp>
        <p:nvSpPr>
          <p:cNvPr id="424" name="Google Shape;424;p31"/>
          <p:cNvSpPr txBox="1"/>
          <p:nvPr/>
        </p:nvSpPr>
        <p:spPr>
          <a:xfrm rot="-5400000">
            <a:off x="6119934"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16</a:t>
            </a:r>
            <a:endParaRPr sz="1200">
              <a:latin typeface="Proxima Nova"/>
              <a:ea typeface="Proxima Nova"/>
              <a:cs typeface="Proxima Nova"/>
              <a:sym typeface="Proxima Nova"/>
            </a:endParaRPr>
          </a:p>
        </p:txBody>
      </p:sp>
      <p:sp>
        <p:nvSpPr>
          <p:cNvPr id="425" name="Google Shape;425;p31"/>
          <p:cNvSpPr txBox="1"/>
          <p:nvPr/>
        </p:nvSpPr>
        <p:spPr>
          <a:xfrm rot="-5400000">
            <a:off x="4899673"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11</a:t>
            </a:r>
            <a:endParaRPr sz="1200">
              <a:latin typeface="Proxima Nova"/>
              <a:ea typeface="Proxima Nova"/>
              <a:cs typeface="Proxima Nova"/>
              <a:sym typeface="Proxima Nova"/>
            </a:endParaRPr>
          </a:p>
        </p:txBody>
      </p:sp>
      <p:sp>
        <p:nvSpPr>
          <p:cNvPr id="426" name="Google Shape;426;p31"/>
          <p:cNvSpPr txBox="1"/>
          <p:nvPr/>
        </p:nvSpPr>
        <p:spPr>
          <a:xfrm rot="-5400000">
            <a:off x="6608038"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18</a:t>
            </a:r>
            <a:endParaRPr sz="1200">
              <a:latin typeface="Proxima Nova"/>
              <a:ea typeface="Proxima Nova"/>
              <a:cs typeface="Proxima Nova"/>
              <a:sym typeface="Proxima Nova"/>
            </a:endParaRPr>
          </a:p>
        </p:txBody>
      </p:sp>
      <p:sp>
        <p:nvSpPr>
          <p:cNvPr id="427" name="Google Shape;427;p31"/>
          <p:cNvSpPr txBox="1"/>
          <p:nvPr/>
        </p:nvSpPr>
        <p:spPr>
          <a:xfrm rot="-5400000">
            <a:off x="6852091"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19</a:t>
            </a:r>
            <a:endParaRPr sz="1200">
              <a:latin typeface="Proxima Nova"/>
              <a:ea typeface="Proxima Nova"/>
              <a:cs typeface="Proxima Nova"/>
              <a:sym typeface="Proxima Nova"/>
            </a:endParaRPr>
          </a:p>
        </p:txBody>
      </p:sp>
      <p:sp>
        <p:nvSpPr>
          <p:cNvPr id="428" name="Google Shape;428;p31"/>
          <p:cNvSpPr txBox="1"/>
          <p:nvPr/>
        </p:nvSpPr>
        <p:spPr>
          <a:xfrm rot="-5400000">
            <a:off x="7096143"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20</a:t>
            </a:r>
            <a:endParaRPr sz="1200">
              <a:latin typeface="Proxima Nova"/>
              <a:ea typeface="Proxima Nova"/>
              <a:cs typeface="Proxima Nova"/>
              <a:sym typeface="Proxima Nova"/>
            </a:endParaRPr>
          </a:p>
        </p:txBody>
      </p:sp>
      <p:sp>
        <p:nvSpPr>
          <p:cNvPr id="429" name="Google Shape;429;p31"/>
          <p:cNvSpPr txBox="1"/>
          <p:nvPr/>
        </p:nvSpPr>
        <p:spPr>
          <a:xfrm rot="-5400000">
            <a:off x="7340195" y="183275"/>
            <a:ext cx="393600" cy="2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21</a:t>
            </a:r>
            <a:endParaRPr sz="1200">
              <a:latin typeface="Proxima Nova"/>
              <a:ea typeface="Proxima Nova"/>
              <a:cs typeface="Proxima Nova"/>
              <a:sym typeface="Proxima Nova"/>
            </a:endParaRPr>
          </a:p>
        </p:txBody>
      </p:sp>
      <p:sp>
        <p:nvSpPr>
          <p:cNvPr id="430" name="Google Shape;430;p31"/>
          <p:cNvSpPr/>
          <p:nvPr/>
        </p:nvSpPr>
        <p:spPr>
          <a:xfrm>
            <a:off x="8691600" y="0"/>
            <a:ext cx="452400" cy="5143500"/>
          </a:xfrm>
          <a:prstGeom prst="rect">
            <a:avLst/>
          </a:prstGeom>
          <a:solidFill>
            <a:srgbClr val="68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431" name="Google Shape;431;p31"/>
          <p:cNvSpPr/>
          <p:nvPr/>
        </p:nvSpPr>
        <p:spPr>
          <a:xfrm>
            <a:off x="2555100" y="481175"/>
            <a:ext cx="1210800" cy="982200"/>
          </a:xfrm>
          <a:prstGeom prst="rect">
            <a:avLst/>
          </a:prstGeom>
          <a:noFill/>
          <a:ln cap="flat" cmpd="sng" w="38100">
            <a:solidFill>
              <a:srgbClr val="E854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2" name="Google Shape;432;p31"/>
          <p:cNvSpPr/>
          <p:nvPr/>
        </p:nvSpPr>
        <p:spPr>
          <a:xfrm>
            <a:off x="3765850" y="1460825"/>
            <a:ext cx="968700" cy="779100"/>
          </a:xfrm>
          <a:prstGeom prst="rect">
            <a:avLst/>
          </a:prstGeom>
          <a:noFill/>
          <a:ln cap="flat" cmpd="sng" w="38100">
            <a:solidFill>
              <a:srgbClr val="E854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31"/>
          <p:cNvSpPr/>
          <p:nvPr/>
        </p:nvSpPr>
        <p:spPr>
          <a:xfrm>
            <a:off x="4718350" y="2237975"/>
            <a:ext cx="1469100" cy="1181400"/>
          </a:xfrm>
          <a:prstGeom prst="rect">
            <a:avLst/>
          </a:prstGeom>
          <a:noFill/>
          <a:ln cap="flat" cmpd="sng" w="38100">
            <a:solidFill>
              <a:srgbClr val="E854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1"/>
          <p:cNvSpPr/>
          <p:nvPr/>
        </p:nvSpPr>
        <p:spPr>
          <a:xfrm>
            <a:off x="6168950" y="3419375"/>
            <a:ext cx="1469100" cy="1181400"/>
          </a:xfrm>
          <a:prstGeom prst="rect">
            <a:avLst/>
          </a:prstGeom>
          <a:noFill/>
          <a:ln cap="flat" cmpd="sng" w="38100">
            <a:solidFill>
              <a:srgbClr val="E8545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31"/>
          <p:cNvSpPr txBox="1"/>
          <p:nvPr/>
        </p:nvSpPr>
        <p:spPr>
          <a:xfrm>
            <a:off x="3852250" y="874050"/>
            <a:ext cx="857100" cy="389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900">
                <a:solidFill>
                  <a:srgbClr val="FF0000"/>
                </a:solidFill>
              </a:rPr>
              <a:t>Input</a:t>
            </a:r>
            <a:endParaRPr b="1" sz="1900">
              <a:solidFill>
                <a:srgbClr val="FF0000"/>
              </a:solidFill>
            </a:endParaRPr>
          </a:p>
        </p:txBody>
      </p:sp>
      <p:sp>
        <p:nvSpPr>
          <p:cNvPr id="436" name="Google Shape;436;p31"/>
          <p:cNvSpPr txBox="1"/>
          <p:nvPr/>
        </p:nvSpPr>
        <p:spPr>
          <a:xfrm>
            <a:off x="4843900" y="1659825"/>
            <a:ext cx="1573800" cy="389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900">
                <a:solidFill>
                  <a:srgbClr val="FF0000"/>
                </a:solidFill>
              </a:rPr>
              <a:t>Preparation</a:t>
            </a:r>
            <a:endParaRPr b="1" sz="1900">
              <a:solidFill>
                <a:srgbClr val="FF0000"/>
              </a:solidFill>
            </a:endParaRPr>
          </a:p>
        </p:txBody>
      </p:sp>
      <p:sp>
        <p:nvSpPr>
          <p:cNvPr id="437" name="Google Shape;437;p31"/>
          <p:cNvSpPr txBox="1"/>
          <p:nvPr/>
        </p:nvSpPr>
        <p:spPr>
          <a:xfrm>
            <a:off x="6206692" y="2442275"/>
            <a:ext cx="1803000" cy="406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900">
                <a:solidFill>
                  <a:srgbClr val="FF0000"/>
                </a:solidFill>
              </a:rPr>
              <a:t>Interpretation</a:t>
            </a:r>
            <a:r>
              <a:rPr b="1" lang="en" sz="1900">
                <a:solidFill>
                  <a:srgbClr val="FF0000"/>
                </a:solidFill>
              </a:rPr>
              <a:t> </a:t>
            </a:r>
            <a:endParaRPr b="1" sz="1900">
              <a:solidFill>
                <a:srgbClr val="FF0000"/>
              </a:solidFill>
            </a:endParaRPr>
          </a:p>
        </p:txBody>
      </p:sp>
      <p:sp>
        <p:nvSpPr>
          <p:cNvPr id="438" name="Google Shape;438;p31"/>
          <p:cNvSpPr txBox="1"/>
          <p:nvPr/>
        </p:nvSpPr>
        <p:spPr>
          <a:xfrm>
            <a:off x="4995375" y="4013825"/>
            <a:ext cx="1152600" cy="393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900">
                <a:solidFill>
                  <a:srgbClr val="FF0000"/>
                </a:solidFill>
              </a:rPr>
              <a:t>Delivery</a:t>
            </a:r>
            <a:endParaRPr b="1" sz="1900">
              <a:solidFill>
                <a:srgbClr val="FF0000"/>
              </a:solidFill>
            </a:endParaRPr>
          </a:p>
        </p:txBody>
      </p:sp>
      <p:sp>
        <p:nvSpPr>
          <p:cNvPr id="439" name="Google Shape;439;p31"/>
          <p:cNvSpPr/>
          <p:nvPr/>
        </p:nvSpPr>
        <p:spPr>
          <a:xfrm>
            <a:off x="4458857" y="4836848"/>
            <a:ext cx="256800" cy="274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1"/>
          <p:cNvSpPr/>
          <p:nvPr/>
        </p:nvSpPr>
        <p:spPr>
          <a:xfrm>
            <a:off x="3029932" y="4836848"/>
            <a:ext cx="256800" cy="274800"/>
          </a:xfrm>
          <a:prstGeom prst="rect">
            <a:avLst/>
          </a:prstGeom>
          <a:noFill/>
          <a:ln cap="flat" cmpd="sng" w="38100">
            <a:solidFill>
              <a:srgbClr val="E8545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p>
        </p:txBody>
      </p:sp>
      <p:sp>
        <p:nvSpPr>
          <p:cNvPr id="441" name="Google Shape;441;p31"/>
          <p:cNvSpPr txBox="1"/>
          <p:nvPr/>
        </p:nvSpPr>
        <p:spPr>
          <a:xfrm>
            <a:off x="4699268" y="4820061"/>
            <a:ext cx="1719600" cy="30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900">
                <a:latin typeface="Proxima Nova"/>
                <a:ea typeface="Proxima Nova"/>
                <a:cs typeface="Proxima Nova"/>
                <a:sym typeface="Proxima Nova"/>
              </a:rPr>
              <a:t>Key Interfaces</a:t>
            </a:r>
            <a:endParaRPr sz="1900">
              <a:latin typeface="Proxima Nova"/>
              <a:ea typeface="Proxima Nova"/>
              <a:cs typeface="Proxima Nova"/>
              <a:sym typeface="Proxima Nova"/>
            </a:endParaRPr>
          </a:p>
        </p:txBody>
      </p:sp>
      <p:sp>
        <p:nvSpPr>
          <p:cNvPr id="442" name="Google Shape;442;p31"/>
          <p:cNvSpPr txBox="1"/>
          <p:nvPr/>
        </p:nvSpPr>
        <p:spPr>
          <a:xfrm>
            <a:off x="3286632" y="4820048"/>
            <a:ext cx="1118100" cy="30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900">
                <a:latin typeface="Proxima Nova"/>
                <a:ea typeface="Proxima Nova"/>
                <a:cs typeface="Proxima Nova"/>
                <a:sym typeface="Proxima Nova"/>
              </a:rPr>
              <a:t>Clusters</a:t>
            </a:r>
            <a:endParaRPr sz="1900">
              <a:solidFill>
                <a:srgbClr val="000000"/>
              </a:solidFill>
              <a:latin typeface="Proxima Nova"/>
              <a:ea typeface="Proxima Nova"/>
              <a:cs typeface="Proxima Nova"/>
              <a:sym typeface="Proxima Nova"/>
            </a:endParaRPr>
          </a:p>
        </p:txBody>
      </p:sp>
      <p:sp>
        <p:nvSpPr>
          <p:cNvPr id="443" name="Google Shape;443;p31"/>
          <p:cNvSpPr/>
          <p:nvPr/>
        </p:nvSpPr>
        <p:spPr>
          <a:xfrm>
            <a:off x="4497525" y="2253596"/>
            <a:ext cx="221700" cy="17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31"/>
          <p:cNvSpPr/>
          <p:nvPr/>
        </p:nvSpPr>
        <p:spPr>
          <a:xfrm>
            <a:off x="5473725" y="2649046"/>
            <a:ext cx="221700" cy="17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31"/>
          <p:cNvSpPr/>
          <p:nvPr/>
        </p:nvSpPr>
        <p:spPr>
          <a:xfrm>
            <a:off x="5961825" y="3041946"/>
            <a:ext cx="221700" cy="17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31"/>
          <p:cNvSpPr/>
          <p:nvPr/>
        </p:nvSpPr>
        <p:spPr>
          <a:xfrm>
            <a:off x="6196125" y="3232181"/>
            <a:ext cx="221700" cy="17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31"/>
          <p:cNvSpPr/>
          <p:nvPr/>
        </p:nvSpPr>
        <p:spPr>
          <a:xfrm>
            <a:off x="6925120" y="3827731"/>
            <a:ext cx="221700" cy="179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31"/>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DSM</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B4D4"/>
        </a:solidFill>
      </p:bgPr>
    </p:bg>
    <p:spTree>
      <p:nvGrpSpPr>
        <p:cNvPr id="452" name="Shape 452"/>
        <p:cNvGrpSpPr/>
        <p:nvPr/>
      </p:nvGrpSpPr>
      <p:grpSpPr>
        <a:xfrm>
          <a:off x="0" y="0"/>
          <a:ext cx="0" cy="0"/>
          <a:chOff x="0" y="0"/>
          <a:chExt cx="0" cy="0"/>
        </a:xfrm>
      </p:grpSpPr>
      <p:pic>
        <p:nvPicPr>
          <p:cNvPr id="453" name="Google Shape;453;p32" title="vial_large.png"/>
          <p:cNvPicPr preferRelativeResize="0"/>
          <p:nvPr/>
        </p:nvPicPr>
        <p:blipFill>
          <a:blip r:embed="rId4">
            <a:alphaModFix/>
          </a:blip>
          <a:stretch>
            <a:fillRect/>
          </a:stretch>
        </p:blipFill>
        <p:spPr>
          <a:xfrm>
            <a:off x="7380575" y="-4860"/>
            <a:ext cx="1668176" cy="5153223"/>
          </a:xfrm>
          <a:prstGeom prst="rect">
            <a:avLst/>
          </a:prstGeom>
          <a:noFill/>
          <a:ln>
            <a:noFill/>
          </a:ln>
        </p:spPr>
      </p:pic>
      <p:sp>
        <p:nvSpPr>
          <p:cNvPr id="454" name="Google Shape;454;p32"/>
          <p:cNvSpPr txBox="1"/>
          <p:nvPr/>
        </p:nvSpPr>
        <p:spPr>
          <a:xfrm>
            <a:off x="669875" y="1664304"/>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Concept</a:t>
            </a:r>
            <a:endParaRPr sz="2600">
              <a:solidFill>
                <a:srgbClr val="D0E0E3"/>
              </a:solidFill>
              <a:latin typeface="Noto Sans Grantha"/>
              <a:ea typeface="Noto Sans Grantha"/>
              <a:cs typeface="Noto Sans Grantha"/>
              <a:sym typeface="Noto Sans Grantha"/>
            </a:endParaRPr>
          </a:p>
        </p:txBody>
      </p:sp>
      <p:sp>
        <p:nvSpPr>
          <p:cNvPr id="455" name="Google Shape;455;p32"/>
          <p:cNvSpPr txBox="1"/>
          <p:nvPr/>
        </p:nvSpPr>
        <p:spPr>
          <a:xfrm>
            <a:off x="669875" y="3816288"/>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3000">
                <a:solidFill>
                  <a:srgbClr val="FFFFFF"/>
                </a:solidFill>
                <a:highlight>
                  <a:srgbClr val="67B4D4"/>
                </a:highlight>
                <a:latin typeface="Noto Sans Grantha"/>
                <a:ea typeface="Noto Sans Grantha"/>
                <a:cs typeface="Noto Sans Grantha"/>
                <a:sym typeface="Noto Sans Grantha"/>
              </a:rPr>
              <a:t>Delivery</a:t>
            </a:r>
            <a:endParaRPr sz="2600">
              <a:solidFill>
                <a:srgbClr val="D0E0E3"/>
              </a:solidFill>
              <a:latin typeface="Noto Sans Grantha"/>
              <a:ea typeface="Noto Sans Grantha"/>
              <a:cs typeface="Noto Sans Grantha"/>
              <a:sym typeface="Noto Sans Grantha"/>
            </a:endParaRPr>
          </a:p>
        </p:txBody>
      </p:sp>
      <p:sp>
        <p:nvSpPr>
          <p:cNvPr id="456" name="Google Shape;456;p32"/>
          <p:cNvSpPr txBox="1"/>
          <p:nvPr/>
        </p:nvSpPr>
        <p:spPr>
          <a:xfrm>
            <a:off x="669875" y="588313"/>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Problem</a:t>
            </a:r>
            <a:endParaRPr sz="2600">
              <a:solidFill>
                <a:srgbClr val="83CAEB"/>
              </a:solidFill>
              <a:latin typeface="Noto Sans Grantha"/>
              <a:ea typeface="Noto Sans Grantha"/>
              <a:cs typeface="Noto Sans Grantha"/>
              <a:sym typeface="Noto Sans Grantha"/>
            </a:endParaRPr>
          </a:p>
        </p:txBody>
      </p:sp>
      <p:sp>
        <p:nvSpPr>
          <p:cNvPr id="457" name="Google Shape;457;p32"/>
          <p:cNvSpPr/>
          <p:nvPr/>
        </p:nvSpPr>
        <p:spPr>
          <a:xfrm>
            <a:off x="0" y="-40025"/>
            <a:ext cx="452400" cy="5183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a:t>
            </a:r>
            <a:endParaRPr>
              <a:solidFill>
                <a:schemeClr val="lt1"/>
              </a:solidFill>
              <a:latin typeface="Noto Sans Grantha"/>
              <a:ea typeface="Noto Sans Grantha"/>
              <a:cs typeface="Noto Sans Grantha"/>
              <a:sym typeface="Noto Sans Grantha"/>
            </a:endParaRPr>
          </a:p>
        </p:txBody>
      </p:sp>
      <p:sp>
        <p:nvSpPr>
          <p:cNvPr id="458" name="Google Shape;458;p32"/>
          <p:cNvSpPr txBox="1"/>
          <p:nvPr/>
        </p:nvSpPr>
        <p:spPr>
          <a:xfrm>
            <a:off x="669875" y="2740296"/>
            <a:ext cx="4523100" cy="738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2600">
                <a:solidFill>
                  <a:srgbClr val="D0E0E3"/>
                </a:solidFill>
                <a:latin typeface="Noto Sans Grantha"/>
                <a:ea typeface="Noto Sans Grantha"/>
                <a:cs typeface="Noto Sans Grantha"/>
                <a:sym typeface="Noto Sans Grantha"/>
              </a:rPr>
              <a:t>Solution</a:t>
            </a:r>
            <a:endParaRPr sz="2600">
              <a:solidFill>
                <a:srgbClr val="D0E0E3"/>
              </a:solidFill>
              <a:latin typeface="Noto Sans Grantha"/>
              <a:ea typeface="Noto Sans Grantha"/>
              <a:cs typeface="Noto Sans Grantha"/>
              <a:sym typeface="Noto Sans Grantha"/>
            </a:endParaRPr>
          </a:p>
        </p:txBody>
      </p:sp>
      <p:sp>
        <p:nvSpPr>
          <p:cNvPr id="459" name="Google Shape;459;p32"/>
          <p:cNvSpPr/>
          <p:nvPr/>
        </p:nvSpPr>
        <p:spPr>
          <a:xfrm>
            <a:off x="0" y="0"/>
            <a:ext cx="452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8B4D4"/>
        </a:solidFill>
      </p:bgPr>
    </p:bg>
    <p:spTree>
      <p:nvGrpSpPr>
        <p:cNvPr id="463" name="Shape 463"/>
        <p:cNvGrpSpPr/>
        <p:nvPr/>
      </p:nvGrpSpPr>
      <p:grpSpPr>
        <a:xfrm>
          <a:off x="0" y="0"/>
          <a:ext cx="0" cy="0"/>
          <a:chOff x="0" y="0"/>
          <a:chExt cx="0" cy="0"/>
        </a:xfrm>
      </p:grpSpPr>
      <p:pic>
        <p:nvPicPr>
          <p:cNvPr id="464" name="Google Shape;464;p33" title="tradespace-cost-schedule_step1.png"/>
          <p:cNvPicPr preferRelativeResize="0"/>
          <p:nvPr/>
        </p:nvPicPr>
        <p:blipFill>
          <a:blip r:embed="rId3">
            <a:alphaModFix/>
          </a:blip>
          <a:stretch>
            <a:fillRect/>
          </a:stretch>
        </p:blipFill>
        <p:spPr>
          <a:xfrm>
            <a:off x="550930" y="0"/>
            <a:ext cx="8042140" cy="5143501"/>
          </a:xfrm>
          <a:prstGeom prst="rect">
            <a:avLst/>
          </a:prstGeom>
          <a:noFill/>
          <a:ln>
            <a:noFill/>
          </a:ln>
        </p:spPr>
      </p:pic>
      <p:pic>
        <p:nvPicPr>
          <p:cNvPr id="465" name="Google Shape;465;p33" title="tradespace-cost-schedule_step2.png"/>
          <p:cNvPicPr preferRelativeResize="0"/>
          <p:nvPr/>
        </p:nvPicPr>
        <p:blipFill>
          <a:blip r:embed="rId4">
            <a:alphaModFix/>
          </a:blip>
          <a:stretch>
            <a:fillRect/>
          </a:stretch>
        </p:blipFill>
        <p:spPr>
          <a:xfrm>
            <a:off x="550930" y="1"/>
            <a:ext cx="8042140" cy="5143498"/>
          </a:xfrm>
          <a:prstGeom prst="rect">
            <a:avLst/>
          </a:prstGeom>
          <a:noFill/>
          <a:ln>
            <a:noFill/>
          </a:ln>
        </p:spPr>
      </p:pic>
      <p:pic>
        <p:nvPicPr>
          <p:cNvPr id="466" name="Google Shape;466;p33" title="tradespace-cost-schedule_step3.png"/>
          <p:cNvPicPr preferRelativeResize="0"/>
          <p:nvPr/>
        </p:nvPicPr>
        <p:blipFill>
          <a:blip r:embed="rId5">
            <a:alphaModFix/>
          </a:blip>
          <a:stretch>
            <a:fillRect/>
          </a:stretch>
        </p:blipFill>
        <p:spPr>
          <a:xfrm>
            <a:off x="550930" y="1"/>
            <a:ext cx="8042140" cy="5143498"/>
          </a:xfrm>
          <a:prstGeom prst="rect">
            <a:avLst/>
          </a:prstGeom>
          <a:noFill/>
          <a:ln>
            <a:noFill/>
          </a:ln>
        </p:spPr>
      </p:pic>
      <p:pic>
        <p:nvPicPr>
          <p:cNvPr id="467" name="Google Shape;467;p33" title="tradespace-cost-schedule_step4.png"/>
          <p:cNvPicPr preferRelativeResize="0"/>
          <p:nvPr/>
        </p:nvPicPr>
        <p:blipFill>
          <a:blip r:embed="rId6">
            <a:alphaModFix/>
          </a:blip>
          <a:stretch>
            <a:fillRect/>
          </a:stretch>
        </p:blipFill>
        <p:spPr>
          <a:xfrm>
            <a:off x="550930" y="1"/>
            <a:ext cx="8042140" cy="5143498"/>
          </a:xfrm>
          <a:prstGeom prst="rect">
            <a:avLst/>
          </a:prstGeom>
          <a:noFill/>
          <a:ln>
            <a:noFill/>
          </a:ln>
        </p:spPr>
      </p:pic>
      <p:pic>
        <p:nvPicPr>
          <p:cNvPr id="468" name="Google Shape;468;p33" title="tradespace-cost-schedule_step5.png"/>
          <p:cNvPicPr preferRelativeResize="0"/>
          <p:nvPr/>
        </p:nvPicPr>
        <p:blipFill>
          <a:blip r:embed="rId7">
            <a:alphaModFix/>
          </a:blip>
          <a:stretch>
            <a:fillRect/>
          </a:stretch>
        </p:blipFill>
        <p:spPr>
          <a:xfrm>
            <a:off x="550930" y="1"/>
            <a:ext cx="8042140" cy="5143498"/>
          </a:xfrm>
          <a:prstGeom prst="rect">
            <a:avLst/>
          </a:prstGeom>
          <a:noFill/>
          <a:ln>
            <a:noFill/>
          </a:ln>
        </p:spPr>
      </p:pic>
      <p:pic>
        <p:nvPicPr>
          <p:cNvPr id="469" name="Google Shape;469;p33" title="tradespace-cost-schedule_step6.png"/>
          <p:cNvPicPr preferRelativeResize="0"/>
          <p:nvPr/>
        </p:nvPicPr>
        <p:blipFill>
          <a:blip r:embed="rId8">
            <a:alphaModFix/>
          </a:blip>
          <a:stretch>
            <a:fillRect/>
          </a:stretch>
        </p:blipFill>
        <p:spPr>
          <a:xfrm>
            <a:off x="550930" y="1"/>
            <a:ext cx="8042140" cy="5143498"/>
          </a:xfrm>
          <a:prstGeom prst="rect">
            <a:avLst/>
          </a:prstGeom>
          <a:noFill/>
          <a:ln>
            <a:noFill/>
          </a:ln>
        </p:spPr>
      </p:pic>
      <p:pic>
        <p:nvPicPr>
          <p:cNvPr id="470" name="Google Shape;470;p33" title="tradespace-cost-schedule_step7.png"/>
          <p:cNvPicPr preferRelativeResize="0"/>
          <p:nvPr/>
        </p:nvPicPr>
        <p:blipFill>
          <a:blip r:embed="rId9">
            <a:alphaModFix/>
          </a:blip>
          <a:stretch>
            <a:fillRect/>
          </a:stretch>
        </p:blipFill>
        <p:spPr>
          <a:xfrm>
            <a:off x="550930" y="1"/>
            <a:ext cx="8042140" cy="5143498"/>
          </a:xfrm>
          <a:prstGeom prst="rect">
            <a:avLst/>
          </a:prstGeom>
          <a:noFill/>
          <a:ln>
            <a:noFill/>
          </a:ln>
        </p:spPr>
      </p:pic>
      <p:pic>
        <p:nvPicPr>
          <p:cNvPr id="471" name="Google Shape;471;p33" title="tradespace-cost-schedule_step8.png"/>
          <p:cNvPicPr preferRelativeResize="0"/>
          <p:nvPr/>
        </p:nvPicPr>
        <p:blipFill>
          <a:blip r:embed="rId10">
            <a:alphaModFix/>
          </a:blip>
          <a:stretch>
            <a:fillRect/>
          </a:stretch>
        </p:blipFill>
        <p:spPr>
          <a:xfrm>
            <a:off x="550930" y="1"/>
            <a:ext cx="8042140" cy="5143498"/>
          </a:xfrm>
          <a:prstGeom prst="rect">
            <a:avLst/>
          </a:prstGeom>
          <a:noFill/>
          <a:ln>
            <a:noFill/>
          </a:ln>
        </p:spPr>
      </p:pic>
      <p:pic>
        <p:nvPicPr>
          <p:cNvPr id="472" name="Google Shape;472;p33" title="tradespace-cost-schedule_step9.png"/>
          <p:cNvPicPr preferRelativeResize="0"/>
          <p:nvPr/>
        </p:nvPicPr>
        <p:blipFill>
          <a:blip r:embed="rId11">
            <a:alphaModFix/>
          </a:blip>
          <a:stretch>
            <a:fillRect/>
          </a:stretch>
        </p:blipFill>
        <p:spPr>
          <a:xfrm>
            <a:off x="550930" y="1"/>
            <a:ext cx="8042140" cy="5143498"/>
          </a:xfrm>
          <a:prstGeom prst="rect">
            <a:avLst/>
          </a:prstGeom>
          <a:noFill/>
          <a:ln>
            <a:noFill/>
          </a:ln>
        </p:spPr>
      </p:pic>
      <p:pic>
        <p:nvPicPr>
          <p:cNvPr id="473" name="Google Shape;473;p33" title="tradespace-cost-schedule_step10.png"/>
          <p:cNvPicPr preferRelativeResize="0"/>
          <p:nvPr/>
        </p:nvPicPr>
        <p:blipFill>
          <a:blip r:embed="rId12">
            <a:alphaModFix/>
          </a:blip>
          <a:stretch>
            <a:fillRect/>
          </a:stretch>
        </p:blipFill>
        <p:spPr>
          <a:xfrm>
            <a:off x="550930" y="1"/>
            <a:ext cx="8042140" cy="5143498"/>
          </a:xfrm>
          <a:prstGeom prst="rect">
            <a:avLst/>
          </a:prstGeom>
          <a:noFill/>
          <a:ln>
            <a:noFill/>
          </a:ln>
        </p:spPr>
      </p:pic>
      <p:cxnSp>
        <p:nvCxnSpPr>
          <p:cNvPr id="474" name="Google Shape;474;p33"/>
          <p:cNvCxnSpPr/>
          <p:nvPr/>
        </p:nvCxnSpPr>
        <p:spPr>
          <a:xfrm>
            <a:off x="861150" y="2612125"/>
            <a:ext cx="7557000" cy="0"/>
          </a:xfrm>
          <a:prstGeom prst="straightConnector1">
            <a:avLst/>
          </a:prstGeom>
          <a:noFill/>
          <a:ln cap="flat" cmpd="sng" w="19050">
            <a:solidFill>
              <a:srgbClr val="FFFFFF"/>
            </a:solidFill>
            <a:prstDash val="dot"/>
            <a:round/>
            <a:headEnd len="med" w="med" type="none"/>
            <a:tailEnd len="med" w="med" type="none"/>
          </a:ln>
        </p:spPr>
      </p:cxnSp>
      <p:cxnSp>
        <p:nvCxnSpPr>
          <p:cNvPr id="475" name="Google Shape;475;p33"/>
          <p:cNvCxnSpPr/>
          <p:nvPr/>
        </p:nvCxnSpPr>
        <p:spPr>
          <a:xfrm rot="10800000">
            <a:off x="4658665" y="435925"/>
            <a:ext cx="0" cy="4352400"/>
          </a:xfrm>
          <a:prstGeom prst="straightConnector1">
            <a:avLst/>
          </a:prstGeom>
          <a:noFill/>
          <a:ln cap="flat" cmpd="sng" w="19050">
            <a:solidFill>
              <a:srgbClr val="FFFFFF"/>
            </a:solidFill>
            <a:prstDash val="dot"/>
            <a:round/>
            <a:headEnd len="med" w="med" type="none"/>
            <a:tailEnd len="med" w="med" type="none"/>
          </a:ln>
        </p:spPr>
      </p:cxnSp>
      <p:sp>
        <p:nvSpPr>
          <p:cNvPr id="476" name="Google Shape;476;p33"/>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First schedule and cost tradespace</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4"/>
          <p:cNvSpPr/>
          <p:nvPr/>
        </p:nvSpPr>
        <p:spPr>
          <a:xfrm rot="5400000">
            <a:off x="1838400" y="1779850"/>
            <a:ext cx="8763000" cy="5848200"/>
          </a:xfrm>
          <a:prstGeom prst="roundRect">
            <a:avLst>
              <a:gd fmla="val 45042" name="adj"/>
            </a:avLst>
          </a:prstGeom>
          <a:solidFill>
            <a:srgbClr val="67B4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34"/>
          <p:cNvSpPr txBox="1"/>
          <p:nvPr>
            <p:ph type="title"/>
          </p:nvPr>
        </p:nvSpPr>
        <p:spPr>
          <a:xfrm>
            <a:off x="311700" y="445025"/>
            <a:ext cx="3587400" cy="212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33">
                <a:solidFill>
                  <a:srgbClr val="67B4D4"/>
                </a:solidFill>
                <a:latin typeface="Noto Sans Grantha"/>
                <a:ea typeface="Noto Sans Grantha"/>
                <a:cs typeface="Noto Sans Grantha"/>
                <a:sym typeface="Noto Sans Grantha"/>
              </a:rPr>
              <a:t>Cost and schedule preferred plan </a:t>
            </a:r>
            <a:endParaRPr sz="3033">
              <a:solidFill>
                <a:srgbClr val="67B4D4"/>
              </a:solidFill>
              <a:latin typeface="Noto Sans Grantha"/>
              <a:ea typeface="Noto Sans Grantha"/>
              <a:cs typeface="Noto Sans Grantha"/>
              <a:sym typeface="Noto Sans Grantha"/>
            </a:endParaRPr>
          </a:p>
        </p:txBody>
      </p:sp>
      <p:sp>
        <p:nvSpPr>
          <p:cNvPr id="483" name="Google Shape;483;p34"/>
          <p:cNvSpPr txBox="1"/>
          <p:nvPr>
            <p:ph idx="1" type="body"/>
          </p:nvPr>
        </p:nvSpPr>
        <p:spPr>
          <a:xfrm>
            <a:off x="4141846" y="1341575"/>
            <a:ext cx="43275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lt1"/>
                </a:solidFill>
              </a:rPr>
              <a:t>After a first review, of our tradespace walk settled on </a:t>
            </a:r>
            <a:r>
              <a:rPr b="1" lang="en">
                <a:solidFill>
                  <a:schemeClr val="lt1"/>
                </a:solidFill>
              </a:rPr>
              <a:t>Strategic Scaling</a:t>
            </a:r>
            <a:r>
              <a:rPr lang="en">
                <a:solidFill>
                  <a:schemeClr val="lt1"/>
                </a:solidFill>
              </a:rPr>
              <a:t> as the preferred plan.</a:t>
            </a:r>
            <a:endParaRPr>
              <a:solidFill>
                <a:schemeClr val="lt1"/>
              </a:solidFill>
            </a:endParaRPr>
          </a:p>
          <a:p>
            <a:pPr indent="-342900" lvl="0" marL="457200" rtl="0" algn="l">
              <a:spcBef>
                <a:spcPts val="1200"/>
              </a:spcBef>
              <a:spcAft>
                <a:spcPts val="0"/>
              </a:spcAft>
              <a:buClr>
                <a:schemeClr val="lt1"/>
              </a:buClr>
              <a:buSzPts val="1800"/>
              <a:buFont typeface="Noto Sans Grantha"/>
              <a:buChar char="●"/>
            </a:pPr>
            <a:r>
              <a:rPr lang="en">
                <a:solidFill>
                  <a:schemeClr val="lt1"/>
                </a:solidFill>
              </a:rPr>
              <a:t> $4.69M / 43 weeks. It satisfies the $6M budget target with 22% headroom,</a:t>
            </a:r>
            <a:endParaRPr>
              <a:solidFill>
                <a:schemeClr val="lt1"/>
              </a:solidFill>
            </a:endParaRPr>
          </a:p>
          <a:p>
            <a:pPr indent="-342900" lvl="0" marL="457200" rtl="0" algn="l">
              <a:spcBef>
                <a:spcPts val="0"/>
              </a:spcBef>
              <a:spcAft>
                <a:spcPts val="0"/>
              </a:spcAft>
              <a:buClr>
                <a:schemeClr val="lt1"/>
              </a:buClr>
              <a:buSzPts val="1800"/>
              <a:buFont typeface="Noto Sans Grantha"/>
              <a:buChar char="●"/>
            </a:pPr>
            <a:r>
              <a:rPr lang="en">
                <a:solidFill>
                  <a:schemeClr val="lt1"/>
                </a:solidFill>
              </a:rPr>
              <a:t>Achieves the Q2 2027 prototype </a:t>
            </a:r>
            <a:r>
              <a:rPr lang="en">
                <a:solidFill>
                  <a:schemeClr val="lt1"/>
                </a:solidFill>
              </a:rPr>
              <a:t>milestone</a:t>
            </a:r>
            <a:r>
              <a:rPr lang="en">
                <a:solidFill>
                  <a:schemeClr val="lt1"/>
                </a:solidFill>
              </a:rPr>
              <a:t> comfortably, and avoids the coordination risks of full outsourcing.</a:t>
            </a:r>
            <a:endParaRPr>
              <a:solidFill>
                <a:schemeClr val="lt1"/>
              </a:solidFill>
            </a:endParaRPr>
          </a:p>
        </p:txBody>
      </p:sp>
      <p:sp>
        <p:nvSpPr>
          <p:cNvPr id="484" name="Google Shape;484;p34"/>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Cost and Schedule Decision</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B4D4"/>
        </a:solidFill>
      </p:bgPr>
    </p:bg>
    <p:spTree>
      <p:nvGrpSpPr>
        <p:cNvPr id="488" name="Shape 488"/>
        <p:cNvGrpSpPr/>
        <p:nvPr/>
      </p:nvGrpSpPr>
      <p:grpSpPr>
        <a:xfrm>
          <a:off x="0" y="0"/>
          <a:ext cx="0" cy="0"/>
          <a:chOff x="0" y="0"/>
          <a:chExt cx="0" cy="0"/>
        </a:xfrm>
      </p:grpSpPr>
      <p:sp>
        <p:nvSpPr>
          <p:cNvPr id="489" name="Google Shape;489;p35"/>
          <p:cNvSpPr txBox="1"/>
          <p:nvPr>
            <p:ph idx="4294967295" type="body"/>
          </p:nvPr>
        </p:nvSpPr>
        <p:spPr>
          <a:xfrm>
            <a:off x="6378650" y="2243750"/>
            <a:ext cx="2354400" cy="255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Noto Sans Grantha"/>
                <a:ea typeface="Noto Sans Grantha"/>
                <a:cs typeface="Noto Sans Grantha"/>
                <a:sym typeface="Noto Sans Grantha"/>
              </a:rPr>
              <a:t>U.S. clinical laboratory tests market size: $52.77 billion in 2024</a:t>
            </a:r>
            <a:endParaRPr sz="1600">
              <a:solidFill>
                <a:schemeClr val="lt1"/>
              </a:solidFill>
              <a:latin typeface="Noto Sans Grantha"/>
              <a:ea typeface="Noto Sans Grantha"/>
              <a:cs typeface="Noto Sans Grantha"/>
              <a:sym typeface="Noto Sans Grantha"/>
            </a:endParaRPr>
          </a:p>
          <a:p>
            <a:pPr indent="0" lvl="0" marL="0" rtl="0" algn="l">
              <a:spcBef>
                <a:spcPts val="1200"/>
              </a:spcBef>
              <a:spcAft>
                <a:spcPts val="1200"/>
              </a:spcAft>
              <a:buNone/>
            </a:pPr>
            <a:r>
              <a:rPr lang="en" sz="1600">
                <a:solidFill>
                  <a:schemeClr val="lt1"/>
                </a:solidFill>
                <a:latin typeface="Noto Sans Grantha"/>
                <a:ea typeface="Noto Sans Grantha"/>
                <a:cs typeface="Noto Sans Grantha"/>
                <a:sym typeface="Noto Sans Grantha"/>
              </a:rPr>
              <a:t>6.1% CAGR from 2025-2034</a:t>
            </a:r>
            <a:endParaRPr sz="1600">
              <a:solidFill>
                <a:schemeClr val="lt1"/>
              </a:solidFill>
              <a:latin typeface="Noto Sans Grantha"/>
              <a:ea typeface="Noto Sans Grantha"/>
              <a:cs typeface="Noto Sans Grantha"/>
              <a:sym typeface="Noto Sans Grantha"/>
            </a:endParaRPr>
          </a:p>
        </p:txBody>
      </p:sp>
      <p:grpSp>
        <p:nvGrpSpPr>
          <p:cNvPr id="490" name="Google Shape;490;p35"/>
          <p:cNvGrpSpPr/>
          <p:nvPr/>
        </p:nvGrpSpPr>
        <p:grpSpPr>
          <a:xfrm>
            <a:off x="442450" y="873605"/>
            <a:ext cx="2354400" cy="1258070"/>
            <a:chOff x="442450" y="873605"/>
            <a:chExt cx="2354400" cy="1258070"/>
          </a:xfrm>
        </p:grpSpPr>
        <p:sp>
          <p:nvSpPr>
            <p:cNvPr id="491" name="Google Shape;491;p35"/>
            <p:cNvSpPr txBox="1"/>
            <p:nvPr/>
          </p:nvSpPr>
          <p:spPr>
            <a:xfrm>
              <a:off x="442450" y="1623775"/>
              <a:ext cx="2354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lt1"/>
                  </a:solidFill>
                  <a:latin typeface="Noto Sans Grantha"/>
                  <a:ea typeface="Noto Sans Grantha"/>
                  <a:cs typeface="Noto Sans Grantha"/>
                  <a:sym typeface="Noto Sans Grantha"/>
                </a:rPr>
                <a:t>Volume</a:t>
              </a:r>
              <a:endParaRPr sz="2100">
                <a:solidFill>
                  <a:schemeClr val="lt1"/>
                </a:solidFill>
                <a:latin typeface="Noto Sans Grantha"/>
                <a:ea typeface="Noto Sans Grantha"/>
                <a:cs typeface="Noto Sans Grantha"/>
                <a:sym typeface="Noto Sans Grantha"/>
              </a:endParaRPr>
            </a:p>
          </p:txBody>
        </p:sp>
        <p:pic>
          <p:nvPicPr>
            <p:cNvPr id="492" name="Google Shape;492;p35" title="throughput.png"/>
            <p:cNvPicPr preferRelativeResize="0"/>
            <p:nvPr/>
          </p:nvPicPr>
          <p:blipFill>
            <a:blip r:embed="rId4">
              <a:alphaModFix amt="11000"/>
            </a:blip>
            <a:stretch>
              <a:fillRect/>
            </a:stretch>
          </p:blipFill>
          <p:spPr>
            <a:xfrm>
              <a:off x="1288150" y="873605"/>
              <a:ext cx="583310" cy="583310"/>
            </a:xfrm>
            <a:prstGeom prst="rect">
              <a:avLst/>
            </a:prstGeom>
            <a:noFill/>
            <a:ln>
              <a:noFill/>
            </a:ln>
          </p:spPr>
        </p:pic>
      </p:grpSp>
      <p:grpSp>
        <p:nvGrpSpPr>
          <p:cNvPr id="493" name="Google Shape;493;p35"/>
          <p:cNvGrpSpPr/>
          <p:nvPr/>
        </p:nvGrpSpPr>
        <p:grpSpPr>
          <a:xfrm>
            <a:off x="3410544" y="873606"/>
            <a:ext cx="2354400" cy="1258069"/>
            <a:chOff x="6347125" y="873606"/>
            <a:chExt cx="2354400" cy="1258069"/>
          </a:xfrm>
        </p:grpSpPr>
        <p:sp>
          <p:nvSpPr>
            <p:cNvPr id="494" name="Google Shape;494;p35"/>
            <p:cNvSpPr txBox="1"/>
            <p:nvPr/>
          </p:nvSpPr>
          <p:spPr>
            <a:xfrm>
              <a:off x="6347125" y="1623775"/>
              <a:ext cx="2354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lt1"/>
                  </a:solidFill>
                  <a:latin typeface="Noto Sans Grantha"/>
                  <a:ea typeface="Noto Sans Grantha"/>
                  <a:cs typeface="Noto Sans Grantha"/>
                  <a:sym typeface="Noto Sans Grantha"/>
                </a:rPr>
                <a:t>Assets</a:t>
              </a:r>
              <a:endParaRPr sz="2100">
                <a:solidFill>
                  <a:schemeClr val="lt1"/>
                </a:solidFill>
                <a:latin typeface="Noto Sans Grantha"/>
                <a:ea typeface="Noto Sans Grantha"/>
                <a:cs typeface="Noto Sans Grantha"/>
                <a:sym typeface="Noto Sans Grantha"/>
              </a:endParaRPr>
            </a:p>
          </p:txBody>
        </p:sp>
        <p:pic>
          <p:nvPicPr>
            <p:cNvPr id="495" name="Google Shape;495;p35" title="data-lake.png"/>
            <p:cNvPicPr preferRelativeResize="0"/>
            <p:nvPr/>
          </p:nvPicPr>
          <p:blipFill>
            <a:blip r:embed="rId5">
              <a:alphaModFix amt="11000"/>
            </a:blip>
            <a:stretch>
              <a:fillRect/>
            </a:stretch>
          </p:blipFill>
          <p:spPr>
            <a:xfrm>
              <a:off x="7232665" y="873606"/>
              <a:ext cx="583310" cy="583310"/>
            </a:xfrm>
            <a:prstGeom prst="rect">
              <a:avLst/>
            </a:prstGeom>
            <a:noFill/>
            <a:ln>
              <a:noFill/>
            </a:ln>
          </p:spPr>
        </p:pic>
      </p:grpSp>
      <p:grpSp>
        <p:nvGrpSpPr>
          <p:cNvPr id="496" name="Google Shape;496;p35"/>
          <p:cNvGrpSpPr/>
          <p:nvPr/>
        </p:nvGrpSpPr>
        <p:grpSpPr>
          <a:xfrm>
            <a:off x="6378638" y="873600"/>
            <a:ext cx="2354400" cy="1258075"/>
            <a:chOff x="3394788" y="873600"/>
            <a:chExt cx="2354400" cy="1258075"/>
          </a:xfrm>
        </p:grpSpPr>
        <p:sp>
          <p:nvSpPr>
            <p:cNvPr id="497" name="Google Shape;497;p35"/>
            <p:cNvSpPr txBox="1"/>
            <p:nvPr/>
          </p:nvSpPr>
          <p:spPr>
            <a:xfrm>
              <a:off x="3394788" y="1623775"/>
              <a:ext cx="2354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lt1"/>
                  </a:solidFill>
                  <a:latin typeface="Noto Sans Grantha"/>
                  <a:ea typeface="Noto Sans Grantha"/>
                  <a:cs typeface="Noto Sans Grantha"/>
                  <a:sym typeface="Noto Sans Grantha"/>
                </a:rPr>
                <a:t>Opportunity</a:t>
              </a:r>
              <a:endParaRPr sz="2100">
                <a:solidFill>
                  <a:schemeClr val="lt1"/>
                </a:solidFill>
                <a:latin typeface="Noto Sans Grantha"/>
                <a:ea typeface="Noto Sans Grantha"/>
                <a:cs typeface="Noto Sans Grantha"/>
                <a:sym typeface="Noto Sans Grantha"/>
              </a:endParaRPr>
            </a:p>
          </p:txBody>
        </p:sp>
        <p:pic>
          <p:nvPicPr>
            <p:cNvPr id="498" name="Google Shape;498;p35" title="rocket.png"/>
            <p:cNvPicPr preferRelativeResize="0"/>
            <p:nvPr/>
          </p:nvPicPr>
          <p:blipFill>
            <a:blip r:embed="rId6">
              <a:alphaModFix amt="11000"/>
            </a:blip>
            <a:stretch>
              <a:fillRect/>
            </a:stretch>
          </p:blipFill>
          <p:spPr>
            <a:xfrm>
              <a:off x="4292277" y="873600"/>
              <a:ext cx="583315" cy="583315"/>
            </a:xfrm>
            <a:prstGeom prst="rect">
              <a:avLst/>
            </a:prstGeom>
            <a:noFill/>
            <a:ln>
              <a:noFill/>
            </a:ln>
          </p:spPr>
        </p:pic>
      </p:grpSp>
      <p:sp>
        <p:nvSpPr>
          <p:cNvPr id="499" name="Google Shape;499;p35"/>
          <p:cNvSpPr txBox="1"/>
          <p:nvPr>
            <p:ph idx="4294967295" type="body"/>
          </p:nvPr>
        </p:nvSpPr>
        <p:spPr>
          <a:xfrm>
            <a:off x="442450" y="2298525"/>
            <a:ext cx="2354400" cy="255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Noto Sans Grantha"/>
                <a:ea typeface="Noto Sans Grantha"/>
                <a:cs typeface="Noto Sans Grantha"/>
                <a:sym typeface="Noto Sans Grantha"/>
              </a:rPr>
              <a:t>40,000 patient samples per day</a:t>
            </a:r>
            <a:endParaRPr sz="1600">
              <a:solidFill>
                <a:schemeClr val="lt1"/>
              </a:solidFill>
              <a:latin typeface="Noto Sans Grantha"/>
              <a:ea typeface="Noto Sans Grantha"/>
              <a:cs typeface="Noto Sans Grantha"/>
              <a:sym typeface="Noto Sans Grantha"/>
            </a:endParaRPr>
          </a:p>
          <a:p>
            <a:pPr indent="0" lvl="0" marL="0" rtl="0" algn="l">
              <a:spcBef>
                <a:spcPts val="1200"/>
              </a:spcBef>
              <a:spcAft>
                <a:spcPts val="1200"/>
              </a:spcAft>
              <a:buNone/>
            </a:pPr>
            <a:r>
              <a:rPr lang="en" sz="1600">
                <a:solidFill>
                  <a:schemeClr val="lt1"/>
                </a:solidFill>
                <a:latin typeface="Noto Sans Grantha"/>
                <a:ea typeface="Noto Sans Grantha"/>
                <a:cs typeface="Noto Sans Grantha"/>
                <a:sym typeface="Noto Sans Grantha"/>
              </a:rPr>
              <a:t>More than 70 countries around the globe</a:t>
            </a:r>
            <a:endParaRPr sz="1600">
              <a:solidFill>
                <a:schemeClr val="lt1"/>
              </a:solidFill>
              <a:latin typeface="Noto Sans Grantha"/>
              <a:ea typeface="Noto Sans Grantha"/>
              <a:cs typeface="Noto Sans Grantha"/>
              <a:sym typeface="Noto Sans Grantha"/>
            </a:endParaRPr>
          </a:p>
        </p:txBody>
      </p:sp>
      <p:sp>
        <p:nvSpPr>
          <p:cNvPr id="500" name="Google Shape;500;p35"/>
          <p:cNvSpPr txBox="1"/>
          <p:nvPr>
            <p:ph idx="4294967295" type="body"/>
          </p:nvPr>
        </p:nvSpPr>
        <p:spPr>
          <a:xfrm>
            <a:off x="3394788" y="2243750"/>
            <a:ext cx="2354400" cy="2556000"/>
          </a:xfrm>
          <a:prstGeom prst="rect">
            <a:avLst/>
          </a:prstGeom>
        </p:spPr>
        <p:txBody>
          <a:bodyPr anchorCtr="0" anchor="t" bIns="91425" lIns="91425" spcFirstLastPara="1" rIns="91425" wrap="square" tIns="91425">
            <a:normAutofit fontScale="92500" lnSpcReduction="20000"/>
          </a:bodyPr>
          <a:lstStyle/>
          <a:p>
            <a:pPr indent="0" lvl="0" marL="0" rtl="0" algn="l">
              <a:lnSpc>
                <a:spcPct val="105000"/>
              </a:lnSpc>
              <a:spcBef>
                <a:spcPts val="0"/>
              </a:spcBef>
              <a:spcAft>
                <a:spcPts val="0"/>
              </a:spcAft>
              <a:buSzPct val="63594"/>
              <a:buNone/>
            </a:pPr>
            <a:r>
              <a:rPr lang="en" sz="1600">
                <a:solidFill>
                  <a:schemeClr val="lt1"/>
                </a:solidFill>
                <a:latin typeface="Noto Sans Grantha"/>
                <a:ea typeface="Noto Sans Grantha"/>
                <a:cs typeface="Noto Sans Grantha"/>
                <a:sym typeface="Noto Sans Grantha"/>
              </a:rPr>
              <a:t>Mayo Clinic Platform_Insights</a:t>
            </a:r>
            <a:endParaRPr sz="1600">
              <a:solidFill>
                <a:schemeClr val="lt1"/>
              </a:solidFill>
              <a:latin typeface="Noto Sans Grantha"/>
              <a:ea typeface="Noto Sans Grantha"/>
              <a:cs typeface="Noto Sans Grantha"/>
              <a:sym typeface="Noto Sans Grantha"/>
            </a:endParaRPr>
          </a:p>
          <a:p>
            <a:pPr indent="0" lvl="0" marL="0" rtl="0" algn="l">
              <a:lnSpc>
                <a:spcPct val="105000"/>
              </a:lnSpc>
              <a:spcBef>
                <a:spcPts val="1200"/>
              </a:spcBef>
              <a:spcAft>
                <a:spcPts val="0"/>
              </a:spcAft>
              <a:buSzPct val="63594"/>
              <a:buNone/>
            </a:pPr>
            <a:r>
              <a:rPr lang="en" sz="1600">
                <a:solidFill>
                  <a:schemeClr val="lt1"/>
                </a:solidFill>
                <a:latin typeface="Noto Sans Grantha"/>
                <a:ea typeface="Noto Sans Grantha"/>
                <a:cs typeface="Noto Sans Grantha"/>
                <a:sym typeface="Noto Sans Grantha"/>
              </a:rPr>
              <a:t>26 petabytes of clinical information</a:t>
            </a:r>
            <a:endParaRPr sz="1600">
              <a:solidFill>
                <a:schemeClr val="lt1"/>
              </a:solidFill>
              <a:latin typeface="Noto Sans Grantha"/>
              <a:ea typeface="Noto Sans Grantha"/>
              <a:cs typeface="Noto Sans Grantha"/>
              <a:sym typeface="Noto Sans Grantha"/>
            </a:endParaRPr>
          </a:p>
          <a:p>
            <a:pPr indent="0" lvl="0" marL="0" rtl="0" algn="l">
              <a:lnSpc>
                <a:spcPct val="105000"/>
              </a:lnSpc>
              <a:spcBef>
                <a:spcPts val="1200"/>
              </a:spcBef>
              <a:spcAft>
                <a:spcPts val="0"/>
              </a:spcAft>
              <a:buSzPct val="63594"/>
              <a:buNone/>
            </a:pPr>
            <a:r>
              <a:rPr lang="en" sz="1600">
                <a:solidFill>
                  <a:schemeClr val="lt1"/>
                </a:solidFill>
                <a:latin typeface="Noto Sans Grantha"/>
                <a:ea typeface="Noto Sans Grantha"/>
                <a:cs typeface="Noto Sans Grantha"/>
                <a:sym typeface="Noto Sans Grantha"/>
              </a:rPr>
              <a:t>3 billion laboratory tests</a:t>
            </a:r>
            <a:endParaRPr sz="1600">
              <a:solidFill>
                <a:schemeClr val="lt1"/>
              </a:solidFill>
              <a:latin typeface="Noto Sans Grantha"/>
              <a:ea typeface="Noto Sans Grantha"/>
              <a:cs typeface="Noto Sans Grantha"/>
              <a:sym typeface="Noto Sans Grantha"/>
            </a:endParaRPr>
          </a:p>
          <a:p>
            <a:pPr indent="0" lvl="0" marL="0" rtl="0" algn="l">
              <a:lnSpc>
                <a:spcPct val="105000"/>
              </a:lnSpc>
              <a:spcBef>
                <a:spcPts val="1200"/>
              </a:spcBef>
              <a:spcAft>
                <a:spcPts val="0"/>
              </a:spcAft>
              <a:buSzPct val="63594"/>
              <a:buNone/>
            </a:pPr>
            <a:r>
              <a:rPr lang="en" sz="1600">
                <a:solidFill>
                  <a:schemeClr val="lt1"/>
                </a:solidFill>
                <a:latin typeface="Noto Sans Grantha"/>
                <a:ea typeface="Noto Sans Grantha"/>
                <a:cs typeface="Noto Sans Grantha"/>
                <a:sym typeface="Noto Sans Grantha"/>
              </a:rPr>
              <a:t>1.6 billion clinical notes</a:t>
            </a:r>
            <a:endParaRPr sz="1600">
              <a:solidFill>
                <a:schemeClr val="lt1"/>
              </a:solidFill>
              <a:latin typeface="Noto Sans Grantha"/>
              <a:ea typeface="Noto Sans Grantha"/>
              <a:cs typeface="Noto Sans Grantha"/>
              <a:sym typeface="Noto Sans Grantha"/>
            </a:endParaRPr>
          </a:p>
          <a:p>
            <a:pPr indent="0" lvl="0" marL="0" rtl="0" algn="l">
              <a:lnSpc>
                <a:spcPct val="105000"/>
              </a:lnSpc>
              <a:spcBef>
                <a:spcPts val="1200"/>
              </a:spcBef>
              <a:spcAft>
                <a:spcPts val="1200"/>
              </a:spcAft>
              <a:buSzPct val="63594"/>
              <a:buNone/>
            </a:pPr>
            <a:r>
              <a:rPr lang="en" sz="1600">
                <a:solidFill>
                  <a:schemeClr val="lt1"/>
                </a:solidFill>
                <a:latin typeface="Noto Sans Grantha"/>
                <a:ea typeface="Noto Sans Grantha"/>
                <a:cs typeface="Noto Sans Grantha"/>
                <a:sym typeface="Noto Sans Grantha"/>
              </a:rPr>
              <a:t>10 million peer-reviewed biomedical publications annually</a:t>
            </a:r>
            <a:endParaRPr sz="1600">
              <a:solidFill>
                <a:schemeClr val="lt1"/>
              </a:solidFill>
              <a:latin typeface="Noto Sans Grantha"/>
              <a:ea typeface="Noto Sans Grantha"/>
              <a:cs typeface="Noto Sans Grantha"/>
              <a:sym typeface="Noto Sans Grantha"/>
            </a:endParaRPr>
          </a:p>
        </p:txBody>
      </p:sp>
      <p:sp>
        <p:nvSpPr>
          <p:cNvPr id="501" name="Google Shape;501;p35"/>
          <p:cNvSpPr txBox="1"/>
          <p:nvPr/>
        </p:nvSpPr>
        <p:spPr>
          <a:xfrm>
            <a:off x="1507675" y="4719850"/>
            <a:ext cx="75225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solidFill>
                  <a:srgbClr val="83CAEB"/>
                </a:solidFill>
              </a:rPr>
              <a:t>Sources: Mayo Clinic [1][2], Polaris Market Research [3], [2] Mayo Clinic, [4 ]Mayo Clinic Research.  </a:t>
            </a:r>
            <a:endParaRPr sz="800">
              <a:solidFill>
                <a:srgbClr val="83CAEB"/>
              </a:solidFill>
            </a:endParaRPr>
          </a:p>
        </p:txBody>
      </p:sp>
      <p:sp>
        <p:nvSpPr>
          <p:cNvPr id="502" name="Google Shape;502;p35"/>
          <p:cNvSpPr txBox="1"/>
          <p:nvPr/>
        </p:nvSpPr>
        <p:spPr>
          <a:xfrm>
            <a:off x="170250" y="131525"/>
            <a:ext cx="4455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83CAEB"/>
                </a:solidFill>
                <a:latin typeface="Noto Sans Grantha"/>
                <a:ea typeface="Noto Sans Grantha"/>
                <a:cs typeface="Noto Sans Grantha"/>
                <a:sym typeface="Noto Sans Grantha"/>
              </a:rPr>
              <a:t>Metrics for Context </a:t>
            </a:r>
            <a:endParaRPr sz="1800">
              <a:solidFill>
                <a:srgbClr val="83CAEB"/>
              </a:solidFill>
              <a:latin typeface="Noto Sans Grantha"/>
              <a:ea typeface="Noto Sans Grantha"/>
              <a:cs typeface="Noto Sans Grantha"/>
              <a:sym typeface="Noto Sans Grantha"/>
            </a:endParaRPr>
          </a:p>
        </p:txBody>
      </p:sp>
      <p:sp>
        <p:nvSpPr>
          <p:cNvPr id="503" name="Google Shape;503;p35"/>
          <p:cNvSpPr txBox="1"/>
          <p:nvPr>
            <p:ph idx="4294967295"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Metrics</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300"/>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8B4D4"/>
        </a:solidFill>
      </p:bgPr>
    </p:bg>
    <p:spTree>
      <p:nvGrpSpPr>
        <p:cNvPr id="507" name="Shape 507"/>
        <p:cNvGrpSpPr/>
        <p:nvPr/>
      </p:nvGrpSpPr>
      <p:grpSpPr>
        <a:xfrm>
          <a:off x="0" y="0"/>
          <a:ext cx="0" cy="0"/>
          <a:chOff x="0" y="0"/>
          <a:chExt cx="0" cy="0"/>
        </a:xfrm>
      </p:grpSpPr>
      <p:pic>
        <p:nvPicPr>
          <p:cNvPr id="508" name="Google Shape;508;p36" title="tradespace-cost-risk_step1.png"/>
          <p:cNvPicPr preferRelativeResize="0"/>
          <p:nvPr/>
        </p:nvPicPr>
        <p:blipFill>
          <a:blip r:embed="rId3">
            <a:alphaModFix/>
          </a:blip>
          <a:stretch>
            <a:fillRect/>
          </a:stretch>
        </p:blipFill>
        <p:spPr>
          <a:xfrm>
            <a:off x="339728" y="46931"/>
            <a:ext cx="8464544" cy="5049639"/>
          </a:xfrm>
          <a:prstGeom prst="rect">
            <a:avLst/>
          </a:prstGeom>
          <a:noFill/>
          <a:ln>
            <a:noFill/>
          </a:ln>
        </p:spPr>
      </p:pic>
      <p:pic>
        <p:nvPicPr>
          <p:cNvPr id="509" name="Google Shape;509;p36" title="tradespace-cost-risk_step2.png"/>
          <p:cNvPicPr preferRelativeResize="0"/>
          <p:nvPr/>
        </p:nvPicPr>
        <p:blipFill>
          <a:blip r:embed="rId4">
            <a:alphaModFix/>
          </a:blip>
          <a:stretch>
            <a:fillRect/>
          </a:stretch>
        </p:blipFill>
        <p:spPr>
          <a:xfrm>
            <a:off x="339728" y="46936"/>
            <a:ext cx="8464544" cy="5049627"/>
          </a:xfrm>
          <a:prstGeom prst="rect">
            <a:avLst/>
          </a:prstGeom>
          <a:noFill/>
          <a:ln>
            <a:noFill/>
          </a:ln>
        </p:spPr>
      </p:pic>
      <p:pic>
        <p:nvPicPr>
          <p:cNvPr id="510" name="Google Shape;510;p36" title="tradespace-cost-risk_step3.png"/>
          <p:cNvPicPr preferRelativeResize="0"/>
          <p:nvPr/>
        </p:nvPicPr>
        <p:blipFill>
          <a:blip r:embed="rId5">
            <a:alphaModFix/>
          </a:blip>
          <a:stretch>
            <a:fillRect/>
          </a:stretch>
        </p:blipFill>
        <p:spPr>
          <a:xfrm>
            <a:off x="339728" y="46936"/>
            <a:ext cx="8464544" cy="5049627"/>
          </a:xfrm>
          <a:prstGeom prst="rect">
            <a:avLst/>
          </a:prstGeom>
          <a:noFill/>
          <a:ln>
            <a:noFill/>
          </a:ln>
        </p:spPr>
      </p:pic>
      <p:pic>
        <p:nvPicPr>
          <p:cNvPr id="511" name="Google Shape;511;p36" title="tradespace-cost-risk_step4.png"/>
          <p:cNvPicPr preferRelativeResize="0"/>
          <p:nvPr/>
        </p:nvPicPr>
        <p:blipFill>
          <a:blip r:embed="rId6">
            <a:alphaModFix/>
          </a:blip>
          <a:stretch>
            <a:fillRect/>
          </a:stretch>
        </p:blipFill>
        <p:spPr>
          <a:xfrm>
            <a:off x="339728" y="46936"/>
            <a:ext cx="8464544" cy="5049627"/>
          </a:xfrm>
          <a:prstGeom prst="rect">
            <a:avLst/>
          </a:prstGeom>
          <a:noFill/>
          <a:ln>
            <a:noFill/>
          </a:ln>
        </p:spPr>
      </p:pic>
      <p:pic>
        <p:nvPicPr>
          <p:cNvPr id="512" name="Google Shape;512;p36" title="tradespace-cost-risk_step5.png"/>
          <p:cNvPicPr preferRelativeResize="0"/>
          <p:nvPr/>
        </p:nvPicPr>
        <p:blipFill>
          <a:blip r:embed="rId7">
            <a:alphaModFix/>
          </a:blip>
          <a:stretch>
            <a:fillRect/>
          </a:stretch>
        </p:blipFill>
        <p:spPr>
          <a:xfrm>
            <a:off x="339728" y="46936"/>
            <a:ext cx="8464544" cy="5049627"/>
          </a:xfrm>
          <a:prstGeom prst="rect">
            <a:avLst/>
          </a:prstGeom>
          <a:noFill/>
          <a:ln>
            <a:noFill/>
          </a:ln>
        </p:spPr>
      </p:pic>
      <p:pic>
        <p:nvPicPr>
          <p:cNvPr id="513" name="Google Shape;513;p36" title="tradespace-cost-risk_step6.png"/>
          <p:cNvPicPr preferRelativeResize="0"/>
          <p:nvPr/>
        </p:nvPicPr>
        <p:blipFill>
          <a:blip r:embed="rId8">
            <a:alphaModFix/>
          </a:blip>
          <a:stretch>
            <a:fillRect/>
          </a:stretch>
        </p:blipFill>
        <p:spPr>
          <a:xfrm>
            <a:off x="339728" y="46936"/>
            <a:ext cx="8464544" cy="5049627"/>
          </a:xfrm>
          <a:prstGeom prst="rect">
            <a:avLst/>
          </a:prstGeom>
          <a:noFill/>
          <a:ln>
            <a:noFill/>
          </a:ln>
        </p:spPr>
      </p:pic>
      <p:sp>
        <p:nvSpPr>
          <p:cNvPr id="514" name="Google Shape;514;p36"/>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Risk Tradespace Walk</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7"/>
          <p:cNvSpPr/>
          <p:nvPr/>
        </p:nvSpPr>
        <p:spPr>
          <a:xfrm rot="5400000">
            <a:off x="-1457400" y="1635725"/>
            <a:ext cx="8763000" cy="5848200"/>
          </a:xfrm>
          <a:prstGeom prst="roundRect">
            <a:avLst>
              <a:gd fmla="val 45042" name="adj"/>
            </a:avLst>
          </a:prstGeom>
          <a:solidFill>
            <a:srgbClr val="67B4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37"/>
          <p:cNvSpPr txBox="1"/>
          <p:nvPr>
            <p:ph type="title"/>
          </p:nvPr>
        </p:nvSpPr>
        <p:spPr>
          <a:xfrm>
            <a:off x="502200" y="464075"/>
            <a:ext cx="8520600" cy="57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3033">
                <a:solidFill>
                  <a:srgbClr val="67B4D4"/>
                </a:solidFill>
                <a:latin typeface="Noto Sans Grantha"/>
                <a:ea typeface="Noto Sans Grantha"/>
                <a:cs typeface="Noto Sans Grantha"/>
                <a:sym typeface="Noto Sans Grantha"/>
              </a:rPr>
              <a:t> Reducing Risk Exposure</a:t>
            </a:r>
            <a:endParaRPr sz="3033">
              <a:solidFill>
                <a:srgbClr val="67B4D4"/>
              </a:solidFill>
              <a:latin typeface="Noto Sans Grantha"/>
              <a:ea typeface="Noto Sans Grantha"/>
              <a:cs typeface="Noto Sans Grantha"/>
              <a:sym typeface="Noto Sans Grantha"/>
            </a:endParaRPr>
          </a:p>
        </p:txBody>
      </p:sp>
      <p:sp>
        <p:nvSpPr>
          <p:cNvPr id="521" name="Google Shape;521;p37"/>
          <p:cNvSpPr txBox="1"/>
          <p:nvPr>
            <p:ph idx="1" type="body"/>
          </p:nvPr>
        </p:nvSpPr>
        <p:spPr>
          <a:xfrm>
            <a:off x="846046" y="1197450"/>
            <a:ext cx="4327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lt1"/>
                </a:solidFill>
              </a:rPr>
              <a:t>Prioritizing reduction of risk exposure creates a new “Full” architecture with expanded costs and schedule:</a:t>
            </a:r>
            <a:endParaRPr>
              <a:solidFill>
                <a:schemeClr val="lt1"/>
              </a:solidFill>
            </a:endParaRPr>
          </a:p>
          <a:p>
            <a:pPr indent="-342900" lvl="0" marL="457200" rtl="0" algn="l">
              <a:spcBef>
                <a:spcPts val="1200"/>
              </a:spcBef>
              <a:spcAft>
                <a:spcPts val="0"/>
              </a:spcAft>
              <a:buClr>
                <a:schemeClr val="lt1"/>
              </a:buClr>
              <a:buSzPts val="1800"/>
              <a:buFont typeface="Noto Sans Grantha"/>
              <a:buChar char="●"/>
            </a:pPr>
            <a:r>
              <a:rPr lang="en">
                <a:solidFill>
                  <a:schemeClr val="lt1"/>
                </a:solidFill>
              </a:rPr>
              <a:t>$6.45M and schedule to 50 weeks, exceeding the $6M target but staying within the 50-week target. </a:t>
            </a:r>
            <a:endParaRPr>
              <a:solidFill>
                <a:schemeClr val="lt1"/>
              </a:solidFill>
            </a:endParaRPr>
          </a:p>
          <a:p>
            <a:pPr indent="-342900" lvl="0" marL="457200" rtl="0" algn="l">
              <a:spcBef>
                <a:spcPts val="0"/>
              </a:spcBef>
              <a:spcAft>
                <a:spcPts val="0"/>
              </a:spcAft>
              <a:buClr>
                <a:schemeClr val="lt1"/>
              </a:buClr>
              <a:buSzPts val="1800"/>
              <a:buFont typeface="Noto Sans Grantha"/>
              <a:buChar char="●"/>
            </a:pPr>
            <a:r>
              <a:rPr lang="en">
                <a:solidFill>
                  <a:schemeClr val="lt1"/>
                </a:solidFill>
              </a:rPr>
              <a:t>The tradeoff targets integration failure, and late rework before clinical validation.</a:t>
            </a:r>
            <a:endParaRPr>
              <a:solidFill>
                <a:schemeClr val="lt1"/>
              </a:solidFill>
            </a:endParaRPr>
          </a:p>
        </p:txBody>
      </p:sp>
      <p:sp>
        <p:nvSpPr>
          <p:cNvPr id="522" name="Google Shape;522;p37"/>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Reducing Risk Exposure</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8B4D4"/>
        </a:solidFill>
      </p:bgPr>
    </p:bg>
    <p:spTree>
      <p:nvGrpSpPr>
        <p:cNvPr id="526" name="Shape 526"/>
        <p:cNvGrpSpPr/>
        <p:nvPr/>
      </p:nvGrpSpPr>
      <p:grpSpPr>
        <a:xfrm>
          <a:off x="0" y="0"/>
          <a:ext cx="0" cy="0"/>
          <a:chOff x="0" y="0"/>
          <a:chExt cx="0" cy="0"/>
        </a:xfrm>
      </p:grpSpPr>
      <p:pic>
        <p:nvPicPr>
          <p:cNvPr id="527" name="Google Shape;527;p38" title="tradespace-cost-schedule_step10.png"/>
          <p:cNvPicPr preferRelativeResize="0"/>
          <p:nvPr/>
        </p:nvPicPr>
        <p:blipFill>
          <a:blip r:embed="rId3">
            <a:alphaModFix/>
          </a:blip>
          <a:stretch>
            <a:fillRect/>
          </a:stretch>
        </p:blipFill>
        <p:spPr>
          <a:xfrm>
            <a:off x="550930" y="0"/>
            <a:ext cx="8042140" cy="5143498"/>
          </a:xfrm>
          <a:prstGeom prst="rect">
            <a:avLst/>
          </a:prstGeom>
          <a:noFill/>
          <a:ln>
            <a:noFill/>
          </a:ln>
        </p:spPr>
      </p:pic>
      <p:pic>
        <p:nvPicPr>
          <p:cNvPr id="528" name="Google Shape;528;p38" title="Full.png"/>
          <p:cNvPicPr preferRelativeResize="0"/>
          <p:nvPr/>
        </p:nvPicPr>
        <p:blipFill rotWithShape="1">
          <a:blip r:embed="rId4">
            <a:alphaModFix/>
          </a:blip>
          <a:srcRect b="0" l="0" r="0" t="0"/>
          <a:stretch/>
        </p:blipFill>
        <p:spPr>
          <a:xfrm>
            <a:off x="550930" y="0"/>
            <a:ext cx="8042140" cy="5143498"/>
          </a:xfrm>
          <a:prstGeom prst="rect">
            <a:avLst/>
          </a:prstGeom>
          <a:noFill/>
          <a:ln>
            <a:noFill/>
          </a:ln>
        </p:spPr>
      </p:pic>
      <p:cxnSp>
        <p:nvCxnSpPr>
          <p:cNvPr id="529" name="Google Shape;529;p38"/>
          <p:cNvCxnSpPr/>
          <p:nvPr/>
        </p:nvCxnSpPr>
        <p:spPr>
          <a:xfrm>
            <a:off x="861150" y="2612125"/>
            <a:ext cx="7557000" cy="0"/>
          </a:xfrm>
          <a:prstGeom prst="straightConnector1">
            <a:avLst/>
          </a:prstGeom>
          <a:noFill/>
          <a:ln cap="flat" cmpd="sng" w="19050">
            <a:solidFill>
              <a:srgbClr val="FFFFFF"/>
            </a:solidFill>
            <a:prstDash val="dot"/>
            <a:round/>
            <a:headEnd len="med" w="med" type="none"/>
            <a:tailEnd len="med" w="med" type="none"/>
          </a:ln>
        </p:spPr>
      </p:cxnSp>
      <p:cxnSp>
        <p:nvCxnSpPr>
          <p:cNvPr id="530" name="Google Shape;530;p38"/>
          <p:cNvCxnSpPr/>
          <p:nvPr/>
        </p:nvCxnSpPr>
        <p:spPr>
          <a:xfrm rot="10800000">
            <a:off x="4682493" y="478275"/>
            <a:ext cx="0" cy="4352400"/>
          </a:xfrm>
          <a:prstGeom prst="straightConnector1">
            <a:avLst/>
          </a:prstGeom>
          <a:noFill/>
          <a:ln cap="flat" cmpd="sng" w="19050">
            <a:solidFill>
              <a:srgbClr val="FFFFFF"/>
            </a:solidFill>
            <a:prstDash val="dot"/>
            <a:round/>
            <a:headEnd len="med" w="med" type="none"/>
            <a:tailEnd len="med" w="med" type="none"/>
          </a:ln>
        </p:spPr>
      </p:cxnSp>
      <p:sp>
        <p:nvSpPr>
          <p:cNvPr id="531" name="Google Shape;531;p38"/>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Cost/Schedule Tradespace </a:t>
            </a:r>
            <a:endParaRPr>
              <a:solidFill>
                <a:schemeClr val="lt1"/>
              </a:solidFill>
              <a:latin typeface="Noto Sans Grantha"/>
              <a:ea typeface="Noto Sans Grantha"/>
              <a:cs typeface="Noto Sans Grantha"/>
              <a:sym typeface="Noto Sans Granth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9"/>
          <p:cNvSpPr/>
          <p:nvPr/>
        </p:nvSpPr>
        <p:spPr>
          <a:xfrm>
            <a:off x="190500" y="952500"/>
            <a:ext cx="8763000" cy="2343300"/>
          </a:xfrm>
          <a:prstGeom prst="roundRect">
            <a:avLst>
              <a:gd fmla="val 4504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39"/>
          <p:cNvSpPr txBox="1"/>
          <p:nvPr/>
        </p:nvSpPr>
        <p:spPr>
          <a:xfrm>
            <a:off x="590550" y="236390"/>
            <a:ext cx="7962900" cy="830400"/>
          </a:xfrm>
          <a:prstGeom prst="rect">
            <a:avLst/>
          </a:prstGeom>
          <a:noFill/>
          <a:ln>
            <a:noFill/>
          </a:ln>
        </p:spPr>
        <p:txBody>
          <a:bodyPr anchorCtr="0" anchor="t" bIns="180000" lIns="180000" spcFirstLastPara="1" rIns="180000" wrap="square" tIns="180000">
            <a:spAutoFit/>
          </a:bodyPr>
          <a:lstStyle/>
          <a:p>
            <a:pPr indent="0" lvl="0" marL="0" rtl="0" algn="ctr">
              <a:spcBef>
                <a:spcPts val="0"/>
              </a:spcBef>
              <a:spcAft>
                <a:spcPts val="0"/>
              </a:spcAft>
              <a:buNone/>
            </a:pPr>
            <a:r>
              <a:rPr lang="en" sz="3033">
                <a:solidFill>
                  <a:srgbClr val="67B4D4"/>
                </a:solidFill>
                <a:latin typeface="Noto Sans Grantha"/>
                <a:ea typeface="Noto Sans Grantha"/>
                <a:cs typeface="Noto Sans Grantha"/>
                <a:sym typeface="Noto Sans Grantha"/>
              </a:rPr>
              <a:t>Product Concept: Full</a:t>
            </a:r>
            <a:endParaRPr sz="3033">
              <a:solidFill>
                <a:srgbClr val="67B4D4"/>
              </a:solidFill>
              <a:latin typeface="Noto Sans Grantha"/>
              <a:ea typeface="Noto Sans Grantha"/>
              <a:cs typeface="Noto Sans Grantha"/>
              <a:sym typeface="Noto Sans Grantha"/>
            </a:endParaRPr>
          </a:p>
        </p:txBody>
      </p:sp>
      <p:sp>
        <p:nvSpPr>
          <p:cNvPr id="538" name="Google Shape;538;p39"/>
          <p:cNvSpPr/>
          <p:nvPr/>
        </p:nvSpPr>
        <p:spPr>
          <a:xfrm>
            <a:off x="1770315" y="1273938"/>
            <a:ext cx="1579500" cy="726600"/>
          </a:xfrm>
          <a:prstGeom prst="rect">
            <a:avLst/>
          </a:prstGeom>
          <a:solidFill>
            <a:srgbClr val="EEEEEE"/>
          </a:solidFill>
          <a:ln>
            <a:noFill/>
          </a:ln>
        </p:spPr>
        <p:txBody>
          <a:bodyPr anchorCtr="0" anchor="ctr" bIns="29350" lIns="58625" spcFirstLastPara="1" rIns="58625" wrap="square" tIns="29350">
            <a:noAutofit/>
          </a:bodyPr>
          <a:lstStyle/>
          <a:p>
            <a:pPr indent="0" lvl="0" marL="0" marR="0" rtl="0" algn="l">
              <a:spcBef>
                <a:spcPts val="0"/>
              </a:spcBef>
              <a:spcAft>
                <a:spcPts val="0"/>
              </a:spcAft>
              <a:buNone/>
            </a:pPr>
            <a:r>
              <a:rPr lang="en" sz="1506">
                <a:solidFill>
                  <a:srgbClr val="000000"/>
                </a:solidFill>
                <a:latin typeface="Noto Sans Grantha"/>
                <a:ea typeface="Noto Sans Grantha"/>
                <a:cs typeface="Noto Sans Grantha"/>
                <a:sym typeface="Noto Sans Grantha"/>
              </a:rPr>
              <a:t>Gemini model family</a:t>
            </a:r>
            <a:endParaRPr sz="1506">
              <a:solidFill>
                <a:srgbClr val="000000"/>
              </a:solidFill>
              <a:latin typeface="Noto Sans Grantha"/>
              <a:ea typeface="Noto Sans Grantha"/>
              <a:cs typeface="Noto Sans Grantha"/>
              <a:sym typeface="Noto Sans Grantha"/>
            </a:endParaRPr>
          </a:p>
        </p:txBody>
      </p:sp>
      <p:sp>
        <p:nvSpPr>
          <p:cNvPr id="539" name="Google Shape;539;p39"/>
          <p:cNvSpPr/>
          <p:nvPr/>
        </p:nvSpPr>
        <p:spPr>
          <a:xfrm>
            <a:off x="4142371" y="2320744"/>
            <a:ext cx="1579500" cy="726600"/>
          </a:xfrm>
          <a:prstGeom prst="rect">
            <a:avLst/>
          </a:prstGeom>
          <a:solidFill>
            <a:srgbClr val="EEEEEE"/>
          </a:solidFill>
          <a:ln>
            <a:noFill/>
          </a:ln>
        </p:spPr>
        <p:txBody>
          <a:bodyPr anchorCtr="0" anchor="ctr" bIns="29350" lIns="58625" spcFirstLastPara="1" rIns="58625" wrap="square" tIns="29350">
            <a:noAutofit/>
          </a:bodyPr>
          <a:lstStyle/>
          <a:p>
            <a:pPr indent="0" lvl="0" marL="0" marR="0" rtl="0" algn="l">
              <a:spcBef>
                <a:spcPts val="0"/>
              </a:spcBef>
              <a:spcAft>
                <a:spcPts val="0"/>
              </a:spcAft>
              <a:buNone/>
            </a:pPr>
            <a:r>
              <a:rPr lang="en" sz="1506">
                <a:solidFill>
                  <a:srgbClr val="000000"/>
                </a:solidFill>
                <a:latin typeface="Noto Sans Grantha"/>
                <a:ea typeface="Noto Sans Grantha"/>
                <a:cs typeface="Noto Sans Grantha"/>
                <a:sym typeface="Noto Sans Grantha"/>
              </a:rPr>
              <a:t>RAG and fine-tuning</a:t>
            </a:r>
            <a:endParaRPr sz="1506">
              <a:solidFill>
                <a:srgbClr val="000000"/>
              </a:solidFill>
              <a:latin typeface="Noto Sans Grantha"/>
              <a:ea typeface="Noto Sans Grantha"/>
              <a:cs typeface="Noto Sans Grantha"/>
              <a:sym typeface="Noto Sans Grantha"/>
            </a:endParaRPr>
          </a:p>
        </p:txBody>
      </p:sp>
      <p:sp>
        <p:nvSpPr>
          <p:cNvPr id="540" name="Google Shape;540;p39"/>
          <p:cNvSpPr/>
          <p:nvPr/>
        </p:nvSpPr>
        <p:spPr>
          <a:xfrm>
            <a:off x="6650439" y="1221638"/>
            <a:ext cx="1579500" cy="726600"/>
          </a:xfrm>
          <a:prstGeom prst="rect">
            <a:avLst/>
          </a:prstGeom>
          <a:solidFill>
            <a:srgbClr val="EEEEEE"/>
          </a:solidFill>
          <a:ln>
            <a:noFill/>
          </a:ln>
        </p:spPr>
        <p:txBody>
          <a:bodyPr anchorCtr="0" anchor="ctr" bIns="29350" lIns="58625" spcFirstLastPara="1" rIns="58625" wrap="square" tIns="29350">
            <a:noAutofit/>
          </a:bodyPr>
          <a:lstStyle/>
          <a:p>
            <a:pPr indent="0" lvl="0" marL="0" marR="0" rtl="0" algn="l">
              <a:spcBef>
                <a:spcPts val="0"/>
              </a:spcBef>
              <a:spcAft>
                <a:spcPts val="0"/>
              </a:spcAft>
              <a:buNone/>
            </a:pPr>
            <a:r>
              <a:rPr lang="en" sz="1506">
                <a:solidFill>
                  <a:srgbClr val="000000"/>
                </a:solidFill>
                <a:latin typeface="Noto Sans Grantha"/>
                <a:ea typeface="Noto Sans Grantha"/>
                <a:cs typeface="Noto Sans Grantha"/>
                <a:sym typeface="Noto Sans Grantha"/>
              </a:rPr>
              <a:t>Large specialized group</a:t>
            </a:r>
            <a:endParaRPr sz="1506">
              <a:solidFill>
                <a:srgbClr val="000000"/>
              </a:solidFill>
              <a:latin typeface="Noto Sans Grantha"/>
              <a:ea typeface="Noto Sans Grantha"/>
              <a:cs typeface="Noto Sans Grantha"/>
              <a:sym typeface="Noto Sans Grantha"/>
            </a:endParaRPr>
          </a:p>
        </p:txBody>
      </p:sp>
      <p:sp>
        <p:nvSpPr>
          <p:cNvPr id="541" name="Google Shape;541;p39"/>
          <p:cNvSpPr/>
          <p:nvPr/>
        </p:nvSpPr>
        <p:spPr>
          <a:xfrm>
            <a:off x="6621509" y="2320761"/>
            <a:ext cx="1579500" cy="726600"/>
          </a:xfrm>
          <a:prstGeom prst="rect">
            <a:avLst/>
          </a:prstGeom>
          <a:solidFill>
            <a:srgbClr val="EEEEEE"/>
          </a:solidFill>
          <a:ln>
            <a:noFill/>
          </a:ln>
        </p:spPr>
        <p:txBody>
          <a:bodyPr anchorCtr="0" anchor="ctr" bIns="29350" lIns="58625" spcFirstLastPara="1" rIns="58625" wrap="square" tIns="29350">
            <a:noAutofit/>
          </a:bodyPr>
          <a:lstStyle/>
          <a:p>
            <a:pPr indent="0" lvl="0" marL="0" marR="0" rtl="0" algn="l">
              <a:spcBef>
                <a:spcPts val="0"/>
              </a:spcBef>
              <a:spcAft>
                <a:spcPts val="0"/>
              </a:spcAft>
              <a:buNone/>
            </a:pPr>
            <a:r>
              <a:rPr lang="en" sz="1506">
                <a:solidFill>
                  <a:srgbClr val="000000"/>
                </a:solidFill>
                <a:latin typeface="Noto Sans Grantha"/>
                <a:ea typeface="Noto Sans Grantha"/>
                <a:cs typeface="Noto Sans Grantha"/>
                <a:sym typeface="Noto Sans Grantha"/>
              </a:rPr>
              <a:t>Tiered release</a:t>
            </a:r>
            <a:endParaRPr sz="1506">
              <a:solidFill>
                <a:srgbClr val="000000"/>
              </a:solidFill>
              <a:latin typeface="Noto Sans Grantha"/>
              <a:ea typeface="Noto Sans Grantha"/>
              <a:cs typeface="Noto Sans Grantha"/>
              <a:sym typeface="Noto Sans Grantha"/>
            </a:endParaRPr>
          </a:p>
        </p:txBody>
      </p:sp>
      <p:sp>
        <p:nvSpPr>
          <p:cNvPr id="542" name="Google Shape;542;p39"/>
          <p:cNvSpPr/>
          <p:nvPr/>
        </p:nvSpPr>
        <p:spPr>
          <a:xfrm>
            <a:off x="4142381" y="1247811"/>
            <a:ext cx="1579500" cy="726600"/>
          </a:xfrm>
          <a:prstGeom prst="rect">
            <a:avLst/>
          </a:prstGeom>
          <a:solidFill>
            <a:srgbClr val="EEEEEE"/>
          </a:solidFill>
          <a:ln>
            <a:noFill/>
          </a:ln>
        </p:spPr>
        <p:txBody>
          <a:bodyPr anchorCtr="0" anchor="ctr" bIns="29350" lIns="58625" spcFirstLastPara="1" rIns="58625" wrap="square" tIns="29350">
            <a:noAutofit/>
          </a:bodyPr>
          <a:lstStyle/>
          <a:p>
            <a:pPr indent="0" lvl="0" marL="0" marR="0" rtl="0" algn="l">
              <a:spcBef>
                <a:spcPts val="0"/>
              </a:spcBef>
              <a:spcAft>
                <a:spcPts val="0"/>
              </a:spcAft>
              <a:buNone/>
            </a:pPr>
            <a:r>
              <a:rPr lang="en" sz="1506">
                <a:solidFill>
                  <a:srgbClr val="000000"/>
                </a:solidFill>
                <a:latin typeface="Noto Sans Grantha"/>
                <a:ea typeface="Noto Sans Grantha"/>
                <a:cs typeface="Noto Sans Grantha"/>
                <a:sym typeface="Noto Sans Grantha"/>
              </a:rPr>
              <a:t>Multiple internal and external sources</a:t>
            </a:r>
            <a:endParaRPr sz="1506">
              <a:solidFill>
                <a:srgbClr val="000000"/>
              </a:solidFill>
              <a:latin typeface="Noto Sans Grantha"/>
              <a:ea typeface="Noto Sans Grantha"/>
              <a:cs typeface="Noto Sans Grantha"/>
              <a:sym typeface="Noto Sans Grantha"/>
            </a:endParaRPr>
          </a:p>
        </p:txBody>
      </p:sp>
      <p:sp>
        <p:nvSpPr>
          <p:cNvPr id="543" name="Google Shape;543;p39"/>
          <p:cNvSpPr/>
          <p:nvPr/>
        </p:nvSpPr>
        <p:spPr>
          <a:xfrm>
            <a:off x="1770315" y="2354485"/>
            <a:ext cx="1579500" cy="726600"/>
          </a:xfrm>
          <a:prstGeom prst="rect">
            <a:avLst/>
          </a:prstGeom>
          <a:solidFill>
            <a:srgbClr val="EEEEEE"/>
          </a:solidFill>
          <a:ln>
            <a:noFill/>
          </a:ln>
        </p:spPr>
        <p:txBody>
          <a:bodyPr anchorCtr="0" anchor="ctr" bIns="29350" lIns="58625" spcFirstLastPara="1" rIns="58625" wrap="square" tIns="29350">
            <a:noAutofit/>
          </a:bodyPr>
          <a:lstStyle/>
          <a:p>
            <a:pPr indent="0" lvl="0" marL="0" marR="0" rtl="0" algn="l">
              <a:spcBef>
                <a:spcPts val="0"/>
              </a:spcBef>
              <a:spcAft>
                <a:spcPts val="0"/>
              </a:spcAft>
              <a:buNone/>
            </a:pPr>
            <a:r>
              <a:rPr lang="en" sz="1506">
                <a:solidFill>
                  <a:srgbClr val="000000"/>
                </a:solidFill>
                <a:latin typeface="Noto Sans Grantha"/>
                <a:ea typeface="Noto Sans Grantha"/>
                <a:cs typeface="Noto Sans Grantha"/>
                <a:sym typeface="Noto Sans Grantha"/>
              </a:rPr>
              <a:t>Multimodal, higher cost model</a:t>
            </a:r>
            <a:endParaRPr sz="1506">
              <a:solidFill>
                <a:srgbClr val="000000"/>
              </a:solidFill>
              <a:latin typeface="Noto Sans Grantha"/>
              <a:ea typeface="Noto Sans Grantha"/>
              <a:cs typeface="Noto Sans Grantha"/>
              <a:sym typeface="Noto Sans Grantha"/>
            </a:endParaRPr>
          </a:p>
        </p:txBody>
      </p:sp>
      <p:pic>
        <p:nvPicPr>
          <p:cNvPr id="544" name="Google Shape;544;p39"/>
          <p:cNvPicPr preferRelativeResize="0"/>
          <p:nvPr/>
        </p:nvPicPr>
        <p:blipFill>
          <a:blip r:embed="rId3">
            <a:alphaModFix/>
          </a:blip>
          <a:stretch>
            <a:fillRect/>
          </a:stretch>
        </p:blipFill>
        <p:spPr>
          <a:xfrm>
            <a:off x="1004312" y="1273939"/>
            <a:ext cx="726564" cy="726546"/>
          </a:xfrm>
          <a:prstGeom prst="rect">
            <a:avLst/>
          </a:prstGeom>
          <a:noFill/>
          <a:ln>
            <a:noFill/>
          </a:ln>
        </p:spPr>
      </p:pic>
      <p:pic>
        <p:nvPicPr>
          <p:cNvPr id="545" name="Google Shape;545;p39"/>
          <p:cNvPicPr preferRelativeResize="0"/>
          <p:nvPr/>
        </p:nvPicPr>
        <p:blipFill>
          <a:blip r:embed="rId4">
            <a:alphaModFix/>
          </a:blip>
          <a:stretch>
            <a:fillRect/>
          </a:stretch>
        </p:blipFill>
        <p:spPr>
          <a:xfrm>
            <a:off x="3367540" y="1271575"/>
            <a:ext cx="679007" cy="679007"/>
          </a:xfrm>
          <a:prstGeom prst="rect">
            <a:avLst/>
          </a:prstGeom>
          <a:noFill/>
          <a:ln>
            <a:noFill/>
          </a:ln>
        </p:spPr>
      </p:pic>
      <p:pic>
        <p:nvPicPr>
          <p:cNvPr id="546" name="Google Shape;546;p39"/>
          <p:cNvPicPr preferRelativeResize="0"/>
          <p:nvPr/>
        </p:nvPicPr>
        <p:blipFill>
          <a:blip r:embed="rId5">
            <a:alphaModFix/>
          </a:blip>
          <a:stretch>
            <a:fillRect/>
          </a:stretch>
        </p:blipFill>
        <p:spPr>
          <a:xfrm>
            <a:off x="3343758" y="2320720"/>
            <a:ext cx="726569" cy="726569"/>
          </a:xfrm>
          <a:prstGeom prst="rect">
            <a:avLst/>
          </a:prstGeom>
          <a:noFill/>
          <a:ln>
            <a:noFill/>
          </a:ln>
        </p:spPr>
      </p:pic>
      <p:pic>
        <p:nvPicPr>
          <p:cNvPr id="547" name="Google Shape;547;p39"/>
          <p:cNvPicPr preferRelativeResize="0"/>
          <p:nvPr/>
        </p:nvPicPr>
        <p:blipFill>
          <a:blip r:embed="rId6">
            <a:alphaModFix/>
          </a:blip>
          <a:stretch>
            <a:fillRect/>
          </a:stretch>
        </p:blipFill>
        <p:spPr>
          <a:xfrm>
            <a:off x="5860697" y="1273938"/>
            <a:ext cx="726569" cy="726569"/>
          </a:xfrm>
          <a:prstGeom prst="rect">
            <a:avLst/>
          </a:prstGeom>
          <a:noFill/>
          <a:ln>
            <a:noFill/>
          </a:ln>
        </p:spPr>
      </p:pic>
      <p:pic>
        <p:nvPicPr>
          <p:cNvPr id="548" name="Google Shape;548;p39"/>
          <p:cNvPicPr preferRelativeResize="0"/>
          <p:nvPr/>
        </p:nvPicPr>
        <p:blipFill>
          <a:blip r:embed="rId7">
            <a:alphaModFix/>
          </a:blip>
          <a:stretch>
            <a:fillRect/>
          </a:stretch>
        </p:blipFill>
        <p:spPr>
          <a:xfrm>
            <a:off x="5860697" y="2320744"/>
            <a:ext cx="726569" cy="726569"/>
          </a:xfrm>
          <a:prstGeom prst="rect">
            <a:avLst/>
          </a:prstGeom>
          <a:noFill/>
          <a:ln>
            <a:noFill/>
          </a:ln>
        </p:spPr>
      </p:pic>
      <p:pic>
        <p:nvPicPr>
          <p:cNvPr id="549" name="Google Shape;549;p39"/>
          <p:cNvPicPr preferRelativeResize="0"/>
          <p:nvPr/>
        </p:nvPicPr>
        <p:blipFill>
          <a:blip r:embed="rId8">
            <a:alphaModFix/>
          </a:blip>
          <a:stretch>
            <a:fillRect/>
          </a:stretch>
        </p:blipFill>
        <p:spPr>
          <a:xfrm>
            <a:off x="1023632" y="2371495"/>
            <a:ext cx="679007" cy="679007"/>
          </a:xfrm>
          <a:prstGeom prst="rect">
            <a:avLst/>
          </a:prstGeom>
          <a:noFill/>
          <a:ln>
            <a:noFill/>
          </a:ln>
        </p:spPr>
      </p:pic>
      <p:sp>
        <p:nvSpPr>
          <p:cNvPr id="550" name="Google Shape;550;p39"/>
          <p:cNvSpPr txBox="1"/>
          <p:nvPr/>
        </p:nvSpPr>
        <p:spPr>
          <a:xfrm>
            <a:off x="1082838" y="3391038"/>
            <a:ext cx="69783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Noto Sans Grantha"/>
                <a:ea typeface="Noto Sans Grantha"/>
                <a:cs typeface="Noto Sans Grantha"/>
                <a:sym typeface="Noto Sans Grantha"/>
              </a:rPr>
              <a:t>The selected concept prioritizes clinical accuracy, traceability, and safe deployment over minimum cost. Its added complexity is intentional: stronger models, richer evidence sources, specialized AI roles, and tiered release controls create a more reliable physician-facing interpretation system.</a:t>
            </a:r>
            <a:endParaRPr sz="1700">
              <a:latin typeface="Noto Sans Grantha"/>
              <a:ea typeface="Noto Sans Grantha"/>
              <a:cs typeface="Noto Sans Grantha"/>
              <a:sym typeface="Noto Sans Granth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0"/>
          <p:cNvSpPr txBox="1"/>
          <p:nvPr>
            <p:ph type="title"/>
          </p:nvPr>
        </p:nvSpPr>
        <p:spPr>
          <a:xfrm>
            <a:off x="1924050" y="2150850"/>
            <a:ext cx="69084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800">
                <a:solidFill>
                  <a:srgbClr val="67B4D4"/>
                </a:solidFill>
              </a:rPr>
              <a:t>Q&amp;A</a:t>
            </a:r>
            <a:endParaRPr sz="1800">
              <a:solidFill>
                <a:srgbClr val="67B4D4"/>
              </a:solidFill>
            </a:endParaRPr>
          </a:p>
        </p:txBody>
      </p:sp>
      <p:pic>
        <p:nvPicPr>
          <p:cNvPr id="556" name="Google Shape;556;p40" title="raise-your-hands.png"/>
          <p:cNvPicPr preferRelativeResize="0"/>
          <p:nvPr/>
        </p:nvPicPr>
        <p:blipFill>
          <a:blip r:embed="rId3">
            <a:alphaModFix/>
          </a:blip>
          <a:stretch>
            <a:fillRect/>
          </a:stretch>
        </p:blipFill>
        <p:spPr>
          <a:xfrm>
            <a:off x="6835875" y="3436050"/>
            <a:ext cx="1846051" cy="18460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8B4D4"/>
        </a:solidFill>
      </p:bgPr>
    </p:bg>
    <p:spTree>
      <p:nvGrpSpPr>
        <p:cNvPr id="560" name="Shape 560"/>
        <p:cNvGrpSpPr/>
        <p:nvPr/>
      </p:nvGrpSpPr>
      <p:grpSpPr>
        <a:xfrm>
          <a:off x="0" y="0"/>
          <a:ext cx="0" cy="0"/>
          <a:chOff x="0" y="0"/>
          <a:chExt cx="0" cy="0"/>
        </a:xfrm>
      </p:grpSpPr>
      <p:sp>
        <p:nvSpPr>
          <p:cNvPr id="561" name="Google Shape;561;p41"/>
          <p:cNvSpPr txBox="1"/>
          <p:nvPr/>
        </p:nvSpPr>
        <p:spPr>
          <a:xfrm>
            <a:off x="1082838" y="2217738"/>
            <a:ext cx="69783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lt1"/>
                </a:solidFill>
                <a:latin typeface="Noto Sans Grantha"/>
                <a:ea typeface="Noto Sans Grantha"/>
                <a:cs typeface="Noto Sans Grantha"/>
                <a:sym typeface="Noto Sans Grantha"/>
              </a:rPr>
              <a:t>Thank you to our sponsor Dr. Garcia, Mayo Clinic, MITsdm, MIT commlab, our TA project Angela Tomczik and advisor Eric Rebentisch, and all the MITsdm TAs and advisors who provided valued insights and feedback during this project.</a:t>
            </a:r>
            <a:endParaRPr sz="1700">
              <a:solidFill>
                <a:schemeClr val="lt1"/>
              </a:solidFill>
              <a:latin typeface="Noto Sans Grantha"/>
              <a:ea typeface="Noto Sans Grantha"/>
              <a:cs typeface="Noto Sans Grantha"/>
              <a:sym typeface="Noto Sans Grantha"/>
            </a:endParaRPr>
          </a:p>
        </p:txBody>
      </p:sp>
      <p:pic>
        <p:nvPicPr>
          <p:cNvPr id="562" name="Google Shape;562;p41" title="mit.png"/>
          <p:cNvPicPr preferRelativeResize="0"/>
          <p:nvPr/>
        </p:nvPicPr>
        <p:blipFill>
          <a:blip r:embed="rId3">
            <a:alphaModFix amt="70000"/>
          </a:blip>
          <a:stretch>
            <a:fillRect/>
          </a:stretch>
        </p:blipFill>
        <p:spPr>
          <a:xfrm>
            <a:off x="189751" y="4378569"/>
            <a:ext cx="1639800" cy="618179"/>
          </a:xfrm>
          <a:prstGeom prst="rect">
            <a:avLst/>
          </a:prstGeom>
          <a:noFill/>
          <a:ln>
            <a:noFill/>
          </a:ln>
        </p:spPr>
      </p:pic>
      <p:pic>
        <p:nvPicPr>
          <p:cNvPr id="563" name="Google Shape;563;p41" title="MCL_white.png"/>
          <p:cNvPicPr preferRelativeResize="0"/>
          <p:nvPr/>
        </p:nvPicPr>
        <p:blipFill>
          <a:blip r:embed="rId4">
            <a:alphaModFix amt="70000"/>
          </a:blip>
          <a:stretch>
            <a:fillRect/>
          </a:stretch>
        </p:blipFill>
        <p:spPr>
          <a:xfrm>
            <a:off x="6809769" y="4443762"/>
            <a:ext cx="2077659" cy="487800"/>
          </a:xfrm>
          <a:prstGeom prst="rect">
            <a:avLst/>
          </a:prstGeom>
          <a:noFill/>
          <a:ln>
            <a:noFill/>
          </a:ln>
        </p:spPr>
      </p:pic>
      <p:sp>
        <p:nvSpPr>
          <p:cNvPr id="564" name="Google Shape;564;p41"/>
          <p:cNvSpPr txBox="1"/>
          <p:nvPr>
            <p:ph idx="4294967295" type="title"/>
          </p:nvPr>
        </p:nvSpPr>
        <p:spPr>
          <a:xfrm>
            <a:off x="311700" y="715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61111"/>
              <a:buFont typeface="Arial"/>
              <a:buNone/>
            </a:pPr>
            <a:r>
              <a:rPr lang="en" sz="1800">
                <a:solidFill>
                  <a:schemeClr val="lt1"/>
                </a:solidFill>
                <a:latin typeface="Noto Sans Grantha"/>
                <a:ea typeface="Noto Sans Grantha"/>
                <a:cs typeface="Noto Sans Grantha"/>
                <a:sym typeface="Noto Sans Grantha"/>
              </a:rPr>
              <a:t>Acknowledgements</a:t>
            </a:r>
            <a:endParaRPr sz="1800">
              <a:solidFill>
                <a:schemeClr val="lt1"/>
              </a:solidFill>
              <a:latin typeface="Noto Sans Grantha"/>
              <a:ea typeface="Noto Sans Grantha"/>
              <a:cs typeface="Noto Sans Grantha"/>
              <a:sym typeface="Noto Sans Grantha"/>
            </a:endParaRPr>
          </a:p>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8" name="Shape 568"/>
        <p:cNvGrpSpPr/>
        <p:nvPr/>
      </p:nvGrpSpPr>
      <p:grpSpPr>
        <a:xfrm>
          <a:off x="0" y="0"/>
          <a:ext cx="0" cy="0"/>
          <a:chOff x="0" y="0"/>
          <a:chExt cx="0" cy="0"/>
        </a:xfrm>
      </p:grpSpPr>
      <p:sp>
        <p:nvSpPr>
          <p:cNvPr id="569" name="Google Shape;569;p42"/>
          <p:cNvSpPr txBox="1"/>
          <p:nvPr/>
        </p:nvSpPr>
        <p:spPr>
          <a:xfrm>
            <a:off x="2349600" y="2340900"/>
            <a:ext cx="4444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E65454"/>
                </a:solidFill>
                <a:latin typeface="Noto Sans Grantha"/>
                <a:ea typeface="Noto Sans Grantha"/>
                <a:cs typeface="Noto Sans Grantha"/>
                <a:sym typeface="Noto Sans Grantha"/>
              </a:rPr>
              <a:t>Appendix</a:t>
            </a:r>
            <a:endParaRPr sz="1800">
              <a:solidFill>
                <a:srgbClr val="E65454"/>
              </a:solidFill>
              <a:latin typeface="Noto Sans Grantha"/>
              <a:ea typeface="Noto Sans Grantha"/>
              <a:cs typeface="Noto Sans Grantha"/>
              <a:sym typeface="Noto Sans Grantha"/>
            </a:endParaRPr>
          </a:p>
        </p:txBody>
      </p:sp>
      <p:pic>
        <p:nvPicPr>
          <p:cNvPr id="570" name="Google Shape;570;p42" title="encyclopedia.png"/>
          <p:cNvPicPr preferRelativeResize="0"/>
          <p:nvPr/>
        </p:nvPicPr>
        <p:blipFill>
          <a:blip r:embed="rId3">
            <a:alphaModFix/>
          </a:blip>
          <a:stretch>
            <a:fillRect/>
          </a:stretch>
        </p:blipFill>
        <p:spPr>
          <a:xfrm>
            <a:off x="2716450" y="2031388"/>
            <a:ext cx="1080724" cy="10807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3"/>
          <p:cNvSpPr/>
          <p:nvPr/>
        </p:nvSpPr>
        <p:spPr>
          <a:xfrm>
            <a:off x="0" y="-40025"/>
            <a:ext cx="452400" cy="5183400"/>
          </a:xfrm>
          <a:prstGeom prst="rect">
            <a:avLst/>
          </a:prstGeom>
          <a:solidFill>
            <a:srgbClr val="68B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Noto Sans Grantha"/>
              <a:ea typeface="Noto Sans Grantha"/>
              <a:cs typeface="Noto Sans Grantha"/>
              <a:sym typeface="Noto Sans Grantha"/>
            </a:endParaRPr>
          </a:p>
        </p:txBody>
      </p:sp>
      <p:sp>
        <p:nvSpPr>
          <p:cNvPr id="576" name="Google Shape;576;p43"/>
          <p:cNvSpPr txBox="1"/>
          <p:nvPr>
            <p:ph type="title"/>
          </p:nvPr>
        </p:nvSpPr>
        <p:spPr>
          <a:xfrm>
            <a:off x="481850" y="17387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120">
                <a:latin typeface="Noto Sans Grantha"/>
                <a:ea typeface="Noto Sans Grantha"/>
                <a:cs typeface="Noto Sans Grantha"/>
                <a:sym typeface="Noto Sans Grantha"/>
              </a:rPr>
              <a:t>How do we architecture AI to fulfill this role?</a:t>
            </a:r>
            <a:endParaRPr sz="2420">
              <a:latin typeface="Noto Sans Grantha"/>
              <a:ea typeface="Noto Sans Grantha"/>
              <a:cs typeface="Noto Sans Grantha"/>
              <a:sym typeface="Noto Sans Grantha"/>
            </a:endParaRPr>
          </a:p>
        </p:txBody>
      </p:sp>
      <p:sp>
        <p:nvSpPr>
          <p:cNvPr id="577" name="Google Shape;577;p43"/>
          <p:cNvSpPr/>
          <p:nvPr/>
        </p:nvSpPr>
        <p:spPr>
          <a:xfrm>
            <a:off x="568145" y="977975"/>
            <a:ext cx="755400" cy="3941400"/>
          </a:xfrm>
          <a:prstGeom prst="downArrow">
            <a:avLst>
              <a:gd fmla="val 50000" name="adj1"/>
              <a:gd fmla="val 50000" name="adj2"/>
            </a:avLst>
          </a:prstGeom>
          <a:solidFill>
            <a:srgbClr val="E85453"/>
          </a:solidFill>
          <a:ln>
            <a:noFill/>
          </a:ln>
        </p:spPr>
        <p:txBody>
          <a:bodyPr anchorCtr="0" anchor="ctr" bIns="62475" lIns="62475" spcFirstLastPara="1" rIns="62475" wrap="square" tIns="62475">
            <a:noAutofit/>
          </a:bodyPr>
          <a:lstStyle/>
          <a:p>
            <a:pPr indent="0" lvl="0" marL="0" rtl="0" algn="ctr">
              <a:spcBef>
                <a:spcPts val="0"/>
              </a:spcBef>
              <a:spcAft>
                <a:spcPts val="0"/>
              </a:spcAft>
              <a:buNone/>
            </a:pPr>
            <a:r>
              <a:t/>
            </a:r>
            <a:endParaRPr sz="1604"/>
          </a:p>
        </p:txBody>
      </p:sp>
      <p:grpSp>
        <p:nvGrpSpPr>
          <p:cNvPr id="578" name="Google Shape;578;p43"/>
          <p:cNvGrpSpPr/>
          <p:nvPr/>
        </p:nvGrpSpPr>
        <p:grpSpPr>
          <a:xfrm>
            <a:off x="955311" y="651325"/>
            <a:ext cx="4480619" cy="668411"/>
            <a:chOff x="1651406" y="3"/>
            <a:chExt cx="6764219" cy="805897"/>
          </a:xfrm>
        </p:grpSpPr>
        <p:grpSp>
          <p:nvGrpSpPr>
            <p:cNvPr id="579" name="Google Shape;579;p43"/>
            <p:cNvGrpSpPr/>
            <p:nvPr/>
          </p:nvGrpSpPr>
          <p:grpSpPr>
            <a:xfrm>
              <a:off x="1651406" y="3"/>
              <a:ext cx="4423813" cy="639000"/>
              <a:chOff x="1651406" y="3"/>
              <a:chExt cx="4423813" cy="639000"/>
            </a:xfrm>
          </p:grpSpPr>
          <p:sp>
            <p:nvSpPr>
              <p:cNvPr id="580" name="Google Shape;580;p43"/>
              <p:cNvSpPr/>
              <p:nvPr/>
            </p:nvSpPr>
            <p:spPr>
              <a:xfrm>
                <a:off x="1651406" y="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Identity</a:t>
                </a:r>
                <a:endParaRPr sz="1604">
                  <a:solidFill>
                    <a:srgbClr val="FFFFFF"/>
                  </a:solidFill>
                  <a:latin typeface="Proxima Nova"/>
                  <a:ea typeface="Proxima Nova"/>
                  <a:cs typeface="Proxima Nova"/>
                  <a:sym typeface="Proxima Nova"/>
                </a:endParaRPr>
              </a:p>
            </p:txBody>
          </p:sp>
          <p:sp>
            <p:nvSpPr>
              <p:cNvPr id="581" name="Google Shape;581;p43"/>
              <p:cNvSpPr/>
              <p:nvPr/>
            </p:nvSpPr>
            <p:spPr>
              <a:xfrm>
                <a:off x="3932019" y="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Private Health Information</a:t>
                </a:r>
                <a:endParaRPr sz="1604">
                  <a:solidFill>
                    <a:srgbClr val="FFFFFF"/>
                  </a:solidFill>
                  <a:latin typeface="Proxima Nova"/>
                  <a:ea typeface="Proxima Nova"/>
                  <a:cs typeface="Proxima Nova"/>
                  <a:sym typeface="Proxima Nova"/>
                </a:endParaRPr>
              </a:p>
            </p:txBody>
          </p:sp>
        </p:grpSp>
        <p:sp>
          <p:nvSpPr>
            <p:cNvPr id="582" name="Google Shape;582;p43"/>
            <p:cNvSpPr txBox="1"/>
            <p:nvPr/>
          </p:nvSpPr>
          <p:spPr>
            <a:xfrm>
              <a:off x="6272425" y="58300"/>
              <a:ext cx="2143200" cy="747600"/>
            </a:xfrm>
            <a:prstGeom prst="rect">
              <a:avLst/>
            </a:prstGeom>
            <a:noFill/>
            <a:ln>
              <a:noFill/>
            </a:ln>
          </p:spPr>
          <p:txBody>
            <a:bodyPr anchorCtr="0" anchor="t" bIns="62475" lIns="62475" spcFirstLastPara="1" rIns="62475" wrap="square" tIns="62475">
              <a:spAutoFit/>
            </a:bodyPr>
            <a:lstStyle/>
            <a:p>
              <a:pPr indent="0" lvl="0" marL="0" rtl="0" algn="l">
                <a:spcBef>
                  <a:spcPts val="0"/>
                </a:spcBef>
                <a:spcAft>
                  <a:spcPts val="0"/>
                </a:spcAft>
                <a:buNone/>
              </a:pPr>
              <a:r>
                <a:rPr lang="en" sz="1604">
                  <a:solidFill>
                    <a:srgbClr val="E85453"/>
                  </a:solidFill>
                  <a:latin typeface="Proxima Nova"/>
                  <a:ea typeface="Proxima Nova"/>
                  <a:cs typeface="Proxima Nova"/>
                  <a:sym typeface="Proxima Nova"/>
                </a:rPr>
                <a:t>Trust Boundary</a:t>
              </a:r>
              <a:endParaRPr sz="1604">
                <a:solidFill>
                  <a:srgbClr val="E85453"/>
                </a:solidFill>
                <a:latin typeface="Proxima Nova"/>
                <a:ea typeface="Proxima Nova"/>
                <a:cs typeface="Proxima Nova"/>
                <a:sym typeface="Proxima Nova"/>
              </a:endParaRPr>
            </a:p>
          </p:txBody>
        </p:sp>
      </p:grpSp>
      <p:grpSp>
        <p:nvGrpSpPr>
          <p:cNvPr id="583" name="Google Shape;583;p43"/>
          <p:cNvGrpSpPr/>
          <p:nvPr/>
        </p:nvGrpSpPr>
        <p:grpSpPr>
          <a:xfrm>
            <a:off x="955311" y="1449954"/>
            <a:ext cx="7460127" cy="529987"/>
            <a:chOff x="1651406" y="962903"/>
            <a:chExt cx="11262269" cy="639000"/>
          </a:xfrm>
        </p:grpSpPr>
        <p:grpSp>
          <p:nvGrpSpPr>
            <p:cNvPr id="584" name="Google Shape;584;p43"/>
            <p:cNvGrpSpPr/>
            <p:nvPr/>
          </p:nvGrpSpPr>
          <p:grpSpPr>
            <a:xfrm>
              <a:off x="1651406" y="962903"/>
              <a:ext cx="8896256" cy="639000"/>
              <a:chOff x="1651406" y="962903"/>
              <a:chExt cx="8896256" cy="639000"/>
            </a:xfrm>
          </p:grpSpPr>
          <p:sp>
            <p:nvSpPr>
              <p:cNvPr id="585" name="Google Shape;585;p43"/>
              <p:cNvSpPr/>
              <p:nvPr/>
            </p:nvSpPr>
            <p:spPr>
              <a:xfrm>
                <a:off x="1651406" y="9629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Result</a:t>
                </a:r>
                <a:endParaRPr sz="1604">
                  <a:solidFill>
                    <a:srgbClr val="FFFFFF"/>
                  </a:solidFill>
                  <a:latin typeface="Proxima Nova"/>
                  <a:ea typeface="Proxima Nova"/>
                  <a:cs typeface="Proxima Nova"/>
                  <a:sym typeface="Proxima Nova"/>
                </a:endParaRPr>
              </a:p>
            </p:txBody>
          </p:sp>
          <p:sp>
            <p:nvSpPr>
              <p:cNvPr id="586" name="Google Shape;586;p43"/>
              <p:cNvSpPr/>
              <p:nvPr/>
            </p:nvSpPr>
            <p:spPr>
              <a:xfrm>
                <a:off x="3932019" y="9629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Patient Context</a:t>
                </a:r>
                <a:endParaRPr sz="1604">
                  <a:solidFill>
                    <a:srgbClr val="FFFFFF"/>
                  </a:solidFill>
                  <a:latin typeface="Proxima Nova"/>
                  <a:ea typeface="Proxima Nova"/>
                  <a:cs typeface="Proxima Nova"/>
                  <a:sym typeface="Proxima Nova"/>
                </a:endParaRPr>
              </a:p>
            </p:txBody>
          </p:sp>
          <p:sp>
            <p:nvSpPr>
              <p:cNvPr id="587" name="Google Shape;587;p43"/>
              <p:cNvSpPr/>
              <p:nvPr/>
            </p:nvSpPr>
            <p:spPr>
              <a:xfrm>
                <a:off x="6171000" y="9629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Prior History</a:t>
                </a:r>
                <a:endParaRPr sz="1604">
                  <a:solidFill>
                    <a:srgbClr val="FFFFFF"/>
                  </a:solidFill>
                  <a:latin typeface="Proxima Nova"/>
                  <a:ea typeface="Proxima Nova"/>
                  <a:cs typeface="Proxima Nova"/>
                  <a:sym typeface="Proxima Nova"/>
                </a:endParaRPr>
              </a:p>
            </p:txBody>
          </p:sp>
          <p:sp>
            <p:nvSpPr>
              <p:cNvPr id="588" name="Google Shape;588;p43"/>
              <p:cNvSpPr/>
              <p:nvPr/>
            </p:nvSpPr>
            <p:spPr>
              <a:xfrm>
                <a:off x="8404463" y="9629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Abnormal Patterns</a:t>
                </a:r>
                <a:endParaRPr sz="1604">
                  <a:solidFill>
                    <a:srgbClr val="FFFFFF"/>
                  </a:solidFill>
                  <a:latin typeface="Proxima Nova"/>
                  <a:ea typeface="Proxima Nova"/>
                  <a:cs typeface="Proxima Nova"/>
                  <a:sym typeface="Proxima Nova"/>
                </a:endParaRPr>
              </a:p>
            </p:txBody>
          </p:sp>
        </p:grpSp>
        <p:sp>
          <p:nvSpPr>
            <p:cNvPr id="589" name="Google Shape;589;p43"/>
            <p:cNvSpPr txBox="1"/>
            <p:nvPr/>
          </p:nvSpPr>
          <p:spPr>
            <a:xfrm>
              <a:off x="10770475" y="1013000"/>
              <a:ext cx="2143200" cy="450000"/>
            </a:xfrm>
            <a:prstGeom prst="rect">
              <a:avLst/>
            </a:prstGeom>
            <a:noFill/>
            <a:ln>
              <a:noFill/>
            </a:ln>
          </p:spPr>
          <p:txBody>
            <a:bodyPr anchorCtr="0" anchor="t" bIns="62475" lIns="62475" spcFirstLastPara="1" rIns="62475" wrap="square" tIns="62475">
              <a:spAutoFit/>
            </a:bodyPr>
            <a:lstStyle/>
            <a:p>
              <a:pPr indent="0" lvl="0" marL="0" rtl="0" algn="l">
                <a:spcBef>
                  <a:spcPts val="0"/>
                </a:spcBef>
                <a:spcAft>
                  <a:spcPts val="0"/>
                </a:spcAft>
                <a:buNone/>
              </a:pPr>
              <a:r>
                <a:rPr lang="en" sz="1604">
                  <a:solidFill>
                    <a:srgbClr val="E85453"/>
                  </a:solidFill>
                  <a:latin typeface="Proxima Nova"/>
                  <a:ea typeface="Proxima Nova"/>
                  <a:cs typeface="Proxima Nova"/>
                  <a:sym typeface="Proxima Nova"/>
                </a:rPr>
                <a:t>Case Framing</a:t>
              </a:r>
              <a:endParaRPr sz="1604">
                <a:solidFill>
                  <a:srgbClr val="E85453"/>
                </a:solidFill>
                <a:latin typeface="Proxima Nova"/>
                <a:ea typeface="Proxima Nova"/>
                <a:cs typeface="Proxima Nova"/>
                <a:sym typeface="Proxima Nova"/>
              </a:endParaRPr>
            </a:p>
          </p:txBody>
        </p:sp>
      </p:grpSp>
      <p:grpSp>
        <p:nvGrpSpPr>
          <p:cNvPr id="590" name="Google Shape;590;p43"/>
          <p:cNvGrpSpPr/>
          <p:nvPr/>
        </p:nvGrpSpPr>
        <p:grpSpPr>
          <a:xfrm>
            <a:off x="955311" y="2212172"/>
            <a:ext cx="5974530" cy="620059"/>
            <a:chOff x="1651406" y="1881901"/>
            <a:chExt cx="9019521" cy="747600"/>
          </a:xfrm>
        </p:grpSpPr>
        <p:grpSp>
          <p:nvGrpSpPr>
            <p:cNvPr id="591" name="Google Shape;591;p43"/>
            <p:cNvGrpSpPr/>
            <p:nvPr/>
          </p:nvGrpSpPr>
          <p:grpSpPr>
            <a:xfrm>
              <a:off x="1651406" y="1917578"/>
              <a:ext cx="6662794" cy="639000"/>
              <a:chOff x="1651406" y="1917578"/>
              <a:chExt cx="6662794" cy="639000"/>
            </a:xfrm>
          </p:grpSpPr>
          <p:sp>
            <p:nvSpPr>
              <p:cNvPr id="592" name="Google Shape;592;p43"/>
              <p:cNvSpPr/>
              <p:nvPr/>
            </p:nvSpPr>
            <p:spPr>
              <a:xfrm>
                <a:off x="1651406" y="1917578"/>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Mayo Clinical Knowledge</a:t>
                </a:r>
                <a:endParaRPr sz="1604">
                  <a:solidFill>
                    <a:srgbClr val="FFFFFF"/>
                  </a:solidFill>
                  <a:latin typeface="Proxima Nova"/>
                  <a:ea typeface="Proxima Nova"/>
                  <a:cs typeface="Proxima Nova"/>
                  <a:sym typeface="Proxima Nova"/>
                </a:endParaRPr>
              </a:p>
            </p:txBody>
          </p:sp>
          <p:sp>
            <p:nvSpPr>
              <p:cNvPr id="593" name="Google Shape;593;p43"/>
              <p:cNvSpPr/>
              <p:nvPr/>
            </p:nvSpPr>
            <p:spPr>
              <a:xfrm>
                <a:off x="3932019" y="1917578"/>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Research Evidence</a:t>
                </a:r>
                <a:endParaRPr sz="1604">
                  <a:solidFill>
                    <a:srgbClr val="FFFFFF"/>
                  </a:solidFill>
                  <a:latin typeface="Proxima Nova"/>
                  <a:ea typeface="Proxima Nova"/>
                  <a:cs typeface="Proxima Nova"/>
                  <a:sym typeface="Proxima Nova"/>
                </a:endParaRPr>
              </a:p>
            </p:txBody>
          </p:sp>
          <p:sp>
            <p:nvSpPr>
              <p:cNvPr id="594" name="Google Shape;594;p43"/>
              <p:cNvSpPr/>
              <p:nvPr/>
            </p:nvSpPr>
            <p:spPr>
              <a:xfrm>
                <a:off x="6171000" y="1917578"/>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Guidelines</a:t>
                </a:r>
                <a:endParaRPr sz="1604">
                  <a:solidFill>
                    <a:srgbClr val="FFFFFF"/>
                  </a:solidFill>
                  <a:latin typeface="Proxima Nova"/>
                  <a:ea typeface="Proxima Nova"/>
                  <a:cs typeface="Proxima Nova"/>
                  <a:sym typeface="Proxima Nova"/>
                </a:endParaRPr>
              </a:p>
            </p:txBody>
          </p:sp>
        </p:grpSp>
        <p:sp>
          <p:nvSpPr>
            <p:cNvPr id="595" name="Google Shape;595;p43"/>
            <p:cNvSpPr txBox="1"/>
            <p:nvPr/>
          </p:nvSpPr>
          <p:spPr>
            <a:xfrm>
              <a:off x="8527727" y="1881901"/>
              <a:ext cx="2143200" cy="747600"/>
            </a:xfrm>
            <a:prstGeom prst="rect">
              <a:avLst/>
            </a:prstGeom>
            <a:noFill/>
            <a:ln>
              <a:noFill/>
            </a:ln>
          </p:spPr>
          <p:txBody>
            <a:bodyPr anchorCtr="0" anchor="t" bIns="62475" lIns="62475" spcFirstLastPara="1" rIns="62475" wrap="square" tIns="62475">
              <a:spAutoFit/>
            </a:bodyPr>
            <a:lstStyle/>
            <a:p>
              <a:pPr indent="0" lvl="0" marL="0" rtl="0" algn="l">
                <a:spcBef>
                  <a:spcPts val="0"/>
                </a:spcBef>
                <a:spcAft>
                  <a:spcPts val="0"/>
                </a:spcAft>
                <a:buNone/>
              </a:pPr>
              <a:r>
                <a:rPr lang="en" sz="1604">
                  <a:solidFill>
                    <a:srgbClr val="E85453"/>
                  </a:solidFill>
                  <a:latin typeface="Proxima Nova"/>
                  <a:ea typeface="Proxima Nova"/>
                  <a:cs typeface="Proxima Nova"/>
                  <a:sym typeface="Proxima Nova"/>
                </a:rPr>
                <a:t>Evidence Base</a:t>
              </a:r>
              <a:endParaRPr sz="1604">
                <a:solidFill>
                  <a:srgbClr val="E85453"/>
                </a:solidFill>
                <a:latin typeface="Proxima Nova"/>
                <a:ea typeface="Proxima Nova"/>
                <a:cs typeface="Proxima Nova"/>
                <a:sym typeface="Proxima Nova"/>
              </a:endParaRPr>
            </a:p>
          </p:txBody>
        </p:sp>
      </p:grpSp>
      <p:grpSp>
        <p:nvGrpSpPr>
          <p:cNvPr id="596" name="Google Shape;596;p43"/>
          <p:cNvGrpSpPr/>
          <p:nvPr/>
        </p:nvGrpSpPr>
        <p:grpSpPr>
          <a:xfrm>
            <a:off x="955311" y="2985794"/>
            <a:ext cx="6325237" cy="620059"/>
            <a:chOff x="1651406" y="2814650"/>
            <a:chExt cx="9548969" cy="747600"/>
          </a:xfrm>
        </p:grpSpPr>
        <p:grpSp>
          <p:nvGrpSpPr>
            <p:cNvPr id="597" name="Google Shape;597;p43"/>
            <p:cNvGrpSpPr/>
            <p:nvPr/>
          </p:nvGrpSpPr>
          <p:grpSpPr>
            <a:xfrm>
              <a:off x="1651406" y="2832503"/>
              <a:ext cx="6662794" cy="639000"/>
              <a:chOff x="1651406" y="2832503"/>
              <a:chExt cx="6662794" cy="639000"/>
            </a:xfrm>
          </p:grpSpPr>
          <p:sp>
            <p:nvSpPr>
              <p:cNvPr id="598" name="Google Shape;598;p43"/>
              <p:cNvSpPr/>
              <p:nvPr/>
            </p:nvSpPr>
            <p:spPr>
              <a:xfrm>
                <a:off x="1651406" y="28325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Specialist Roles</a:t>
                </a:r>
                <a:endParaRPr sz="1604">
                  <a:solidFill>
                    <a:srgbClr val="FFFFFF"/>
                  </a:solidFill>
                  <a:latin typeface="Proxima Nova"/>
                  <a:ea typeface="Proxima Nova"/>
                  <a:cs typeface="Proxima Nova"/>
                  <a:sym typeface="Proxima Nova"/>
                </a:endParaRPr>
              </a:p>
            </p:txBody>
          </p:sp>
          <p:sp>
            <p:nvSpPr>
              <p:cNvPr id="599" name="Google Shape;599;p43"/>
              <p:cNvSpPr/>
              <p:nvPr/>
            </p:nvSpPr>
            <p:spPr>
              <a:xfrm>
                <a:off x="3932019" y="28325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Synthesis</a:t>
                </a:r>
                <a:endParaRPr sz="1604">
                  <a:solidFill>
                    <a:srgbClr val="FFFFFF"/>
                  </a:solidFill>
                  <a:latin typeface="Proxima Nova"/>
                  <a:ea typeface="Proxima Nova"/>
                  <a:cs typeface="Proxima Nova"/>
                  <a:sym typeface="Proxima Nova"/>
                </a:endParaRPr>
              </a:p>
            </p:txBody>
          </p:sp>
          <p:sp>
            <p:nvSpPr>
              <p:cNvPr id="600" name="Google Shape;600;p43"/>
              <p:cNvSpPr/>
              <p:nvPr/>
            </p:nvSpPr>
            <p:spPr>
              <a:xfrm>
                <a:off x="6171000" y="28325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Prior Reconciliation</a:t>
                </a:r>
                <a:endParaRPr sz="1604">
                  <a:solidFill>
                    <a:srgbClr val="FFFFFF"/>
                  </a:solidFill>
                  <a:latin typeface="Proxima Nova"/>
                  <a:ea typeface="Proxima Nova"/>
                  <a:cs typeface="Proxima Nova"/>
                  <a:sym typeface="Proxima Nova"/>
                </a:endParaRPr>
              </a:p>
            </p:txBody>
          </p:sp>
        </p:grpSp>
        <p:sp>
          <p:nvSpPr>
            <p:cNvPr id="601" name="Google Shape;601;p43"/>
            <p:cNvSpPr txBox="1"/>
            <p:nvPr/>
          </p:nvSpPr>
          <p:spPr>
            <a:xfrm>
              <a:off x="8560375" y="2814650"/>
              <a:ext cx="2640000" cy="747600"/>
            </a:xfrm>
            <a:prstGeom prst="rect">
              <a:avLst/>
            </a:prstGeom>
            <a:noFill/>
            <a:ln>
              <a:noFill/>
            </a:ln>
          </p:spPr>
          <p:txBody>
            <a:bodyPr anchorCtr="0" anchor="t" bIns="62475" lIns="62475" spcFirstLastPara="1" rIns="62475" wrap="square" tIns="62475">
              <a:spAutoFit/>
            </a:bodyPr>
            <a:lstStyle/>
            <a:p>
              <a:pPr indent="0" lvl="0" marL="0" rtl="0" algn="l">
                <a:spcBef>
                  <a:spcPts val="0"/>
                </a:spcBef>
                <a:spcAft>
                  <a:spcPts val="0"/>
                </a:spcAft>
                <a:buNone/>
              </a:pPr>
              <a:r>
                <a:rPr lang="en" sz="1604">
                  <a:solidFill>
                    <a:srgbClr val="E85453"/>
                  </a:solidFill>
                  <a:latin typeface="Proxima Nova"/>
                  <a:ea typeface="Proxima Nova"/>
                  <a:cs typeface="Proxima Nova"/>
                  <a:sym typeface="Proxima Nova"/>
                </a:rPr>
                <a:t>Interpretation Core</a:t>
              </a:r>
              <a:endParaRPr sz="1604">
                <a:solidFill>
                  <a:srgbClr val="E85453"/>
                </a:solidFill>
                <a:latin typeface="Proxima Nova"/>
                <a:ea typeface="Proxima Nova"/>
                <a:cs typeface="Proxima Nova"/>
                <a:sym typeface="Proxima Nova"/>
              </a:endParaRPr>
            </a:p>
          </p:txBody>
        </p:sp>
      </p:grpSp>
      <p:grpSp>
        <p:nvGrpSpPr>
          <p:cNvPr id="602" name="Google Shape;602;p43"/>
          <p:cNvGrpSpPr/>
          <p:nvPr/>
        </p:nvGrpSpPr>
        <p:grpSpPr>
          <a:xfrm>
            <a:off x="955311" y="3759419"/>
            <a:ext cx="7460127" cy="661610"/>
            <a:chOff x="1651406" y="3747403"/>
            <a:chExt cx="11262269" cy="797697"/>
          </a:xfrm>
        </p:grpSpPr>
        <p:grpSp>
          <p:nvGrpSpPr>
            <p:cNvPr id="603" name="Google Shape;603;p43"/>
            <p:cNvGrpSpPr/>
            <p:nvPr/>
          </p:nvGrpSpPr>
          <p:grpSpPr>
            <a:xfrm>
              <a:off x="1651406" y="3747403"/>
              <a:ext cx="8896256" cy="639000"/>
              <a:chOff x="1651406" y="3747403"/>
              <a:chExt cx="8896256" cy="639000"/>
            </a:xfrm>
          </p:grpSpPr>
          <p:sp>
            <p:nvSpPr>
              <p:cNvPr id="604" name="Google Shape;604;p43"/>
              <p:cNvSpPr/>
              <p:nvPr/>
            </p:nvSpPr>
            <p:spPr>
              <a:xfrm>
                <a:off x="1651406" y="37474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Traceability</a:t>
                </a:r>
                <a:endParaRPr sz="1604">
                  <a:solidFill>
                    <a:srgbClr val="FFFFFF"/>
                  </a:solidFill>
                  <a:latin typeface="Proxima Nova"/>
                  <a:ea typeface="Proxima Nova"/>
                  <a:cs typeface="Proxima Nova"/>
                  <a:sym typeface="Proxima Nova"/>
                </a:endParaRPr>
              </a:p>
            </p:txBody>
          </p:sp>
          <p:sp>
            <p:nvSpPr>
              <p:cNvPr id="605" name="Google Shape;605;p43"/>
              <p:cNvSpPr/>
              <p:nvPr/>
            </p:nvSpPr>
            <p:spPr>
              <a:xfrm>
                <a:off x="3932019" y="37474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Safety Gates</a:t>
                </a:r>
                <a:endParaRPr sz="1604">
                  <a:solidFill>
                    <a:srgbClr val="FFFFFF"/>
                  </a:solidFill>
                  <a:latin typeface="Proxima Nova"/>
                  <a:ea typeface="Proxima Nova"/>
                  <a:cs typeface="Proxima Nova"/>
                  <a:sym typeface="Proxima Nova"/>
                </a:endParaRPr>
              </a:p>
            </p:txBody>
          </p:sp>
          <p:sp>
            <p:nvSpPr>
              <p:cNvPr id="606" name="Google Shape;606;p43"/>
              <p:cNvSpPr/>
              <p:nvPr/>
            </p:nvSpPr>
            <p:spPr>
              <a:xfrm>
                <a:off x="6171000" y="37474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Approval Rules</a:t>
                </a:r>
                <a:endParaRPr sz="1604">
                  <a:solidFill>
                    <a:srgbClr val="FFFFFF"/>
                  </a:solidFill>
                  <a:latin typeface="Proxima Nova"/>
                  <a:ea typeface="Proxima Nova"/>
                  <a:cs typeface="Proxima Nova"/>
                  <a:sym typeface="Proxima Nova"/>
                </a:endParaRPr>
              </a:p>
            </p:txBody>
          </p:sp>
          <p:sp>
            <p:nvSpPr>
              <p:cNvPr id="607" name="Google Shape;607;p43"/>
              <p:cNvSpPr/>
              <p:nvPr/>
            </p:nvSpPr>
            <p:spPr>
              <a:xfrm>
                <a:off x="8404463" y="37474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Escalation</a:t>
                </a:r>
                <a:endParaRPr sz="1604">
                  <a:solidFill>
                    <a:srgbClr val="FFFFFF"/>
                  </a:solidFill>
                  <a:latin typeface="Proxima Nova"/>
                  <a:ea typeface="Proxima Nova"/>
                  <a:cs typeface="Proxima Nova"/>
                  <a:sym typeface="Proxima Nova"/>
                </a:endParaRPr>
              </a:p>
            </p:txBody>
          </p:sp>
        </p:grpSp>
        <p:sp>
          <p:nvSpPr>
            <p:cNvPr id="608" name="Google Shape;608;p43"/>
            <p:cNvSpPr txBox="1"/>
            <p:nvPr/>
          </p:nvSpPr>
          <p:spPr>
            <a:xfrm>
              <a:off x="10770475" y="3797500"/>
              <a:ext cx="2143200" cy="747600"/>
            </a:xfrm>
            <a:prstGeom prst="rect">
              <a:avLst/>
            </a:prstGeom>
            <a:noFill/>
            <a:ln>
              <a:noFill/>
            </a:ln>
          </p:spPr>
          <p:txBody>
            <a:bodyPr anchorCtr="0" anchor="t" bIns="62475" lIns="62475" spcFirstLastPara="1" rIns="62475" wrap="square" tIns="62475">
              <a:spAutoFit/>
            </a:bodyPr>
            <a:lstStyle/>
            <a:p>
              <a:pPr indent="0" lvl="0" marL="0" rtl="0" algn="l">
                <a:spcBef>
                  <a:spcPts val="0"/>
                </a:spcBef>
                <a:spcAft>
                  <a:spcPts val="0"/>
                </a:spcAft>
                <a:buNone/>
              </a:pPr>
              <a:r>
                <a:rPr lang="en" sz="1604">
                  <a:solidFill>
                    <a:srgbClr val="E85453"/>
                  </a:solidFill>
                  <a:latin typeface="Proxima Nova"/>
                  <a:ea typeface="Proxima Nova"/>
                  <a:cs typeface="Proxima Nova"/>
                  <a:sym typeface="Proxima Nova"/>
                </a:rPr>
                <a:t>Clinical Review</a:t>
              </a:r>
              <a:endParaRPr sz="1604">
                <a:solidFill>
                  <a:srgbClr val="E85453"/>
                </a:solidFill>
                <a:latin typeface="Proxima Nova"/>
                <a:ea typeface="Proxima Nova"/>
                <a:cs typeface="Proxima Nova"/>
                <a:sym typeface="Proxima Nova"/>
              </a:endParaRPr>
            </a:p>
          </p:txBody>
        </p:sp>
      </p:grpSp>
      <p:grpSp>
        <p:nvGrpSpPr>
          <p:cNvPr id="609" name="Google Shape;609;p43"/>
          <p:cNvGrpSpPr/>
          <p:nvPr/>
        </p:nvGrpSpPr>
        <p:grpSpPr>
          <a:xfrm>
            <a:off x="955311" y="4518237"/>
            <a:ext cx="4994508" cy="529987"/>
            <a:chOff x="1651406" y="4662303"/>
            <a:chExt cx="7540019" cy="639000"/>
          </a:xfrm>
        </p:grpSpPr>
        <p:grpSp>
          <p:nvGrpSpPr>
            <p:cNvPr id="610" name="Google Shape;610;p43"/>
            <p:cNvGrpSpPr/>
            <p:nvPr/>
          </p:nvGrpSpPr>
          <p:grpSpPr>
            <a:xfrm>
              <a:off x="1651406" y="4662303"/>
              <a:ext cx="4423813" cy="639000"/>
              <a:chOff x="1651406" y="4662303"/>
              <a:chExt cx="4423813" cy="639000"/>
            </a:xfrm>
          </p:grpSpPr>
          <p:sp>
            <p:nvSpPr>
              <p:cNvPr id="611" name="Google Shape;611;p43"/>
              <p:cNvSpPr/>
              <p:nvPr/>
            </p:nvSpPr>
            <p:spPr>
              <a:xfrm>
                <a:off x="1651406" y="46623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Workflow Delivery</a:t>
                </a:r>
                <a:endParaRPr sz="1604">
                  <a:solidFill>
                    <a:srgbClr val="FFFFFF"/>
                  </a:solidFill>
                  <a:latin typeface="Proxima Nova"/>
                  <a:ea typeface="Proxima Nova"/>
                  <a:cs typeface="Proxima Nova"/>
                  <a:sym typeface="Proxima Nova"/>
                </a:endParaRPr>
              </a:p>
            </p:txBody>
          </p:sp>
          <p:sp>
            <p:nvSpPr>
              <p:cNvPr id="612" name="Google Shape;612;p43"/>
              <p:cNvSpPr/>
              <p:nvPr/>
            </p:nvSpPr>
            <p:spPr>
              <a:xfrm>
                <a:off x="3932019" y="4662303"/>
                <a:ext cx="2143200" cy="639000"/>
              </a:xfrm>
              <a:prstGeom prst="rect">
                <a:avLst/>
              </a:prstGeom>
              <a:solidFill>
                <a:srgbClr val="67B4D4"/>
              </a:solidFill>
              <a:ln>
                <a:noFill/>
              </a:ln>
            </p:spPr>
            <p:txBody>
              <a:bodyPr anchorCtr="0" anchor="ctr" bIns="31250" lIns="62475" spcFirstLastPara="1" rIns="62475" wrap="square" tIns="31250">
                <a:noAutofit/>
              </a:bodyPr>
              <a:lstStyle/>
              <a:p>
                <a:pPr indent="0" lvl="0" marL="0" marR="0" rtl="0" algn="ctr">
                  <a:spcBef>
                    <a:spcPts val="0"/>
                  </a:spcBef>
                  <a:spcAft>
                    <a:spcPts val="0"/>
                  </a:spcAft>
                  <a:buNone/>
                </a:pPr>
                <a:r>
                  <a:rPr lang="en" sz="1604">
                    <a:solidFill>
                      <a:srgbClr val="FFFFFF"/>
                    </a:solidFill>
                    <a:latin typeface="Proxima Nova"/>
                    <a:ea typeface="Proxima Nova"/>
                    <a:cs typeface="Proxima Nova"/>
                    <a:sym typeface="Proxima Nova"/>
                  </a:rPr>
                  <a:t>Feedback</a:t>
                </a:r>
                <a:endParaRPr sz="1604">
                  <a:solidFill>
                    <a:srgbClr val="FFFFFF"/>
                  </a:solidFill>
                  <a:latin typeface="Proxima Nova"/>
                  <a:ea typeface="Proxima Nova"/>
                  <a:cs typeface="Proxima Nova"/>
                  <a:sym typeface="Proxima Nova"/>
                </a:endParaRPr>
              </a:p>
            </p:txBody>
          </p:sp>
        </p:grpSp>
        <p:sp>
          <p:nvSpPr>
            <p:cNvPr id="613" name="Google Shape;613;p43"/>
            <p:cNvSpPr txBox="1"/>
            <p:nvPr/>
          </p:nvSpPr>
          <p:spPr>
            <a:xfrm>
              <a:off x="6272425" y="4712400"/>
              <a:ext cx="2919000" cy="450000"/>
            </a:xfrm>
            <a:prstGeom prst="rect">
              <a:avLst/>
            </a:prstGeom>
            <a:noFill/>
            <a:ln>
              <a:noFill/>
            </a:ln>
          </p:spPr>
          <p:txBody>
            <a:bodyPr anchorCtr="0" anchor="t" bIns="62475" lIns="62475" spcFirstLastPara="1" rIns="62475" wrap="square" tIns="62475">
              <a:spAutoFit/>
            </a:bodyPr>
            <a:lstStyle/>
            <a:p>
              <a:pPr indent="0" lvl="0" marL="0" rtl="0" algn="l">
                <a:spcBef>
                  <a:spcPts val="0"/>
                </a:spcBef>
                <a:spcAft>
                  <a:spcPts val="0"/>
                </a:spcAft>
                <a:buNone/>
              </a:pPr>
              <a:r>
                <a:rPr lang="en" sz="1604">
                  <a:solidFill>
                    <a:srgbClr val="E85453"/>
                  </a:solidFill>
                  <a:latin typeface="Proxima Nova"/>
                  <a:ea typeface="Proxima Nova"/>
                  <a:cs typeface="Proxima Nova"/>
                  <a:sym typeface="Proxima Nova"/>
                </a:rPr>
                <a:t>Physician Delivery</a:t>
              </a:r>
              <a:endParaRPr sz="1604">
                <a:solidFill>
                  <a:srgbClr val="E85453"/>
                </a:solidFill>
                <a:latin typeface="Proxima Nova"/>
                <a:ea typeface="Proxima Nova"/>
                <a:cs typeface="Proxima Nova"/>
                <a:sym typeface="Proxima Nova"/>
              </a:endParaRPr>
            </a:p>
          </p:txBody>
        </p:sp>
      </p:grpSp>
      <p:sp>
        <p:nvSpPr>
          <p:cNvPr id="614" name="Google Shape;614;p43"/>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AI Architecture</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44"/>
          <p:cNvSpPr txBox="1"/>
          <p:nvPr>
            <p:ph type="title"/>
          </p:nvPr>
        </p:nvSpPr>
        <p:spPr>
          <a:xfrm>
            <a:off x="203138"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800">
                <a:solidFill>
                  <a:srgbClr val="67B4D4"/>
                </a:solidFill>
              </a:rPr>
              <a:t>Decisions</a:t>
            </a:r>
            <a:endParaRPr sz="2420"/>
          </a:p>
        </p:txBody>
      </p:sp>
      <p:graphicFrame>
        <p:nvGraphicFramePr>
          <p:cNvPr id="620" name="Google Shape;620;p44"/>
          <p:cNvGraphicFramePr/>
          <p:nvPr/>
        </p:nvGraphicFramePr>
        <p:xfrm>
          <a:off x="132738" y="430075"/>
          <a:ext cx="3000000" cy="3000000"/>
        </p:xfrm>
        <a:graphic>
          <a:graphicData uri="http://schemas.openxmlformats.org/drawingml/2006/table">
            <a:tbl>
              <a:tblPr>
                <a:noFill/>
                <a:tableStyleId>{5D4255DE-314D-4A87-883B-22B09B20BF7A}</a:tableStyleId>
              </a:tblPr>
              <a:tblGrid>
                <a:gridCol w="311650"/>
                <a:gridCol w="1056150"/>
                <a:gridCol w="510750"/>
                <a:gridCol w="588650"/>
                <a:gridCol w="3246300"/>
                <a:gridCol w="701225"/>
                <a:gridCol w="822400"/>
                <a:gridCol w="943600"/>
                <a:gridCol w="683900"/>
              </a:tblGrid>
              <a:tr h="100000">
                <a:tc>
                  <a:txBody>
                    <a:bodyPr/>
                    <a:lstStyle/>
                    <a:p>
                      <a:pPr indent="0" lvl="0" marL="0" rtl="0" algn="ctr">
                        <a:lnSpc>
                          <a:spcPct val="105000"/>
                        </a:lnSpc>
                        <a:spcBef>
                          <a:spcPts val="0"/>
                        </a:spcBef>
                        <a:spcAft>
                          <a:spcPts val="0"/>
                        </a:spcAft>
                        <a:buNone/>
                      </a:pPr>
                      <a:r>
                        <a:rPr b="1" lang="en" sz="700">
                          <a:solidFill>
                            <a:srgbClr val="FFFFFF"/>
                          </a:solidFill>
                        </a:rPr>
                        <a:t>ID</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Decision name</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Scope</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Change since OS11</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Rationale</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Option 1</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Option 2</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Option 3</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c>
                  <a:txBody>
                    <a:bodyPr/>
                    <a:lstStyle/>
                    <a:p>
                      <a:pPr indent="0" lvl="0" marL="0" rtl="0" algn="ctr">
                        <a:lnSpc>
                          <a:spcPct val="105000"/>
                        </a:lnSpc>
                        <a:spcBef>
                          <a:spcPts val="0"/>
                        </a:spcBef>
                        <a:spcAft>
                          <a:spcPts val="0"/>
                        </a:spcAft>
                        <a:buNone/>
                      </a:pPr>
                      <a:r>
                        <a:rPr b="1" lang="en" sz="700">
                          <a:solidFill>
                            <a:srgbClr val="FFFFFF"/>
                          </a:solidFill>
                        </a:rPr>
                        <a:t>Option 4</a:t>
                      </a:r>
                      <a:endParaRPr sz="800">
                        <a:solidFill>
                          <a:srgbClr val="FFFFFF"/>
                        </a:solidFill>
                      </a:endParaRPr>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83CAEB"/>
                    </a:solidFill>
                  </a:tcPr>
                </a:tc>
              </a:tr>
              <a:tr h="280300">
                <a:tc>
                  <a:txBody>
                    <a:bodyPr/>
                    <a:lstStyle/>
                    <a:p>
                      <a:pPr indent="0" lvl="0" marL="0" rtl="0" algn="l">
                        <a:lnSpc>
                          <a:spcPct val="105000"/>
                        </a:lnSpc>
                        <a:spcBef>
                          <a:spcPts val="0"/>
                        </a:spcBef>
                        <a:spcAft>
                          <a:spcPts val="0"/>
                        </a:spcAft>
                        <a:buNone/>
                      </a:pPr>
                      <a:r>
                        <a:rPr lang="en" sz="700"/>
                        <a:t>D1</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Compute runtime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0A53A8"/>
                          </a:solidFill>
                        </a:rPr>
                        <a:t>Form</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Decided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We chose Single-Cloud to align with Mayo Clinic’s multi-year strategic partnership with Google Cloud</a:t>
                      </a:r>
                      <a:r>
                        <a:rPr baseline="-25000" lang="en" sz="700"/>
                        <a:t>[1]</a:t>
                      </a:r>
                      <a:r>
                        <a:rPr lang="en" sz="700"/>
                        <a:t>.</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Edge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On - prem data center</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Single - cloud (Google Cloud)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Multi - cloud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r>
              <a:tr h="420450">
                <a:tc>
                  <a:txBody>
                    <a:bodyPr/>
                    <a:lstStyle/>
                    <a:p>
                      <a:pPr indent="0" lvl="0" marL="0" rtl="0" algn="l">
                        <a:lnSpc>
                          <a:spcPct val="105000"/>
                        </a:lnSpc>
                        <a:spcBef>
                          <a:spcPts val="0"/>
                        </a:spcBef>
                        <a:spcAft>
                          <a:spcPts val="0"/>
                        </a:spcAft>
                        <a:buNone/>
                      </a:pPr>
                      <a:r>
                        <a:rPr lang="en" sz="700"/>
                        <a:t>D2</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Model Origin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0A53A8"/>
                          </a:solidFill>
                        </a:rPr>
                        <a:t>Form</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Changed options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C9DAF8"/>
                    </a:solidFill>
                  </a:tcPr>
                </a:tc>
                <a:tc>
                  <a:txBody>
                    <a:bodyPr/>
                    <a:lstStyle/>
                    <a:p>
                      <a:pPr indent="0" lvl="0" marL="0" rtl="0" algn="l">
                        <a:lnSpc>
                          <a:spcPct val="105000"/>
                        </a:lnSpc>
                        <a:spcBef>
                          <a:spcPts val="0"/>
                        </a:spcBef>
                        <a:spcAft>
                          <a:spcPts val="0"/>
                        </a:spcAft>
                        <a:buNone/>
                      </a:pPr>
                      <a:r>
                        <a:rPr lang="en" sz="700"/>
                        <a:t>On GCP, Gemini models are discounted</a:t>
                      </a:r>
                      <a:r>
                        <a:rPr baseline="-25000" lang="en" sz="700"/>
                        <a:t>[2]</a:t>
                      </a:r>
                      <a:r>
                        <a:rPr lang="en" sz="700"/>
                        <a:t>. Specialized alternatives may be slightly more performant, but more expensive. We added D11 to choose the model type.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Gemini family only</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Other closed source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Train our own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Open source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420450">
                <a:tc>
                  <a:txBody>
                    <a:bodyPr/>
                    <a:lstStyle/>
                    <a:p>
                      <a:pPr indent="0" lvl="0" marL="0" rtl="0" algn="l">
                        <a:lnSpc>
                          <a:spcPct val="105000"/>
                        </a:lnSpc>
                        <a:spcBef>
                          <a:spcPts val="0"/>
                        </a:spcBef>
                        <a:spcAft>
                          <a:spcPts val="0"/>
                        </a:spcAft>
                        <a:buNone/>
                      </a:pPr>
                      <a:r>
                        <a:rPr lang="en" sz="700"/>
                        <a:t>D3</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Research paradigm</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11734B"/>
                          </a:solidFill>
                        </a:rPr>
                        <a:t>Mapping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Changed options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C9DAF8"/>
                    </a:solidFill>
                  </a:tcPr>
                </a:tc>
                <a:tc>
                  <a:txBody>
                    <a:bodyPr/>
                    <a:lstStyle/>
                    <a:p>
                      <a:pPr indent="0" lvl="0" marL="0" rtl="0" algn="l">
                        <a:lnSpc>
                          <a:spcPct val="105000"/>
                        </a:lnSpc>
                        <a:spcBef>
                          <a:spcPts val="0"/>
                        </a:spcBef>
                        <a:spcAft>
                          <a:spcPts val="0"/>
                        </a:spcAft>
                        <a:buNone/>
                      </a:pPr>
                      <a:r>
                        <a:rPr lang="en" sz="700"/>
                        <a:t>This was the second-most architectural decision in OS11. We added a new option RAG + Fine-Tuning (</a:t>
                      </a:r>
                      <a:r>
                        <a:rPr lang="en" sz="700" u="sng">
                          <a:solidFill>
                            <a:srgbClr val="1155CC"/>
                          </a:solidFill>
                          <a:hlinkClick r:id="rId3">
                            <a:extLst>
                              <a:ext uri="{A12FA001-AC4F-418D-AE19-62706E023703}">
                                <ahyp:hlinkClr val="tx"/>
                              </a:ext>
                            </a:extLst>
                          </a:hlinkClick>
                        </a:rPr>
                        <a:t>Piazza @60</a:t>
                      </a:r>
                      <a:r>
                        <a:rPr lang="en" sz="700"/>
                        <a:t>).</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RAG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Fine - tuning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Rely on pre - training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RAG + Fine-Tuning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280300">
                <a:tc>
                  <a:txBody>
                    <a:bodyPr/>
                    <a:lstStyle/>
                    <a:p>
                      <a:pPr indent="0" lvl="0" marL="0" rtl="0" algn="l">
                        <a:lnSpc>
                          <a:spcPct val="105000"/>
                        </a:lnSpc>
                        <a:spcBef>
                          <a:spcPts val="0"/>
                        </a:spcBef>
                        <a:spcAft>
                          <a:spcPts val="0"/>
                        </a:spcAft>
                        <a:buNone/>
                      </a:pPr>
                      <a:r>
                        <a:rPr lang="en" sz="700"/>
                        <a:t>D4</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Communication channels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11734B"/>
                          </a:solidFill>
                        </a:rPr>
                        <a:t>Mapping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Removed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We discovered in OS11 that D4 is actually neither sensitive nor connected.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EMR only</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Web UI only</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App only</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Web + App</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r>
              <a:tr h="420450">
                <a:tc>
                  <a:txBody>
                    <a:bodyPr/>
                    <a:lstStyle/>
                    <a:p>
                      <a:pPr indent="0" lvl="0" marL="0" rtl="0" algn="l">
                        <a:lnSpc>
                          <a:spcPct val="105000"/>
                        </a:lnSpc>
                        <a:spcBef>
                          <a:spcPts val="0"/>
                        </a:spcBef>
                        <a:spcAft>
                          <a:spcPts val="0"/>
                        </a:spcAft>
                        <a:buNone/>
                      </a:pPr>
                      <a:r>
                        <a:rPr lang="en" sz="700"/>
                        <a:t>D5</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Number of AI roles per test result</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11734B"/>
                          </a:solidFill>
                        </a:rPr>
                        <a:t>Mapping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Changed options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C9DAF8"/>
                    </a:solidFill>
                  </a:tcPr>
                </a:tc>
                <a:tc>
                  <a:txBody>
                    <a:bodyPr/>
                    <a:lstStyle/>
                    <a:p>
                      <a:pPr indent="0" lvl="0" marL="0" rtl="0" algn="l">
                        <a:lnSpc>
                          <a:spcPct val="105000"/>
                        </a:lnSpc>
                        <a:spcBef>
                          <a:spcPts val="0"/>
                        </a:spcBef>
                        <a:spcAft>
                          <a:spcPts val="0"/>
                        </a:spcAft>
                        <a:buNone/>
                      </a:pPr>
                      <a:r>
                        <a:rPr lang="en" sz="700"/>
                        <a:t>This is architectural, but we reoriented the bucket names and renamed the non-agentic option to be “no AI”,  but then removed it because it's outside our SPS.</a:t>
                      </a:r>
                      <a:endParaRPr sz="7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0 (no AI)</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1 (single agent)</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Small group (2-5)</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Large group (5 - 10)</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560625">
                <a:tc>
                  <a:txBody>
                    <a:bodyPr/>
                    <a:lstStyle/>
                    <a:p>
                      <a:pPr indent="0" lvl="0" marL="0" rtl="0" algn="l">
                        <a:lnSpc>
                          <a:spcPct val="105000"/>
                        </a:lnSpc>
                        <a:spcBef>
                          <a:spcPts val="0"/>
                        </a:spcBef>
                        <a:spcAft>
                          <a:spcPts val="0"/>
                        </a:spcAft>
                        <a:buNone/>
                      </a:pPr>
                      <a:r>
                        <a:rPr lang="en" sz="700"/>
                        <a:t>D6</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Data sources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473821"/>
                          </a:solidFill>
                        </a:rPr>
                        <a:t>Function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Kept</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C9DAF8"/>
                    </a:solidFill>
                  </a:tcPr>
                </a:tc>
                <a:tc>
                  <a:txBody>
                    <a:bodyPr/>
                    <a:lstStyle/>
                    <a:p>
                      <a:pPr indent="0" lvl="0" marL="0" rtl="0" algn="l">
                        <a:lnSpc>
                          <a:spcPct val="105000"/>
                        </a:lnSpc>
                        <a:spcBef>
                          <a:spcPts val="0"/>
                        </a:spcBef>
                        <a:spcAft>
                          <a:spcPts val="0"/>
                        </a:spcAft>
                        <a:buNone/>
                      </a:pPr>
                      <a:r>
                        <a:rPr lang="en" sz="700"/>
                        <a:t>OS11 showed this is architectural, but we're renaming the options per OS11 feedback to be more strategic.</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Mayo internal only</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Mayo + single external source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Multiple internal+ external sources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Open Internet only</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r h="420450">
                <a:tc>
                  <a:txBody>
                    <a:bodyPr/>
                    <a:lstStyle/>
                    <a:p>
                      <a:pPr indent="0" lvl="0" marL="0" rtl="0" algn="l">
                        <a:lnSpc>
                          <a:spcPct val="105000"/>
                        </a:lnSpc>
                        <a:spcBef>
                          <a:spcPts val="0"/>
                        </a:spcBef>
                        <a:spcAft>
                          <a:spcPts val="0"/>
                        </a:spcAft>
                        <a:buNone/>
                      </a:pPr>
                      <a:r>
                        <a:rPr lang="en" sz="700"/>
                        <a:t>D7</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Coordination structure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0A53A8"/>
                          </a:solidFill>
                        </a:rPr>
                        <a:t>Form</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Removed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We discovered in OS11 that D7 is actually neither sensitive nor connected.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Agents as Tools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Swarm</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Agent Graph / Workflow</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No coordination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r>
              <a:tr h="420450">
                <a:tc>
                  <a:txBody>
                    <a:bodyPr/>
                    <a:lstStyle/>
                    <a:p>
                      <a:pPr indent="0" lvl="0" marL="0" rtl="0" algn="l">
                        <a:lnSpc>
                          <a:spcPct val="105000"/>
                        </a:lnSpc>
                        <a:spcBef>
                          <a:spcPts val="0"/>
                        </a:spcBef>
                        <a:spcAft>
                          <a:spcPts val="0"/>
                        </a:spcAft>
                        <a:buNone/>
                      </a:pPr>
                      <a:r>
                        <a:rPr lang="en" sz="700"/>
                        <a:t>D8</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Clinical system integration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11734B"/>
                          </a:solidFill>
                        </a:rPr>
                        <a:t>Mapping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Removed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This is not sensitive, and is only strongly connected to one decision we're keeping (D6), meaning this is a design detail.</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MCP tools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API tools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ctr">
                        <a:lnSpc>
                          <a:spcPct val="105000"/>
                        </a:lnSpc>
                        <a:spcBef>
                          <a:spcPts val="0"/>
                        </a:spcBef>
                        <a:spcAft>
                          <a:spcPts val="0"/>
                        </a:spcAft>
                        <a:buNone/>
                      </a:pPr>
                      <a:r>
                        <a:rPr i="1" lang="en" sz="700">
                          <a:solidFill>
                            <a:srgbClr val="999999"/>
                          </a:solidFill>
                        </a:rPr>
                        <a:t>N/A</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ctr">
                        <a:lnSpc>
                          <a:spcPct val="105000"/>
                        </a:lnSpc>
                        <a:spcBef>
                          <a:spcPts val="0"/>
                        </a:spcBef>
                        <a:spcAft>
                          <a:spcPts val="0"/>
                        </a:spcAft>
                        <a:buNone/>
                      </a:pPr>
                      <a:r>
                        <a:rPr i="1" lang="en" sz="700">
                          <a:solidFill>
                            <a:srgbClr val="999999"/>
                          </a:solidFill>
                        </a:rPr>
                        <a:t>N/A</a:t>
                      </a:r>
                      <a:endParaRPr i="1"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r>
              <a:tr h="420450">
                <a:tc>
                  <a:txBody>
                    <a:bodyPr/>
                    <a:lstStyle/>
                    <a:p>
                      <a:pPr indent="0" lvl="0" marL="0" rtl="0" algn="l">
                        <a:lnSpc>
                          <a:spcPct val="105000"/>
                        </a:lnSpc>
                        <a:spcBef>
                          <a:spcPts val="0"/>
                        </a:spcBef>
                        <a:spcAft>
                          <a:spcPts val="0"/>
                        </a:spcAft>
                        <a:buNone/>
                      </a:pPr>
                      <a:r>
                        <a:rPr lang="en" sz="700"/>
                        <a:t>D9</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Clinical validation and release control</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473821"/>
                          </a:solidFill>
                        </a:rPr>
                        <a:t>Function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Kept</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C9DAF8"/>
                    </a:solidFill>
                  </a:tcPr>
                </a:tc>
                <a:tc>
                  <a:txBody>
                    <a:bodyPr/>
                    <a:lstStyle/>
                    <a:p>
                      <a:pPr indent="0" lvl="0" marL="0" rtl="0" algn="l">
                        <a:lnSpc>
                          <a:spcPct val="105000"/>
                        </a:lnSpc>
                        <a:spcBef>
                          <a:spcPts val="0"/>
                        </a:spcBef>
                        <a:spcAft>
                          <a:spcPts val="0"/>
                        </a:spcAft>
                        <a:buNone/>
                      </a:pPr>
                      <a:r>
                        <a:rPr lang="en" sz="700"/>
                        <a:t>This was the single most architectural decision in OS11. We searched for more options, but these are the main ones.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Rule-based condition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Human - in - the - loop</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Tiered release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ctr">
                        <a:lnSpc>
                          <a:spcPct val="105000"/>
                        </a:lnSpc>
                        <a:spcBef>
                          <a:spcPts val="0"/>
                        </a:spcBef>
                        <a:spcAft>
                          <a:spcPts val="0"/>
                        </a:spcAft>
                        <a:buNone/>
                      </a:pPr>
                      <a:r>
                        <a:rPr i="1" lang="en" sz="700">
                          <a:solidFill>
                            <a:srgbClr val="999999"/>
                          </a:solidFill>
                        </a:rPr>
                        <a:t>N/A</a:t>
                      </a:r>
                      <a:endParaRPr i="1"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r>
              <a:tr h="420450">
                <a:tc>
                  <a:txBody>
                    <a:bodyPr/>
                    <a:lstStyle/>
                    <a:p>
                      <a:pPr indent="0" lvl="0" marL="0" rtl="0" algn="l">
                        <a:lnSpc>
                          <a:spcPct val="105000"/>
                        </a:lnSpc>
                        <a:spcBef>
                          <a:spcPts val="0"/>
                        </a:spcBef>
                        <a:spcAft>
                          <a:spcPts val="0"/>
                        </a:spcAft>
                        <a:buNone/>
                      </a:pPr>
                      <a:r>
                        <a:rPr lang="en" sz="700"/>
                        <a:t>D10</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Private information handling</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473821"/>
                          </a:solidFill>
                        </a:rPr>
                        <a:t>Function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Removed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It's best to maximize integration, within compliance constraints. That makes this a constraint, not a decision.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No private exposure</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Scoped PHI</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l">
                        <a:lnSpc>
                          <a:spcPct val="105000"/>
                        </a:lnSpc>
                        <a:spcBef>
                          <a:spcPts val="0"/>
                        </a:spcBef>
                        <a:spcAft>
                          <a:spcPts val="0"/>
                        </a:spcAft>
                        <a:buNone/>
                      </a:pPr>
                      <a:r>
                        <a:rPr lang="en" sz="700"/>
                        <a:t>No patient - identifiable PHI</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F4CCCC"/>
                    </a:solidFill>
                  </a:tcPr>
                </a:tc>
                <a:tc>
                  <a:txBody>
                    <a:bodyPr/>
                    <a:lstStyle/>
                    <a:p>
                      <a:pPr indent="0" lvl="0" marL="0" rtl="0" algn="ctr">
                        <a:lnSpc>
                          <a:spcPct val="105000"/>
                        </a:lnSpc>
                        <a:spcBef>
                          <a:spcPts val="0"/>
                        </a:spcBef>
                        <a:spcAft>
                          <a:spcPts val="0"/>
                        </a:spcAft>
                        <a:buNone/>
                      </a:pPr>
                      <a:r>
                        <a:rPr i="1" lang="en" sz="700">
                          <a:solidFill>
                            <a:srgbClr val="999999"/>
                          </a:solidFill>
                        </a:rPr>
                        <a:t>N/A</a:t>
                      </a:r>
                      <a:endParaRPr i="1"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r>
              <a:tr h="420450">
                <a:tc>
                  <a:txBody>
                    <a:bodyPr/>
                    <a:lstStyle/>
                    <a:p>
                      <a:pPr indent="0" lvl="0" marL="0" rtl="0" algn="l">
                        <a:lnSpc>
                          <a:spcPct val="105000"/>
                        </a:lnSpc>
                        <a:spcBef>
                          <a:spcPts val="0"/>
                        </a:spcBef>
                        <a:spcAft>
                          <a:spcPts val="0"/>
                        </a:spcAft>
                        <a:buNone/>
                      </a:pPr>
                      <a:r>
                        <a:rPr lang="en" sz="700"/>
                        <a:t>D11</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Model Specification</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solidFill>
                            <a:srgbClr val="0A53A8"/>
                          </a:solidFill>
                        </a:rPr>
                        <a:t>Form</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Added</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This is a subset of D2, but still architectural because it's sensitive to metrics (M1, M4, M6, and M8) and connected to other decisions (D3, D5, and D10)</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tcPr>
                </a:tc>
                <a:tc>
                  <a:txBody>
                    <a:bodyPr/>
                    <a:lstStyle/>
                    <a:p>
                      <a:pPr indent="0" lvl="0" marL="0" rtl="0" algn="l">
                        <a:lnSpc>
                          <a:spcPct val="105000"/>
                        </a:lnSpc>
                        <a:spcBef>
                          <a:spcPts val="0"/>
                        </a:spcBef>
                        <a:spcAft>
                          <a:spcPts val="0"/>
                        </a:spcAft>
                        <a:buNone/>
                      </a:pPr>
                      <a:r>
                        <a:rPr lang="en" sz="700"/>
                        <a:t>Efficient, Text-Only (Flash)</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Reasoning, Medium price (2.5 pro)</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Multimodal, powerful (3 Pro)</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c>
                  <a:txBody>
                    <a:bodyPr/>
                    <a:lstStyle/>
                    <a:p>
                      <a:pPr indent="0" lvl="0" marL="0" rtl="0" algn="l">
                        <a:lnSpc>
                          <a:spcPct val="105000"/>
                        </a:lnSpc>
                        <a:spcBef>
                          <a:spcPts val="0"/>
                        </a:spcBef>
                        <a:spcAft>
                          <a:spcPts val="0"/>
                        </a:spcAft>
                        <a:buNone/>
                      </a:pPr>
                      <a:r>
                        <a:rPr lang="en" sz="700"/>
                        <a:t>Mix multiple models</a:t>
                      </a:r>
                      <a:endParaRPr sz="800"/>
                    </a:p>
                  </a:txBody>
                  <a:tcPr marT="0" marB="0" marR="25400" marL="25400" anchor="ctr">
                    <a:lnL cap="flat" cmpd="sng" w="8025">
                      <a:solidFill>
                        <a:srgbClr val="000000"/>
                      </a:solidFill>
                      <a:prstDash val="solid"/>
                      <a:round/>
                      <a:headEnd len="sm" w="sm" type="none"/>
                      <a:tailEnd len="sm" w="sm" type="none"/>
                    </a:lnL>
                    <a:lnR cap="flat" cmpd="sng" w="8025">
                      <a:solidFill>
                        <a:srgbClr val="000000"/>
                      </a:solidFill>
                      <a:prstDash val="solid"/>
                      <a:round/>
                      <a:headEnd len="sm" w="sm" type="none"/>
                      <a:tailEnd len="sm" w="sm" type="none"/>
                    </a:lnR>
                    <a:lnT cap="flat" cmpd="sng" w="8025">
                      <a:solidFill>
                        <a:srgbClr val="000000"/>
                      </a:solidFill>
                      <a:prstDash val="solid"/>
                      <a:round/>
                      <a:headEnd len="sm" w="sm" type="none"/>
                      <a:tailEnd len="sm" w="sm" type="none"/>
                    </a:lnT>
                    <a:lnB cap="flat" cmpd="sng" w="8025">
                      <a:solidFill>
                        <a:srgbClr val="000000"/>
                      </a:solidFill>
                      <a:prstDash val="solid"/>
                      <a:round/>
                      <a:headEnd len="sm" w="sm" type="none"/>
                      <a:tailEnd len="sm" w="sm" type="none"/>
                    </a:lnB>
                    <a:solidFill>
                      <a:srgbClr val="D9EAD3"/>
                    </a:solidFill>
                  </a:tcPr>
                </a:tc>
              </a:tr>
            </a:tbl>
          </a:graphicData>
        </a:graphic>
      </p:graphicFrame>
      <p:sp>
        <p:nvSpPr>
          <p:cNvPr id="621" name="Google Shape;621;p44"/>
          <p:cNvSpPr txBox="1"/>
          <p:nvPr>
            <p:ph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Decisions</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8B4D4"/>
        </a:solidFill>
      </p:bgPr>
    </p:bg>
    <p:spTree>
      <p:nvGrpSpPr>
        <p:cNvPr id="625" name="Shape 625"/>
        <p:cNvGrpSpPr/>
        <p:nvPr/>
      </p:nvGrpSpPr>
      <p:grpSpPr>
        <a:xfrm>
          <a:off x="0" y="0"/>
          <a:ext cx="0" cy="0"/>
          <a:chOff x="0" y="0"/>
          <a:chExt cx="0" cy="0"/>
        </a:xfrm>
      </p:grpSpPr>
      <p:pic>
        <p:nvPicPr>
          <p:cNvPr id="626" name="Google Shape;626;p45" title="medical-symbol_white.png"/>
          <p:cNvPicPr preferRelativeResize="0"/>
          <p:nvPr/>
        </p:nvPicPr>
        <p:blipFill>
          <a:blip r:embed="rId3">
            <a:alphaModFix amt="10000"/>
          </a:blip>
          <a:stretch>
            <a:fillRect/>
          </a:stretch>
        </p:blipFill>
        <p:spPr>
          <a:xfrm>
            <a:off x="2076450" y="76200"/>
            <a:ext cx="4991100" cy="4991100"/>
          </a:xfrm>
          <a:prstGeom prst="rect">
            <a:avLst/>
          </a:prstGeom>
          <a:noFill/>
          <a:ln>
            <a:noFill/>
          </a:ln>
        </p:spPr>
      </p:pic>
      <p:sp>
        <p:nvSpPr>
          <p:cNvPr id="627" name="Google Shape;627;p45"/>
          <p:cNvSpPr txBox="1"/>
          <p:nvPr/>
        </p:nvSpPr>
        <p:spPr>
          <a:xfrm>
            <a:off x="1847850" y="2332200"/>
            <a:ext cx="54483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2100">
                <a:solidFill>
                  <a:schemeClr val="lt1"/>
                </a:solidFill>
                <a:latin typeface="Noto Sans Grantha"/>
                <a:ea typeface="Noto Sans Grantha"/>
                <a:cs typeface="Noto Sans Grantha"/>
                <a:sym typeface="Noto Sans Grantha"/>
              </a:rPr>
              <a:t>Do no harm</a:t>
            </a:r>
            <a:endParaRPr i="1" sz="2100">
              <a:solidFill>
                <a:schemeClr val="lt1"/>
              </a:solidFill>
              <a:latin typeface="Noto Sans Grantha"/>
              <a:ea typeface="Noto Sans Grantha"/>
              <a:cs typeface="Noto Sans Grantha"/>
              <a:sym typeface="Noto Sans Grantha"/>
            </a:endParaRPr>
          </a:p>
        </p:txBody>
      </p:sp>
      <p:sp>
        <p:nvSpPr>
          <p:cNvPr id="628" name="Google Shape;628;p45"/>
          <p:cNvSpPr txBox="1"/>
          <p:nvPr/>
        </p:nvSpPr>
        <p:spPr>
          <a:xfrm>
            <a:off x="324300" y="3007650"/>
            <a:ext cx="84954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lt1"/>
                </a:solidFill>
                <a:latin typeface="Noto Sans Grantha"/>
                <a:ea typeface="Noto Sans Grantha"/>
                <a:cs typeface="Noto Sans Grantha"/>
                <a:sym typeface="Noto Sans Grantha"/>
              </a:rPr>
              <a:t>Unrealized systemic risks from hallucination and implementation challenges highlighted a need for risk mitigation. The Mayo Clinics Model of Care and long established brand trust demands we take considerable care in decisions impacting patient care, even indirectly. The implications on long chained risk to healthcare outcomes led to the formation of a new system</a:t>
            </a:r>
            <a:endParaRPr sz="1600">
              <a:solidFill>
                <a:schemeClr val="lt1"/>
              </a:solidFill>
              <a:latin typeface="Noto Sans Grantha"/>
              <a:ea typeface="Noto Sans Grantha"/>
              <a:cs typeface="Noto Sans Grantha"/>
              <a:sym typeface="Noto Sans Grantha"/>
            </a:endParaRPr>
          </a:p>
          <a:p>
            <a:pPr indent="0" lvl="0" marL="0" rtl="0" algn="ctr">
              <a:spcBef>
                <a:spcPts val="0"/>
              </a:spcBef>
              <a:spcAft>
                <a:spcPts val="0"/>
              </a:spcAft>
              <a:buNone/>
            </a:pPr>
            <a:r>
              <a:t/>
            </a:r>
            <a:endParaRPr sz="1600">
              <a:solidFill>
                <a:schemeClr val="lt1"/>
              </a:solidFill>
              <a:latin typeface="Noto Sans Grantha"/>
              <a:ea typeface="Noto Sans Grantha"/>
              <a:cs typeface="Noto Sans Grantha"/>
              <a:sym typeface="Noto Sans Grantha"/>
            </a:endParaRPr>
          </a:p>
        </p:txBody>
      </p:sp>
      <p:sp>
        <p:nvSpPr>
          <p:cNvPr id="629" name="Google Shape;629;p45"/>
          <p:cNvSpPr txBox="1"/>
          <p:nvPr>
            <p:ph idx="4294967295"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Do no harm</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3" name="Shape 633"/>
        <p:cNvGrpSpPr/>
        <p:nvPr/>
      </p:nvGrpSpPr>
      <p:grpSpPr>
        <a:xfrm>
          <a:off x="0" y="0"/>
          <a:ext cx="0" cy="0"/>
          <a:chOff x="0" y="0"/>
          <a:chExt cx="0" cy="0"/>
        </a:xfrm>
      </p:grpSpPr>
      <p:pic>
        <p:nvPicPr>
          <p:cNvPr id="634" name="Google Shape;634;p46" title="OS17_Gantt.png"/>
          <p:cNvPicPr preferRelativeResize="0"/>
          <p:nvPr/>
        </p:nvPicPr>
        <p:blipFill rotWithShape="1">
          <a:blip r:embed="rId3">
            <a:alphaModFix/>
          </a:blip>
          <a:srcRect b="33070" l="0" r="0" t="0"/>
          <a:stretch/>
        </p:blipFill>
        <p:spPr>
          <a:xfrm>
            <a:off x="-95250" y="0"/>
            <a:ext cx="9239249" cy="5143500"/>
          </a:xfrm>
          <a:prstGeom prst="rect">
            <a:avLst/>
          </a:prstGeom>
          <a:noFill/>
          <a:ln>
            <a:noFill/>
          </a:ln>
        </p:spPr>
      </p:pic>
      <p:sp>
        <p:nvSpPr>
          <p:cNvPr id="635" name="Google Shape;635;p46"/>
          <p:cNvSpPr txBox="1"/>
          <p:nvPr>
            <p:ph idx="4294967295"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Gantt 1</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9" name="Shape 639"/>
        <p:cNvGrpSpPr/>
        <p:nvPr/>
      </p:nvGrpSpPr>
      <p:grpSpPr>
        <a:xfrm>
          <a:off x="0" y="0"/>
          <a:ext cx="0" cy="0"/>
          <a:chOff x="0" y="0"/>
          <a:chExt cx="0" cy="0"/>
        </a:xfrm>
      </p:grpSpPr>
      <p:pic>
        <p:nvPicPr>
          <p:cNvPr id="640" name="Google Shape;640;p47" title="OS17_Gantt.png"/>
          <p:cNvPicPr preferRelativeResize="0"/>
          <p:nvPr/>
        </p:nvPicPr>
        <p:blipFill rotWithShape="1">
          <a:blip r:embed="rId3">
            <a:alphaModFix/>
          </a:blip>
          <a:srcRect b="0" l="0" r="0" t="33070"/>
          <a:stretch/>
        </p:blipFill>
        <p:spPr>
          <a:xfrm>
            <a:off x="-95250" y="-1"/>
            <a:ext cx="9239249" cy="5143500"/>
          </a:xfrm>
          <a:prstGeom prst="rect">
            <a:avLst/>
          </a:prstGeom>
          <a:noFill/>
          <a:ln>
            <a:noFill/>
          </a:ln>
        </p:spPr>
      </p:pic>
      <p:sp>
        <p:nvSpPr>
          <p:cNvPr id="641" name="Google Shape;641;p47"/>
          <p:cNvSpPr txBox="1"/>
          <p:nvPr>
            <p:ph idx="4294967295"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Gantt 2</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5" name="Shape 645"/>
        <p:cNvGrpSpPr/>
        <p:nvPr/>
      </p:nvGrpSpPr>
      <p:grpSpPr>
        <a:xfrm>
          <a:off x="0" y="0"/>
          <a:ext cx="0" cy="0"/>
          <a:chOff x="0" y="0"/>
          <a:chExt cx="0" cy="0"/>
        </a:xfrm>
      </p:grpSpPr>
      <p:graphicFrame>
        <p:nvGraphicFramePr>
          <p:cNvPr id="646" name="Google Shape;646;p48"/>
          <p:cNvGraphicFramePr/>
          <p:nvPr/>
        </p:nvGraphicFramePr>
        <p:xfrm>
          <a:off x="110175" y="76213"/>
          <a:ext cx="3000000" cy="3000000"/>
        </p:xfrm>
        <a:graphic>
          <a:graphicData uri="http://schemas.openxmlformats.org/drawingml/2006/table">
            <a:tbl>
              <a:tblPr>
                <a:noFill/>
                <a:tableStyleId>{C2C164A9-D459-4989-9082-E027A9E3C51D}</a:tableStyleId>
              </a:tblPr>
              <a:tblGrid>
                <a:gridCol w="389150"/>
                <a:gridCol w="534550"/>
                <a:gridCol w="990175"/>
                <a:gridCol w="1247900"/>
                <a:gridCol w="646050"/>
                <a:gridCol w="679425"/>
                <a:gridCol w="713700"/>
                <a:gridCol w="3722700"/>
              </a:tblGrid>
              <a:tr h="371475">
                <a:tc>
                  <a:txBody>
                    <a:bodyPr/>
                    <a:lstStyle/>
                    <a:p>
                      <a:pPr indent="0" lvl="0" marL="0" rtl="0" algn="ctr">
                        <a:lnSpc>
                          <a:spcPct val="115000"/>
                        </a:lnSpc>
                        <a:spcBef>
                          <a:spcPts val="0"/>
                        </a:spcBef>
                        <a:spcAft>
                          <a:spcPts val="0"/>
                        </a:spcAft>
                        <a:buNone/>
                      </a:pPr>
                      <a:r>
                        <a:rPr b="1" lang="en" sz="1000">
                          <a:solidFill>
                            <a:srgbClr val="FFFFFF"/>
                          </a:solidFill>
                        </a:rPr>
                        <a:t>ID</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Risk</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Mitigation </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Details</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New Effect</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New Prob.</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New Impact</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Commentary</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r>
              <a:tr h="721825">
                <a:tc>
                  <a:txBody>
                    <a:bodyPr/>
                    <a:lstStyle/>
                    <a:p>
                      <a:pPr indent="0" lvl="0" marL="0" rtl="0" algn="ctr">
                        <a:lnSpc>
                          <a:spcPct val="115000"/>
                        </a:lnSpc>
                        <a:spcBef>
                          <a:spcPts val="0"/>
                        </a:spcBef>
                        <a:spcAft>
                          <a:spcPts val="0"/>
                        </a:spcAft>
                        <a:buNone/>
                      </a:pPr>
                      <a:r>
                        <a:rPr b="1" lang="en" sz="800"/>
                        <a:t>M1</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R1</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Data Integration</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6 person-weeks; DATA + CLOUD; runs in parallel with T1.1</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35</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20%</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7</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Early technical proof-of-concept with Mayo Clinic IT. Reduces probability from 50% to 20% by discovering integration blockers before they cascade. Effect reduces because we have time to pivot architecture.</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r>
              <a:tr h="745000">
                <a:tc>
                  <a:txBody>
                    <a:bodyPr/>
                    <a:lstStyle/>
                    <a:p>
                      <a:pPr indent="0" lvl="0" marL="0" rtl="0" algn="ctr">
                        <a:lnSpc>
                          <a:spcPct val="115000"/>
                        </a:lnSpc>
                        <a:spcBef>
                          <a:spcPts val="0"/>
                        </a:spcBef>
                        <a:spcAft>
                          <a:spcPts val="0"/>
                        </a:spcAft>
                        <a:buNone/>
                      </a:pPr>
                      <a:r>
                        <a:rPr b="1" lang="en" sz="800"/>
                        <a:t>M2</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R2</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Clinical Validation Readiness</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8 person-weeks; AI + QA; starts after T2.2</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50</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15%</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7.5</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Structured clinical validation with a physician review board run before shadow mode. Reduces probability from 40% to 15%; residual effect remains high (50) because hallucination can never be fully eliminated from LLM-based systems.</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r>
              <a:tr h="876300">
                <a:tc>
                  <a:txBody>
                    <a:bodyPr/>
                    <a:lstStyle/>
                    <a:p>
                      <a:pPr indent="0" lvl="0" marL="0" rtl="0" algn="ctr">
                        <a:lnSpc>
                          <a:spcPct val="115000"/>
                        </a:lnSpc>
                        <a:spcBef>
                          <a:spcPts val="0"/>
                        </a:spcBef>
                        <a:spcAft>
                          <a:spcPts val="0"/>
                        </a:spcAft>
                        <a:buNone/>
                      </a:pPr>
                      <a:r>
                        <a:rPr b="1" lang="en" sz="800"/>
                        <a:t>M3</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R3</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Regulatory Readiness</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4 person-weeks; PM + QA; runs in parallel with T1.1</a:t>
                      </a:r>
                      <a:endParaRPr sz="800"/>
                    </a:p>
                    <a:p>
                      <a:pPr indent="0" lvl="0" marL="0" rtl="0" algn="l">
                        <a:lnSpc>
                          <a:spcPct val="115000"/>
                        </a:lnSpc>
                        <a:spcBef>
                          <a:spcPts val="0"/>
                        </a:spcBef>
                        <a:spcAft>
                          <a:spcPts val="0"/>
                        </a:spcAft>
                        <a:buNone/>
                      </a:pPr>
                      <a:r>
                        <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30</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25%</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7.5</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Early IRB pre-submission and regulatory roadmap during the design phase. Reduces the probability from 40% to 25% and the effect from 60% to 30% by clarifying what evidence, documentation, and clinical study framing are needed before T3.2 (Shadow Mode &amp; Clinical Review). This reduces the chance of discovering regulatory gaps only at the validation gate.</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r>
              <a:tr h="876300">
                <a:tc>
                  <a:txBody>
                    <a:bodyPr/>
                    <a:lstStyle/>
                    <a:p>
                      <a:pPr indent="0" lvl="0" marL="0" rtl="0" algn="ctr">
                        <a:lnSpc>
                          <a:spcPct val="115000"/>
                        </a:lnSpc>
                        <a:spcBef>
                          <a:spcPts val="0"/>
                        </a:spcBef>
                        <a:spcAft>
                          <a:spcPts val="0"/>
                        </a:spcAft>
                        <a:buNone/>
                      </a:pPr>
                      <a:r>
                        <a:rPr b="1" lang="en" sz="800"/>
                        <a:t>M4</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R4</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PHI Compliance Control</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4 person-weeks; CLOUD + DATA + QA; starts after T1.3</a:t>
                      </a:r>
                      <a:endParaRPr sz="800"/>
                    </a:p>
                    <a:p>
                      <a:pPr indent="0" lvl="0" marL="0" rtl="0" algn="l">
                        <a:lnSpc>
                          <a:spcPct val="115000"/>
                        </a:lnSpc>
                        <a:spcBef>
                          <a:spcPts val="0"/>
                        </a:spcBef>
                        <a:spcAft>
                          <a:spcPts val="0"/>
                        </a:spcAft>
                        <a:buNone/>
                      </a:pPr>
                      <a:r>
                        <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55</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2.75</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Focused review of PHI handling, access control, logging, audit trail, data minimization, and compliance assumptions before real patient data is used in validation. Reduces probability from 15% to 5% by finding privacy and security design issues before T3.2 (Exception &amp; Resilience Testing) and T3.3 (Shadow-Mode Clinical Validation). The effect is reduced from 90% to 55% because the early review allows the team to redesign and implement new controls before the issues affect the project as a whole.</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r>
              <a:tr h="876300">
                <a:tc>
                  <a:txBody>
                    <a:bodyPr/>
                    <a:lstStyle/>
                    <a:p>
                      <a:pPr indent="0" lvl="0" marL="0" rtl="0" algn="ctr">
                        <a:lnSpc>
                          <a:spcPct val="115000"/>
                        </a:lnSpc>
                        <a:spcBef>
                          <a:spcPts val="0"/>
                        </a:spcBef>
                        <a:spcAft>
                          <a:spcPts val="0"/>
                        </a:spcAft>
                        <a:buNone/>
                      </a:pPr>
                      <a:r>
                        <a:rPr b="1" lang="en" sz="800"/>
                        <a:t>M6</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R6</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Early Integration &amp; Interface Testing</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6 person-weeks; SWE + DATA + AI + QA; starts after T2.1</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40</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20%</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t>8</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Early interface review and integration testing across the data pipeline, retrieval layer, agentic AI core, physician-facing workflow, and validation workflow. Reduces the probability from 40% to 20% by exposing interface assumptions before they become late problems. The effect is reduced from 75% to 40% because the difficulties and special integration needs identified during initial testing are easier to address than the cascading rework observed in phase T3.3 (Shadow-Mode Clinical Validation).</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r>
            </a:tbl>
          </a:graphicData>
        </a:graphic>
      </p:graphicFrame>
      <p:sp>
        <p:nvSpPr>
          <p:cNvPr id="647" name="Google Shape;647;p48"/>
          <p:cNvSpPr txBox="1"/>
          <p:nvPr>
            <p:ph idx="4294967295"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Mitigations</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graphicFrame>
        <p:nvGraphicFramePr>
          <p:cNvPr id="652" name="Google Shape;652;p49"/>
          <p:cNvGraphicFramePr/>
          <p:nvPr/>
        </p:nvGraphicFramePr>
        <p:xfrm>
          <a:off x="76200" y="67825"/>
          <a:ext cx="3000000" cy="3000000"/>
        </p:xfrm>
        <a:graphic>
          <a:graphicData uri="http://schemas.openxmlformats.org/drawingml/2006/table">
            <a:tbl>
              <a:tblPr>
                <a:noFill/>
                <a:tableStyleId>{C2C164A9-D459-4989-9082-E027A9E3C51D}</a:tableStyleId>
              </a:tblPr>
              <a:tblGrid>
                <a:gridCol w="953450"/>
                <a:gridCol w="968900"/>
                <a:gridCol w="1041175"/>
                <a:gridCol w="873650"/>
                <a:gridCol w="854950"/>
                <a:gridCol w="4299475"/>
              </a:tblGrid>
              <a:tr h="493200">
                <a:tc>
                  <a:txBody>
                    <a:bodyPr/>
                    <a:lstStyle/>
                    <a:p>
                      <a:pPr indent="0" lvl="0" marL="0" rtl="0" algn="ctr">
                        <a:lnSpc>
                          <a:spcPct val="115000"/>
                        </a:lnSpc>
                        <a:spcBef>
                          <a:spcPts val="0"/>
                        </a:spcBef>
                        <a:spcAft>
                          <a:spcPts val="0"/>
                        </a:spcAft>
                        <a:buNone/>
                      </a:pPr>
                      <a:r>
                        <a:rPr b="1" lang="en" sz="1000">
                          <a:solidFill>
                            <a:srgbClr val="FFFFFF"/>
                          </a:solidFill>
                        </a:rPr>
                        <a:t>Design Name</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Mitigations</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Cost</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Schedule (weeks)</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Riskiness </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en" sz="1000">
                          <a:solidFill>
                            <a:srgbClr val="FFFFFF"/>
                          </a:solidFill>
                        </a:rPr>
                        <a:t>Commentary</a:t>
                      </a:r>
                      <a:endParaRPr b="1" sz="1000">
                        <a:solidFill>
                          <a:srgbClr val="FFFFFF"/>
                        </a:solidFill>
                      </a:endParaRPr>
                    </a:p>
                  </a:txBody>
                  <a:tcPr marT="50800" marB="50800" marR="76200" marL="76200" anchor="ctr">
                    <a:lnL cap="flat" cmpd="sng" w="12700">
                      <a:solidFill>
                        <a:srgbClr val="AAAAAA"/>
                      </a:solidFill>
                      <a:prstDash val="solid"/>
                      <a:round/>
                      <a:headEnd len="sm" w="sm" type="none"/>
                      <a:tailEnd len="sm" w="sm" type="none"/>
                    </a:lnL>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68B4D5"/>
                    </a:solidFill>
                  </a:tcPr>
                </a:tc>
              </a:tr>
              <a:tr h="514150">
                <a:tc>
                  <a:txBody>
                    <a:bodyPr/>
                    <a:lstStyle/>
                    <a:p>
                      <a:pPr indent="0" lvl="0" marL="0" rtl="0" algn="l">
                        <a:lnSpc>
                          <a:spcPct val="115000"/>
                        </a:lnSpc>
                        <a:spcBef>
                          <a:spcPts val="0"/>
                        </a:spcBef>
                        <a:spcAft>
                          <a:spcPts val="0"/>
                        </a:spcAft>
                        <a:buNone/>
                      </a:pPr>
                      <a:r>
                        <a:rPr b="1" lang="en" sz="800"/>
                        <a:t>D0 No Mitigations (Baseline)</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None</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$4,798,352</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46</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t>179</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Unmitigated baseline. All risks at full exposure.</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r>
              <a:tr h="671150">
                <a:tc>
                  <a:txBody>
                    <a:bodyPr/>
                    <a:lstStyle/>
                    <a:p>
                      <a:pPr indent="0" lvl="0" marL="0" rtl="0" algn="l">
                        <a:lnSpc>
                          <a:spcPct val="115000"/>
                        </a:lnSpc>
                        <a:spcBef>
                          <a:spcPts val="1200"/>
                        </a:spcBef>
                        <a:spcAft>
                          <a:spcPts val="1200"/>
                        </a:spcAft>
                        <a:buNone/>
                      </a:pPr>
                      <a:r>
                        <a:rPr b="1" lang="en" sz="800"/>
                        <a:t>D1 Interface Alignment</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M6</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$5,322,664</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47</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t>157</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Adds interface review and early integration testing. This first mitigation reduces late interface misalignment and cascading rework risk before integration problems propagate across the data pipeline, retrieval layer, agentic AI core, and validation workflow.</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r>
              <a:tr h="778725">
                <a:tc>
                  <a:txBody>
                    <a:bodyPr/>
                    <a:lstStyle/>
                    <a:p>
                      <a:pPr indent="0" lvl="0" marL="0" rtl="0" algn="l">
                        <a:lnSpc>
                          <a:spcPct val="115000"/>
                        </a:lnSpc>
                        <a:spcBef>
                          <a:spcPts val="1200"/>
                        </a:spcBef>
                        <a:spcAft>
                          <a:spcPts val="1200"/>
                        </a:spcAft>
                        <a:buNone/>
                      </a:pPr>
                      <a:r>
                        <a:rPr b="1" lang="en" sz="800"/>
                        <a:t>D2 Data Integration</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M6, M1</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$5,542,664</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47</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t>129</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Adds data integration feasibility spike. This design reduces both late interface misalignment and EHR/Lab data integration risk, creating a stronger technical feasibility baseline before clinical validation is introduced.</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r>
              <a:tr h="809700">
                <a:tc>
                  <a:txBody>
                    <a:bodyPr/>
                    <a:lstStyle/>
                    <a:p>
                      <a:pPr indent="0" lvl="0" marL="0" rtl="0" algn="l">
                        <a:lnSpc>
                          <a:spcPct val="115000"/>
                        </a:lnSpc>
                        <a:spcBef>
                          <a:spcPts val="1200"/>
                        </a:spcBef>
                        <a:spcAft>
                          <a:spcPts val="0"/>
                        </a:spcAft>
                        <a:buNone/>
                      </a:pPr>
                      <a:r>
                        <a:rPr b="1" lang="en" sz="800"/>
                        <a:t>D3 Clinical Validation</a:t>
                      </a:r>
                      <a:endParaRPr b="1" sz="800"/>
                    </a:p>
                    <a:p>
                      <a:pPr indent="0" lvl="0" marL="0" rtl="0" algn="l">
                        <a:lnSpc>
                          <a:spcPct val="115000"/>
                        </a:lnSpc>
                        <a:spcBef>
                          <a:spcPts val="1200"/>
                        </a:spcBef>
                        <a:spcAft>
                          <a:spcPts val="0"/>
                        </a:spcAft>
                        <a:buNone/>
                      </a:pPr>
                      <a:r>
                        <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M6, M1, M2</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1200"/>
                        </a:spcBef>
                        <a:spcAft>
                          <a:spcPts val="1200"/>
                        </a:spcAft>
                        <a:buNone/>
                      </a:pPr>
                      <a:r>
                        <a:rPr lang="en" sz="800"/>
                        <a:t>$6,451,288</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49</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t>102</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Adds clinical validation protocol and physician expert panel. This design reduces technical feasibility and clinical accuracy risk, but it crosses the $6M budget threshold because clinical validation adds significant review effort.</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r>
              <a:tr h="683550">
                <a:tc>
                  <a:txBody>
                    <a:bodyPr/>
                    <a:lstStyle/>
                    <a:p>
                      <a:pPr indent="0" lvl="0" marL="0" rtl="0" algn="l">
                        <a:lnSpc>
                          <a:spcPct val="115000"/>
                        </a:lnSpc>
                        <a:spcBef>
                          <a:spcPts val="1200"/>
                        </a:spcBef>
                        <a:spcAft>
                          <a:spcPts val="1200"/>
                        </a:spcAft>
                        <a:buNone/>
                      </a:pPr>
                      <a:r>
                        <a:rPr b="1" lang="en" sz="800"/>
                        <a:t>D4 Regulatory Roadmap</a:t>
                      </a:r>
                      <a:endParaRPr b="1"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1200"/>
                        </a:spcBef>
                        <a:spcAft>
                          <a:spcPts val="1200"/>
                        </a:spcAft>
                        <a:buNone/>
                      </a:pPr>
                      <a:r>
                        <a:rPr lang="en" sz="800"/>
                        <a:t>M6, M1, M2, M3</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1200"/>
                        </a:spcBef>
                        <a:spcAft>
                          <a:spcPts val="1200"/>
                        </a:spcAft>
                        <a:buNone/>
                      </a:pPr>
                      <a:r>
                        <a:rPr lang="en" sz="800"/>
                        <a:t>$6,731,288</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49</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t>86</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Adds IRB pre-submission and a regulatory roadmap. This reduces regulatory approval delay risk after the technical and clinical validation path has already been partially de-risked.</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r>
              <a:tr h="986375">
                <a:tc>
                  <a:txBody>
                    <a:bodyPr/>
                    <a:lstStyle/>
                    <a:p>
                      <a:pPr indent="0" lvl="0" marL="0" rtl="0" algn="l">
                        <a:lnSpc>
                          <a:spcPct val="115000"/>
                        </a:lnSpc>
                        <a:spcBef>
                          <a:spcPts val="0"/>
                        </a:spcBef>
                        <a:spcAft>
                          <a:spcPts val="0"/>
                        </a:spcAft>
                        <a:buNone/>
                      </a:pPr>
                      <a:r>
                        <a:rPr b="1" lang="en" sz="800"/>
                        <a:t>D5 Full Mitigation</a:t>
                      </a:r>
                      <a:endParaRPr sz="800"/>
                    </a:p>
                  </a:txBody>
                  <a:tcPr marT="50800" marB="50800" marR="76200" marL="76200" anchor="ctr">
                    <a:lnL cap="flat" cmpd="sng" w="12700">
                      <a:solidFill>
                        <a:srgbClr val="AAAAAA"/>
                      </a:solidFill>
                      <a:prstDash val="solid"/>
                      <a:round/>
                      <a:headEnd len="sm" w="sm" type="none"/>
                      <a:tailEnd len="sm" w="sm" type="none"/>
                    </a:lnL>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1200"/>
                        </a:spcBef>
                        <a:spcAft>
                          <a:spcPts val="1200"/>
                        </a:spcAft>
                        <a:buNone/>
                      </a:pPr>
                      <a:r>
                        <a:rPr lang="en" sz="800"/>
                        <a:t>M6, M1, M2, M3, M4</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1200"/>
                        </a:spcBef>
                        <a:spcAft>
                          <a:spcPts val="1200"/>
                        </a:spcAft>
                        <a:buNone/>
                      </a:pPr>
                      <a:r>
                        <a:rPr lang="en" sz="800"/>
                        <a:t>$7,095,600</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t>50</a:t>
                      </a:r>
                      <a:endParaRPr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t>75</a:t>
                      </a:r>
                      <a:endParaRPr b="1" sz="800"/>
                    </a:p>
                  </a:txBody>
                  <a:tcPr marT="50800" marB="50800" marR="76200" marL="76200" anchor="ct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800"/>
                        <a:t>Completes the incremental mitigation path by adding PHI handling and compliance design review. This option produces the lowest residual risk, effectively mitigating hallucination and regulatory blockers,  but it also has the highest cost and reaches the 50-week schedule limit.</a:t>
                      </a:r>
                      <a:endParaRPr sz="800"/>
                    </a:p>
                  </a:txBody>
                  <a:tcPr marT="50800" marB="50800" marR="76200" marL="76200" anchor="ctr">
                    <a:lnR cap="flat" cmpd="sng" w="12700">
                      <a:solidFill>
                        <a:srgbClr val="AAAAAA"/>
                      </a:solidFill>
                      <a:prstDash val="solid"/>
                      <a:round/>
                      <a:headEnd len="sm" w="sm" type="none"/>
                      <a:tailEnd len="sm" w="sm" type="none"/>
                    </a:lnR>
                    <a:lnT cap="flat" cmpd="sng" w="12700">
                      <a:solidFill>
                        <a:srgbClr val="AAAAAA"/>
                      </a:solidFill>
                      <a:prstDash val="solid"/>
                      <a:round/>
                      <a:headEnd len="sm" w="sm" type="none"/>
                      <a:tailEnd len="sm" w="sm" type="none"/>
                    </a:lnT>
                    <a:lnB cap="flat" cmpd="sng" w="12700">
                      <a:solidFill>
                        <a:srgbClr val="AAAAAA"/>
                      </a:solidFill>
                      <a:prstDash val="solid"/>
                      <a:round/>
                      <a:headEnd len="sm" w="sm" type="none"/>
                      <a:tailEnd len="sm" w="sm" type="none"/>
                    </a:lnB>
                  </a:tcPr>
                </a:tc>
              </a:tr>
            </a:tbl>
          </a:graphicData>
        </a:graphic>
      </p:graphicFrame>
      <p:sp>
        <p:nvSpPr>
          <p:cNvPr id="653" name="Google Shape;653;p49"/>
          <p:cNvSpPr txBox="1"/>
          <p:nvPr>
            <p:ph idx="4294967295" type="title"/>
          </p:nvPr>
        </p:nvSpPr>
        <p:spPr>
          <a:xfrm>
            <a:off x="76200" y="-57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Mitigation Design</a:t>
            </a:r>
            <a:endParaRPr>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8B4D4"/>
        </a:solidFill>
      </p:bgPr>
    </p:bg>
    <p:spTree>
      <p:nvGrpSpPr>
        <p:cNvPr id="657" name="Shape 657"/>
        <p:cNvGrpSpPr/>
        <p:nvPr/>
      </p:nvGrpSpPr>
      <p:grpSpPr>
        <a:xfrm>
          <a:off x="0" y="0"/>
          <a:ext cx="0" cy="0"/>
          <a:chOff x="0" y="0"/>
          <a:chExt cx="0" cy="0"/>
        </a:xfrm>
      </p:grpSpPr>
      <p:sp>
        <p:nvSpPr>
          <p:cNvPr id="658" name="Google Shape;658;p50"/>
          <p:cNvSpPr txBox="1"/>
          <p:nvPr/>
        </p:nvSpPr>
        <p:spPr>
          <a:xfrm>
            <a:off x="1082838" y="2217738"/>
            <a:ext cx="6978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lt1"/>
              </a:solidFill>
              <a:latin typeface="Noto Sans Grantha"/>
              <a:ea typeface="Noto Sans Grantha"/>
              <a:cs typeface="Noto Sans Grantha"/>
              <a:sym typeface="Noto Sans Grantha"/>
            </a:endParaRPr>
          </a:p>
        </p:txBody>
      </p:sp>
      <p:pic>
        <p:nvPicPr>
          <p:cNvPr id="659" name="Google Shape;659;p50" title="librarian(1).png"/>
          <p:cNvPicPr preferRelativeResize="0"/>
          <p:nvPr/>
        </p:nvPicPr>
        <p:blipFill>
          <a:blip r:embed="rId3">
            <a:alphaModFix amt="10000"/>
          </a:blip>
          <a:stretch>
            <a:fillRect/>
          </a:stretch>
        </p:blipFill>
        <p:spPr>
          <a:xfrm>
            <a:off x="2076149" y="682292"/>
            <a:ext cx="4991700" cy="4991700"/>
          </a:xfrm>
          <a:prstGeom prst="rect">
            <a:avLst/>
          </a:prstGeom>
          <a:noFill/>
          <a:ln>
            <a:noFill/>
          </a:ln>
        </p:spPr>
      </p:pic>
      <p:graphicFrame>
        <p:nvGraphicFramePr>
          <p:cNvPr id="660" name="Google Shape;660;p50"/>
          <p:cNvGraphicFramePr/>
          <p:nvPr/>
        </p:nvGraphicFramePr>
        <p:xfrm>
          <a:off x="406763" y="973800"/>
          <a:ext cx="3000000" cy="3000000"/>
        </p:xfrm>
        <a:graphic>
          <a:graphicData uri="http://schemas.openxmlformats.org/drawingml/2006/table">
            <a:tbl>
              <a:tblPr>
                <a:noFill/>
                <a:tableStyleId>{3FAB9810-40CA-43D7-B2C1-EFE16C8D5BE5}</a:tableStyleId>
              </a:tblPr>
              <a:tblGrid>
                <a:gridCol w="884950"/>
                <a:gridCol w="2659075"/>
                <a:gridCol w="4786450"/>
              </a:tblGrid>
              <a:tr h="381000">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MCMC</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Mayo Clinic Model of Care</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900">
                          <a:solidFill>
                            <a:schemeClr val="lt1"/>
                          </a:solidFill>
                          <a:latin typeface="Noto Sans Grantha"/>
                          <a:ea typeface="Noto Sans Grantha"/>
                          <a:cs typeface="Noto Sans Grantha"/>
                          <a:sym typeface="Noto Sans Grantha"/>
                        </a:rPr>
                        <a:t>“The Mayo Clinic Model of Care is defined by high quality, compassionate medical care delivered in a multispecialty, integrated academic institution.  The primary focus, meeting the needs of the patient, is accomplished by embracing the following core elements (attributes) as the practice continues to evolve”.</a:t>
                      </a:r>
                      <a:r>
                        <a:rPr lang="en" sz="400">
                          <a:solidFill>
                            <a:schemeClr val="lt1"/>
                          </a:solidFill>
                          <a:latin typeface="Noto Sans Grantha"/>
                          <a:ea typeface="Noto Sans Grantha"/>
                          <a:cs typeface="Noto Sans Grantha"/>
                          <a:sym typeface="Noto Sans Grantha"/>
                        </a:rPr>
                        <a:t> [4]</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97650">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NPS</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Net Promoter Score</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900">
                          <a:solidFill>
                            <a:schemeClr val="lt1"/>
                          </a:solidFill>
                          <a:latin typeface="Noto Sans Grantha"/>
                          <a:ea typeface="Noto Sans Grantha"/>
                          <a:cs typeface="Noto Sans Grantha"/>
                          <a:sym typeface="Noto Sans Grantha"/>
                        </a:rPr>
                        <a:t>(-100 - 100) Willingness to recommend this system. We want users to enjoy our system.</a:t>
                      </a:r>
                      <a:endParaRPr sz="9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PAM</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Patient Activation Measurement</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900">
                          <a:solidFill>
                            <a:schemeClr val="lt1"/>
                          </a:solidFill>
                          <a:latin typeface="Noto Sans Grantha"/>
                          <a:ea typeface="Noto Sans Grantha"/>
                          <a:cs typeface="Noto Sans Grantha"/>
                          <a:sym typeface="Noto Sans Grantha"/>
                        </a:rPr>
                        <a:t>(0-100) Quantifies how well prepared a patient is to manage their health. High PAM scores are correlated with better health outcomes, so an increase in PAM would imply improved patient outcomes.</a:t>
                      </a:r>
                      <a:endParaRPr sz="900">
                        <a:solidFill>
                          <a:schemeClr val="lt1"/>
                        </a:solidFill>
                        <a:latin typeface="Noto Sans Grantha"/>
                        <a:ea typeface="Noto Sans Grantha"/>
                        <a:cs typeface="Noto Sans Grantha"/>
                        <a:sym typeface="Noto Sans Grantha"/>
                      </a:endParaRPr>
                    </a:p>
                    <a:p>
                      <a:pPr indent="0" lvl="0" marL="0" marR="0" rtl="0" algn="l">
                        <a:lnSpc>
                          <a:spcPct val="100000"/>
                        </a:lnSpc>
                        <a:spcBef>
                          <a:spcPts val="0"/>
                        </a:spcBef>
                        <a:spcAft>
                          <a:spcPts val="0"/>
                        </a:spcAft>
                        <a:buNone/>
                      </a:pPr>
                      <a:r>
                        <a:t/>
                      </a:r>
                      <a:endParaRPr sz="9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HIPAA</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Health Insurance Portability and Accountability Act of 1996</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900">
                          <a:solidFill>
                            <a:schemeClr val="lt1"/>
                          </a:solidFill>
                          <a:latin typeface="Noto Sans Grantha"/>
                          <a:ea typeface="Noto Sans Grantha"/>
                          <a:cs typeface="Noto Sans Grantha"/>
                          <a:sym typeface="Noto Sans Grantha"/>
                        </a:rPr>
                        <a:t>“The Health Insurance Portability and Accountability Act (HIPAA) of 1996 establishes federal standards protecting sensitive health information from disclosure without patient's consent. The US Department of Health and Human Services issued the HIPAA Privacy Rule to implement HIPAA requirements. The HIPAA Security Rule protects specific information cover the Privacy Rule.”</a:t>
                      </a:r>
                      <a:r>
                        <a:rPr lang="en" sz="400">
                          <a:solidFill>
                            <a:schemeClr val="lt1"/>
                          </a:solidFill>
                          <a:latin typeface="Noto Sans Grantha"/>
                          <a:ea typeface="Noto Sans Grantha"/>
                          <a:cs typeface="Noto Sans Grantha"/>
                          <a:sym typeface="Noto Sans Grantha"/>
                        </a:rPr>
                        <a:t>[5]</a:t>
                      </a:r>
                      <a:endParaRPr sz="4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CAP</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Collage of American Pathologists</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900">
                          <a:solidFill>
                            <a:schemeClr val="lt1"/>
                          </a:solidFill>
                          <a:latin typeface="Noto Sans Grantha"/>
                          <a:ea typeface="Noto Sans Grantha"/>
                          <a:cs typeface="Noto Sans Grantha"/>
                          <a:sym typeface="Noto Sans Grantha"/>
                        </a:rPr>
                        <a:t>“The CAP accredits laboratories that perform testing on specimens from human beings or animals, using methodologies and clinical applications within the expertise of the program.”</a:t>
                      </a:r>
                      <a:r>
                        <a:rPr lang="en" sz="400">
                          <a:solidFill>
                            <a:schemeClr val="lt1"/>
                          </a:solidFill>
                          <a:latin typeface="Noto Sans Grantha"/>
                          <a:ea typeface="Noto Sans Grantha"/>
                          <a:cs typeface="Noto Sans Grantha"/>
                          <a:sym typeface="Noto Sans Grantha"/>
                        </a:rPr>
                        <a:t>[6]</a:t>
                      </a:r>
                      <a:endParaRPr sz="9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CLIA</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chemeClr val="lt1"/>
                          </a:solidFill>
                          <a:latin typeface="Noto Sans Grantha"/>
                          <a:ea typeface="Noto Sans Grantha"/>
                          <a:cs typeface="Noto Sans Grantha"/>
                          <a:sym typeface="Noto Sans Grantha"/>
                        </a:rPr>
                        <a:t>Clinical Laboratory Improvement Amendments of 1988 </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900">
                          <a:solidFill>
                            <a:schemeClr val="lt1"/>
                          </a:solidFill>
                          <a:latin typeface="Noto Sans Grantha"/>
                          <a:ea typeface="Noto Sans Grantha"/>
                          <a:cs typeface="Noto Sans Grantha"/>
                          <a:sym typeface="Noto Sans Grantha"/>
                        </a:rPr>
                        <a:t>“Regulations include federal standards applicable to all U.S. facilities or sites that test human specimens for health assessment or to diagnose, prevent, or treat disease.”</a:t>
                      </a:r>
                      <a:endParaRPr sz="4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None/>
                      </a:pPr>
                      <a:r>
                        <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1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a:solidFill>
                          <a:schemeClr val="lt1"/>
                        </a:solidFill>
                        <a:latin typeface="Noto Sans Grantha"/>
                        <a:ea typeface="Noto Sans Grantha"/>
                        <a:cs typeface="Noto Sans Grantha"/>
                        <a:sym typeface="Noto Sans Granth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661" name="Google Shape;661;p50"/>
          <p:cNvSpPr txBox="1"/>
          <p:nvPr>
            <p:ph idx="4294967295" type="title"/>
          </p:nvPr>
        </p:nvSpPr>
        <p:spPr>
          <a:xfrm>
            <a:off x="59250" y="215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1920">
                <a:solidFill>
                  <a:schemeClr val="lt1"/>
                </a:solidFill>
                <a:latin typeface="Noto Sans Grantha"/>
                <a:ea typeface="Noto Sans Grantha"/>
                <a:cs typeface="Noto Sans Grantha"/>
                <a:sym typeface="Noto Sans Grantha"/>
              </a:rPr>
              <a:t>Abridged Glossary of Terms</a:t>
            </a:r>
            <a:endParaRPr sz="1920">
              <a:solidFill>
                <a:schemeClr val="lt1"/>
              </a:solidFill>
              <a:latin typeface="Noto Sans Grantha"/>
              <a:ea typeface="Noto Sans Grantha"/>
              <a:cs typeface="Noto Sans Grantha"/>
              <a:sym typeface="Noto Sans Grantha"/>
            </a:endParaRPr>
          </a:p>
          <a:p>
            <a:pPr indent="0" lvl="0" marL="0" rtl="0" algn="l">
              <a:spcBef>
                <a:spcPts val="0"/>
              </a:spcBef>
              <a:spcAft>
                <a:spcPts val="0"/>
              </a:spcAft>
              <a:buSzPts val="990"/>
              <a:buNone/>
            </a:pPr>
            <a:r>
              <a:t/>
            </a:r>
            <a:endParaRPr sz="1920">
              <a:solidFill>
                <a:schemeClr val="lt1"/>
              </a:solidFill>
              <a:latin typeface="Noto Sans Grantha"/>
              <a:ea typeface="Noto Sans Grantha"/>
              <a:cs typeface="Noto Sans Grantha"/>
              <a:sym typeface="Noto Sans Granth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B4D4"/>
        </a:solidFill>
      </p:bgPr>
    </p:bg>
    <p:spTree>
      <p:nvGrpSpPr>
        <p:cNvPr id="665" name="Shape 665"/>
        <p:cNvGrpSpPr/>
        <p:nvPr/>
      </p:nvGrpSpPr>
      <p:grpSpPr>
        <a:xfrm>
          <a:off x="0" y="0"/>
          <a:ext cx="0" cy="0"/>
          <a:chOff x="0" y="0"/>
          <a:chExt cx="0" cy="0"/>
        </a:xfrm>
      </p:grpSpPr>
      <p:sp>
        <p:nvSpPr>
          <p:cNvPr id="666" name="Google Shape;666;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Noto Sans Grantha"/>
                <a:ea typeface="Noto Sans Grantha"/>
                <a:cs typeface="Noto Sans Grantha"/>
                <a:sym typeface="Noto Sans Grantha"/>
              </a:rPr>
              <a:t>Citations</a:t>
            </a:r>
            <a:endParaRPr>
              <a:solidFill>
                <a:schemeClr val="lt1"/>
              </a:solidFill>
              <a:latin typeface="Noto Sans Grantha"/>
              <a:ea typeface="Noto Sans Grantha"/>
              <a:cs typeface="Noto Sans Grantha"/>
              <a:sym typeface="Noto Sans Grantha"/>
            </a:endParaRPr>
          </a:p>
        </p:txBody>
      </p:sp>
      <p:sp>
        <p:nvSpPr>
          <p:cNvPr id="667" name="Google Shape;667;p51"/>
          <p:cNvSpPr txBox="1"/>
          <p:nvPr>
            <p:ph idx="1" type="body"/>
          </p:nvPr>
        </p:nvSpPr>
        <p:spPr>
          <a:xfrm>
            <a:off x="311700" y="1152475"/>
            <a:ext cx="8292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900">
                <a:solidFill>
                  <a:schemeClr val="lt1"/>
                </a:solidFill>
              </a:rPr>
              <a:t>[1] https://news.mayocliniclabs.com/2025/02/19/the-specimens-journey-to-the-laboratory-refined-processes-superior-quality-unwavering-care/</a:t>
            </a:r>
            <a:endParaRPr sz="900">
              <a:solidFill>
                <a:schemeClr val="lt1"/>
              </a:solidFill>
            </a:endParaRPr>
          </a:p>
          <a:p>
            <a:pPr indent="0" lvl="0" marL="0" rtl="0" algn="l">
              <a:spcBef>
                <a:spcPts val="1200"/>
              </a:spcBef>
              <a:spcAft>
                <a:spcPts val="0"/>
              </a:spcAft>
              <a:buNone/>
            </a:pPr>
            <a:r>
              <a:rPr lang="en" sz="900">
                <a:solidFill>
                  <a:schemeClr val="lt1"/>
                </a:solidFill>
              </a:rPr>
              <a:t>[2] https://newsnetwork.mayoclinic.org/discussion/mayo-clinic-launches-mayo-clinic-platform_insights-to-advance-digital-innovation-and-quality-improvement-across-healthcare/</a:t>
            </a:r>
            <a:endParaRPr sz="900">
              <a:solidFill>
                <a:schemeClr val="lt1"/>
              </a:solidFill>
            </a:endParaRPr>
          </a:p>
          <a:p>
            <a:pPr indent="0" lvl="0" marL="0" rtl="0" algn="l">
              <a:spcBef>
                <a:spcPts val="1200"/>
              </a:spcBef>
              <a:spcAft>
                <a:spcPts val="0"/>
              </a:spcAft>
              <a:buNone/>
            </a:pPr>
            <a:r>
              <a:rPr lang="en" sz="900">
                <a:solidFill>
                  <a:schemeClr val="lt1"/>
                </a:solidFill>
              </a:rPr>
              <a:t>[3] https://www.polarismarketresearch.com/industry-analysis/us-clinical-laboratory-tests-market</a:t>
            </a:r>
            <a:endParaRPr sz="900">
              <a:solidFill>
                <a:schemeClr val="lt1"/>
              </a:solidFill>
            </a:endParaRPr>
          </a:p>
          <a:p>
            <a:pPr indent="0" lvl="0" marL="0" rtl="0" algn="l">
              <a:spcBef>
                <a:spcPts val="1200"/>
              </a:spcBef>
              <a:spcAft>
                <a:spcPts val="0"/>
              </a:spcAft>
              <a:buNone/>
            </a:pPr>
            <a:r>
              <a:rPr lang="en" sz="900">
                <a:solidFill>
                  <a:schemeClr val="lt1"/>
                </a:solidFill>
              </a:rPr>
              <a:t>[4] https://history.mayoclinic.org/toolkit/mayo-clinic-model-of-care/</a:t>
            </a:r>
            <a:endParaRPr sz="900">
              <a:solidFill>
                <a:schemeClr val="lt1"/>
              </a:solidFill>
            </a:endParaRPr>
          </a:p>
          <a:p>
            <a:pPr indent="0" lvl="0" marL="0" rtl="0" algn="l">
              <a:spcBef>
                <a:spcPts val="1200"/>
              </a:spcBef>
              <a:spcAft>
                <a:spcPts val="0"/>
              </a:spcAft>
              <a:buNone/>
            </a:pPr>
            <a:r>
              <a:rPr lang="en" sz="900">
                <a:solidFill>
                  <a:schemeClr val="lt1"/>
                </a:solidFill>
              </a:rPr>
              <a:t>[5] https://www.cdc.gov/phlp/php/resources/health-insurance-portability-and-accountability-act-of-1996-hipaa.html</a:t>
            </a:r>
            <a:endParaRPr sz="900">
              <a:solidFill>
                <a:schemeClr val="lt1"/>
              </a:solidFill>
            </a:endParaRPr>
          </a:p>
          <a:p>
            <a:pPr indent="0" lvl="0" marL="0" rtl="0" algn="l">
              <a:spcBef>
                <a:spcPts val="1200"/>
              </a:spcBef>
              <a:spcAft>
                <a:spcPts val="0"/>
              </a:spcAft>
              <a:buNone/>
            </a:pPr>
            <a:r>
              <a:rPr lang="en" sz="900">
                <a:solidFill>
                  <a:schemeClr val="lt1"/>
                </a:solidFill>
              </a:rPr>
              <a:t>[6] https://www.cap.org/laboratory-improvement/accreditation/laboratory-accreditation-program</a:t>
            </a:r>
            <a:endParaRPr sz="900">
              <a:solidFill>
                <a:schemeClr val="lt1"/>
              </a:solidFill>
            </a:endParaRPr>
          </a:p>
          <a:p>
            <a:pPr indent="0" lvl="0" marL="0" rtl="0" algn="l">
              <a:spcBef>
                <a:spcPts val="1200"/>
              </a:spcBef>
              <a:spcAft>
                <a:spcPts val="0"/>
              </a:spcAft>
              <a:buNone/>
            </a:pPr>
            <a:r>
              <a:rPr lang="en" sz="900">
                <a:solidFill>
                  <a:schemeClr val="lt1"/>
                </a:solidFill>
              </a:rPr>
              <a:t>[7] ttps://www.cdc.gov/clia/php/about/index.html</a:t>
            </a:r>
            <a:endParaRPr sz="900">
              <a:solidFill>
                <a:schemeClr val="lt1"/>
              </a:solidFill>
            </a:endParaRPr>
          </a:p>
          <a:p>
            <a:pPr indent="0" lvl="0" marL="0" rtl="0" algn="l">
              <a:spcBef>
                <a:spcPts val="1200"/>
              </a:spcBef>
              <a:spcAft>
                <a:spcPts val="0"/>
              </a:spcAft>
              <a:buNone/>
            </a:pPr>
            <a:r>
              <a:rPr lang="en" sz="900">
                <a:solidFill>
                  <a:schemeClr val="lt1"/>
                </a:solidFill>
              </a:rPr>
              <a:t>[8] https://www.folio3.ai/blog/ai-project-failure-rate-stats</a:t>
            </a:r>
            <a:endParaRPr sz="900">
              <a:solidFill>
                <a:schemeClr val="lt1"/>
              </a:solidFill>
            </a:endParaRPr>
          </a:p>
          <a:p>
            <a:pPr indent="0" lvl="0" marL="0" rtl="0" algn="l">
              <a:spcBef>
                <a:spcPts val="1200"/>
              </a:spcBef>
              <a:spcAft>
                <a:spcPts val="0"/>
              </a:spcAft>
              <a:buNone/>
            </a:pPr>
            <a:r>
              <a:rPr lang="en" sz="900">
                <a:solidFill>
                  <a:schemeClr val="lt1"/>
                </a:solidFill>
              </a:rPr>
              <a:t>[9] [https://fortune.com/2025/08/18/mit-report-95-percent-generative-ai-pilots-at-companies-failing-cfo/</a:t>
            </a:r>
            <a:endParaRPr sz="900">
              <a:solidFill>
                <a:schemeClr val="lt1"/>
              </a:solidFill>
            </a:endParaRPr>
          </a:p>
          <a:p>
            <a:pPr indent="0" lvl="0" marL="0" rtl="0" algn="l">
              <a:spcBef>
                <a:spcPts val="1200"/>
              </a:spcBef>
              <a:spcAft>
                <a:spcPts val="1200"/>
              </a:spcAft>
              <a:buNone/>
            </a:pPr>
            <a:r>
              <a:rPr lang="en" sz="900">
                <a:solidFill>
                  <a:schemeClr val="lt1"/>
                </a:solidFill>
              </a:rPr>
              <a:t>[10] https://www.rand.org/pubs/research_reports/RRA2680-1.html</a:t>
            </a:r>
            <a:endParaRPr sz="9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1" name="Shape 671"/>
        <p:cNvGrpSpPr/>
        <p:nvPr/>
      </p:nvGrpSpPr>
      <p:grpSpPr>
        <a:xfrm>
          <a:off x="0" y="0"/>
          <a:ext cx="0" cy="0"/>
          <a:chOff x="0" y="0"/>
          <a:chExt cx="0" cy="0"/>
        </a:xfrm>
      </p:grpSpPr>
      <p:sp>
        <p:nvSpPr>
          <p:cNvPr id="672" name="Google Shape;672;p52"/>
          <p:cNvSpPr/>
          <p:nvPr/>
        </p:nvSpPr>
        <p:spPr>
          <a:xfrm>
            <a:off x="6553200" y="150"/>
            <a:ext cx="2590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latin typeface="Noto Sans Grantha"/>
                <a:ea typeface="Noto Sans Grantha"/>
                <a:cs typeface="Noto Sans Grantha"/>
                <a:sym typeface="Noto Sans Grantha"/>
              </a:rPr>
              <a:t>Assets:</a:t>
            </a:r>
            <a:endParaRPr sz="2220">
              <a:latin typeface="Noto Sans Grantha"/>
              <a:ea typeface="Noto Sans Grantha"/>
              <a:cs typeface="Noto Sans Grantha"/>
              <a:sym typeface="Noto Sans Grantha"/>
            </a:endParaRPr>
          </a:p>
        </p:txBody>
      </p:sp>
      <p:pic>
        <p:nvPicPr>
          <p:cNvPr id="674" name="Google Shape;674;p52" title="MCL.png"/>
          <p:cNvPicPr preferRelativeResize="0"/>
          <p:nvPr/>
        </p:nvPicPr>
        <p:blipFill>
          <a:blip r:embed="rId3">
            <a:alphaModFix/>
          </a:blip>
          <a:stretch>
            <a:fillRect/>
          </a:stretch>
        </p:blipFill>
        <p:spPr>
          <a:xfrm>
            <a:off x="4086744" y="3484548"/>
            <a:ext cx="2370932" cy="556650"/>
          </a:xfrm>
          <a:prstGeom prst="rect">
            <a:avLst/>
          </a:prstGeom>
          <a:noFill/>
          <a:ln>
            <a:noFill/>
          </a:ln>
        </p:spPr>
      </p:pic>
      <p:pic>
        <p:nvPicPr>
          <p:cNvPr id="675" name="Google Shape;675;p52" title="mit.png"/>
          <p:cNvPicPr preferRelativeResize="0"/>
          <p:nvPr/>
        </p:nvPicPr>
        <p:blipFill>
          <a:blip r:embed="rId4">
            <a:alphaModFix/>
          </a:blip>
          <a:stretch>
            <a:fillRect/>
          </a:stretch>
        </p:blipFill>
        <p:spPr>
          <a:xfrm>
            <a:off x="4370699" y="4305716"/>
            <a:ext cx="1639800" cy="618184"/>
          </a:xfrm>
          <a:prstGeom prst="rect">
            <a:avLst/>
          </a:prstGeom>
          <a:noFill/>
          <a:ln>
            <a:noFill/>
          </a:ln>
        </p:spPr>
      </p:pic>
      <p:pic>
        <p:nvPicPr>
          <p:cNvPr id="676" name="Google Shape;676;p52" title="Artboard 1Sanguine_finalcolortext.png"/>
          <p:cNvPicPr preferRelativeResize="0"/>
          <p:nvPr/>
        </p:nvPicPr>
        <p:blipFill>
          <a:blip r:embed="rId5">
            <a:alphaModFix/>
          </a:blip>
          <a:stretch>
            <a:fillRect/>
          </a:stretch>
        </p:blipFill>
        <p:spPr>
          <a:xfrm>
            <a:off x="4963853" y="1093994"/>
            <a:ext cx="3986416" cy="996604"/>
          </a:xfrm>
          <a:prstGeom prst="rect">
            <a:avLst/>
          </a:prstGeom>
          <a:noFill/>
          <a:ln>
            <a:noFill/>
          </a:ln>
        </p:spPr>
      </p:pic>
      <p:pic>
        <p:nvPicPr>
          <p:cNvPr id="677" name="Google Shape;677;p52" title="Artboard 1Sanguine_finalcutout.png"/>
          <p:cNvPicPr preferRelativeResize="0"/>
          <p:nvPr/>
        </p:nvPicPr>
        <p:blipFill>
          <a:blip r:embed="rId6">
            <a:alphaModFix/>
          </a:blip>
          <a:stretch>
            <a:fillRect/>
          </a:stretch>
        </p:blipFill>
        <p:spPr>
          <a:xfrm>
            <a:off x="4895125" y="2056273"/>
            <a:ext cx="4123880" cy="1030970"/>
          </a:xfrm>
          <a:prstGeom prst="rect">
            <a:avLst/>
          </a:prstGeom>
          <a:noFill/>
          <a:ln>
            <a:noFill/>
          </a:ln>
        </p:spPr>
      </p:pic>
      <p:pic>
        <p:nvPicPr>
          <p:cNvPr id="678" name="Google Shape;678;p52" title="Artboard 1Sanguine_finalwhite.png"/>
          <p:cNvPicPr preferRelativeResize="0"/>
          <p:nvPr/>
        </p:nvPicPr>
        <p:blipFill>
          <a:blip r:embed="rId7">
            <a:alphaModFix/>
          </a:blip>
          <a:stretch>
            <a:fillRect/>
          </a:stretch>
        </p:blipFill>
        <p:spPr>
          <a:xfrm>
            <a:off x="4895125" y="63023"/>
            <a:ext cx="4123880" cy="1030970"/>
          </a:xfrm>
          <a:prstGeom prst="rect">
            <a:avLst/>
          </a:prstGeom>
          <a:noFill/>
          <a:ln>
            <a:noFill/>
          </a:ln>
        </p:spPr>
      </p:pic>
      <p:pic>
        <p:nvPicPr>
          <p:cNvPr id="679" name="Google Shape;679;p52" title="vial_large.png"/>
          <p:cNvPicPr preferRelativeResize="0"/>
          <p:nvPr/>
        </p:nvPicPr>
        <p:blipFill>
          <a:blip r:embed="rId8">
            <a:alphaModFix/>
          </a:blip>
          <a:stretch>
            <a:fillRect/>
          </a:stretch>
        </p:blipFill>
        <p:spPr>
          <a:xfrm>
            <a:off x="244221" y="896938"/>
            <a:ext cx="960200" cy="2966224"/>
          </a:xfrm>
          <a:prstGeom prst="rect">
            <a:avLst/>
          </a:prstGeom>
          <a:noFill/>
          <a:ln>
            <a:noFill/>
          </a:ln>
        </p:spPr>
      </p:pic>
      <p:sp>
        <p:nvSpPr>
          <p:cNvPr id="680" name="Google Shape;680;p52"/>
          <p:cNvSpPr/>
          <p:nvPr/>
        </p:nvSpPr>
        <p:spPr>
          <a:xfrm>
            <a:off x="3159300" y="480750"/>
            <a:ext cx="1639800" cy="487800"/>
          </a:xfrm>
          <a:prstGeom prst="rect">
            <a:avLst/>
          </a:prstGeom>
          <a:solidFill>
            <a:srgbClr val="68B4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oto Sans Grantha"/>
                <a:ea typeface="Noto Sans Grantha"/>
                <a:cs typeface="Noto Sans Grantha"/>
                <a:sym typeface="Noto Sans Grantha"/>
              </a:rPr>
              <a:t>Sanguine Blue: #68b4d4</a:t>
            </a:r>
            <a:endParaRPr>
              <a:solidFill>
                <a:schemeClr val="lt1"/>
              </a:solidFill>
              <a:latin typeface="Noto Sans Grantha"/>
              <a:ea typeface="Noto Sans Grantha"/>
              <a:cs typeface="Noto Sans Grantha"/>
              <a:sym typeface="Noto Sans Grantha"/>
            </a:endParaRPr>
          </a:p>
        </p:txBody>
      </p:sp>
      <p:sp>
        <p:nvSpPr>
          <p:cNvPr id="681" name="Google Shape;681;p52"/>
          <p:cNvSpPr/>
          <p:nvPr/>
        </p:nvSpPr>
        <p:spPr>
          <a:xfrm>
            <a:off x="3159300" y="1120425"/>
            <a:ext cx="1639800" cy="487800"/>
          </a:xfrm>
          <a:prstGeom prst="rect">
            <a:avLst/>
          </a:prstGeom>
          <a:solidFill>
            <a:srgbClr val="E6545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oto Sans Grantha"/>
                <a:ea typeface="Noto Sans Grantha"/>
                <a:cs typeface="Noto Sans Grantha"/>
                <a:sym typeface="Noto Sans Grantha"/>
              </a:rPr>
              <a:t>Vial Dark Red:</a:t>
            </a:r>
            <a:endParaRPr>
              <a:solidFill>
                <a:schemeClr val="lt1"/>
              </a:solidFill>
              <a:latin typeface="Noto Sans Grantha"/>
              <a:ea typeface="Noto Sans Grantha"/>
              <a:cs typeface="Noto Sans Grantha"/>
              <a:sym typeface="Noto Sans Grantha"/>
            </a:endParaRPr>
          </a:p>
          <a:p>
            <a:pPr indent="0" lvl="0" marL="0" rtl="0" algn="ctr">
              <a:spcBef>
                <a:spcPts val="0"/>
              </a:spcBef>
              <a:spcAft>
                <a:spcPts val="0"/>
              </a:spcAft>
              <a:buNone/>
            </a:pPr>
            <a:r>
              <a:rPr lang="en">
                <a:solidFill>
                  <a:schemeClr val="lt1"/>
                </a:solidFill>
                <a:latin typeface="Noto Sans Grantha"/>
                <a:ea typeface="Noto Sans Grantha"/>
                <a:cs typeface="Noto Sans Grantha"/>
                <a:sym typeface="Noto Sans Grantha"/>
              </a:rPr>
              <a:t>#e65454</a:t>
            </a:r>
            <a:endParaRPr>
              <a:solidFill>
                <a:schemeClr val="lt1"/>
              </a:solidFill>
              <a:latin typeface="Noto Sans Grantha"/>
              <a:ea typeface="Noto Sans Grantha"/>
              <a:cs typeface="Noto Sans Grantha"/>
              <a:sym typeface="Noto Sans Grantha"/>
            </a:endParaRPr>
          </a:p>
        </p:txBody>
      </p:sp>
      <p:sp>
        <p:nvSpPr>
          <p:cNvPr id="682" name="Google Shape;682;p52"/>
          <p:cNvSpPr/>
          <p:nvPr/>
        </p:nvSpPr>
        <p:spPr>
          <a:xfrm>
            <a:off x="3159300" y="1760088"/>
            <a:ext cx="1639800" cy="487800"/>
          </a:xfrm>
          <a:prstGeom prst="rect">
            <a:avLst/>
          </a:prstGeom>
          <a:solidFill>
            <a:srgbClr val="F1656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oto Sans Grantha"/>
                <a:ea typeface="Noto Sans Grantha"/>
                <a:cs typeface="Noto Sans Grantha"/>
                <a:sym typeface="Noto Sans Grantha"/>
              </a:rPr>
              <a:t>Vial Light Red:</a:t>
            </a:r>
            <a:endParaRPr>
              <a:solidFill>
                <a:schemeClr val="lt1"/>
              </a:solidFill>
              <a:latin typeface="Noto Sans Grantha"/>
              <a:ea typeface="Noto Sans Grantha"/>
              <a:cs typeface="Noto Sans Grantha"/>
              <a:sym typeface="Noto Sans Grantha"/>
            </a:endParaRPr>
          </a:p>
          <a:p>
            <a:pPr indent="0" lvl="0" marL="0" rtl="0" algn="ctr">
              <a:spcBef>
                <a:spcPts val="0"/>
              </a:spcBef>
              <a:spcAft>
                <a:spcPts val="0"/>
              </a:spcAft>
              <a:buNone/>
            </a:pPr>
            <a:r>
              <a:rPr lang="en">
                <a:solidFill>
                  <a:schemeClr val="lt1"/>
                </a:solidFill>
                <a:latin typeface="Noto Sans Grantha"/>
                <a:ea typeface="Noto Sans Grantha"/>
                <a:cs typeface="Noto Sans Grantha"/>
                <a:sym typeface="Noto Sans Grantha"/>
              </a:rPr>
              <a:t>#f16562</a:t>
            </a:r>
            <a:endParaRPr>
              <a:solidFill>
                <a:schemeClr val="lt1"/>
              </a:solidFill>
              <a:latin typeface="Noto Sans Grantha"/>
              <a:ea typeface="Noto Sans Grantha"/>
              <a:cs typeface="Noto Sans Grantha"/>
              <a:sym typeface="Noto Sans Grantha"/>
            </a:endParaRPr>
          </a:p>
        </p:txBody>
      </p:sp>
      <p:pic>
        <p:nvPicPr>
          <p:cNvPr id="683" name="Google Shape;683;p52" title="MCL_white.png"/>
          <p:cNvPicPr preferRelativeResize="0"/>
          <p:nvPr/>
        </p:nvPicPr>
        <p:blipFill>
          <a:blip r:embed="rId9">
            <a:alphaModFix/>
          </a:blip>
          <a:stretch>
            <a:fillRect/>
          </a:stretch>
        </p:blipFill>
        <p:spPr>
          <a:xfrm>
            <a:off x="6809769" y="3518975"/>
            <a:ext cx="2077659" cy="487800"/>
          </a:xfrm>
          <a:prstGeom prst="rect">
            <a:avLst/>
          </a:prstGeom>
          <a:noFill/>
          <a:ln>
            <a:noFill/>
          </a:ln>
        </p:spPr>
      </p:pic>
      <p:pic>
        <p:nvPicPr>
          <p:cNvPr id="684" name="Google Shape;684;p52" title="mit.png"/>
          <p:cNvPicPr preferRelativeResize="0"/>
          <p:nvPr/>
        </p:nvPicPr>
        <p:blipFill>
          <a:blip r:embed="rId10">
            <a:alphaModFix/>
          </a:blip>
          <a:stretch>
            <a:fillRect/>
          </a:stretch>
        </p:blipFill>
        <p:spPr>
          <a:xfrm>
            <a:off x="7028701" y="4283319"/>
            <a:ext cx="1639800" cy="618179"/>
          </a:xfrm>
          <a:prstGeom prst="rect">
            <a:avLst/>
          </a:prstGeom>
          <a:noFill/>
          <a:ln>
            <a:noFill/>
          </a:ln>
        </p:spPr>
      </p:pic>
      <p:sp>
        <p:nvSpPr>
          <p:cNvPr id="685" name="Google Shape;685;p52"/>
          <p:cNvSpPr txBox="1"/>
          <p:nvPr>
            <p:ph type="title"/>
          </p:nvPr>
        </p:nvSpPr>
        <p:spPr>
          <a:xfrm>
            <a:off x="108125" y="150"/>
            <a:ext cx="40701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latin typeface="Noto Sans Grantha"/>
                <a:ea typeface="Noto Sans Grantha"/>
                <a:cs typeface="Noto Sans Grantha"/>
                <a:sym typeface="Noto Sans Grantha"/>
              </a:rPr>
              <a:t>Font: Noto Sans Garantha</a:t>
            </a:r>
            <a:endParaRPr sz="2220">
              <a:latin typeface="Noto Sans Grantha"/>
              <a:ea typeface="Noto Sans Grantha"/>
              <a:cs typeface="Noto Sans Grantha"/>
              <a:sym typeface="Noto Sans Grantha"/>
            </a:endParaRPr>
          </a:p>
        </p:txBody>
      </p:sp>
      <p:pic>
        <p:nvPicPr>
          <p:cNvPr id="686" name="Google Shape;686;p52" title="bloodpack.png"/>
          <p:cNvPicPr preferRelativeResize="0"/>
          <p:nvPr/>
        </p:nvPicPr>
        <p:blipFill>
          <a:blip r:embed="rId11">
            <a:alphaModFix/>
          </a:blip>
          <a:stretch>
            <a:fillRect/>
          </a:stretch>
        </p:blipFill>
        <p:spPr>
          <a:xfrm>
            <a:off x="1176226" y="1913603"/>
            <a:ext cx="2176275" cy="3010300"/>
          </a:xfrm>
          <a:prstGeom prst="rect">
            <a:avLst/>
          </a:prstGeom>
          <a:noFill/>
          <a:ln>
            <a:noFill/>
          </a:ln>
        </p:spPr>
      </p:pic>
      <p:pic>
        <p:nvPicPr>
          <p:cNvPr id="687" name="Google Shape;687;p52" title="sampler.png"/>
          <p:cNvPicPr preferRelativeResize="0"/>
          <p:nvPr/>
        </p:nvPicPr>
        <p:blipFill>
          <a:blip r:embed="rId12">
            <a:alphaModFix/>
          </a:blip>
          <a:stretch>
            <a:fillRect/>
          </a:stretch>
        </p:blipFill>
        <p:spPr>
          <a:xfrm>
            <a:off x="2622500" y="1498247"/>
            <a:ext cx="392625" cy="877961"/>
          </a:xfrm>
          <a:prstGeom prst="rect">
            <a:avLst/>
          </a:prstGeom>
          <a:noFill/>
          <a:ln>
            <a:noFill/>
          </a:ln>
        </p:spPr>
      </p:pic>
      <p:pic>
        <p:nvPicPr>
          <p:cNvPr id="688" name="Google Shape;688;p52" title="microscope.png"/>
          <p:cNvPicPr preferRelativeResize="0"/>
          <p:nvPr/>
        </p:nvPicPr>
        <p:blipFill>
          <a:blip r:embed="rId13">
            <a:alphaModFix/>
          </a:blip>
          <a:stretch>
            <a:fillRect/>
          </a:stretch>
        </p:blipFill>
        <p:spPr>
          <a:xfrm>
            <a:off x="2622500" y="659570"/>
            <a:ext cx="392625" cy="58442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2" name="Shape 692"/>
        <p:cNvGrpSpPr/>
        <p:nvPr/>
      </p:nvGrpSpPr>
      <p:grpSpPr>
        <a:xfrm>
          <a:off x="0" y="0"/>
          <a:ext cx="0" cy="0"/>
          <a:chOff x="0" y="0"/>
          <a:chExt cx="0" cy="0"/>
        </a:xfrm>
      </p:grpSpPr>
      <p:pic>
        <p:nvPicPr>
          <p:cNvPr id="693" name="Google Shape;693;p53" title="connection_recolor.gif"/>
          <p:cNvPicPr preferRelativeResize="0"/>
          <p:nvPr/>
        </p:nvPicPr>
        <p:blipFill>
          <a:blip r:embed="rId3">
            <a:alphaModFix/>
          </a:blip>
          <a:stretch>
            <a:fillRect/>
          </a:stretch>
        </p:blipFill>
        <p:spPr>
          <a:xfrm>
            <a:off x="3714750" y="3383675"/>
            <a:ext cx="1009650" cy="1009650"/>
          </a:xfrm>
          <a:prstGeom prst="rect">
            <a:avLst/>
          </a:prstGeom>
          <a:noFill/>
          <a:ln>
            <a:noFill/>
          </a:ln>
        </p:spPr>
      </p:pic>
      <p:sp>
        <p:nvSpPr>
          <p:cNvPr id="694" name="Google Shape;694;p53"/>
          <p:cNvSpPr/>
          <p:nvPr/>
        </p:nvSpPr>
        <p:spPr>
          <a:xfrm>
            <a:off x="6553200" y="150"/>
            <a:ext cx="2590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5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latin typeface="Noto Sans Grantha"/>
                <a:ea typeface="Noto Sans Grantha"/>
                <a:cs typeface="Noto Sans Grantha"/>
                <a:sym typeface="Noto Sans Grantha"/>
              </a:rPr>
              <a:t>More Assets:</a:t>
            </a:r>
            <a:endParaRPr sz="2220">
              <a:latin typeface="Noto Sans Grantha"/>
              <a:ea typeface="Noto Sans Grantha"/>
              <a:cs typeface="Noto Sans Grantha"/>
              <a:sym typeface="Noto Sans Grantha"/>
            </a:endParaRPr>
          </a:p>
        </p:txBody>
      </p:sp>
      <p:pic>
        <p:nvPicPr>
          <p:cNvPr id="696" name="Google Shape;696;p53" title="medical-team.png"/>
          <p:cNvPicPr preferRelativeResize="0"/>
          <p:nvPr/>
        </p:nvPicPr>
        <p:blipFill>
          <a:blip r:embed="rId4">
            <a:alphaModFix/>
          </a:blip>
          <a:stretch>
            <a:fillRect/>
          </a:stretch>
        </p:blipFill>
        <p:spPr>
          <a:xfrm>
            <a:off x="1423575" y="885825"/>
            <a:ext cx="1159150" cy="1159150"/>
          </a:xfrm>
          <a:prstGeom prst="rect">
            <a:avLst/>
          </a:prstGeom>
          <a:noFill/>
          <a:ln>
            <a:noFill/>
          </a:ln>
        </p:spPr>
      </p:pic>
      <p:pic>
        <p:nvPicPr>
          <p:cNvPr id="697" name="Google Shape;697;p53" title="librarian(1).png"/>
          <p:cNvPicPr preferRelativeResize="0"/>
          <p:nvPr/>
        </p:nvPicPr>
        <p:blipFill>
          <a:blip r:embed="rId5">
            <a:alphaModFix/>
          </a:blip>
          <a:stretch>
            <a:fillRect/>
          </a:stretch>
        </p:blipFill>
        <p:spPr>
          <a:xfrm>
            <a:off x="7905800" y="151800"/>
            <a:ext cx="1159150" cy="1159150"/>
          </a:xfrm>
          <a:prstGeom prst="rect">
            <a:avLst/>
          </a:prstGeom>
          <a:noFill/>
          <a:ln>
            <a:noFill/>
          </a:ln>
        </p:spPr>
      </p:pic>
      <p:pic>
        <p:nvPicPr>
          <p:cNvPr id="698" name="Google Shape;698;p53" title="librarian.png"/>
          <p:cNvPicPr preferRelativeResize="0"/>
          <p:nvPr/>
        </p:nvPicPr>
        <p:blipFill>
          <a:blip r:embed="rId6">
            <a:alphaModFix/>
          </a:blip>
          <a:stretch>
            <a:fillRect/>
          </a:stretch>
        </p:blipFill>
        <p:spPr>
          <a:xfrm>
            <a:off x="2819400" y="1017725"/>
            <a:ext cx="895350" cy="895350"/>
          </a:xfrm>
          <a:prstGeom prst="rect">
            <a:avLst/>
          </a:prstGeom>
          <a:noFill/>
          <a:ln>
            <a:noFill/>
          </a:ln>
        </p:spPr>
      </p:pic>
      <p:pic>
        <p:nvPicPr>
          <p:cNvPr id="699" name="Google Shape;699;p53" title="artificial-intelligence_recolor.gif"/>
          <p:cNvPicPr preferRelativeResize="0"/>
          <p:nvPr/>
        </p:nvPicPr>
        <p:blipFill>
          <a:blip r:embed="rId7">
            <a:alphaModFix/>
          </a:blip>
          <a:stretch>
            <a:fillRect/>
          </a:stretch>
        </p:blipFill>
        <p:spPr>
          <a:xfrm>
            <a:off x="4876800" y="3007000"/>
            <a:ext cx="1524000" cy="1524000"/>
          </a:xfrm>
          <a:prstGeom prst="rect">
            <a:avLst/>
          </a:prstGeom>
          <a:noFill/>
          <a:ln>
            <a:noFill/>
          </a:ln>
        </p:spPr>
      </p:pic>
      <p:sp>
        <p:nvSpPr>
          <p:cNvPr id="700" name="Google Shape;700;p53"/>
          <p:cNvSpPr/>
          <p:nvPr/>
        </p:nvSpPr>
        <p:spPr>
          <a:xfrm>
            <a:off x="3845100" y="3040775"/>
            <a:ext cx="1639800" cy="487800"/>
          </a:xfrm>
          <a:prstGeom prst="rect">
            <a:avLst/>
          </a:prstGeom>
          <a:solidFill>
            <a:srgbClr val="68B4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oto Sans Grantha"/>
                <a:ea typeface="Noto Sans Grantha"/>
                <a:cs typeface="Noto Sans Grantha"/>
                <a:sym typeface="Noto Sans Grantha"/>
              </a:rPr>
              <a:t>Sanguine Blue: #68b4d4</a:t>
            </a:r>
            <a:endParaRPr>
              <a:solidFill>
                <a:schemeClr val="lt1"/>
              </a:solidFill>
              <a:latin typeface="Noto Sans Grantha"/>
              <a:ea typeface="Noto Sans Grantha"/>
              <a:cs typeface="Noto Sans Grantha"/>
              <a:sym typeface="Noto Sans Grantha"/>
            </a:endParaRPr>
          </a:p>
        </p:txBody>
      </p:sp>
      <p:pic>
        <p:nvPicPr>
          <p:cNvPr id="701" name="Google Shape;701;p53" title="medical-symbol_white.png"/>
          <p:cNvPicPr preferRelativeResize="0"/>
          <p:nvPr/>
        </p:nvPicPr>
        <p:blipFill>
          <a:blip r:embed="rId8">
            <a:alphaModFix/>
          </a:blip>
          <a:stretch>
            <a:fillRect/>
          </a:stretch>
        </p:blipFill>
        <p:spPr>
          <a:xfrm>
            <a:off x="6686562" y="150"/>
            <a:ext cx="895350" cy="895350"/>
          </a:xfrm>
          <a:prstGeom prst="rect">
            <a:avLst/>
          </a:prstGeom>
          <a:noFill/>
          <a:ln>
            <a:noFill/>
          </a:ln>
        </p:spPr>
      </p:pic>
      <p:pic>
        <p:nvPicPr>
          <p:cNvPr id="702" name="Google Shape;702;p53" title="medical-symbol.png"/>
          <p:cNvPicPr preferRelativeResize="0"/>
          <p:nvPr/>
        </p:nvPicPr>
        <p:blipFill>
          <a:blip r:embed="rId9">
            <a:alphaModFix/>
          </a:blip>
          <a:stretch>
            <a:fillRect/>
          </a:stretch>
        </p:blipFill>
        <p:spPr>
          <a:xfrm>
            <a:off x="5484900" y="8950"/>
            <a:ext cx="877750" cy="877750"/>
          </a:xfrm>
          <a:prstGeom prst="rect">
            <a:avLst/>
          </a:prstGeom>
          <a:noFill/>
          <a:ln>
            <a:noFill/>
          </a:ln>
        </p:spPr>
      </p:pic>
      <p:pic>
        <p:nvPicPr>
          <p:cNvPr id="703" name="Google Shape;703;p53" title="people.png"/>
          <p:cNvPicPr preferRelativeResize="0"/>
          <p:nvPr/>
        </p:nvPicPr>
        <p:blipFill>
          <a:blip r:embed="rId10">
            <a:alphaModFix/>
          </a:blip>
          <a:stretch>
            <a:fillRect/>
          </a:stretch>
        </p:blipFill>
        <p:spPr>
          <a:xfrm>
            <a:off x="5493700" y="1167225"/>
            <a:ext cx="1009650" cy="1009650"/>
          </a:xfrm>
          <a:prstGeom prst="rect">
            <a:avLst/>
          </a:prstGeom>
          <a:noFill/>
          <a:ln>
            <a:noFill/>
          </a:ln>
        </p:spPr>
      </p:pic>
      <p:pic>
        <p:nvPicPr>
          <p:cNvPr id="704" name="Google Shape;704;p53" title="medical-devices.png"/>
          <p:cNvPicPr preferRelativeResize="0"/>
          <p:nvPr/>
        </p:nvPicPr>
        <p:blipFill>
          <a:blip r:embed="rId11">
            <a:alphaModFix/>
          </a:blip>
          <a:stretch>
            <a:fillRect/>
          </a:stretch>
        </p:blipFill>
        <p:spPr>
          <a:xfrm>
            <a:off x="4284700" y="8950"/>
            <a:ext cx="1009650" cy="1009650"/>
          </a:xfrm>
          <a:prstGeom prst="rect">
            <a:avLst/>
          </a:prstGeom>
          <a:noFill/>
          <a:ln>
            <a:noFill/>
          </a:ln>
        </p:spPr>
      </p:pic>
      <p:pic>
        <p:nvPicPr>
          <p:cNvPr id="705" name="Google Shape;705;p53" title="refer-recolor.gif"/>
          <p:cNvPicPr preferRelativeResize="0"/>
          <p:nvPr/>
        </p:nvPicPr>
        <p:blipFill>
          <a:blip r:embed="rId12">
            <a:alphaModFix/>
          </a:blip>
          <a:stretch>
            <a:fillRect/>
          </a:stretch>
        </p:blipFill>
        <p:spPr>
          <a:xfrm>
            <a:off x="4217325" y="1310946"/>
            <a:ext cx="895350" cy="895350"/>
          </a:xfrm>
          <a:prstGeom prst="rect">
            <a:avLst/>
          </a:prstGeom>
          <a:noFill/>
          <a:ln>
            <a:noFill/>
          </a:ln>
        </p:spPr>
      </p:pic>
      <p:pic>
        <p:nvPicPr>
          <p:cNvPr id="706" name="Google Shape;706;p53" title="blood-test-recolor.gif"/>
          <p:cNvPicPr preferRelativeResize="0"/>
          <p:nvPr/>
        </p:nvPicPr>
        <p:blipFill>
          <a:blip r:embed="rId13">
            <a:alphaModFix/>
          </a:blip>
          <a:stretch>
            <a:fillRect/>
          </a:stretch>
        </p:blipFill>
        <p:spPr>
          <a:xfrm>
            <a:off x="2167975" y="2206300"/>
            <a:ext cx="1159150" cy="1159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